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slideMasters/slideMaster59.xml" ContentType="application/vnd.openxmlformats-officedocument.presentationml.slideMaster+xml"/>
  <Override PartName="/ppt/slides/slide59.xml" ContentType="application/vnd.openxmlformats-officedocument.presentationml.slide+xml"/>
  <Override PartName="/ppt/slideMasters/slideMaster60.xml" ContentType="application/vnd.openxmlformats-officedocument.presentationml.slideMaster+xml"/>
  <Override PartName="/ppt/slides/slide60.xml" ContentType="application/vnd.openxmlformats-officedocument.presentationml.slide+xml"/>
  <Override PartName="/ppt/slideMasters/slideMaster61.xml" ContentType="application/vnd.openxmlformats-officedocument.presentationml.slideMaster+xml"/>
  <Override PartName="/ppt/slides/slide61.xml" ContentType="application/vnd.openxmlformats-officedocument.presentationml.slide+xml"/>
  <Override PartName="/ppt/slideMasters/slideMaster62.xml" ContentType="application/vnd.openxmlformats-officedocument.presentationml.slideMaster+xml"/>
  <Override PartName="/ppt/slides/slide62.xml" ContentType="application/vnd.openxmlformats-officedocument.presentationml.slide+xml"/>
  <Override PartName="/ppt/slideMasters/slideMaster63.xml" ContentType="application/vnd.openxmlformats-officedocument.presentationml.slideMaster+xml"/>
  <Override PartName="/ppt/slides/slide63.xml" ContentType="application/vnd.openxmlformats-officedocument.presentationml.slide+xml"/>
  <Override PartName="/ppt/slideMasters/slideMaster64.xml" ContentType="application/vnd.openxmlformats-officedocument.presentationml.slideMaster+xml"/>
  <Override PartName="/ppt/slides/slide64.xml" ContentType="application/vnd.openxmlformats-officedocument.presentationml.slide+xml"/>
  <Override PartName="/ppt/slideMasters/slideMaster65.xml" ContentType="application/vnd.openxmlformats-officedocument.presentationml.slideMaster+xml"/>
  <Override PartName="/ppt/slides/slide65.xml" ContentType="application/vnd.openxmlformats-officedocument.presentationml.slide+xml"/>
  <Override PartName="/ppt/slideMasters/slideMaster66.xml" ContentType="application/vnd.openxmlformats-officedocument.presentationml.slideMaster+xml"/>
  <Override PartName="/ppt/slides/slide66.xml" ContentType="application/vnd.openxmlformats-officedocument.presentationml.slide+xml"/>
  <Override PartName="/ppt/slideMasters/slideMaster67.xml" ContentType="application/vnd.openxmlformats-officedocument.presentationml.slideMaster+xml"/>
  <Override PartName="/ppt/slides/slide67.xml" ContentType="application/vnd.openxmlformats-officedocument.presentationml.slide+xml"/>
  <Override PartName="/ppt/slideMasters/slideMaster68.xml" ContentType="application/vnd.openxmlformats-officedocument.presentationml.slideMaster+xml"/>
  <Override PartName="/ppt/slides/slide68.xml" ContentType="application/vnd.openxmlformats-officedocument.presentationml.slide+xml"/>
  <Override PartName="/ppt/slideMasters/slideMaster69.xml" ContentType="application/vnd.openxmlformats-officedocument.presentationml.slideMaster+xml"/>
  <Override PartName="/ppt/slides/slide69.xml" ContentType="application/vnd.openxmlformats-officedocument.presentationml.slide+xml"/>
  <Override PartName="/ppt/slideMasters/slideMaster70.xml" ContentType="application/vnd.openxmlformats-officedocument.presentationml.slideMaster+xml"/>
  <Override PartName="/ppt/slides/slide70.xml" ContentType="application/vnd.openxmlformats-officedocument.presentationml.slide+xml"/>
  <Override PartName="/ppt/slideMasters/slideMaster71.xml" ContentType="application/vnd.openxmlformats-officedocument.presentationml.slideMaster+xml"/>
  <Override PartName="/ppt/slides/slide71.xml" ContentType="application/vnd.openxmlformats-officedocument.presentationml.slide+xml"/>
  <Override PartName="/ppt/slideMasters/slideMaster72.xml" ContentType="application/vnd.openxmlformats-officedocument.presentationml.slideMaster+xml"/>
  <Override PartName="/ppt/slides/slide72.xml" ContentType="application/vnd.openxmlformats-officedocument.presentationml.slide+xml"/>
  <Override PartName="/ppt/slideMasters/slideMaster73.xml" ContentType="application/vnd.openxmlformats-officedocument.presentationml.slideMaster+xml"/>
  <Override PartName="/ppt/slides/slide73.xml" ContentType="application/vnd.openxmlformats-officedocument.presentationml.slide+xml"/>
  <Override PartName="/ppt/slideMasters/slideMaster74.xml" ContentType="application/vnd.openxmlformats-officedocument.presentationml.slideMaster+xml"/>
  <Override PartName="/ppt/slides/slide74.xml" ContentType="application/vnd.openxmlformats-officedocument.presentationml.slide+xml"/>
  <Override PartName="/ppt/slideMasters/slideMaster75.xml" ContentType="application/vnd.openxmlformats-officedocument.presentationml.slideMaster+xml"/>
  <Override PartName="/ppt/slides/slide75.xml" ContentType="application/vnd.openxmlformats-officedocument.presentationml.slide+xml"/>
  <Override PartName="/ppt/slideMasters/slideMaster76.xml" ContentType="application/vnd.openxmlformats-officedocument.presentationml.slideMaster+xml"/>
  <Override PartName="/ppt/slides/slide76.xml" ContentType="application/vnd.openxmlformats-officedocument.presentationml.slide+xml"/>
  <Override PartName="/ppt/slideMasters/slideMaster77.xml" ContentType="application/vnd.openxmlformats-officedocument.presentationml.slideMaster+xml"/>
  <Override PartName="/ppt/slides/slide77.xml" ContentType="application/vnd.openxmlformats-officedocument.presentationml.slide+xml"/>
  <Override PartName="/ppt/slideMasters/slideMaster78.xml" ContentType="application/vnd.openxmlformats-officedocument.presentationml.slideMaster+xml"/>
  <Override PartName="/ppt/slides/slide78.xml" ContentType="application/vnd.openxmlformats-officedocument.presentationml.slide+xml"/>
  <Override PartName="/ppt/slideMasters/slideMaster79.xml" ContentType="application/vnd.openxmlformats-officedocument.presentationml.slideMaster+xml"/>
  <Override PartName="/ppt/slides/slide79.xml" ContentType="application/vnd.openxmlformats-officedocument.presentationml.slide+xml"/>
  <Override PartName="/ppt/slideMasters/slideMaster80.xml" ContentType="application/vnd.openxmlformats-officedocument.presentationml.slideMaster+xml"/>
  <Override PartName="/ppt/slides/slide80.xml" ContentType="application/vnd.openxmlformats-officedocument.presentationml.slide+xml"/>
  <Override PartName="/ppt/slideMasters/slideMaster81.xml" ContentType="application/vnd.openxmlformats-officedocument.presentationml.slideMaster+xml"/>
  <Override PartName="/ppt/slides/slide81.xml" ContentType="application/vnd.openxmlformats-officedocument.presentationml.slide+xml"/>
  <Override PartName="/ppt/slideMasters/slideMaster82.xml" ContentType="application/vnd.openxmlformats-officedocument.presentationml.slideMaster+xml"/>
  <Override PartName="/ppt/slides/slide82.xml" ContentType="application/vnd.openxmlformats-officedocument.presentationml.slide+xml"/>
  <Override PartName="/ppt/slideMasters/slideMaster83.xml" ContentType="application/vnd.openxmlformats-officedocument.presentationml.slideMaster+xml"/>
  <Override PartName="/ppt/slides/slide83.xml" ContentType="application/vnd.openxmlformats-officedocument.presentationml.slide+xml"/>
  <Override PartName="/ppt/slideMasters/slideMaster84.xml" ContentType="application/vnd.openxmlformats-officedocument.presentationml.slideMaster+xml"/>
  <Override PartName="/ppt/slides/slide8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 id="332" r:id="rId78"/>
    <p:sldId id="333" r:id="rId79"/>
    <p:sldId id="334" r:id="rId80"/>
    <p:sldId id="335" r:id="rId81"/>
    <p:sldId id="336" r:id="rId82"/>
    <p:sldId id="337" r:id="rId83"/>
    <p:sldId id="338" r:id="rId84"/>
    <p:sldId id="339" r:id="rId85"/>
  </p:sldIdLst>
  <p:notesMasterIdLst>
    <p:notesMasterId r:id="rId8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69" Type="http://schemas.openxmlformats.org/officeDocument/2006/relationships/slide" Target="slides/slide68.xml"/><Relationship Id="rId70" Type="http://schemas.openxmlformats.org/officeDocument/2006/relationships/slide" Target="slides/slide69.xml"/><Relationship Id="rId71" Type="http://schemas.openxmlformats.org/officeDocument/2006/relationships/slide" Target="slides/slide70.xml"/><Relationship Id="rId72" Type="http://schemas.openxmlformats.org/officeDocument/2006/relationships/slide" Target="slides/slide71.xml"/><Relationship Id="rId73" Type="http://schemas.openxmlformats.org/officeDocument/2006/relationships/slide" Target="slides/slide72.xml"/><Relationship Id="rId74" Type="http://schemas.openxmlformats.org/officeDocument/2006/relationships/slide" Target="slides/slide73.xml"/><Relationship Id="rId75" Type="http://schemas.openxmlformats.org/officeDocument/2006/relationships/slide" Target="slides/slide74.xml"/><Relationship Id="rId76" Type="http://schemas.openxmlformats.org/officeDocument/2006/relationships/slide" Target="slides/slide75.xml"/><Relationship Id="rId77" Type="http://schemas.openxmlformats.org/officeDocument/2006/relationships/slide" Target="slides/slide76.xml"/><Relationship Id="rId78" Type="http://schemas.openxmlformats.org/officeDocument/2006/relationships/slide" Target="slides/slide77.xml"/><Relationship Id="rId79" Type="http://schemas.openxmlformats.org/officeDocument/2006/relationships/slide" Target="slides/slide78.xml"/><Relationship Id="rId80" Type="http://schemas.openxmlformats.org/officeDocument/2006/relationships/slide" Target="slides/slide79.xml"/><Relationship Id="rId81" Type="http://schemas.openxmlformats.org/officeDocument/2006/relationships/slide" Target="slides/slide80.xml"/><Relationship Id="rId82" Type="http://schemas.openxmlformats.org/officeDocument/2006/relationships/slide" Target="slides/slide81.xml"/><Relationship Id="rId83" Type="http://schemas.openxmlformats.org/officeDocument/2006/relationships/slide" Target="slides/slide82.xml"/><Relationship Id="rId84" Type="http://schemas.openxmlformats.org/officeDocument/2006/relationships/slide" Target="slides/slide83.xml"/><Relationship Id="rId85" Type="http://schemas.openxmlformats.org/officeDocument/2006/relationships/slide" Target="slides/slide84.xml"/><Relationship Id="rId86" Type="http://schemas.openxmlformats.org/officeDocument/2006/relationships/notesMaster" Target="notesMasters/notesMaster1.xml"/><Relationship Id="rId87" Type="http://schemas.openxmlformats.org/officeDocument/2006/relationships/presProps" Target="presProps.xml"/><Relationship Id="rId88" Type="http://schemas.openxmlformats.org/officeDocument/2006/relationships/viewProps" Target="viewProps.xml"/><Relationship Id="rId89" Type="http://schemas.openxmlformats.org/officeDocument/2006/relationships/theme" Target="theme/theme1.xml"/><Relationship Id="rId9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_rels/notesSlide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1.xml"/>
		</Relationships>
</file>

<file path=ppt/notesSlides/_rels/notesSlide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2.xml"/>
		</Relationships>
</file>

<file path=ppt/notesSlides/_rels/notesSlide6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3.xml"/>
		</Relationships>
</file>

<file path=ppt/notesSlides/_rels/notesSlide6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4.xml"/>
		</Relationships>
</file>

<file path=ppt/notesSlides/_rels/notesSlide6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5.xml"/>
		</Relationships>
</file>

<file path=ppt/notesSlides/_rels/notesSlide6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6.xml"/>
		</Relationships>
</file>

<file path=ppt/notesSlides/_rels/notesSlide6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7.xml"/>
		</Relationships>
</file>

<file path=ppt/notesSlides/_rels/notesSlide6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8.xml"/>
		</Relationships>
</file>

<file path=ppt/notesSlides/_rels/notesSlide6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9.xml"/>
		</Relationships>
</file>

<file path=ppt/notesSlides/_rels/notesSlide7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0.xml"/>
		</Relationships>
</file>

<file path=ppt/notesSlides/_rels/notesSlide7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1.xml"/>
		</Relationships>
</file>

<file path=ppt/notesSlides/_rels/notesSlide7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2.xml"/>
		</Relationships>
</file>

<file path=ppt/notesSlides/_rels/notesSlide7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3.xml"/>
		</Relationships>
</file>

<file path=ppt/notesSlides/_rels/notesSlide7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4.xml"/>
		</Relationships>
</file>

<file path=ppt/notesSlides/_rels/notesSlide7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5.xml"/>
		</Relationships>
</file>

<file path=ppt/notesSlides/_rels/notesSlide7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6.xml"/>
		</Relationships>
</file>

<file path=ppt/notesSlides/_rels/notesSlide7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7.xml"/>
		</Relationships>
</file>

<file path=ppt/notesSlides/_rels/notesSlide7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8.xml"/>
		</Relationships>
</file>

<file path=ppt/notesSlides/_rels/notesSlide7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9.xml"/>
		</Relationships>
</file>

<file path=ppt/notesSlides/_rels/notesSlide8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0.xml"/>
		</Relationships>
</file>

<file path=ppt/notesSlides/_rels/notesSlide8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1.xml"/>
		</Relationships>
</file>

<file path=ppt/notesSlides/_rels/notesSlide8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2.xml"/>
		</Relationships>
</file>

<file path=ppt/notesSlides/_rels/notesSlide8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3.xml"/>
		</Relationships>
</file>

<file path=ppt/notesSlides/_rels/notesSlide8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1295C"/>
        </a:solidFill>
      </p:bgPr>
    </p:bg>
    <p:spTree>
      <p:nvGrpSpPr>
        <p:cNvPr id="1" name=""/>
        <p:cNvGrpSpPr/>
        <p:nvPr/>
      </p:nvGrpSpPr>
      <p:grpSpPr>
        <a:xfrm>
          <a:off x="0" y="0"/>
          <a:ext cx="0" cy="0"/>
          <a:chOff x="0" y="0"/>
          <a:chExt cx="0" cy="0"/>
        </a:xfrm>
      </p:grpSpPr>
      <p:sp>
        <p:nvSpPr>
          <p:cNvPr id="2" name="Shape 0"/>
          <p:cNvSpPr/>
          <p:nvPr/>
        </p:nvSpPr>
        <p:spPr>
          <a:xfrm>
            <a:off x="9692640" y="-1463040"/>
            <a:ext cx="4206240" cy="4206240"/>
          </a:xfrm>
          <a:prstGeom prst="ellipse">
            <a:avLst/>
          </a:prstGeom>
          <a:solidFill>
            <a:srgbClr val="065A82">
              <a:alpha val="45000"/>
            </a:srgbClr>
          </a:solidFill>
          <a:ln/>
        </p:spPr>
      </p:sp>
      <p:sp>
        <p:nvSpPr>
          <p:cNvPr id="3" name="Shape 1"/>
          <p:cNvSpPr/>
          <p:nvPr/>
        </p:nvSpPr>
        <p:spPr>
          <a:xfrm>
            <a:off x="-1280160" y="4572000"/>
            <a:ext cx="3291840" cy="3291840"/>
          </a:xfrm>
          <a:prstGeom prst="ellipse">
            <a:avLst/>
          </a:prstGeom>
          <a:solidFill>
            <a:srgbClr val="1C7293">
              <a:alpha val="40000"/>
            </a:srgbClr>
          </a:solidFill>
          <a:ln/>
        </p:spPr>
      </p:sp>
      <p:sp>
        <p:nvSpPr>
          <p:cNvPr id="4" name="Text 2"/>
          <p:cNvSpPr/>
          <p:nvPr/>
        </p:nvSpPr>
        <p:spPr>
          <a:xfrm>
            <a:off x="822960" y="1371600"/>
            <a:ext cx="9144000" cy="457200"/>
          </a:xfrm>
          <a:prstGeom prst="rect">
            <a:avLst/>
          </a:prstGeom>
          <a:noFill/>
          <a:ln/>
        </p:spPr>
        <p:txBody>
          <a:bodyPr wrap="square" lIns="0" tIns="0" rIns="0" bIns="0" rtlCol="0" anchor="ctr"/>
          <a:lstStyle/>
          <a:p>
            <a:pPr indent="0" marL="0">
              <a:buNone/>
            </a:pPr>
            <a:r>
              <a:rPr lang="en-US" sz="1400" spc="200" kern="0" dirty="0">
                <a:solidFill>
                  <a:srgbClr val="8FD3E8"/>
                </a:solidFill>
                <a:latin typeface="Calibri" pitchFamily="34" charset="0"/>
                <a:ea typeface="Calibri" pitchFamily="34" charset="-122"/>
                <a:cs typeface="Calibri" pitchFamily="34" charset="-120"/>
              </a:rPr>
              <a:t>CERTIFIED KUBERNETES ADMINISTRATOR · v1.36</a:t>
            </a:r>
            <a:endParaRPr lang="en-US" sz="1400" dirty="0"/>
          </a:p>
        </p:txBody>
      </p:sp>
      <p:sp>
        <p:nvSpPr>
          <p:cNvPr id="5" name="Text 3"/>
          <p:cNvSpPr/>
          <p:nvPr/>
        </p:nvSpPr>
        <p:spPr>
          <a:xfrm>
            <a:off x="822960" y="1828800"/>
            <a:ext cx="10241280" cy="1645920"/>
          </a:xfrm>
          <a:prstGeom prst="rect">
            <a:avLst/>
          </a:prstGeom>
          <a:noFill/>
          <a:ln/>
        </p:spPr>
        <p:txBody>
          <a:bodyPr wrap="square" lIns="0" tIns="0" rIns="0" bIns="0" rtlCol="0" anchor="ctr"/>
          <a:lstStyle/>
          <a:p>
            <a:pPr indent="0" marL="0">
              <a:buNone/>
            </a:pPr>
            <a:r>
              <a:rPr lang="en-US" sz="4400" b="1" dirty="0">
                <a:solidFill>
                  <a:srgbClr val="FFFFFF"/>
                </a:solidFill>
                <a:latin typeface="Cambria" pitchFamily="34" charset="0"/>
                <a:ea typeface="Cambria" pitchFamily="34" charset="-122"/>
                <a:cs typeface="Cambria" pitchFamily="34" charset="-120"/>
              </a:rPr>
              <a:t>Module 2: Deployments,</a:t>
            </a:r>
            <a:endParaRPr lang="en-US" sz="4400" dirty="0"/>
          </a:p>
          <a:p>
            <a:pPr indent="0" marL="0">
              <a:buNone/>
            </a:pPr>
            <a:r>
              <a:rPr lang="en-US" sz="4400" b="1" dirty="0">
                <a:solidFill>
                  <a:srgbClr val="FFFFFF"/>
                </a:solidFill>
                <a:latin typeface="Cambria" pitchFamily="34" charset="0"/>
                <a:ea typeface="Cambria" pitchFamily="34" charset="-122"/>
                <a:cs typeface="Cambria" pitchFamily="34" charset="-120"/>
              </a:rPr>
              <a:t>Services &amp; Networking</a:t>
            </a:r>
            <a:endParaRPr lang="en-US" sz="4400" dirty="0"/>
          </a:p>
        </p:txBody>
      </p:sp>
      <p:sp>
        <p:nvSpPr>
          <p:cNvPr id="6" name="Text 4"/>
          <p:cNvSpPr/>
          <p:nvPr/>
        </p:nvSpPr>
        <p:spPr>
          <a:xfrm>
            <a:off x="822960" y="3291840"/>
            <a:ext cx="9601200" cy="731520"/>
          </a:xfrm>
          <a:prstGeom prst="rect">
            <a:avLst/>
          </a:prstGeom>
          <a:noFill/>
          <a:ln/>
        </p:spPr>
        <p:txBody>
          <a:bodyPr wrap="square" lIns="0" tIns="0" rIns="0" bIns="0" rtlCol="0" anchor="ctr"/>
          <a:lstStyle/>
          <a:p>
            <a:pPr indent="0" marL="0">
              <a:buNone/>
            </a:pPr>
            <a:r>
              <a:rPr lang="en-US" sz="1900" dirty="0">
                <a:solidFill>
                  <a:srgbClr val="C9E4ED"/>
                </a:solidFill>
                <a:latin typeface="Calibri" pitchFamily="34" charset="0"/>
                <a:ea typeface="Calibri" pitchFamily="34" charset="-122"/>
                <a:cs typeface="Calibri" pitchFamily="34" charset="-120"/>
              </a:rPr>
              <a:t>Exam-Centric Patterns for Connectivity, Traffic Routing &amp; Scheduling</a:t>
            </a:r>
            <a:endParaRPr lang="en-US" sz="1900" dirty="0"/>
          </a:p>
        </p:txBody>
      </p:sp>
      <p:sp>
        <p:nvSpPr>
          <p:cNvPr id="7" name="Shape 5"/>
          <p:cNvSpPr/>
          <p:nvPr/>
        </p:nvSpPr>
        <p:spPr>
          <a:xfrm>
            <a:off x="822960" y="4572000"/>
            <a:ext cx="7863840" cy="1371600"/>
          </a:xfrm>
          <a:prstGeom prst="roundRect">
            <a:avLst>
              <a:gd name="adj" fmla="val 5333"/>
            </a:avLst>
          </a:prstGeom>
          <a:solidFill>
            <a:srgbClr val="FFFFFF">
              <a:alpha val="8000"/>
            </a:srgbClr>
          </a:solidFill>
          <a:ln w="12700">
            <a:solidFill>
              <a:srgbClr val="8FD3E8"/>
            </a:solidFill>
            <a:prstDash val="solid"/>
          </a:ln>
        </p:spPr>
      </p:sp>
      <p:sp>
        <p:nvSpPr>
          <p:cNvPr id="8" name="Text 6"/>
          <p:cNvSpPr/>
          <p:nvPr/>
        </p:nvSpPr>
        <p:spPr>
          <a:xfrm>
            <a:off x="1051560" y="4736592"/>
            <a:ext cx="7406640" cy="1097280"/>
          </a:xfrm>
          <a:prstGeom prst="rect">
            <a:avLst/>
          </a:prstGeom>
          <a:noFill/>
          <a:ln/>
        </p:spPr>
        <p:txBody>
          <a:bodyPr wrap="square" lIns="0" tIns="0" rIns="0" bIns="0" rtlCol="0" anchor="ctr"/>
          <a:lstStyle/>
          <a:p>
            <a:pPr marL="342900" indent="-342900">
              <a:buSzPct val="100000"/>
              <a:buChar char="•"/>
            </a:pPr>
            <a:r>
              <a:rPr lang="en-US" sz="1300" dirty="0">
                <a:solidFill>
                  <a:srgbClr val="FFFFFF"/>
                </a:solidFill>
                <a:latin typeface="Calibri" pitchFamily="34" charset="0"/>
                <a:ea typeface="Calibri" pitchFamily="34" charset="-122"/>
                <a:cs typeface="Calibri" pitchFamily="34" charset="-120"/>
              </a:rPr>
              <a:t>Certified Kubernetes Administrator (CKA) · Kubernetes v1.36</a:t>
            </a:r>
            <a:endParaRPr lang="en-US" sz="1300" dirty="0"/>
          </a:p>
          <a:p>
            <a:pPr marL="342900" indent="-342900">
              <a:buSzPct val="100000"/>
              <a:buChar char="•"/>
            </a:pPr>
            <a:r>
              <a:rPr lang="en-US" sz="1300" dirty="0">
                <a:solidFill>
                  <a:srgbClr val="FFFFFF"/>
                </a:solidFill>
                <a:latin typeface="Calibri" pitchFamily="34" charset="0"/>
                <a:ea typeface="Calibri" pitchFamily="34" charset="-122"/>
                <a:cs typeface="Calibri" pitchFamily="34" charset="-120"/>
              </a:rPr>
              <a:t>Exam Domain Weight: Services &amp; Networking ~20% · Workloads ~15%</a:t>
            </a:r>
            <a:endParaRPr lang="en-US" sz="1300" dirty="0"/>
          </a:p>
          <a:p>
            <a:pPr marL="342900" indent="-342900">
              <a:buSzPct val="100000"/>
              <a:buChar char="•"/>
            </a:pPr>
            <a:r>
              <a:rPr lang="en-US" sz="1300" dirty="0">
                <a:solidFill>
                  <a:srgbClr val="FFFFFF"/>
                </a:solidFill>
                <a:latin typeface="Calibri" pitchFamily="34" charset="0"/>
                <a:ea typeface="Calibri" pitchFamily="34" charset="-122"/>
                <a:cs typeface="Calibri" pitchFamily="34" charset="-120"/>
              </a:rPr>
              <a:t>Format: every topic ends in a Scenario → Root Cause → Fix exam pattern</a:t>
            </a:r>
            <a:endParaRPr lang="en-US" sz="1300" dirty="0"/>
          </a:p>
        </p:txBody>
      </p:sp>
      <p:sp>
        <p:nvSpPr>
          <p:cNvPr id="9" name="Text 7"/>
          <p:cNvSpPr/>
          <p:nvPr/>
        </p:nvSpPr>
        <p:spPr>
          <a:xfrm>
            <a:off x="457200" y="6446520"/>
            <a:ext cx="6400800" cy="27432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CKA v1.36 · Module 1 · Cluster Architecture, Installation &amp; Configuration</a:t>
            </a:r>
            <a:endParaRPr lang="en-US" sz="900" dirty="0"/>
          </a:p>
        </p:txBody>
      </p:sp>
      <p:sp>
        <p:nvSpPr>
          <p:cNvPr id="10" name="Text 8"/>
          <p:cNvSpPr/>
          <p:nvPr/>
        </p:nvSpPr>
        <p:spPr>
          <a:xfrm>
            <a:off x="11247120" y="6446520"/>
            <a:ext cx="4572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1</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11480"/>
            <a:ext cx="10789920" cy="640080"/>
          </a:xfrm>
          <a:prstGeom prst="rect">
            <a:avLst/>
          </a:prstGeom>
          <a:noFill/>
          <a:ln/>
        </p:spPr>
        <p:txBody>
          <a:bodyPr wrap="square" lIns="0" tIns="0" rIns="0" bIns="0" rtlCol="0" anchor="ctr"/>
          <a:lstStyle/>
          <a:p>
            <a:pPr indent="0" marL="0">
              <a:buNone/>
            </a:pPr>
            <a:r>
              <a:rPr lang="en-US" sz="3000" b="1" dirty="0">
                <a:solidFill>
                  <a:srgbClr val="21295C"/>
                </a:solidFill>
                <a:latin typeface="Cambria" pitchFamily="34" charset="0"/>
                <a:ea typeface="Cambria" pitchFamily="34" charset="-122"/>
                <a:cs typeface="Cambria" pitchFamily="34" charset="-120"/>
              </a:rPr>
              <a:t>Module 2 Roadmap</a:t>
            </a:r>
            <a:endParaRPr lang="en-US" sz="3000" dirty="0"/>
          </a:p>
        </p:txBody>
      </p:sp>
      <p:sp>
        <p:nvSpPr>
          <p:cNvPr id="3" name="Shape 1"/>
          <p:cNvSpPr/>
          <p:nvPr/>
        </p:nvSpPr>
        <p:spPr>
          <a:xfrm>
            <a:off x="640080" y="1097280"/>
            <a:ext cx="10881360" cy="0"/>
          </a:xfrm>
          <a:prstGeom prst="line">
            <a:avLst/>
          </a:prstGeom>
          <a:noFill/>
          <a:ln w="12700">
            <a:solidFill>
              <a:srgbClr val="D7E3E8"/>
            </a:solidFill>
            <a:prstDash val="solid"/>
          </a:ln>
        </p:spPr>
      </p:sp>
      <p:sp>
        <p:nvSpPr>
          <p:cNvPr id="4" name="Shape 2"/>
          <p:cNvSpPr/>
          <p:nvPr/>
        </p:nvSpPr>
        <p:spPr>
          <a:xfrm>
            <a:off x="640080" y="1472184"/>
            <a:ext cx="384048" cy="384048"/>
          </a:xfrm>
          <a:prstGeom prst="ellipse">
            <a:avLst/>
          </a:prstGeom>
          <a:solidFill>
            <a:srgbClr val="065A82"/>
          </a:solidFill>
          <a:ln/>
        </p:spPr>
      </p:sp>
      <p:sp>
        <p:nvSpPr>
          <p:cNvPr id="5" name="Text 3"/>
          <p:cNvSpPr/>
          <p:nvPr/>
        </p:nvSpPr>
        <p:spPr>
          <a:xfrm>
            <a:off x="640080" y="1472184"/>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6" name="Text 4"/>
          <p:cNvSpPr/>
          <p:nvPr/>
        </p:nvSpPr>
        <p:spPr>
          <a:xfrm>
            <a:off x="1170432" y="1417320"/>
            <a:ext cx="4709160" cy="594360"/>
          </a:xfrm>
          <a:prstGeom prst="rect">
            <a:avLst/>
          </a:prstGeom>
          <a:noFill/>
          <a:ln/>
        </p:spPr>
        <p:txBody>
          <a:bodyPr wrap="square" lIns="0" tIns="0" rIns="0" bIns="0" rtlCol="0" anchor="ctr"/>
          <a:lstStyle/>
          <a:p>
            <a:pPr indent="0" marL="0">
              <a:buNone/>
            </a:pPr>
            <a:r>
              <a:rPr lang="en-US" sz="1350" dirty="0">
                <a:solidFill>
                  <a:srgbClr val="1E293B"/>
                </a:solidFill>
                <a:latin typeface="Calibri" pitchFamily="34" charset="0"/>
                <a:ea typeface="Calibri" pitchFamily="34" charset="-122"/>
                <a:cs typeface="Calibri" pitchFamily="34" charset="-120"/>
              </a:rPr>
              <a:t>A. Deployments — Exam-Critical Patterns</a:t>
            </a:r>
            <a:endParaRPr lang="en-US" sz="1350" dirty="0"/>
          </a:p>
        </p:txBody>
      </p:sp>
      <p:sp>
        <p:nvSpPr>
          <p:cNvPr id="7" name="Shape 5"/>
          <p:cNvSpPr/>
          <p:nvPr/>
        </p:nvSpPr>
        <p:spPr>
          <a:xfrm>
            <a:off x="640080" y="2185416"/>
            <a:ext cx="384048" cy="384048"/>
          </a:xfrm>
          <a:prstGeom prst="ellipse">
            <a:avLst/>
          </a:prstGeom>
          <a:solidFill>
            <a:srgbClr val="065A82"/>
          </a:solidFill>
          <a:ln/>
        </p:spPr>
      </p:sp>
      <p:sp>
        <p:nvSpPr>
          <p:cNvPr id="8" name="Text 6"/>
          <p:cNvSpPr/>
          <p:nvPr/>
        </p:nvSpPr>
        <p:spPr>
          <a:xfrm>
            <a:off x="640080" y="2185416"/>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9" name="Text 7"/>
          <p:cNvSpPr/>
          <p:nvPr/>
        </p:nvSpPr>
        <p:spPr>
          <a:xfrm>
            <a:off x="1170432" y="2130552"/>
            <a:ext cx="4709160" cy="594360"/>
          </a:xfrm>
          <a:prstGeom prst="rect">
            <a:avLst/>
          </a:prstGeom>
          <a:noFill/>
          <a:ln/>
        </p:spPr>
        <p:txBody>
          <a:bodyPr wrap="square" lIns="0" tIns="0" rIns="0" bIns="0" rtlCol="0" anchor="ctr"/>
          <a:lstStyle/>
          <a:p>
            <a:pPr indent="0" marL="0">
              <a:buNone/>
            </a:pPr>
            <a:r>
              <a:rPr lang="en-US" sz="1350" dirty="0">
                <a:solidFill>
                  <a:srgbClr val="1E293B"/>
                </a:solidFill>
                <a:latin typeface="Calibri" pitchFamily="34" charset="0"/>
                <a:ea typeface="Calibri" pitchFamily="34" charset="-122"/>
                <a:cs typeface="Calibri" pitchFamily="34" charset="-120"/>
              </a:rPr>
              <a:t>B. Deployment Strategies</a:t>
            </a:r>
            <a:endParaRPr lang="en-US" sz="1350" dirty="0"/>
          </a:p>
        </p:txBody>
      </p:sp>
      <p:sp>
        <p:nvSpPr>
          <p:cNvPr id="10" name="Shape 8"/>
          <p:cNvSpPr/>
          <p:nvPr/>
        </p:nvSpPr>
        <p:spPr>
          <a:xfrm>
            <a:off x="640080" y="2898648"/>
            <a:ext cx="384048" cy="384048"/>
          </a:xfrm>
          <a:prstGeom prst="ellipse">
            <a:avLst/>
          </a:prstGeom>
          <a:solidFill>
            <a:srgbClr val="065A82"/>
          </a:solidFill>
          <a:ln/>
        </p:spPr>
      </p:sp>
      <p:sp>
        <p:nvSpPr>
          <p:cNvPr id="11" name="Text 9"/>
          <p:cNvSpPr/>
          <p:nvPr/>
        </p:nvSpPr>
        <p:spPr>
          <a:xfrm>
            <a:off x="640080" y="289864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2" name="Text 10"/>
          <p:cNvSpPr/>
          <p:nvPr/>
        </p:nvSpPr>
        <p:spPr>
          <a:xfrm>
            <a:off x="1170432" y="2843784"/>
            <a:ext cx="4709160" cy="594360"/>
          </a:xfrm>
          <a:prstGeom prst="rect">
            <a:avLst/>
          </a:prstGeom>
          <a:noFill/>
          <a:ln/>
        </p:spPr>
        <p:txBody>
          <a:bodyPr wrap="square" lIns="0" tIns="0" rIns="0" bIns="0" rtlCol="0" anchor="ctr"/>
          <a:lstStyle/>
          <a:p>
            <a:pPr indent="0" marL="0">
              <a:buNone/>
            </a:pPr>
            <a:r>
              <a:rPr lang="en-US" sz="1350" dirty="0">
                <a:solidFill>
                  <a:srgbClr val="1E293B"/>
                </a:solidFill>
                <a:latin typeface="Calibri" pitchFamily="34" charset="0"/>
                <a:ea typeface="Calibri" pitchFamily="34" charset="-122"/>
                <a:cs typeface="Calibri" pitchFamily="34" charset="-120"/>
              </a:rPr>
              <a:t>C. Pod-to-Pod Connectivity</a:t>
            </a:r>
            <a:endParaRPr lang="en-US" sz="1350" dirty="0"/>
          </a:p>
        </p:txBody>
      </p:sp>
      <p:sp>
        <p:nvSpPr>
          <p:cNvPr id="13" name="Shape 11"/>
          <p:cNvSpPr/>
          <p:nvPr/>
        </p:nvSpPr>
        <p:spPr>
          <a:xfrm>
            <a:off x="640080" y="3611880"/>
            <a:ext cx="384048" cy="384048"/>
          </a:xfrm>
          <a:prstGeom prst="ellipse">
            <a:avLst/>
          </a:prstGeom>
          <a:solidFill>
            <a:srgbClr val="065A82"/>
          </a:solidFill>
          <a:ln/>
        </p:spPr>
      </p:sp>
      <p:sp>
        <p:nvSpPr>
          <p:cNvPr id="14" name="Text 12"/>
          <p:cNvSpPr/>
          <p:nvPr/>
        </p:nvSpPr>
        <p:spPr>
          <a:xfrm>
            <a:off x="640080" y="361188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15" name="Text 13"/>
          <p:cNvSpPr/>
          <p:nvPr/>
        </p:nvSpPr>
        <p:spPr>
          <a:xfrm>
            <a:off x="1170432" y="3557016"/>
            <a:ext cx="4709160" cy="594360"/>
          </a:xfrm>
          <a:prstGeom prst="rect">
            <a:avLst/>
          </a:prstGeom>
          <a:noFill/>
          <a:ln/>
        </p:spPr>
        <p:txBody>
          <a:bodyPr wrap="square" lIns="0" tIns="0" rIns="0" bIns="0" rtlCol="0" anchor="ctr"/>
          <a:lstStyle/>
          <a:p>
            <a:pPr indent="0" marL="0">
              <a:buNone/>
            </a:pPr>
            <a:r>
              <a:rPr lang="en-US" sz="1350" dirty="0">
                <a:solidFill>
                  <a:srgbClr val="1E293B"/>
                </a:solidFill>
                <a:latin typeface="Calibri" pitchFamily="34" charset="0"/>
                <a:ea typeface="Calibri" pitchFamily="34" charset="-122"/>
                <a:cs typeface="Calibri" pitchFamily="34" charset="-120"/>
              </a:rPr>
              <a:t>D. Network Policies</a:t>
            </a:r>
            <a:endParaRPr lang="en-US" sz="1350" dirty="0"/>
          </a:p>
        </p:txBody>
      </p:sp>
      <p:sp>
        <p:nvSpPr>
          <p:cNvPr id="16" name="Shape 14"/>
          <p:cNvSpPr/>
          <p:nvPr/>
        </p:nvSpPr>
        <p:spPr>
          <a:xfrm>
            <a:off x="640080" y="4325112"/>
            <a:ext cx="384048" cy="384048"/>
          </a:xfrm>
          <a:prstGeom prst="ellipse">
            <a:avLst/>
          </a:prstGeom>
          <a:solidFill>
            <a:srgbClr val="065A82"/>
          </a:solidFill>
          <a:ln/>
        </p:spPr>
      </p:sp>
      <p:sp>
        <p:nvSpPr>
          <p:cNvPr id="17" name="Text 15"/>
          <p:cNvSpPr/>
          <p:nvPr/>
        </p:nvSpPr>
        <p:spPr>
          <a:xfrm>
            <a:off x="640080" y="4325112"/>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5</a:t>
            </a:r>
            <a:endParaRPr lang="en-US" sz="1400" dirty="0"/>
          </a:p>
        </p:txBody>
      </p:sp>
      <p:sp>
        <p:nvSpPr>
          <p:cNvPr id="18" name="Text 16"/>
          <p:cNvSpPr/>
          <p:nvPr/>
        </p:nvSpPr>
        <p:spPr>
          <a:xfrm>
            <a:off x="1170432" y="4270248"/>
            <a:ext cx="4709160" cy="594360"/>
          </a:xfrm>
          <a:prstGeom prst="rect">
            <a:avLst/>
          </a:prstGeom>
          <a:noFill/>
          <a:ln/>
        </p:spPr>
        <p:txBody>
          <a:bodyPr wrap="square" lIns="0" tIns="0" rIns="0" bIns="0" rtlCol="0" anchor="ctr"/>
          <a:lstStyle/>
          <a:p>
            <a:pPr indent="0" marL="0">
              <a:buNone/>
            </a:pPr>
            <a:r>
              <a:rPr lang="en-US" sz="1350" dirty="0">
                <a:solidFill>
                  <a:srgbClr val="1E293B"/>
                </a:solidFill>
                <a:latin typeface="Calibri" pitchFamily="34" charset="0"/>
                <a:ea typeface="Calibri" pitchFamily="34" charset="-122"/>
                <a:cs typeface="Calibri" pitchFamily="34" charset="-120"/>
              </a:rPr>
              <a:t>E. Service Types &amp; Endpoints</a:t>
            </a:r>
            <a:endParaRPr lang="en-US" sz="1350" dirty="0"/>
          </a:p>
        </p:txBody>
      </p:sp>
      <p:sp>
        <p:nvSpPr>
          <p:cNvPr id="19" name="Shape 17"/>
          <p:cNvSpPr/>
          <p:nvPr/>
        </p:nvSpPr>
        <p:spPr>
          <a:xfrm>
            <a:off x="640080" y="5038344"/>
            <a:ext cx="384048" cy="384048"/>
          </a:xfrm>
          <a:prstGeom prst="ellipse">
            <a:avLst/>
          </a:prstGeom>
          <a:solidFill>
            <a:srgbClr val="065A82"/>
          </a:solidFill>
          <a:ln/>
        </p:spPr>
      </p:sp>
      <p:sp>
        <p:nvSpPr>
          <p:cNvPr id="20" name="Text 18"/>
          <p:cNvSpPr/>
          <p:nvPr/>
        </p:nvSpPr>
        <p:spPr>
          <a:xfrm>
            <a:off x="640080" y="5038344"/>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6</a:t>
            </a:r>
            <a:endParaRPr lang="en-US" sz="1400" dirty="0"/>
          </a:p>
        </p:txBody>
      </p:sp>
      <p:sp>
        <p:nvSpPr>
          <p:cNvPr id="21" name="Text 19"/>
          <p:cNvSpPr/>
          <p:nvPr/>
        </p:nvSpPr>
        <p:spPr>
          <a:xfrm>
            <a:off x="1170432" y="4983480"/>
            <a:ext cx="4709160" cy="594360"/>
          </a:xfrm>
          <a:prstGeom prst="rect">
            <a:avLst/>
          </a:prstGeom>
          <a:noFill/>
          <a:ln/>
        </p:spPr>
        <p:txBody>
          <a:bodyPr wrap="square" lIns="0" tIns="0" rIns="0" bIns="0" rtlCol="0" anchor="ctr"/>
          <a:lstStyle/>
          <a:p>
            <a:pPr indent="0" marL="0">
              <a:buNone/>
            </a:pPr>
            <a:r>
              <a:rPr lang="en-US" sz="1350" dirty="0">
                <a:solidFill>
                  <a:srgbClr val="1E293B"/>
                </a:solidFill>
                <a:latin typeface="Calibri" pitchFamily="34" charset="0"/>
                <a:ea typeface="Calibri" pitchFamily="34" charset="-122"/>
                <a:cs typeface="Calibri" pitchFamily="34" charset="-120"/>
              </a:rPr>
              <a:t>F. Gateway API for Ingress Traffic</a:t>
            </a:r>
            <a:endParaRPr lang="en-US" sz="1350" dirty="0"/>
          </a:p>
        </p:txBody>
      </p:sp>
      <p:sp>
        <p:nvSpPr>
          <p:cNvPr id="22" name="Shape 20"/>
          <p:cNvSpPr/>
          <p:nvPr/>
        </p:nvSpPr>
        <p:spPr>
          <a:xfrm>
            <a:off x="640080" y="5751576"/>
            <a:ext cx="384048" cy="384048"/>
          </a:xfrm>
          <a:prstGeom prst="ellipse">
            <a:avLst/>
          </a:prstGeom>
          <a:solidFill>
            <a:srgbClr val="065A82"/>
          </a:solidFill>
          <a:ln/>
        </p:spPr>
      </p:sp>
      <p:sp>
        <p:nvSpPr>
          <p:cNvPr id="23" name="Text 21"/>
          <p:cNvSpPr/>
          <p:nvPr/>
        </p:nvSpPr>
        <p:spPr>
          <a:xfrm>
            <a:off x="640080" y="5751576"/>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7</a:t>
            </a:r>
            <a:endParaRPr lang="en-US" sz="1400" dirty="0"/>
          </a:p>
        </p:txBody>
      </p:sp>
      <p:sp>
        <p:nvSpPr>
          <p:cNvPr id="24" name="Text 22"/>
          <p:cNvSpPr/>
          <p:nvPr/>
        </p:nvSpPr>
        <p:spPr>
          <a:xfrm>
            <a:off x="1170432" y="5696712"/>
            <a:ext cx="4709160" cy="594360"/>
          </a:xfrm>
          <a:prstGeom prst="rect">
            <a:avLst/>
          </a:prstGeom>
          <a:noFill/>
          <a:ln/>
        </p:spPr>
        <p:txBody>
          <a:bodyPr wrap="square" lIns="0" tIns="0" rIns="0" bIns="0" rtlCol="0" anchor="ctr"/>
          <a:lstStyle/>
          <a:p>
            <a:pPr indent="0" marL="0">
              <a:buNone/>
            </a:pPr>
            <a:r>
              <a:rPr lang="en-US" sz="1350" dirty="0">
                <a:solidFill>
                  <a:srgbClr val="1E293B"/>
                </a:solidFill>
                <a:latin typeface="Calibri" pitchFamily="34" charset="0"/>
                <a:ea typeface="Calibri" pitchFamily="34" charset="-122"/>
                <a:cs typeface="Calibri" pitchFamily="34" charset="-120"/>
              </a:rPr>
              <a:t>G. Ingress Controllers &amp; Resources</a:t>
            </a:r>
            <a:endParaRPr lang="en-US" sz="1350" dirty="0"/>
          </a:p>
        </p:txBody>
      </p:sp>
      <p:sp>
        <p:nvSpPr>
          <p:cNvPr id="25" name="Shape 23"/>
          <p:cNvSpPr/>
          <p:nvPr/>
        </p:nvSpPr>
        <p:spPr>
          <a:xfrm>
            <a:off x="6355080" y="1472184"/>
            <a:ext cx="384048" cy="384048"/>
          </a:xfrm>
          <a:prstGeom prst="ellipse">
            <a:avLst/>
          </a:prstGeom>
          <a:solidFill>
            <a:srgbClr val="065A82"/>
          </a:solidFill>
          <a:ln/>
        </p:spPr>
      </p:sp>
      <p:sp>
        <p:nvSpPr>
          <p:cNvPr id="26" name="Text 24"/>
          <p:cNvSpPr/>
          <p:nvPr/>
        </p:nvSpPr>
        <p:spPr>
          <a:xfrm>
            <a:off x="6355080" y="1472184"/>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8</a:t>
            </a:r>
            <a:endParaRPr lang="en-US" sz="1400" dirty="0"/>
          </a:p>
        </p:txBody>
      </p:sp>
      <p:sp>
        <p:nvSpPr>
          <p:cNvPr id="27" name="Text 25"/>
          <p:cNvSpPr/>
          <p:nvPr/>
        </p:nvSpPr>
        <p:spPr>
          <a:xfrm>
            <a:off x="6885432" y="1417320"/>
            <a:ext cx="4709160" cy="594360"/>
          </a:xfrm>
          <a:prstGeom prst="rect">
            <a:avLst/>
          </a:prstGeom>
          <a:noFill/>
          <a:ln/>
        </p:spPr>
        <p:txBody>
          <a:bodyPr wrap="square" lIns="0" tIns="0" rIns="0" bIns="0" rtlCol="0" anchor="ctr"/>
          <a:lstStyle/>
          <a:p>
            <a:pPr indent="0" marL="0">
              <a:buNone/>
            </a:pPr>
            <a:r>
              <a:rPr lang="en-US" sz="1350" dirty="0">
                <a:solidFill>
                  <a:srgbClr val="1E293B"/>
                </a:solidFill>
                <a:latin typeface="Calibri" pitchFamily="34" charset="0"/>
                <a:ea typeface="Calibri" pitchFamily="34" charset="-122"/>
                <a:cs typeface="Calibri" pitchFamily="34" charset="-120"/>
              </a:rPr>
              <a:t>H. CoreDNS</a:t>
            </a:r>
            <a:endParaRPr lang="en-US" sz="1350" dirty="0"/>
          </a:p>
        </p:txBody>
      </p:sp>
      <p:sp>
        <p:nvSpPr>
          <p:cNvPr id="28" name="Shape 26"/>
          <p:cNvSpPr/>
          <p:nvPr/>
        </p:nvSpPr>
        <p:spPr>
          <a:xfrm>
            <a:off x="6355080" y="2185416"/>
            <a:ext cx="384048" cy="384048"/>
          </a:xfrm>
          <a:prstGeom prst="ellipse">
            <a:avLst/>
          </a:prstGeom>
          <a:solidFill>
            <a:srgbClr val="065A82"/>
          </a:solidFill>
          <a:ln/>
        </p:spPr>
      </p:sp>
      <p:sp>
        <p:nvSpPr>
          <p:cNvPr id="29" name="Text 27"/>
          <p:cNvSpPr/>
          <p:nvPr/>
        </p:nvSpPr>
        <p:spPr>
          <a:xfrm>
            <a:off x="6355080" y="2185416"/>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9</a:t>
            </a:r>
            <a:endParaRPr lang="en-US" sz="1400" dirty="0"/>
          </a:p>
        </p:txBody>
      </p:sp>
      <p:sp>
        <p:nvSpPr>
          <p:cNvPr id="30" name="Text 28"/>
          <p:cNvSpPr/>
          <p:nvPr/>
        </p:nvSpPr>
        <p:spPr>
          <a:xfrm>
            <a:off x="6885432" y="2130552"/>
            <a:ext cx="4709160" cy="594360"/>
          </a:xfrm>
          <a:prstGeom prst="rect">
            <a:avLst/>
          </a:prstGeom>
          <a:noFill/>
          <a:ln/>
        </p:spPr>
        <p:txBody>
          <a:bodyPr wrap="square" lIns="0" tIns="0" rIns="0" bIns="0" rtlCol="0" anchor="ctr"/>
          <a:lstStyle/>
          <a:p>
            <a:pPr indent="0" marL="0">
              <a:buNone/>
            </a:pPr>
            <a:r>
              <a:rPr lang="en-US" sz="1350" dirty="0">
                <a:solidFill>
                  <a:srgbClr val="1E293B"/>
                </a:solidFill>
                <a:latin typeface="Calibri" pitchFamily="34" charset="0"/>
                <a:ea typeface="Calibri" pitchFamily="34" charset="-122"/>
                <a:cs typeface="Calibri" pitchFamily="34" charset="-120"/>
              </a:rPr>
              <a:t>I. Pod Admission &amp; Scheduling</a:t>
            </a:r>
            <a:endParaRPr lang="en-US" sz="1350" dirty="0"/>
          </a:p>
        </p:txBody>
      </p:sp>
      <p:sp>
        <p:nvSpPr>
          <p:cNvPr id="31" name="Shape 29"/>
          <p:cNvSpPr/>
          <p:nvPr/>
        </p:nvSpPr>
        <p:spPr>
          <a:xfrm>
            <a:off x="6355080" y="2898648"/>
            <a:ext cx="384048" cy="384048"/>
          </a:xfrm>
          <a:prstGeom prst="ellipse">
            <a:avLst/>
          </a:prstGeom>
          <a:solidFill>
            <a:srgbClr val="065A82"/>
          </a:solidFill>
          <a:ln/>
        </p:spPr>
      </p:sp>
      <p:sp>
        <p:nvSpPr>
          <p:cNvPr id="32" name="Text 30"/>
          <p:cNvSpPr/>
          <p:nvPr/>
        </p:nvSpPr>
        <p:spPr>
          <a:xfrm>
            <a:off x="6355080" y="289864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10</a:t>
            </a:r>
            <a:endParaRPr lang="en-US" sz="1400" dirty="0"/>
          </a:p>
        </p:txBody>
      </p:sp>
      <p:sp>
        <p:nvSpPr>
          <p:cNvPr id="33" name="Text 31"/>
          <p:cNvSpPr/>
          <p:nvPr/>
        </p:nvSpPr>
        <p:spPr>
          <a:xfrm>
            <a:off x="6885432" y="2843784"/>
            <a:ext cx="4709160" cy="594360"/>
          </a:xfrm>
          <a:prstGeom prst="rect">
            <a:avLst/>
          </a:prstGeom>
          <a:noFill/>
          <a:ln/>
        </p:spPr>
        <p:txBody>
          <a:bodyPr wrap="square" lIns="0" tIns="0" rIns="0" bIns="0" rtlCol="0" anchor="ctr"/>
          <a:lstStyle/>
          <a:p>
            <a:pPr indent="0" marL="0">
              <a:buNone/>
            </a:pPr>
            <a:r>
              <a:rPr lang="en-US" sz="1350" dirty="0">
                <a:solidFill>
                  <a:srgbClr val="1E293B"/>
                </a:solidFill>
                <a:latin typeface="Calibri" pitchFamily="34" charset="0"/>
                <a:ea typeface="Calibri" pitchFamily="34" charset="-122"/>
                <a:cs typeface="Calibri" pitchFamily="34" charset="-120"/>
              </a:rPr>
              <a:t>Sample Certification Questions (with solutions)</a:t>
            </a:r>
            <a:endParaRPr lang="en-US" sz="1350" dirty="0"/>
          </a:p>
        </p:txBody>
      </p:sp>
      <p:sp>
        <p:nvSpPr>
          <p:cNvPr id="34" name="Shape 32"/>
          <p:cNvSpPr/>
          <p:nvPr/>
        </p:nvSpPr>
        <p:spPr>
          <a:xfrm>
            <a:off x="6355080" y="3611880"/>
            <a:ext cx="384048" cy="384048"/>
          </a:xfrm>
          <a:prstGeom prst="ellipse">
            <a:avLst/>
          </a:prstGeom>
          <a:solidFill>
            <a:srgbClr val="065A82"/>
          </a:solidFill>
          <a:ln/>
        </p:spPr>
      </p:sp>
      <p:sp>
        <p:nvSpPr>
          <p:cNvPr id="35" name="Text 33"/>
          <p:cNvSpPr/>
          <p:nvPr/>
        </p:nvSpPr>
        <p:spPr>
          <a:xfrm>
            <a:off x="6355080" y="361188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11</a:t>
            </a:r>
            <a:endParaRPr lang="en-US" sz="1400" dirty="0"/>
          </a:p>
        </p:txBody>
      </p:sp>
      <p:sp>
        <p:nvSpPr>
          <p:cNvPr id="36" name="Text 34"/>
          <p:cNvSpPr/>
          <p:nvPr/>
        </p:nvSpPr>
        <p:spPr>
          <a:xfrm>
            <a:off x="6885432" y="3557016"/>
            <a:ext cx="4709160" cy="594360"/>
          </a:xfrm>
          <a:prstGeom prst="rect">
            <a:avLst/>
          </a:prstGeom>
          <a:noFill/>
          <a:ln/>
        </p:spPr>
        <p:txBody>
          <a:bodyPr wrap="square" lIns="0" tIns="0" rIns="0" bIns="0" rtlCol="0" anchor="ctr"/>
          <a:lstStyle/>
          <a:p>
            <a:pPr indent="0" marL="0">
              <a:buNone/>
            </a:pPr>
            <a:r>
              <a:rPr lang="en-US" sz="1350" dirty="0">
                <a:solidFill>
                  <a:srgbClr val="1E293B"/>
                </a:solidFill>
                <a:latin typeface="Calibri" pitchFamily="34" charset="0"/>
                <a:ea typeface="Calibri" pitchFamily="34" charset="-122"/>
                <a:cs typeface="Calibri" pitchFamily="34" charset="-120"/>
              </a:rPr>
              <a:t>Classroom Practice Lab Questions</a:t>
            </a:r>
            <a:endParaRPr lang="en-US" sz="1350" dirty="0"/>
          </a:p>
        </p:txBody>
      </p:sp>
      <p:sp>
        <p:nvSpPr>
          <p:cNvPr id="37" name="Text 35"/>
          <p:cNvSpPr/>
          <p:nvPr/>
        </p:nvSpPr>
        <p:spPr>
          <a:xfrm>
            <a:off x="457200" y="6446520"/>
            <a:ext cx="6400800" cy="27432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CKA v1.36 · Module 2</a:t>
            </a:r>
            <a:endParaRPr lang="en-US" sz="900" dirty="0"/>
          </a:p>
        </p:txBody>
      </p:sp>
      <p:sp>
        <p:nvSpPr>
          <p:cNvPr id="38" name="Text 36"/>
          <p:cNvSpPr/>
          <p:nvPr/>
        </p:nvSpPr>
        <p:spPr>
          <a:xfrm>
            <a:off x="11247120" y="6446520"/>
            <a:ext cx="4572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65760"/>
            <a:ext cx="9144000" cy="320040"/>
          </a:xfrm>
          <a:prstGeom prst="rect">
            <a:avLst/>
          </a:prstGeom>
          <a:noFill/>
          <a:ln/>
        </p:spPr>
        <p:txBody>
          <a:bodyPr wrap="square" lIns="0" tIns="0" rIns="0" bIns="0" rtlCol="0" anchor="ctr"/>
          <a:lstStyle/>
          <a:p>
            <a:pPr indent="0" marL="0">
              <a:buNone/>
            </a:pPr>
            <a:r>
              <a:rPr lang="en-US" sz="1150" b="1" spc="150" kern="0" dirty="0">
                <a:solidFill>
                  <a:srgbClr val="1C7293"/>
                </a:solidFill>
                <a:latin typeface="Calibri" pitchFamily="34" charset="0"/>
                <a:ea typeface="Calibri" pitchFamily="34" charset="-122"/>
                <a:cs typeface="Calibri" pitchFamily="34" charset="-120"/>
              </a:rPr>
              <a:t>HOW THIS MODULE WORKS</a:t>
            </a:r>
            <a:endParaRPr lang="en-US" sz="1150" dirty="0"/>
          </a:p>
        </p:txBody>
      </p:sp>
      <p:sp>
        <p:nvSpPr>
          <p:cNvPr id="3" name="Text 1"/>
          <p:cNvSpPr/>
          <p:nvPr/>
        </p:nvSpPr>
        <p:spPr>
          <a:xfrm>
            <a:off x="640080" y="658368"/>
            <a:ext cx="10881360" cy="685800"/>
          </a:xfrm>
          <a:prstGeom prst="rect">
            <a:avLst/>
          </a:prstGeom>
          <a:noFill/>
          <a:ln/>
        </p:spPr>
        <p:txBody>
          <a:bodyPr wrap="square" lIns="0" tIns="0" rIns="0" bIns="0" rtlCol="0" anchor="ctr"/>
          <a:lstStyle/>
          <a:p>
            <a:pPr indent="0" marL="0">
              <a:buNone/>
            </a:pPr>
            <a:r>
              <a:rPr lang="en-US" sz="2600" b="1" dirty="0">
                <a:solidFill>
                  <a:srgbClr val="21295C"/>
                </a:solidFill>
                <a:latin typeface="Cambria" pitchFamily="34" charset="0"/>
                <a:ea typeface="Cambria" pitchFamily="34" charset="-122"/>
                <a:cs typeface="Cambria" pitchFamily="34" charset="-120"/>
              </a:rPr>
              <a:t>The Exam Pattern Format</a:t>
            </a:r>
            <a:endParaRPr lang="en-US" sz="2600" dirty="0"/>
          </a:p>
        </p:txBody>
      </p:sp>
      <p:sp>
        <p:nvSpPr>
          <p:cNvPr id="4" name="Shape 2"/>
          <p:cNvSpPr/>
          <p:nvPr/>
        </p:nvSpPr>
        <p:spPr>
          <a:xfrm>
            <a:off x="640080" y="1371600"/>
            <a:ext cx="10881360" cy="0"/>
          </a:xfrm>
          <a:prstGeom prst="line">
            <a:avLst/>
          </a:prstGeom>
          <a:noFill/>
          <a:ln w="12700">
            <a:solidFill>
              <a:srgbClr val="D7E3E8"/>
            </a:solidFill>
            <a:prstDash val="solid"/>
          </a:ln>
        </p:spPr>
      </p:sp>
      <p:sp>
        <p:nvSpPr>
          <p:cNvPr id="5" name="Shape 3"/>
          <p:cNvSpPr/>
          <p:nvPr/>
        </p:nvSpPr>
        <p:spPr>
          <a:xfrm>
            <a:off x="11109960" y="411480"/>
            <a:ext cx="502920" cy="502920"/>
          </a:xfrm>
          <a:prstGeom prst="ellipse">
            <a:avLst/>
          </a:prstGeom>
          <a:solidFill>
            <a:srgbClr val="EAF4F8"/>
          </a:solidFill>
          <a:ln w="15875">
            <a:solidFill>
              <a:srgbClr val="1C7293"/>
            </a:solidFill>
            <a:prstDash val="solid"/>
          </a:ln>
        </p:spPr>
      </p:sp>
      <p:sp>
        <p:nvSpPr>
          <p:cNvPr id="6" name="Text 4"/>
          <p:cNvSpPr/>
          <p:nvPr/>
        </p:nvSpPr>
        <p:spPr>
          <a:xfrm>
            <a:off x="11109960" y="411480"/>
            <a:ext cx="502920" cy="502920"/>
          </a:xfrm>
          <a:prstGeom prst="rect">
            <a:avLst/>
          </a:prstGeom>
          <a:noFill/>
          <a:ln/>
        </p:spPr>
        <p:txBody>
          <a:bodyPr wrap="square" lIns="0" tIns="0" rIns="0" bIns="0" rtlCol="0" anchor="ctr"/>
          <a:lstStyle/>
          <a:p>
            <a:pPr algn="ctr" indent="0" marL="0">
              <a:buNone/>
            </a:pPr>
            <a:r>
              <a:rPr lang="en-US" sz="1600" b="1" dirty="0">
                <a:solidFill>
                  <a:srgbClr val="1C7293"/>
                </a:solidFill>
                <a:latin typeface="Calibri" pitchFamily="34" charset="0"/>
                <a:ea typeface="Calibri" pitchFamily="34" charset="-122"/>
                <a:cs typeface="Calibri" pitchFamily="34" charset="-120"/>
              </a:rPr>
              <a:t>i</a:t>
            </a:r>
            <a:endParaRPr lang="en-US" sz="1600" dirty="0"/>
          </a:p>
        </p:txBody>
      </p:sp>
      <p:sp>
        <p:nvSpPr>
          <p:cNvPr id="7" name="Text 5"/>
          <p:cNvSpPr/>
          <p:nvPr/>
        </p:nvSpPr>
        <p:spPr>
          <a:xfrm>
            <a:off x="640080" y="1600200"/>
            <a:ext cx="10881360" cy="4572000"/>
          </a:xfrm>
          <a:prstGeom prst="rect">
            <a:avLst/>
          </a:prstGeom>
          <a:noFill/>
          <a:ln/>
        </p:spPr>
        <p:txBody>
          <a:bodyPr wrap="square" lIns="0" tIns="0" rIns="0" bIns="0" rtlCol="0" anchor="t"/>
          <a:lstStyle/>
          <a:p>
            <a:pPr marL="342900" indent="-342900">
              <a:spcAft>
                <a:spcPts val="1200"/>
              </a:spcAft>
              <a:buSzPct val="100000"/>
              <a:buChar char="•"/>
            </a:pPr>
            <a:r>
              <a:rPr lang="en-US" sz="1550" dirty="0">
                <a:solidFill>
                  <a:srgbClr val="1E293B"/>
                </a:solidFill>
                <a:latin typeface="Calibri" pitchFamily="34" charset="0"/>
                <a:ea typeface="Calibri" pitchFamily="34" charset="-122"/>
                <a:cs typeface="Calibri" pitchFamily="34" charset="-120"/>
              </a:rPr>
              <a:t>Networking is the domain most candidates lose points on — not because the concepts are hard, but because the exam presents them as BROKEN scenarios you must diagnose under time pressure.</a:t>
            </a:r>
            <a:endParaRPr lang="en-US" sz="1550" dirty="0"/>
          </a:p>
          <a:p>
            <a:pPr marL="342900" indent="-342900">
              <a:spcAft>
                <a:spcPts val="1200"/>
              </a:spcAft>
              <a:buSzPct val="100000"/>
              <a:buChar char="•"/>
            </a:pPr>
            <a:r>
              <a:rPr lang="en-US" sz="1550" dirty="0">
                <a:solidFill>
                  <a:srgbClr val="1E293B"/>
                </a:solidFill>
                <a:latin typeface="Calibri" pitchFamily="34" charset="0"/>
                <a:ea typeface="Calibri" pitchFamily="34" charset="-122"/>
                <a:cs typeface="Calibri" pitchFamily="34" charset="-120"/>
              </a:rPr>
              <a:t>Every major topic in this module includes at least one Exam Pattern slide: SYMPTOM (what you'd see in the terminal) → ROOT CAUSE (the underlying misconfiguration) → THE FIX (the exact command or YAML change).</a:t>
            </a:r>
            <a:endParaRPr lang="en-US" sz="1550" dirty="0"/>
          </a:p>
          <a:p>
            <a:pPr marL="342900" indent="-342900">
              <a:spcAft>
                <a:spcPts val="1200"/>
              </a:spcAft>
              <a:buSzPct val="100000"/>
              <a:buChar char="•"/>
            </a:pPr>
            <a:r>
              <a:rPr lang="en-US" sz="1550" dirty="0">
                <a:solidFill>
                  <a:srgbClr val="1E293B"/>
                </a:solidFill>
                <a:latin typeface="Calibri" pitchFamily="34" charset="0"/>
                <a:ea typeface="Calibri" pitchFamily="34" charset="-122"/>
                <a:cs typeface="Calibri" pitchFamily="34" charset="-120"/>
              </a:rPr>
              <a:t>Memorize the diagnostic ORDER, not just the fix: Pod connectivity issues are almost always Selector mismatch → NetworkPolicy → DNS → kube-proxy, in that order of likelihood.</a:t>
            </a:r>
            <a:endParaRPr lang="en-US" sz="1550" dirty="0"/>
          </a:p>
          <a:p>
            <a:pPr marL="342900" indent="-342900">
              <a:spcAft>
                <a:spcPts val="1200"/>
              </a:spcAft>
              <a:buSzPct val="100000"/>
              <a:buChar char="•"/>
            </a:pPr>
            <a:r>
              <a:rPr lang="en-US" sz="1550" dirty="0">
                <a:solidFill>
                  <a:srgbClr val="1E293B"/>
                </a:solidFill>
                <a:latin typeface="Calibri" pitchFamily="34" charset="0"/>
                <a:ea typeface="Calibri" pitchFamily="34" charset="-122"/>
                <a:cs typeface="Calibri" pitchFamily="34" charset="-120"/>
              </a:rPr>
              <a:t>Services &amp; Networking and Workloads/Scheduling together make up roughly a third of the entire CKA exam — this module is high-leverage study time.</a:t>
            </a:r>
            <a:endParaRPr lang="en-US" sz="1550" dirty="0"/>
          </a:p>
        </p:txBody>
      </p:sp>
      <p:sp>
        <p:nvSpPr>
          <p:cNvPr id="8" name="Text 6"/>
          <p:cNvSpPr/>
          <p:nvPr/>
        </p:nvSpPr>
        <p:spPr>
          <a:xfrm>
            <a:off x="457200" y="6446520"/>
            <a:ext cx="6400800" cy="27432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CKA v1.36 · Module 2</a:t>
            </a:r>
            <a:endParaRPr lang="en-US" sz="900" dirty="0"/>
          </a:p>
        </p:txBody>
      </p:sp>
      <p:sp>
        <p:nvSpPr>
          <p:cNvPr id="9" name="Text 7"/>
          <p:cNvSpPr/>
          <p:nvPr/>
        </p:nvSpPr>
        <p:spPr>
          <a:xfrm>
            <a:off x="11247120" y="6446520"/>
            <a:ext cx="4572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21295C"/>
        </a:solidFill>
      </p:bgPr>
    </p:bg>
    <p:spTree>
      <p:nvGrpSpPr>
        <p:cNvPr id="1" name=""/>
        <p:cNvGrpSpPr/>
        <p:nvPr/>
      </p:nvGrpSpPr>
      <p:grpSpPr>
        <a:xfrm>
          <a:off x="0" y="0"/>
          <a:ext cx="0" cy="0"/>
          <a:chOff x="0" y="0"/>
          <a:chExt cx="0" cy="0"/>
        </a:xfrm>
      </p:grpSpPr>
      <p:sp>
        <p:nvSpPr>
          <p:cNvPr id="2" name="Shape 0"/>
          <p:cNvSpPr/>
          <p:nvPr/>
        </p:nvSpPr>
        <p:spPr>
          <a:xfrm>
            <a:off x="8778240" y="3291840"/>
            <a:ext cx="5029200" cy="5029200"/>
          </a:xfrm>
          <a:prstGeom prst="ellipse">
            <a:avLst/>
          </a:prstGeom>
          <a:solidFill>
            <a:srgbClr val="065A82">
              <a:alpha val="40000"/>
            </a:srgbClr>
          </a:solidFill>
          <a:ln/>
        </p:spPr>
      </p:sp>
      <p:sp>
        <p:nvSpPr>
          <p:cNvPr id="3" name="Shape 1"/>
          <p:cNvSpPr/>
          <p:nvPr/>
        </p:nvSpPr>
        <p:spPr>
          <a:xfrm>
            <a:off x="822960" y="1828800"/>
            <a:ext cx="1371600" cy="1371600"/>
          </a:xfrm>
          <a:prstGeom prst="roundRect">
            <a:avLst>
              <a:gd name="adj" fmla="val 12000"/>
            </a:avLst>
          </a:prstGeom>
          <a:solidFill>
            <a:srgbClr val="1C7293"/>
          </a:solidFill>
          <a:ln/>
          <a:effectLst>
            <a:outerShdw sx="100000" sy="100000" kx="0" ky="0" algn="bl" rotWithShape="0" blurRad="88900" dist="25400" dir="2700000">
              <a:srgbClr val="1B2A36">
                <a:alpha val="12000"/>
              </a:srgbClr>
            </a:outerShdw>
          </a:effectLst>
        </p:spPr>
      </p:sp>
      <p:sp>
        <p:nvSpPr>
          <p:cNvPr id="4" name="Text 2"/>
          <p:cNvSpPr/>
          <p:nvPr/>
        </p:nvSpPr>
        <p:spPr>
          <a:xfrm>
            <a:off x="822960" y="1828800"/>
            <a:ext cx="1371600" cy="1371600"/>
          </a:xfrm>
          <a:prstGeom prst="rect">
            <a:avLst/>
          </a:prstGeom>
          <a:noFill/>
          <a:ln/>
        </p:spPr>
        <p:txBody>
          <a:bodyPr wrap="square" lIns="0" tIns="0" rIns="0" bIns="0" rtlCol="0" anchor="ctr"/>
          <a:lstStyle/>
          <a:p>
            <a:pPr algn="ctr" indent="0" marL="0">
              <a:buNone/>
            </a:pPr>
            <a:r>
              <a:rPr lang="en-US" sz="4000" b="1" dirty="0">
                <a:solidFill>
                  <a:srgbClr val="FFFFFF"/>
                </a:solidFill>
                <a:latin typeface="Cambria" pitchFamily="34" charset="0"/>
                <a:ea typeface="Cambria" pitchFamily="34" charset="-122"/>
                <a:cs typeface="Cambria" pitchFamily="34" charset="-120"/>
              </a:rPr>
              <a:t>A</a:t>
            </a:r>
            <a:endParaRPr lang="en-US" sz="4000" dirty="0"/>
          </a:p>
        </p:txBody>
      </p:sp>
      <p:sp>
        <p:nvSpPr>
          <p:cNvPr id="5" name="Text 3"/>
          <p:cNvSpPr/>
          <p:nvPr/>
        </p:nvSpPr>
        <p:spPr>
          <a:xfrm>
            <a:off x="2468880" y="1828800"/>
            <a:ext cx="8961120" cy="100584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Deployments — Exam-Critical Patterns</a:t>
            </a:r>
            <a:endParaRPr lang="en-US" sz="3200" dirty="0"/>
          </a:p>
        </p:txBody>
      </p:sp>
      <p:sp>
        <p:nvSpPr>
          <p:cNvPr id="6" name="Text 4"/>
          <p:cNvSpPr/>
          <p:nvPr/>
        </p:nvSpPr>
        <p:spPr>
          <a:xfrm>
            <a:off x="2468880" y="2788920"/>
            <a:ext cx="8961120" cy="640080"/>
          </a:xfrm>
          <a:prstGeom prst="rect">
            <a:avLst/>
          </a:prstGeom>
          <a:noFill/>
          <a:ln/>
        </p:spPr>
        <p:txBody>
          <a:bodyPr wrap="square" lIns="0" tIns="0" rIns="0" bIns="0" rtlCol="0" anchor="ctr"/>
          <a:lstStyle/>
          <a:p>
            <a:pPr indent="0" marL="0">
              <a:buNone/>
            </a:pPr>
            <a:r>
              <a:rPr lang="en-US" sz="1600" dirty="0">
                <a:solidFill>
                  <a:srgbClr val="C9E4ED"/>
                </a:solidFill>
                <a:latin typeface="Calibri" pitchFamily="34" charset="0"/>
                <a:ea typeface="Calibri" pitchFamily="34" charset="-122"/>
                <a:cs typeface="Calibri" pitchFamily="34" charset="-120"/>
              </a:rPr>
              <a:t>Beyond the basics: what actually gets tested</a:t>
            </a:r>
            <a:endParaRPr lang="en-US" sz="1600" dirty="0"/>
          </a:p>
        </p:txBody>
      </p:sp>
      <p:sp>
        <p:nvSpPr>
          <p:cNvPr id="7" name="Shape 5"/>
          <p:cNvSpPr/>
          <p:nvPr/>
        </p:nvSpPr>
        <p:spPr>
          <a:xfrm>
            <a:off x="2468880" y="3429000"/>
            <a:ext cx="8961120" cy="548640"/>
          </a:xfrm>
          <a:prstGeom prst="roundRect">
            <a:avLst>
              <a:gd name="adj" fmla="val 16667"/>
            </a:avLst>
          </a:prstGeom>
          <a:solidFill>
            <a:srgbClr val="FFFFFF">
              <a:alpha val="10000"/>
            </a:srgbClr>
          </a:solidFill>
          <a:ln w="9525">
            <a:solidFill>
              <a:srgbClr val="8FD3E8"/>
            </a:solidFill>
            <a:prstDash val="solid"/>
          </a:ln>
        </p:spPr>
      </p:sp>
      <p:sp>
        <p:nvSpPr>
          <p:cNvPr id="8" name="Text 6"/>
          <p:cNvSpPr/>
          <p:nvPr/>
        </p:nvSpPr>
        <p:spPr>
          <a:xfrm>
            <a:off x="2697480" y="3429000"/>
            <a:ext cx="8503920" cy="548640"/>
          </a:xfrm>
          <a:prstGeom prst="rect">
            <a:avLst/>
          </a:prstGeom>
          <a:noFill/>
          <a:ln/>
        </p:spPr>
        <p:txBody>
          <a:bodyPr wrap="square" lIns="0" tIns="0" rIns="0" bIns="0" rtlCol="0" anchor="ctr"/>
          <a:lstStyle/>
          <a:p>
            <a:pPr algn="l" indent="0" marL="0">
              <a:buNone/>
            </a:pPr>
            <a:r>
              <a:rPr lang="en-US" sz="1200" dirty="0">
                <a:solidFill>
                  <a:srgbClr val="DCEFF5"/>
                </a:solidFill>
                <a:latin typeface="Calibri" pitchFamily="34" charset="0"/>
                <a:ea typeface="Calibri" pitchFamily="34" charset="-122"/>
                <a:cs typeface="Calibri" pitchFamily="34" charset="-120"/>
              </a:rPr>
              <a:t>Domain: Workloads &amp; Scheduling · Deployments</a:t>
            </a:r>
            <a:endParaRPr lang="en-US" sz="1200" dirty="0"/>
          </a:p>
        </p:txBody>
      </p:sp>
      <p:sp>
        <p:nvSpPr>
          <p:cNvPr id="9" name="Text 7"/>
          <p:cNvSpPr/>
          <p:nvPr/>
        </p:nvSpPr>
        <p:spPr>
          <a:xfrm>
            <a:off x="457200" y="6446520"/>
            <a:ext cx="6400800" cy="27432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CKA v1.36 · Module 2</a:t>
            </a:r>
            <a:endParaRPr lang="en-US" sz="900" dirty="0"/>
          </a:p>
        </p:txBody>
      </p:sp>
      <p:sp>
        <p:nvSpPr>
          <p:cNvPr id="10" name="Text 8"/>
          <p:cNvSpPr/>
          <p:nvPr/>
        </p:nvSpPr>
        <p:spPr>
          <a:xfrm>
            <a:off x="11247120" y="6446520"/>
            <a:ext cx="4572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65760"/>
            <a:ext cx="9144000" cy="320040"/>
          </a:xfrm>
          <a:prstGeom prst="rect">
            <a:avLst/>
          </a:prstGeom>
          <a:noFill/>
          <a:ln/>
        </p:spPr>
        <p:txBody>
          <a:bodyPr wrap="square" lIns="0" tIns="0" rIns="0" bIns="0" rtlCol="0" anchor="ctr"/>
          <a:lstStyle/>
          <a:p>
            <a:pPr indent="0" marL="0">
              <a:buNone/>
            </a:pPr>
            <a:r>
              <a:rPr lang="en-US" sz="1150" b="1" spc="150" kern="0" dirty="0">
                <a:solidFill>
                  <a:srgbClr val="1C7293"/>
                </a:solidFill>
                <a:latin typeface="Calibri" pitchFamily="34" charset="0"/>
                <a:ea typeface="Calibri" pitchFamily="34" charset="-122"/>
                <a:cs typeface="Calibri" pitchFamily="34" charset="-120"/>
              </a:rPr>
              <a:t>DEPLOYMENTS</a:t>
            </a:r>
            <a:endParaRPr lang="en-US" sz="1150" dirty="0"/>
          </a:p>
        </p:txBody>
      </p:sp>
      <p:sp>
        <p:nvSpPr>
          <p:cNvPr id="3" name="Text 1"/>
          <p:cNvSpPr/>
          <p:nvPr/>
        </p:nvSpPr>
        <p:spPr>
          <a:xfrm>
            <a:off x="640080" y="658368"/>
            <a:ext cx="10881360" cy="685800"/>
          </a:xfrm>
          <a:prstGeom prst="rect">
            <a:avLst/>
          </a:prstGeom>
          <a:noFill/>
          <a:ln/>
        </p:spPr>
        <p:txBody>
          <a:bodyPr wrap="square" lIns="0" tIns="0" rIns="0" bIns="0" rtlCol="0" anchor="ctr"/>
          <a:lstStyle/>
          <a:p>
            <a:pPr indent="0" marL="0">
              <a:buNone/>
            </a:pPr>
            <a:r>
              <a:rPr lang="en-US" sz="2600" b="1" dirty="0">
                <a:solidFill>
                  <a:srgbClr val="21295C"/>
                </a:solidFill>
                <a:latin typeface="Cambria" pitchFamily="34" charset="0"/>
                <a:ea typeface="Cambria" pitchFamily="34" charset="-122"/>
                <a:cs typeface="Cambria" pitchFamily="34" charset="-120"/>
              </a:rPr>
              <a:t>Deployment Recap — What the Exam Assumes You Already Know</a:t>
            </a:r>
            <a:endParaRPr lang="en-US" sz="2600" dirty="0"/>
          </a:p>
        </p:txBody>
      </p:sp>
      <p:sp>
        <p:nvSpPr>
          <p:cNvPr id="4" name="Shape 2"/>
          <p:cNvSpPr/>
          <p:nvPr/>
        </p:nvSpPr>
        <p:spPr>
          <a:xfrm>
            <a:off x="640080" y="1371600"/>
            <a:ext cx="10881360" cy="0"/>
          </a:xfrm>
          <a:prstGeom prst="line">
            <a:avLst/>
          </a:prstGeom>
          <a:noFill/>
          <a:ln w="12700">
            <a:solidFill>
              <a:srgbClr val="D7E3E8"/>
            </a:solidFill>
            <a:prstDash val="solid"/>
          </a:ln>
        </p:spPr>
      </p:sp>
      <p:sp>
        <p:nvSpPr>
          <p:cNvPr id="5" name="Shape 3"/>
          <p:cNvSpPr/>
          <p:nvPr/>
        </p:nvSpPr>
        <p:spPr>
          <a:xfrm>
            <a:off x="11109960" y="411480"/>
            <a:ext cx="502920" cy="502920"/>
          </a:xfrm>
          <a:prstGeom prst="ellipse">
            <a:avLst/>
          </a:prstGeom>
          <a:solidFill>
            <a:srgbClr val="EAF4F8"/>
          </a:solidFill>
          <a:ln w="15875">
            <a:solidFill>
              <a:srgbClr val="1C7293"/>
            </a:solidFill>
            <a:prstDash val="solid"/>
          </a:ln>
        </p:spPr>
      </p:sp>
      <p:sp>
        <p:nvSpPr>
          <p:cNvPr id="6" name="Text 4"/>
          <p:cNvSpPr/>
          <p:nvPr/>
        </p:nvSpPr>
        <p:spPr>
          <a:xfrm>
            <a:off x="11109960" y="411480"/>
            <a:ext cx="502920" cy="502920"/>
          </a:xfrm>
          <a:prstGeom prst="rect">
            <a:avLst/>
          </a:prstGeom>
          <a:noFill/>
          <a:ln/>
        </p:spPr>
        <p:txBody>
          <a:bodyPr wrap="square" lIns="0" tIns="0" rIns="0" bIns="0" rtlCol="0" anchor="ctr"/>
          <a:lstStyle/>
          <a:p>
            <a:pPr algn="ctr" indent="0" marL="0">
              <a:buNone/>
            </a:pPr>
            <a:r>
              <a:rPr lang="en-US" sz="1600" b="1" dirty="0">
                <a:solidFill>
                  <a:srgbClr val="1C7293"/>
                </a:solidFill>
                <a:latin typeface="Calibri" pitchFamily="34" charset="0"/>
                <a:ea typeface="Calibri" pitchFamily="34" charset="-122"/>
                <a:cs typeface="Calibri" pitchFamily="34" charset="-120"/>
              </a:rPr>
              <a:t>1</a:t>
            </a:r>
            <a:endParaRPr lang="en-US" sz="1600" dirty="0"/>
          </a:p>
        </p:txBody>
      </p:sp>
      <p:sp>
        <p:nvSpPr>
          <p:cNvPr id="7" name="Text 5"/>
          <p:cNvSpPr/>
          <p:nvPr/>
        </p:nvSpPr>
        <p:spPr>
          <a:xfrm>
            <a:off x="640080" y="1600200"/>
            <a:ext cx="10881360" cy="4572000"/>
          </a:xfrm>
          <a:prstGeom prst="rect">
            <a:avLst/>
          </a:prstGeom>
          <a:noFill/>
          <a:ln/>
        </p:spPr>
        <p:txBody>
          <a:bodyPr wrap="square" lIns="0" tIns="0" rIns="0" bIns="0" rtlCol="0" anchor="t"/>
          <a:lstStyle/>
          <a:p>
            <a:pPr marL="342900" indent="-342900">
              <a:spcAft>
                <a:spcPts val="1200"/>
              </a:spcAft>
              <a:buSzPct val="100000"/>
              <a:buChar char="•"/>
            </a:pPr>
            <a:r>
              <a:rPr lang="en-US" sz="1550" dirty="0">
                <a:solidFill>
                  <a:srgbClr val="1E293B"/>
                </a:solidFill>
                <a:latin typeface="Calibri" pitchFamily="34" charset="0"/>
                <a:ea typeface="Calibri" pitchFamily="34" charset="-122"/>
                <a:cs typeface="Calibri" pitchFamily="34" charset="-120"/>
              </a:rPr>
              <a:t>A Deployment manages a ReplicaSet, which manages Pods — changing the Pod template triggers a new ReplicaSet and a rollout.</a:t>
            </a:r>
            <a:endParaRPr lang="en-US" sz="1550" dirty="0"/>
          </a:p>
          <a:p>
            <a:pPr marL="342900" indent="-342900">
              <a:spcAft>
                <a:spcPts val="1200"/>
              </a:spcAft>
              <a:buSzPct val="100000"/>
              <a:buChar char="•"/>
            </a:pPr>
            <a:r>
              <a:rPr lang="en-US" sz="1550" dirty="0">
                <a:solidFill>
                  <a:srgbClr val="1E293B"/>
                </a:solidFill>
                <a:latin typeface="Calibri" pitchFamily="34" charset="0"/>
                <a:ea typeface="Calibri" pitchFamily="34" charset="-122"/>
                <a:cs typeface="Calibri" pitchFamily="34" charset="-120"/>
              </a:rPr>
              <a:t>kubectl create deployment, kubectl set image, kubectl scale, kubectl rollout status/undo/history are all expected to be typed from muscle memory.</a:t>
            </a:r>
            <a:endParaRPr lang="en-US" sz="1550" dirty="0"/>
          </a:p>
          <a:p>
            <a:pPr marL="342900" indent="-342900">
              <a:spcAft>
                <a:spcPts val="1200"/>
              </a:spcAft>
              <a:buSzPct val="100000"/>
              <a:buChar char="•"/>
            </a:pPr>
            <a:r>
              <a:rPr lang="en-US" sz="1550" dirty="0">
                <a:solidFill>
                  <a:srgbClr val="1E293B"/>
                </a:solidFill>
                <a:latin typeface="Calibri" pitchFamily="34" charset="0"/>
                <a:ea typeface="Calibri" pitchFamily="34" charset="-122"/>
                <a:cs typeface="Calibri" pitchFamily="34" charset="-120"/>
              </a:rPr>
              <a:t>spec.selector.matchLabels must match spec.template.metadata.labels exactly, or the API server rejects the object outright.</a:t>
            </a:r>
            <a:endParaRPr lang="en-US" sz="1550" dirty="0"/>
          </a:p>
          <a:p>
            <a:pPr marL="342900" indent="-342900">
              <a:spcAft>
                <a:spcPts val="1200"/>
              </a:spcAft>
              <a:buSzPct val="100000"/>
              <a:buChar char="•"/>
            </a:pPr>
            <a:r>
              <a:rPr lang="en-US" sz="1550" dirty="0">
                <a:solidFill>
                  <a:srgbClr val="1E293B"/>
                </a:solidFill>
                <a:latin typeface="Calibri" pitchFamily="34" charset="0"/>
                <a:ea typeface="Calibri" pitchFamily="34" charset="-122"/>
                <a:cs typeface="Calibri" pitchFamily="34" charset="-120"/>
              </a:rPr>
              <a:t>If this is new to you, review Module 1 Section F before continuing — this module assumes that foundation and goes straight to exam patterns.</a:t>
            </a:r>
            <a:endParaRPr lang="en-US" sz="1550" dirty="0"/>
          </a:p>
        </p:txBody>
      </p:sp>
      <p:sp>
        <p:nvSpPr>
          <p:cNvPr id="8" name="Text 6"/>
          <p:cNvSpPr/>
          <p:nvPr/>
        </p:nvSpPr>
        <p:spPr>
          <a:xfrm>
            <a:off x="457200" y="6446520"/>
            <a:ext cx="6400800" cy="27432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CKA v1.36 · Module 2</a:t>
            </a:r>
            <a:endParaRPr lang="en-US" sz="900" dirty="0"/>
          </a:p>
        </p:txBody>
      </p:sp>
      <p:sp>
        <p:nvSpPr>
          <p:cNvPr id="9" name="Text 7"/>
          <p:cNvSpPr/>
          <p:nvPr/>
        </p:nvSpPr>
        <p:spPr>
          <a:xfrm>
            <a:off x="11247120" y="6446520"/>
            <a:ext cx="4572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365760"/>
            <a:ext cx="2468880" cy="384048"/>
          </a:xfrm>
          <a:prstGeom prst="roundRect">
            <a:avLst>
              <a:gd name="adj" fmla="val 50000"/>
            </a:avLst>
          </a:prstGeom>
          <a:solidFill>
            <a:srgbClr val="21295C"/>
          </a:solidFill>
          <a:ln/>
        </p:spPr>
      </p:sp>
      <p:sp>
        <p:nvSpPr>
          <p:cNvPr id="3" name="Text 1"/>
          <p:cNvSpPr/>
          <p:nvPr/>
        </p:nvSpPr>
        <p:spPr>
          <a:xfrm>
            <a:off x="640080" y="365760"/>
            <a:ext cx="2468880" cy="384048"/>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EXAM PATTERN 1</a:t>
            </a:r>
            <a:endParaRPr lang="en-US" sz="1150" dirty="0"/>
          </a:p>
        </p:txBody>
      </p:sp>
      <p:sp>
        <p:nvSpPr>
          <p:cNvPr id="4" name="Text 2"/>
          <p:cNvSpPr/>
          <p:nvPr/>
        </p:nvSpPr>
        <p:spPr>
          <a:xfrm>
            <a:off x="3246120" y="365760"/>
            <a:ext cx="8229600" cy="384048"/>
          </a:xfrm>
          <a:prstGeom prst="rect">
            <a:avLst/>
          </a:prstGeom>
          <a:noFill/>
          <a:ln/>
        </p:spPr>
        <p:txBody>
          <a:bodyPr wrap="square" lIns="0" tIns="0" rIns="0" bIns="0" rtlCol="0" anchor="ctr"/>
          <a:lstStyle/>
          <a:p>
            <a:pPr indent="0" marL="0">
              <a:buNone/>
            </a:pPr>
            <a:r>
              <a:rPr lang="en-US" sz="1100" b="1" spc="120" kern="0" dirty="0">
                <a:solidFill>
                  <a:srgbClr val="1C7293"/>
                </a:solidFill>
                <a:latin typeface="Calibri" pitchFamily="34" charset="0"/>
                <a:ea typeface="Calibri" pitchFamily="34" charset="-122"/>
                <a:cs typeface="Calibri" pitchFamily="34" charset="-120"/>
              </a:rPr>
              <a:t>DEPLOYMENTS</a:t>
            </a:r>
            <a:endParaRPr lang="en-US" sz="1100" dirty="0"/>
          </a:p>
        </p:txBody>
      </p:sp>
      <p:sp>
        <p:nvSpPr>
          <p:cNvPr id="5" name="Text 3"/>
          <p:cNvSpPr/>
          <p:nvPr/>
        </p:nvSpPr>
        <p:spPr>
          <a:xfrm>
            <a:off x="640080" y="841248"/>
            <a:ext cx="10881360" cy="502920"/>
          </a:xfrm>
          <a:prstGeom prst="rect">
            <a:avLst/>
          </a:prstGeom>
          <a:noFill/>
          <a:ln/>
        </p:spPr>
        <p:txBody>
          <a:bodyPr wrap="square" lIns="0" tIns="0" rIns="0" bIns="0" rtlCol="0" anchor="ctr"/>
          <a:lstStyle/>
          <a:p>
            <a:pPr indent="0" marL="0">
              <a:buNone/>
            </a:pPr>
            <a:r>
              <a:rPr lang="en-US" sz="2100" b="1" dirty="0">
                <a:solidFill>
                  <a:srgbClr val="21295C"/>
                </a:solidFill>
                <a:latin typeface="Cambria" pitchFamily="34" charset="0"/>
                <a:ea typeface="Cambria" pitchFamily="34" charset="-122"/>
                <a:cs typeface="Cambria" pitchFamily="34" charset="-120"/>
              </a:rPr>
              <a:t>Deployment Stuck at 0/3 Ready Replicas</a:t>
            </a:r>
            <a:endParaRPr lang="en-US" sz="2100" dirty="0"/>
          </a:p>
        </p:txBody>
      </p:sp>
      <p:sp>
        <p:nvSpPr>
          <p:cNvPr id="6" name="Shape 4"/>
          <p:cNvSpPr/>
          <p:nvPr/>
        </p:nvSpPr>
        <p:spPr>
          <a:xfrm>
            <a:off x="640080" y="1463040"/>
            <a:ext cx="10881360" cy="960120"/>
          </a:xfrm>
          <a:prstGeom prst="roundRect">
            <a:avLst>
              <a:gd name="adj" fmla="val 5714"/>
            </a:avLst>
          </a:prstGeom>
          <a:solidFill>
            <a:srgbClr val="EAF4F8"/>
          </a:solidFill>
          <a:ln/>
        </p:spPr>
      </p:sp>
      <p:sp>
        <p:nvSpPr>
          <p:cNvPr id="7" name="Text 5"/>
          <p:cNvSpPr/>
          <p:nvPr/>
        </p:nvSpPr>
        <p:spPr>
          <a:xfrm>
            <a:off x="868680" y="1554480"/>
            <a:ext cx="2743200" cy="274320"/>
          </a:xfrm>
          <a:prstGeom prst="rect">
            <a:avLst/>
          </a:prstGeom>
          <a:noFill/>
          <a:ln/>
        </p:spPr>
        <p:txBody>
          <a:bodyPr wrap="square" lIns="0" tIns="0" rIns="0" bIns="0" rtlCol="0" anchor="ctr"/>
          <a:lstStyle/>
          <a:p>
            <a:pPr indent="0" marL="0">
              <a:buNone/>
            </a:pPr>
            <a:r>
              <a:rPr lang="en-US" sz="1050" b="1" spc="100" kern="0" dirty="0">
                <a:solidFill>
                  <a:srgbClr val="1C7293"/>
                </a:solidFill>
                <a:latin typeface="Calibri" pitchFamily="34" charset="0"/>
                <a:ea typeface="Calibri" pitchFamily="34" charset="-122"/>
                <a:cs typeface="Calibri" pitchFamily="34" charset="-120"/>
              </a:rPr>
              <a:t>SYMPTOM / SCENARIO</a:t>
            </a:r>
            <a:endParaRPr lang="en-US" sz="1050" dirty="0"/>
          </a:p>
        </p:txBody>
      </p:sp>
      <p:sp>
        <p:nvSpPr>
          <p:cNvPr id="8" name="Text 6"/>
          <p:cNvSpPr/>
          <p:nvPr/>
        </p:nvSpPr>
        <p:spPr>
          <a:xfrm>
            <a:off x="868680" y="1810512"/>
            <a:ext cx="10424160" cy="548640"/>
          </a:xfrm>
          <a:prstGeom prst="rect">
            <a:avLst/>
          </a:prstGeom>
          <a:noFill/>
          <a:ln/>
        </p:spPr>
        <p:txBody>
          <a:bodyPr wrap="square" lIns="0" tIns="0" rIns="0" bIns="0" rtlCol="0" anchor="t"/>
          <a:lstStyle/>
          <a:p>
            <a:pPr indent="0" marL="0">
              <a:buNone/>
            </a:pPr>
            <a:r>
              <a:rPr lang="en-US" sz="1300" dirty="0">
                <a:solidFill>
                  <a:srgbClr val="1E293B"/>
                </a:solidFill>
                <a:latin typeface="Calibri" pitchFamily="34" charset="0"/>
                <a:ea typeface="Calibri" pitchFamily="34" charset="-122"/>
                <a:cs typeface="Calibri" pitchFamily="34" charset="-120"/>
              </a:rPr>
              <a:t>You run kubectl apply -f deployment.yaml. kubectl get deployment shows 0/3 READY indefinitely, and kubectl get pods shows the Pods stuck in Pending.</a:t>
            </a:r>
            <a:endParaRPr lang="en-US" sz="1300" dirty="0"/>
          </a:p>
        </p:txBody>
      </p:sp>
      <p:sp>
        <p:nvSpPr>
          <p:cNvPr id="9" name="Shape 7"/>
          <p:cNvSpPr/>
          <p:nvPr/>
        </p:nvSpPr>
        <p:spPr>
          <a:xfrm>
            <a:off x="640080" y="2587752"/>
            <a:ext cx="10881360" cy="914400"/>
          </a:xfrm>
          <a:prstGeom prst="roundRect">
            <a:avLst>
              <a:gd name="adj" fmla="val 6000"/>
            </a:avLst>
          </a:prstGeom>
          <a:solidFill>
            <a:srgbClr val="FBF3E3"/>
          </a:solidFill>
          <a:ln/>
        </p:spPr>
      </p:sp>
      <p:sp>
        <p:nvSpPr>
          <p:cNvPr id="10" name="Text 8"/>
          <p:cNvSpPr/>
          <p:nvPr/>
        </p:nvSpPr>
        <p:spPr>
          <a:xfrm>
            <a:off x="868680" y="2679192"/>
            <a:ext cx="2743200" cy="274320"/>
          </a:xfrm>
          <a:prstGeom prst="rect">
            <a:avLst/>
          </a:prstGeom>
          <a:noFill/>
          <a:ln/>
        </p:spPr>
        <p:txBody>
          <a:bodyPr wrap="square" lIns="0" tIns="0" rIns="0" bIns="0" rtlCol="0" anchor="ctr"/>
          <a:lstStyle/>
          <a:p>
            <a:pPr indent="0" marL="0">
              <a:buNone/>
            </a:pPr>
            <a:r>
              <a:rPr lang="en-US" sz="1050" b="1" spc="100" kern="0" dirty="0">
                <a:solidFill>
                  <a:srgbClr val="B7791F"/>
                </a:solidFill>
                <a:latin typeface="Calibri" pitchFamily="34" charset="0"/>
                <a:ea typeface="Calibri" pitchFamily="34" charset="-122"/>
                <a:cs typeface="Calibri" pitchFamily="34" charset="-120"/>
              </a:rPr>
              <a:t>ROOT CAUSE</a:t>
            </a:r>
            <a:endParaRPr lang="en-US" sz="1050" dirty="0"/>
          </a:p>
        </p:txBody>
      </p:sp>
      <p:sp>
        <p:nvSpPr>
          <p:cNvPr id="11" name="Text 9"/>
          <p:cNvSpPr/>
          <p:nvPr/>
        </p:nvSpPr>
        <p:spPr>
          <a:xfrm>
            <a:off x="868680" y="2935224"/>
            <a:ext cx="10424160" cy="502920"/>
          </a:xfrm>
          <a:prstGeom prst="rect">
            <a:avLst/>
          </a:prstGeom>
          <a:noFill/>
          <a:ln/>
        </p:spPr>
        <p:txBody>
          <a:bodyPr wrap="square" lIns="0" tIns="0" rIns="0" bIns="0" rtlCol="0" anchor="t"/>
          <a:lstStyle/>
          <a:p>
            <a:pPr indent="0" marL="0">
              <a:buNone/>
            </a:pPr>
            <a:r>
              <a:rPr lang="en-US" sz="1300" dirty="0">
                <a:solidFill>
                  <a:srgbClr val="1E293B"/>
                </a:solidFill>
                <a:latin typeface="Calibri" pitchFamily="34" charset="0"/>
                <a:ea typeface="Calibri" pitchFamily="34" charset="-122"/>
                <a:cs typeface="Calibri" pitchFamily="34" charset="-120"/>
              </a:rPr>
              <a:t>Almost always insufficient cluster resources for the requested resources.requests, OR a nodeSelector / affinity rule that no node satisfies. Less commonly, an unschedulable taint with no matching toleration.</a:t>
            </a:r>
            <a:endParaRPr lang="en-US" sz="1300" dirty="0"/>
          </a:p>
        </p:txBody>
      </p:sp>
      <p:sp>
        <p:nvSpPr>
          <p:cNvPr id="12" name="Shape 10"/>
          <p:cNvSpPr/>
          <p:nvPr/>
        </p:nvSpPr>
        <p:spPr>
          <a:xfrm>
            <a:off x="640080" y="3666744"/>
            <a:ext cx="10881360" cy="1417320"/>
          </a:xfrm>
          <a:prstGeom prst="roundRect">
            <a:avLst>
              <a:gd name="adj" fmla="val 3871"/>
            </a:avLst>
          </a:prstGeom>
          <a:solidFill>
            <a:srgbClr val="E7F5EC"/>
          </a:solidFill>
          <a:ln/>
        </p:spPr>
      </p:sp>
      <p:sp>
        <p:nvSpPr>
          <p:cNvPr id="13" name="Text 11"/>
          <p:cNvSpPr/>
          <p:nvPr/>
        </p:nvSpPr>
        <p:spPr>
          <a:xfrm>
            <a:off x="868680" y="3758184"/>
            <a:ext cx="2743200" cy="274320"/>
          </a:xfrm>
          <a:prstGeom prst="rect">
            <a:avLst/>
          </a:prstGeom>
          <a:noFill/>
          <a:ln/>
        </p:spPr>
        <p:txBody>
          <a:bodyPr wrap="square" lIns="0" tIns="0" rIns="0" bIns="0" rtlCol="0" anchor="ctr"/>
          <a:lstStyle/>
          <a:p>
            <a:pPr indent="0" marL="0">
              <a:buNone/>
            </a:pPr>
            <a:r>
              <a:rPr lang="en-US" sz="1050" b="1" spc="100" kern="0" dirty="0">
                <a:solidFill>
                  <a:srgbClr val="15803D"/>
                </a:solidFill>
                <a:latin typeface="Calibri" pitchFamily="34" charset="0"/>
                <a:ea typeface="Calibri" pitchFamily="34" charset="-122"/>
                <a:cs typeface="Calibri" pitchFamily="34" charset="-120"/>
              </a:rPr>
              <a:t>THE FIX</a:t>
            </a:r>
            <a:endParaRPr lang="en-US" sz="1050" dirty="0"/>
          </a:p>
        </p:txBody>
      </p:sp>
      <p:sp>
        <p:nvSpPr>
          <p:cNvPr id="14" name="Text 12"/>
          <p:cNvSpPr/>
          <p:nvPr/>
        </p:nvSpPr>
        <p:spPr>
          <a:xfrm>
            <a:off x="868680" y="4014216"/>
            <a:ext cx="10424160" cy="365760"/>
          </a:xfrm>
          <a:prstGeom prst="rect">
            <a:avLst/>
          </a:prstGeom>
          <a:noFill/>
          <a:ln/>
        </p:spPr>
        <p:txBody>
          <a:bodyPr wrap="square" lIns="0" tIns="0" rIns="0" bIns="0" rtlCol="0" anchor="t"/>
          <a:lstStyle/>
          <a:p>
            <a:pPr indent="0" marL="0">
              <a:buNone/>
            </a:pPr>
            <a:r>
              <a:rPr lang="en-US" sz="1300" dirty="0">
                <a:solidFill>
                  <a:srgbClr val="1E293B"/>
                </a:solidFill>
                <a:latin typeface="Calibri" pitchFamily="34" charset="0"/>
                <a:ea typeface="Calibri" pitchFamily="34" charset="-122"/>
                <a:cs typeface="Calibri" pitchFamily="34" charset="-120"/>
              </a:rPr>
              <a:t>Run kubectl describe pod &lt;pod&gt; and read the Events section at the bottom — it states the exact scheduling failure reason in plain English.</a:t>
            </a:r>
            <a:endParaRPr lang="en-US" sz="1300" dirty="0"/>
          </a:p>
        </p:txBody>
      </p:sp>
      <p:sp>
        <p:nvSpPr>
          <p:cNvPr id="15" name="Shape 13"/>
          <p:cNvSpPr/>
          <p:nvPr/>
        </p:nvSpPr>
        <p:spPr>
          <a:xfrm>
            <a:off x="868680" y="4379976"/>
            <a:ext cx="10424160" cy="594360"/>
          </a:xfrm>
          <a:prstGeom prst="roundRect">
            <a:avLst>
              <a:gd name="adj" fmla="val 7692"/>
            </a:avLst>
          </a:prstGeom>
          <a:solidFill>
            <a:srgbClr val="0B2330"/>
          </a:solidFill>
          <a:ln/>
        </p:spPr>
      </p:sp>
      <p:sp>
        <p:nvSpPr>
          <p:cNvPr id="16" name="Text 14"/>
          <p:cNvSpPr/>
          <p:nvPr/>
        </p:nvSpPr>
        <p:spPr>
          <a:xfrm>
            <a:off x="1005840" y="4453128"/>
            <a:ext cx="10149840" cy="457200"/>
          </a:xfrm>
          <a:prstGeom prst="rect">
            <a:avLst/>
          </a:prstGeom>
          <a:noFill/>
          <a:ln/>
        </p:spPr>
        <p:txBody>
          <a:bodyPr wrap="square" lIns="0" tIns="0" rIns="0" bIns="0" rtlCol="0" anchor="t"/>
          <a:lstStyle/>
          <a:p>
            <a:pPr indent="0" marL="0">
              <a:buNone/>
            </a:pPr>
            <a:r>
              <a:rPr lang="en-US" sz="1200" dirty="0">
                <a:solidFill>
                  <a:srgbClr val="CFEFEA"/>
                </a:solidFill>
                <a:latin typeface="Courier New" pitchFamily="34" charset="0"/>
                <a:ea typeface="Courier New" pitchFamily="34" charset="-122"/>
                <a:cs typeface="Courier New" pitchFamily="34" charset="-120"/>
              </a:rPr>
              <a:t>kubectl describe pod &lt;pod-name&gt; | tail -15</a:t>
            </a:r>
            <a:endParaRPr lang="en-US" sz="1200" dirty="0"/>
          </a:p>
          <a:p>
            <a:pPr indent="0" marL="0">
              <a:buNone/>
            </a:pPr>
            <a:r>
              <a:rPr lang="en-US" sz="1200" dirty="0">
                <a:solidFill>
                  <a:srgbClr val="CFEFEA"/>
                </a:solidFill>
                <a:latin typeface="Courier New" pitchFamily="34" charset="0"/>
                <a:ea typeface="Courier New" pitchFamily="34" charset="-122"/>
                <a:cs typeface="Courier New" pitchFamily="34" charset="-120"/>
              </a:rPr>
              <a:t>kubectl get nodes -o jsonpath='{.items[*].status.allocatable}'</a:t>
            </a:r>
            <a:endParaRPr lang="en-US" sz="1200" dirty="0"/>
          </a:p>
        </p:txBody>
      </p:sp>
      <p:sp>
        <p:nvSpPr>
          <p:cNvPr id="17" name="Text 15"/>
          <p:cNvSpPr/>
          <p:nvPr/>
        </p:nvSpPr>
        <p:spPr>
          <a:xfrm>
            <a:off x="457200" y="6446520"/>
            <a:ext cx="6400800" cy="27432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CKA v1.36 · Module 2</a:t>
            </a:r>
            <a:endParaRPr lang="en-US" sz="900" dirty="0"/>
          </a:p>
        </p:txBody>
      </p:sp>
      <p:sp>
        <p:nvSpPr>
          <p:cNvPr id="18" name="Text 16"/>
          <p:cNvSpPr/>
          <p:nvPr/>
        </p:nvSpPr>
        <p:spPr>
          <a:xfrm>
            <a:off x="11247120" y="6446520"/>
            <a:ext cx="4572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365760"/>
            <a:ext cx="2468880" cy="384048"/>
          </a:xfrm>
          <a:prstGeom prst="roundRect">
            <a:avLst>
              <a:gd name="adj" fmla="val 50000"/>
            </a:avLst>
          </a:prstGeom>
          <a:solidFill>
            <a:srgbClr val="21295C"/>
          </a:solidFill>
          <a:ln/>
        </p:spPr>
      </p:sp>
      <p:sp>
        <p:nvSpPr>
          <p:cNvPr id="3" name="Text 1"/>
          <p:cNvSpPr/>
          <p:nvPr/>
        </p:nvSpPr>
        <p:spPr>
          <a:xfrm>
            <a:off x="640080" y="365760"/>
            <a:ext cx="2468880" cy="384048"/>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EXAM PATTERN 2</a:t>
            </a:r>
            <a:endParaRPr lang="en-US" sz="1150" dirty="0"/>
          </a:p>
        </p:txBody>
      </p:sp>
      <p:sp>
        <p:nvSpPr>
          <p:cNvPr id="4" name="Text 2"/>
          <p:cNvSpPr/>
          <p:nvPr/>
        </p:nvSpPr>
        <p:spPr>
          <a:xfrm>
            <a:off x="3246120" y="365760"/>
            <a:ext cx="8229600" cy="384048"/>
          </a:xfrm>
          <a:prstGeom prst="rect">
            <a:avLst/>
          </a:prstGeom>
          <a:noFill/>
          <a:ln/>
        </p:spPr>
        <p:txBody>
          <a:bodyPr wrap="square" lIns="0" tIns="0" rIns="0" bIns="0" rtlCol="0" anchor="ctr"/>
          <a:lstStyle/>
          <a:p>
            <a:pPr indent="0" marL="0">
              <a:buNone/>
            </a:pPr>
            <a:r>
              <a:rPr lang="en-US" sz="1100" b="1" spc="120" kern="0" dirty="0">
                <a:solidFill>
                  <a:srgbClr val="1C7293"/>
                </a:solidFill>
                <a:latin typeface="Calibri" pitchFamily="34" charset="0"/>
                <a:ea typeface="Calibri" pitchFamily="34" charset="-122"/>
                <a:cs typeface="Calibri" pitchFamily="34" charset="-120"/>
              </a:rPr>
              <a:t>DEPLOYMENTS</a:t>
            </a:r>
            <a:endParaRPr lang="en-US" sz="1100" dirty="0"/>
          </a:p>
        </p:txBody>
      </p:sp>
      <p:sp>
        <p:nvSpPr>
          <p:cNvPr id="5" name="Text 3"/>
          <p:cNvSpPr/>
          <p:nvPr/>
        </p:nvSpPr>
        <p:spPr>
          <a:xfrm>
            <a:off x="640080" y="841248"/>
            <a:ext cx="10881360" cy="502920"/>
          </a:xfrm>
          <a:prstGeom prst="rect">
            <a:avLst/>
          </a:prstGeom>
          <a:noFill/>
          <a:ln/>
        </p:spPr>
        <p:txBody>
          <a:bodyPr wrap="square" lIns="0" tIns="0" rIns="0" bIns="0" rtlCol="0" anchor="ctr"/>
          <a:lstStyle/>
          <a:p>
            <a:pPr indent="0" marL="0">
              <a:buNone/>
            </a:pPr>
            <a:r>
              <a:rPr lang="en-US" sz="2100" b="1" dirty="0">
                <a:solidFill>
                  <a:srgbClr val="21295C"/>
                </a:solidFill>
                <a:latin typeface="Cambria" pitchFamily="34" charset="0"/>
                <a:ea typeface="Cambria" pitchFamily="34" charset="-122"/>
                <a:cs typeface="Cambria" pitchFamily="34" charset="-120"/>
              </a:rPr>
              <a:t>Deployment Edits Don't Trigger a Rollout</a:t>
            </a:r>
            <a:endParaRPr lang="en-US" sz="2100" dirty="0"/>
          </a:p>
        </p:txBody>
      </p:sp>
      <p:sp>
        <p:nvSpPr>
          <p:cNvPr id="6" name="Shape 4"/>
          <p:cNvSpPr/>
          <p:nvPr/>
        </p:nvSpPr>
        <p:spPr>
          <a:xfrm>
            <a:off x="640080" y="1463040"/>
            <a:ext cx="10881360" cy="960120"/>
          </a:xfrm>
          <a:prstGeom prst="roundRect">
            <a:avLst>
              <a:gd name="adj" fmla="val 5714"/>
            </a:avLst>
          </a:prstGeom>
          <a:solidFill>
            <a:srgbClr val="EAF4F8"/>
          </a:solidFill>
          <a:ln/>
        </p:spPr>
      </p:sp>
      <p:sp>
        <p:nvSpPr>
          <p:cNvPr id="7" name="Text 5"/>
          <p:cNvSpPr/>
          <p:nvPr/>
        </p:nvSpPr>
        <p:spPr>
          <a:xfrm>
            <a:off x="868680" y="1554480"/>
            <a:ext cx="2743200" cy="274320"/>
          </a:xfrm>
          <a:prstGeom prst="rect">
            <a:avLst/>
          </a:prstGeom>
          <a:noFill/>
          <a:ln/>
        </p:spPr>
        <p:txBody>
          <a:bodyPr wrap="square" lIns="0" tIns="0" rIns="0" bIns="0" rtlCol="0" anchor="ctr"/>
          <a:lstStyle/>
          <a:p>
            <a:pPr indent="0" marL="0">
              <a:buNone/>
            </a:pPr>
            <a:r>
              <a:rPr lang="en-US" sz="1050" b="1" spc="100" kern="0" dirty="0">
                <a:solidFill>
                  <a:srgbClr val="1C7293"/>
                </a:solidFill>
                <a:latin typeface="Calibri" pitchFamily="34" charset="0"/>
                <a:ea typeface="Calibri" pitchFamily="34" charset="-122"/>
                <a:cs typeface="Calibri" pitchFamily="34" charset="-120"/>
              </a:rPr>
              <a:t>SYMPTOM / SCENARIO</a:t>
            </a:r>
            <a:endParaRPr lang="en-US" sz="1050" dirty="0"/>
          </a:p>
        </p:txBody>
      </p:sp>
      <p:sp>
        <p:nvSpPr>
          <p:cNvPr id="8" name="Text 6"/>
          <p:cNvSpPr/>
          <p:nvPr/>
        </p:nvSpPr>
        <p:spPr>
          <a:xfrm>
            <a:off x="868680" y="1810512"/>
            <a:ext cx="10424160" cy="548640"/>
          </a:xfrm>
          <a:prstGeom prst="rect">
            <a:avLst/>
          </a:prstGeom>
          <a:noFill/>
          <a:ln/>
        </p:spPr>
        <p:txBody>
          <a:bodyPr wrap="square" lIns="0" tIns="0" rIns="0" bIns="0" rtlCol="0" anchor="t"/>
          <a:lstStyle/>
          <a:p>
            <a:pPr indent="0" marL="0">
              <a:buNone/>
            </a:pPr>
            <a:r>
              <a:rPr lang="en-US" sz="1300" dirty="0">
                <a:solidFill>
                  <a:srgbClr val="1E293B"/>
                </a:solidFill>
                <a:latin typeface="Calibri" pitchFamily="34" charset="0"/>
                <a:ea typeface="Calibri" pitchFamily="34" charset="-122"/>
                <a:cs typeface="Calibri" pitchFamily="34" charset="-120"/>
              </a:rPr>
              <a:t>You edit a Deployment's metadata.labels or change an annotation, then wait for a rollout that never happens.</a:t>
            </a:r>
            <a:endParaRPr lang="en-US" sz="1300" dirty="0"/>
          </a:p>
        </p:txBody>
      </p:sp>
      <p:sp>
        <p:nvSpPr>
          <p:cNvPr id="9" name="Shape 7"/>
          <p:cNvSpPr/>
          <p:nvPr/>
        </p:nvSpPr>
        <p:spPr>
          <a:xfrm>
            <a:off x="640080" y="2587752"/>
            <a:ext cx="10881360" cy="914400"/>
          </a:xfrm>
          <a:prstGeom prst="roundRect">
            <a:avLst>
              <a:gd name="adj" fmla="val 6000"/>
            </a:avLst>
          </a:prstGeom>
          <a:solidFill>
            <a:srgbClr val="FBF3E3"/>
          </a:solidFill>
          <a:ln/>
        </p:spPr>
      </p:sp>
      <p:sp>
        <p:nvSpPr>
          <p:cNvPr id="10" name="Text 8"/>
          <p:cNvSpPr/>
          <p:nvPr/>
        </p:nvSpPr>
        <p:spPr>
          <a:xfrm>
            <a:off x="868680" y="2679192"/>
            <a:ext cx="2743200" cy="274320"/>
          </a:xfrm>
          <a:prstGeom prst="rect">
            <a:avLst/>
          </a:prstGeom>
          <a:noFill/>
          <a:ln/>
        </p:spPr>
        <p:txBody>
          <a:bodyPr wrap="square" lIns="0" tIns="0" rIns="0" bIns="0" rtlCol="0" anchor="ctr"/>
          <a:lstStyle/>
          <a:p>
            <a:pPr indent="0" marL="0">
              <a:buNone/>
            </a:pPr>
            <a:r>
              <a:rPr lang="en-US" sz="1050" b="1" spc="100" kern="0" dirty="0">
                <a:solidFill>
                  <a:srgbClr val="B7791F"/>
                </a:solidFill>
                <a:latin typeface="Calibri" pitchFamily="34" charset="0"/>
                <a:ea typeface="Calibri" pitchFamily="34" charset="-122"/>
                <a:cs typeface="Calibri" pitchFamily="34" charset="-120"/>
              </a:rPr>
              <a:t>ROOT CAUSE</a:t>
            </a:r>
            <a:endParaRPr lang="en-US" sz="1050" dirty="0"/>
          </a:p>
        </p:txBody>
      </p:sp>
      <p:sp>
        <p:nvSpPr>
          <p:cNvPr id="11" name="Text 9"/>
          <p:cNvSpPr/>
          <p:nvPr/>
        </p:nvSpPr>
        <p:spPr>
          <a:xfrm>
            <a:off x="868680" y="2935224"/>
            <a:ext cx="10424160" cy="502920"/>
          </a:xfrm>
          <a:prstGeom prst="rect">
            <a:avLst/>
          </a:prstGeom>
          <a:noFill/>
          <a:ln/>
        </p:spPr>
        <p:txBody>
          <a:bodyPr wrap="square" lIns="0" tIns="0" rIns="0" bIns="0" rtlCol="0" anchor="t"/>
          <a:lstStyle/>
          <a:p>
            <a:pPr indent="0" marL="0">
              <a:buNone/>
            </a:pPr>
            <a:r>
              <a:rPr lang="en-US" sz="1300" dirty="0">
                <a:solidFill>
                  <a:srgbClr val="1E293B"/>
                </a:solidFill>
                <a:latin typeface="Calibri" pitchFamily="34" charset="0"/>
                <a:ea typeface="Calibri" pitchFamily="34" charset="-122"/>
                <a:cs typeface="Calibri" pitchFamily="34" charset="-120"/>
              </a:rPr>
              <a:t>Only changes to spec.template (the Pod template) trigger a new ReplicaSet and a rollout. Changes to the Deployment's own top-level metadata or replica count do NOT.</a:t>
            </a:r>
            <a:endParaRPr lang="en-US" sz="1300" dirty="0"/>
          </a:p>
        </p:txBody>
      </p:sp>
      <p:sp>
        <p:nvSpPr>
          <p:cNvPr id="12" name="Shape 10"/>
          <p:cNvSpPr/>
          <p:nvPr/>
        </p:nvSpPr>
        <p:spPr>
          <a:xfrm>
            <a:off x="640080" y="3666744"/>
            <a:ext cx="10881360" cy="1417320"/>
          </a:xfrm>
          <a:prstGeom prst="roundRect">
            <a:avLst>
              <a:gd name="adj" fmla="val 3871"/>
            </a:avLst>
          </a:prstGeom>
          <a:solidFill>
            <a:srgbClr val="E7F5EC"/>
          </a:solidFill>
          <a:ln/>
        </p:spPr>
      </p:sp>
      <p:sp>
        <p:nvSpPr>
          <p:cNvPr id="13" name="Text 11"/>
          <p:cNvSpPr/>
          <p:nvPr/>
        </p:nvSpPr>
        <p:spPr>
          <a:xfrm>
            <a:off x="868680" y="3758184"/>
            <a:ext cx="2743200" cy="274320"/>
          </a:xfrm>
          <a:prstGeom prst="rect">
            <a:avLst/>
          </a:prstGeom>
          <a:noFill/>
          <a:ln/>
        </p:spPr>
        <p:txBody>
          <a:bodyPr wrap="square" lIns="0" tIns="0" rIns="0" bIns="0" rtlCol="0" anchor="ctr"/>
          <a:lstStyle/>
          <a:p>
            <a:pPr indent="0" marL="0">
              <a:buNone/>
            </a:pPr>
            <a:r>
              <a:rPr lang="en-US" sz="1050" b="1" spc="100" kern="0" dirty="0">
                <a:solidFill>
                  <a:srgbClr val="15803D"/>
                </a:solidFill>
                <a:latin typeface="Calibri" pitchFamily="34" charset="0"/>
                <a:ea typeface="Calibri" pitchFamily="34" charset="-122"/>
                <a:cs typeface="Calibri" pitchFamily="34" charset="-120"/>
              </a:rPr>
              <a:t>THE FIX</a:t>
            </a:r>
            <a:endParaRPr lang="en-US" sz="1050" dirty="0"/>
          </a:p>
        </p:txBody>
      </p:sp>
      <p:sp>
        <p:nvSpPr>
          <p:cNvPr id="14" name="Text 12"/>
          <p:cNvSpPr/>
          <p:nvPr/>
        </p:nvSpPr>
        <p:spPr>
          <a:xfrm>
            <a:off x="868680" y="4014216"/>
            <a:ext cx="10424160" cy="365760"/>
          </a:xfrm>
          <a:prstGeom prst="rect">
            <a:avLst/>
          </a:prstGeom>
          <a:noFill/>
          <a:ln/>
        </p:spPr>
        <p:txBody>
          <a:bodyPr wrap="square" lIns="0" tIns="0" rIns="0" bIns="0" rtlCol="0" anchor="t"/>
          <a:lstStyle/>
          <a:p>
            <a:pPr indent="0" marL="0">
              <a:buNone/>
            </a:pPr>
            <a:r>
              <a:rPr lang="en-US" sz="1300" dirty="0">
                <a:solidFill>
                  <a:srgbClr val="1E293B"/>
                </a:solidFill>
                <a:latin typeface="Calibri" pitchFamily="34" charset="0"/>
                <a:ea typeface="Calibri" pitchFamily="34" charset="-122"/>
                <a:cs typeface="Calibri" pitchFamily="34" charset="-120"/>
              </a:rPr>
              <a:t>Confirm what actually changed with kubectl diff, and if a real rollout is needed, touch something under spec.template (image, env, labels under template.metadata).</a:t>
            </a:r>
            <a:endParaRPr lang="en-US" sz="1300" dirty="0"/>
          </a:p>
        </p:txBody>
      </p:sp>
      <p:sp>
        <p:nvSpPr>
          <p:cNvPr id="15" name="Shape 13"/>
          <p:cNvSpPr/>
          <p:nvPr/>
        </p:nvSpPr>
        <p:spPr>
          <a:xfrm>
            <a:off x="868680" y="4379976"/>
            <a:ext cx="10424160" cy="594360"/>
          </a:xfrm>
          <a:prstGeom prst="roundRect">
            <a:avLst>
              <a:gd name="adj" fmla="val 7692"/>
            </a:avLst>
          </a:prstGeom>
          <a:solidFill>
            <a:srgbClr val="0B2330"/>
          </a:solidFill>
          <a:ln/>
        </p:spPr>
      </p:sp>
      <p:sp>
        <p:nvSpPr>
          <p:cNvPr id="16" name="Text 14"/>
          <p:cNvSpPr/>
          <p:nvPr/>
        </p:nvSpPr>
        <p:spPr>
          <a:xfrm>
            <a:off x="1005840" y="4453128"/>
            <a:ext cx="10149840" cy="457200"/>
          </a:xfrm>
          <a:prstGeom prst="rect">
            <a:avLst/>
          </a:prstGeom>
          <a:noFill/>
          <a:ln/>
        </p:spPr>
        <p:txBody>
          <a:bodyPr wrap="square" lIns="0" tIns="0" rIns="0" bIns="0" rtlCol="0" anchor="t"/>
          <a:lstStyle/>
          <a:p>
            <a:pPr indent="0" marL="0">
              <a:buNone/>
            </a:pPr>
            <a:r>
              <a:rPr lang="en-US" sz="1200" dirty="0">
                <a:solidFill>
                  <a:srgbClr val="CFEFEA"/>
                </a:solidFill>
                <a:latin typeface="Courier New" pitchFamily="34" charset="0"/>
                <a:ea typeface="Courier New" pitchFamily="34" charset="-122"/>
                <a:cs typeface="Courier New" pitchFamily="34" charset="-120"/>
              </a:rPr>
              <a:t>kubectl diff -f deployment.yaml</a:t>
            </a:r>
            <a:endParaRPr lang="en-US" sz="1200" dirty="0"/>
          </a:p>
          <a:p>
            <a:pPr indent="0" marL="0">
              <a:buNone/>
            </a:pPr>
            <a:r>
              <a:rPr lang="en-US" sz="1200" dirty="0">
                <a:solidFill>
                  <a:srgbClr val="CFEFEA"/>
                </a:solidFill>
                <a:latin typeface="Courier New" pitchFamily="34" charset="0"/>
                <a:ea typeface="Courier New" pitchFamily="34" charset="-122"/>
                <a:cs typeface="Courier New" pitchFamily="34" charset="-120"/>
              </a:rPr>
              <a:t>kubectl set image deployment/web-app web-app=web-app:1.1</a:t>
            </a:r>
            <a:endParaRPr lang="en-US" sz="1200" dirty="0"/>
          </a:p>
        </p:txBody>
      </p:sp>
      <p:sp>
        <p:nvSpPr>
          <p:cNvPr id="17" name="Text 15"/>
          <p:cNvSpPr/>
          <p:nvPr/>
        </p:nvSpPr>
        <p:spPr>
          <a:xfrm>
            <a:off x="457200" y="6446520"/>
            <a:ext cx="6400800" cy="27432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CKA v1.36 · Module 2</a:t>
            </a:r>
            <a:endParaRPr lang="en-US" sz="900" dirty="0"/>
          </a:p>
        </p:txBody>
      </p:sp>
      <p:sp>
        <p:nvSpPr>
          <p:cNvPr id="18" name="Text 16"/>
          <p:cNvSpPr/>
          <p:nvPr/>
        </p:nvSpPr>
        <p:spPr>
          <a:xfrm>
            <a:off x="11247120" y="6446520"/>
            <a:ext cx="4572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65760"/>
            <a:ext cx="9144000" cy="320040"/>
          </a:xfrm>
          <a:prstGeom prst="rect">
            <a:avLst/>
          </a:prstGeom>
          <a:noFill/>
          <a:ln/>
        </p:spPr>
        <p:txBody>
          <a:bodyPr wrap="square" lIns="0" tIns="0" rIns="0" bIns="0" rtlCol="0" anchor="ctr"/>
          <a:lstStyle/>
          <a:p>
            <a:pPr indent="0" marL="0">
              <a:buNone/>
            </a:pPr>
            <a:r>
              <a:rPr lang="en-US" sz="1150" b="1" spc="150" kern="0" dirty="0">
                <a:solidFill>
                  <a:srgbClr val="1C7293"/>
                </a:solidFill>
                <a:latin typeface="Calibri" pitchFamily="34" charset="0"/>
                <a:ea typeface="Calibri" pitchFamily="34" charset="-122"/>
                <a:cs typeface="Calibri" pitchFamily="34" charset="-120"/>
              </a:rPr>
              <a:t>DEPLOYMENTS</a:t>
            </a:r>
            <a:endParaRPr lang="en-US" sz="1150" dirty="0"/>
          </a:p>
        </p:txBody>
      </p:sp>
      <p:sp>
        <p:nvSpPr>
          <p:cNvPr id="3" name="Text 1"/>
          <p:cNvSpPr/>
          <p:nvPr/>
        </p:nvSpPr>
        <p:spPr>
          <a:xfrm>
            <a:off x="640080" y="658368"/>
            <a:ext cx="10881360" cy="685800"/>
          </a:xfrm>
          <a:prstGeom prst="rect">
            <a:avLst/>
          </a:prstGeom>
          <a:noFill/>
          <a:ln/>
        </p:spPr>
        <p:txBody>
          <a:bodyPr wrap="square" lIns="0" tIns="0" rIns="0" bIns="0" rtlCol="0" anchor="ctr"/>
          <a:lstStyle/>
          <a:p>
            <a:pPr indent="0" marL="0">
              <a:buNone/>
            </a:pPr>
            <a:r>
              <a:rPr lang="en-US" sz="2600" b="1" dirty="0">
                <a:solidFill>
                  <a:srgbClr val="21295C"/>
                </a:solidFill>
                <a:latin typeface="Cambria" pitchFamily="34" charset="0"/>
                <a:ea typeface="Cambria" pitchFamily="34" charset="-122"/>
                <a:cs typeface="Cambria" pitchFamily="34" charset="-120"/>
              </a:rPr>
              <a:t>Scaling Patterns You Must Know Cold</a:t>
            </a:r>
            <a:endParaRPr lang="en-US" sz="2600" dirty="0"/>
          </a:p>
        </p:txBody>
      </p:sp>
      <p:sp>
        <p:nvSpPr>
          <p:cNvPr id="4" name="Shape 2"/>
          <p:cNvSpPr/>
          <p:nvPr/>
        </p:nvSpPr>
        <p:spPr>
          <a:xfrm>
            <a:off x="640080" y="1371600"/>
            <a:ext cx="10881360" cy="0"/>
          </a:xfrm>
          <a:prstGeom prst="line">
            <a:avLst/>
          </a:prstGeom>
          <a:noFill/>
          <a:ln w="12700">
            <a:solidFill>
              <a:srgbClr val="D7E3E8"/>
            </a:solidFill>
            <a:prstDash val="solid"/>
          </a:ln>
        </p:spPr>
      </p:sp>
      <p:sp>
        <p:nvSpPr>
          <p:cNvPr id="5" name="Shape 3"/>
          <p:cNvSpPr/>
          <p:nvPr/>
        </p:nvSpPr>
        <p:spPr>
          <a:xfrm>
            <a:off x="11109960" y="411480"/>
            <a:ext cx="502920" cy="502920"/>
          </a:xfrm>
          <a:prstGeom prst="ellipse">
            <a:avLst/>
          </a:prstGeom>
          <a:solidFill>
            <a:srgbClr val="EAF4F8"/>
          </a:solidFill>
          <a:ln w="15875">
            <a:solidFill>
              <a:srgbClr val="1C7293"/>
            </a:solidFill>
            <a:prstDash val="solid"/>
          </a:ln>
        </p:spPr>
      </p:sp>
      <p:sp>
        <p:nvSpPr>
          <p:cNvPr id="6" name="Text 4"/>
          <p:cNvSpPr/>
          <p:nvPr/>
        </p:nvSpPr>
        <p:spPr>
          <a:xfrm>
            <a:off x="11109960" y="411480"/>
            <a:ext cx="502920" cy="502920"/>
          </a:xfrm>
          <a:prstGeom prst="rect">
            <a:avLst/>
          </a:prstGeom>
          <a:noFill/>
          <a:ln/>
        </p:spPr>
        <p:txBody>
          <a:bodyPr wrap="square" lIns="0" tIns="0" rIns="0" bIns="0" rtlCol="0" anchor="ctr"/>
          <a:lstStyle/>
          <a:p>
            <a:pPr algn="ctr" indent="0" marL="0">
              <a:buNone/>
            </a:pPr>
            <a:r>
              <a:rPr lang="en-US" sz="1600" b="1" dirty="0">
                <a:solidFill>
                  <a:srgbClr val="1C7293"/>
                </a:solidFill>
                <a:latin typeface="Calibri" pitchFamily="34" charset="0"/>
                <a:ea typeface="Calibri" pitchFamily="34" charset="-122"/>
                <a:cs typeface="Calibri" pitchFamily="34" charset="-120"/>
              </a:rPr>
              <a:t>2</a:t>
            </a:r>
            <a:endParaRPr lang="en-US" sz="1600" dirty="0"/>
          </a:p>
        </p:txBody>
      </p:sp>
      <p:sp>
        <p:nvSpPr>
          <p:cNvPr id="7" name="Text 5"/>
          <p:cNvSpPr/>
          <p:nvPr/>
        </p:nvSpPr>
        <p:spPr>
          <a:xfrm>
            <a:off x="640080" y="1600200"/>
            <a:ext cx="5212080" cy="365760"/>
          </a:xfrm>
          <a:prstGeom prst="rect">
            <a:avLst/>
          </a:prstGeom>
          <a:noFill/>
          <a:ln/>
        </p:spPr>
        <p:txBody>
          <a:bodyPr wrap="square" lIns="0" tIns="0" rIns="0" bIns="0" rtlCol="0" anchor="ctr"/>
          <a:lstStyle/>
          <a:p>
            <a:pPr indent="0" marL="0">
              <a:buNone/>
            </a:pPr>
            <a:r>
              <a:rPr lang="en-US" sz="1450" b="1" dirty="0">
                <a:solidFill>
                  <a:srgbClr val="065A82"/>
                </a:solidFill>
                <a:latin typeface="Calibri" pitchFamily="34" charset="0"/>
                <a:ea typeface="Calibri" pitchFamily="34" charset="-122"/>
                <a:cs typeface="Calibri" pitchFamily="34" charset="-120"/>
              </a:rPr>
              <a:t>Imperative</a:t>
            </a:r>
            <a:endParaRPr lang="en-US" sz="1450" dirty="0"/>
          </a:p>
        </p:txBody>
      </p:sp>
      <p:sp>
        <p:nvSpPr>
          <p:cNvPr id="8" name="Text 6"/>
          <p:cNvSpPr/>
          <p:nvPr/>
        </p:nvSpPr>
        <p:spPr>
          <a:xfrm>
            <a:off x="640080" y="2011680"/>
            <a:ext cx="5212080" cy="3931920"/>
          </a:xfrm>
          <a:prstGeom prst="rect">
            <a:avLst/>
          </a:prstGeom>
          <a:noFill/>
          <a:ln/>
        </p:spPr>
        <p:txBody>
          <a:bodyPr wrap="square" lIns="0" tIns="0" rIns="0" bIns="0" rtlCol="0" anchor="t"/>
          <a:lstStyle/>
          <a:p>
            <a:pPr marL="342900" indent="-342900">
              <a:spcAft>
                <a:spcPts val="1000"/>
              </a:spcAft>
              <a:buSzPct val="100000"/>
              <a:buChar char="•"/>
            </a:pPr>
            <a:r>
              <a:rPr lang="en-US" sz="1400" dirty="0">
                <a:solidFill>
                  <a:srgbClr val="1E293B"/>
                </a:solidFill>
                <a:latin typeface="Calibri" pitchFamily="34" charset="0"/>
                <a:ea typeface="Calibri" pitchFamily="34" charset="-122"/>
                <a:cs typeface="Calibri" pitchFamily="34" charset="-120"/>
              </a:rPr>
              <a:t>kubectl scale deployment web-app --replicas=5</a:t>
            </a:r>
            <a:endParaRPr lang="en-US" sz="1400" dirty="0"/>
          </a:p>
          <a:p>
            <a:pPr marL="342900" indent="-342900">
              <a:spcAft>
                <a:spcPts val="1000"/>
              </a:spcAft>
              <a:buSzPct val="100000"/>
              <a:buChar char="•"/>
            </a:pPr>
            <a:r>
              <a:rPr lang="en-US" sz="1400" dirty="0">
                <a:solidFill>
                  <a:srgbClr val="1E293B"/>
                </a:solidFill>
                <a:latin typeface="Calibri" pitchFamily="34" charset="0"/>
                <a:ea typeface="Calibri" pitchFamily="34" charset="-122"/>
                <a:cs typeface="Calibri" pitchFamily="34" charset="-120"/>
              </a:rPr>
              <a:t>kubectl scale deployment web-app --current-replicas=3 --replicas=5 (safe conditional scale)</a:t>
            </a:r>
            <a:endParaRPr lang="en-US" sz="1400" dirty="0"/>
          </a:p>
          <a:p>
            <a:pPr marL="342900" indent="-342900">
              <a:spcAft>
                <a:spcPts val="1000"/>
              </a:spcAft>
              <a:buSzPct val="100000"/>
              <a:buChar char="•"/>
            </a:pPr>
            <a:r>
              <a:rPr lang="en-US" sz="1400" dirty="0">
                <a:solidFill>
                  <a:srgbClr val="1E293B"/>
                </a:solidFill>
                <a:latin typeface="Calibri" pitchFamily="34" charset="0"/>
                <a:ea typeface="Calibri" pitchFamily="34" charset="-122"/>
                <a:cs typeface="Calibri" pitchFamily="34" charset="-120"/>
              </a:rPr>
              <a:t>kubectl autoscale deployment web-app --min=2 --max=10 --cpu-percent=50</a:t>
            </a:r>
            <a:endParaRPr lang="en-US" sz="1400" dirty="0"/>
          </a:p>
        </p:txBody>
      </p:sp>
      <p:sp>
        <p:nvSpPr>
          <p:cNvPr id="9" name="Text 7"/>
          <p:cNvSpPr/>
          <p:nvPr/>
        </p:nvSpPr>
        <p:spPr>
          <a:xfrm>
            <a:off x="6309360" y="1600200"/>
            <a:ext cx="5212080" cy="365760"/>
          </a:xfrm>
          <a:prstGeom prst="rect">
            <a:avLst/>
          </a:prstGeom>
          <a:noFill/>
          <a:ln/>
        </p:spPr>
        <p:txBody>
          <a:bodyPr wrap="square" lIns="0" tIns="0" rIns="0" bIns="0" rtlCol="0" anchor="ctr"/>
          <a:lstStyle/>
          <a:p>
            <a:pPr indent="0" marL="0">
              <a:buNone/>
            </a:pPr>
            <a:r>
              <a:rPr lang="en-US" sz="1450" b="1" dirty="0">
                <a:solidFill>
                  <a:srgbClr val="065A82"/>
                </a:solidFill>
                <a:latin typeface="Calibri" pitchFamily="34" charset="0"/>
                <a:ea typeface="Calibri" pitchFamily="34" charset="-122"/>
                <a:cs typeface="Calibri" pitchFamily="34" charset="-120"/>
              </a:rPr>
              <a:t>Declarative</a:t>
            </a:r>
            <a:endParaRPr lang="en-US" sz="1450" dirty="0"/>
          </a:p>
        </p:txBody>
      </p:sp>
      <p:sp>
        <p:nvSpPr>
          <p:cNvPr id="10" name="Text 8"/>
          <p:cNvSpPr/>
          <p:nvPr/>
        </p:nvSpPr>
        <p:spPr>
          <a:xfrm>
            <a:off x="6309360" y="2011680"/>
            <a:ext cx="5212080" cy="3931920"/>
          </a:xfrm>
          <a:prstGeom prst="rect">
            <a:avLst/>
          </a:prstGeom>
          <a:noFill/>
          <a:ln/>
        </p:spPr>
        <p:txBody>
          <a:bodyPr wrap="square" lIns="0" tIns="0" rIns="0" bIns="0" rtlCol="0" anchor="t"/>
          <a:lstStyle/>
          <a:p>
            <a:pPr marL="342900" indent="-342900">
              <a:spcAft>
                <a:spcPts val="1000"/>
              </a:spcAft>
              <a:buSzPct val="100000"/>
              <a:buChar char="•"/>
            </a:pPr>
            <a:r>
              <a:rPr lang="en-US" sz="1400" dirty="0">
                <a:solidFill>
                  <a:srgbClr val="1E293B"/>
                </a:solidFill>
                <a:latin typeface="Calibri" pitchFamily="34" charset="0"/>
                <a:ea typeface="Calibri" pitchFamily="34" charset="-122"/>
                <a:cs typeface="Calibri" pitchFamily="34" charset="-120"/>
              </a:rPr>
              <a:t>Edit spec.replicas in the YAML and kubectl apply -f</a:t>
            </a:r>
            <a:endParaRPr lang="en-US" sz="1400" dirty="0"/>
          </a:p>
          <a:p>
            <a:pPr marL="342900" indent="-342900">
              <a:spcAft>
                <a:spcPts val="1000"/>
              </a:spcAft>
              <a:buSzPct val="100000"/>
              <a:buChar char="•"/>
            </a:pPr>
            <a:r>
              <a:rPr lang="en-US" sz="1400" dirty="0">
                <a:solidFill>
                  <a:srgbClr val="1E293B"/>
                </a:solidFill>
                <a:latin typeface="Calibri" pitchFamily="34" charset="0"/>
                <a:ea typeface="Calibri" pitchFamily="34" charset="-122"/>
                <a:cs typeface="Calibri" pitchFamily="34" charset="-120"/>
              </a:rPr>
              <a:t>kubectl edit deployment web-app for a quick live edit</a:t>
            </a:r>
            <a:endParaRPr lang="en-US" sz="1400" dirty="0"/>
          </a:p>
          <a:p>
            <a:pPr marL="342900" indent="-342900">
              <a:spcAft>
                <a:spcPts val="1000"/>
              </a:spcAft>
              <a:buSzPct val="100000"/>
              <a:buChar char="•"/>
            </a:pPr>
            <a:r>
              <a:rPr lang="en-US" sz="1400" dirty="0">
                <a:solidFill>
                  <a:srgbClr val="1E293B"/>
                </a:solidFill>
                <a:latin typeface="Calibri" pitchFamily="34" charset="0"/>
                <a:ea typeface="Calibri" pitchFamily="34" charset="-122"/>
                <a:cs typeface="Calibri" pitchFamily="34" charset="-120"/>
              </a:rPr>
              <a:t>Always confirm with kubectl get deployment after any scale operation</a:t>
            </a:r>
            <a:endParaRPr lang="en-US" sz="1400" dirty="0"/>
          </a:p>
        </p:txBody>
      </p:sp>
      <p:sp>
        <p:nvSpPr>
          <p:cNvPr id="11" name="Text 9"/>
          <p:cNvSpPr/>
          <p:nvPr/>
        </p:nvSpPr>
        <p:spPr>
          <a:xfrm>
            <a:off x="457200" y="6446520"/>
            <a:ext cx="6400800" cy="27432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CKA v1.36 · Module 2</a:t>
            </a:r>
            <a:endParaRPr lang="en-US" sz="900" dirty="0"/>
          </a:p>
        </p:txBody>
      </p:sp>
      <p:sp>
        <p:nvSpPr>
          <p:cNvPr id="12" name="Text 10"/>
          <p:cNvSpPr/>
          <p:nvPr/>
        </p:nvSpPr>
        <p:spPr>
          <a:xfrm>
            <a:off x="11247120" y="6446520"/>
            <a:ext cx="4572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65760"/>
            <a:ext cx="9144000" cy="320040"/>
          </a:xfrm>
          <a:prstGeom prst="rect">
            <a:avLst/>
          </a:prstGeom>
          <a:noFill/>
          <a:ln/>
        </p:spPr>
        <p:txBody>
          <a:bodyPr wrap="square" lIns="0" tIns="0" rIns="0" bIns="0" rtlCol="0" anchor="ctr"/>
          <a:lstStyle/>
          <a:p>
            <a:pPr indent="0" marL="0">
              <a:buNone/>
            </a:pPr>
            <a:r>
              <a:rPr lang="en-US" sz="1150" b="1" spc="150" kern="0" dirty="0">
                <a:solidFill>
                  <a:srgbClr val="1C7293"/>
                </a:solidFill>
                <a:latin typeface="Calibri" pitchFamily="34" charset="0"/>
                <a:ea typeface="Calibri" pitchFamily="34" charset="-122"/>
                <a:cs typeface="Calibri" pitchFamily="34" charset="-120"/>
              </a:rPr>
              <a:t>DEPLOYMENTS</a:t>
            </a:r>
            <a:endParaRPr lang="en-US" sz="1150" dirty="0"/>
          </a:p>
        </p:txBody>
      </p:sp>
      <p:sp>
        <p:nvSpPr>
          <p:cNvPr id="3" name="Text 1"/>
          <p:cNvSpPr/>
          <p:nvPr/>
        </p:nvSpPr>
        <p:spPr>
          <a:xfrm>
            <a:off x="640080" y="658368"/>
            <a:ext cx="10881360" cy="685800"/>
          </a:xfrm>
          <a:prstGeom prst="rect">
            <a:avLst/>
          </a:prstGeom>
          <a:noFill/>
          <a:ln/>
        </p:spPr>
        <p:txBody>
          <a:bodyPr wrap="square" lIns="0" tIns="0" rIns="0" bIns="0" rtlCol="0" anchor="ctr"/>
          <a:lstStyle/>
          <a:p>
            <a:pPr indent="0" marL="0">
              <a:buNone/>
            </a:pPr>
            <a:r>
              <a:rPr lang="en-US" sz="2600" b="1" dirty="0">
                <a:solidFill>
                  <a:srgbClr val="21295C"/>
                </a:solidFill>
                <a:latin typeface="Cambria" pitchFamily="34" charset="0"/>
                <a:ea typeface="Cambria" pitchFamily="34" charset="-122"/>
                <a:cs typeface="Cambria" pitchFamily="34" charset="-120"/>
              </a:rPr>
              <a:t>Generators: The Fastest Path to a Manifest</a:t>
            </a:r>
            <a:endParaRPr lang="en-US" sz="2600" dirty="0"/>
          </a:p>
        </p:txBody>
      </p:sp>
      <p:sp>
        <p:nvSpPr>
          <p:cNvPr id="4" name="Shape 2"/>
          <p:cNvSpPr/>
          <p:nvPr/>
        </p:nvSpPr>
        <p:spPr>
          <a:xfrm>
            <a:off x="640080" y="1371600"/>
            <a:ext cx="10881360" cy="0"/>
          </a:xfrm>
          <a:prstGeom prst="line">
            <a:avLst/>
          </a:prstGeom>
          <a:noFill/>
          <a:ln w="12700">
            <a:solidFill>
              <a:srgbClr val="D7E3E8"/>
            </a:solidFill>
            <a:prstDash val="solid"/>
          </a:ln>
        </p:spPr>
      </p:sp>
      <p:sp>
        <p:nvSpPr>
          <p:cNvPr id="5" name="Shape 3"/>
          <p:cNvSpPr/>
          <p:nvPr/>
        </p:nvSpPr>
        <p:spPr>
          <a:xfrm>
            <a:off x="11109960" y="411480"/>
            <a:ext cx="502920" cy="502920"/>
          </a:xfrm>
          <a:prstGeom prst="ellipse">
            <a:avLst/>
          </a:prstGeom>
          <a:solidFill>
            <a:srgbClr val="EAF4F8"/>
          </a:solidFill>
          <a:ln w="15875">
            <a:solidFill>
              <a:srgbClr val="1C7293"/>
            </a:solidFill>
            <a:prstDash val="solid"/>
          </a:ln>
        </p:spPr>
      </p:sp>
      <p:sp>
        <p:nvSpPr>
          <p:cNvPr id="6" name="Text 4"/>
          <p:cNvSpPr/>
          <p:nvPr/>
        </p:nvSpPr>
        <p:spPr>
          <a:xfrm>
            <a:off x="11109960" y="411480"/>
            <a:ext cx="502920" cy="502920"/>
          </a:xfrm>
          <a:prstGeom prst="rect">
            <a:avLst/>
          </a:prstGeom>
          <a:noFill/>
          <a:ln/>
        </p:spPr>
        <p:txBody>
          <a:bodyPr wrap="square" lIns="0" tIns="0" rIns="0" bIns="0" rtlCol="0" anchor="ctr"/>
          <a:lstStyle/>
          <a:p>
            <a:pPr algn="ctr" indent="0" marL="0">
              <a:buNone/>
            </a:pPr>
            <a:r>
              <a:rPr lang="en-US" sz="1600" b="1" dirty="0">
                <a:solidFill>
                  <a:srgbClr val="1C7293"/>
                </a:solidFill>
                <a:latin typeface="Calibri" pitchFamily="34" charset="0"/>
                <a:ea typeface="Calibri" pitchFamily="34" charset="-122"/>
                <a:cs typeface="Calibri" pitchFamily="34" charset="-120"/>
              </a:rPr>
              <a:t>3</a:t>
            </a:r>
            <a:endParaRPr lang="en-US" sz="1600" dirty="0"/>
          </a:p>
        </p:txBody>
      </p:sp>
      <p:sp>
        <p:nvSpPr>
          <p:cNvPr id="7" name="Text 5"/>
          <p:cNvSpPr/>
          <p:nvPr/>
        </p:nvSpPr>
        <p:spPr>
          <a:xfrm>
            <a:off x="640080" y="1600200"/>
            <a:ext cx="10881360" cy="4572000"/>
          </a:xfrm>
          <a:prstGeom prst="rect">
            <a:avLst/>
          </a:prstGeom>
          <a:noFill/>
          <a:ln/>
        </p:spPr>
        <p:txBody>
          <a:bodyPr wrap="square" lIns="0" tIns="0" rIns="0" bIns="0" rtlCol="0" anchor="t"/>
          <a:lstStyle/>
          <a:p>
            <a:pPr marL="342900" indent="-342900">
              <a:spcAft>
                <a:spcPts val="1200"/>
              </a:spcAft>
              <a:buSzPct val="100000"/>
              <a:buChar char="•"/>
            </a:pPr>
            <a:r>
              <a:rPr lang="en-US" sz="1550" dirty="0">
                <a:solidFill>
                  <a:srgbClr val="1E293B"/>
                </a:solidFill>
                <a:latin typeface="Calibri" pitchFamily="34" charset="0"/>
                <a:ea typeface="Calibri" pitchFamily="34" charset="-122"/>
                <a:cs typeface="Calibri" pitchFamily="34" charset="-120"/>
              </a:rPr>
              <a:t>Exam time pressure rewards generating YAML rather than typing it from memory.</a:t>
            </a:r>
            <a:endParaRPr lang="en-US" sz="1550" dirty="0"/>
          </a:p>
          <a:p>
            <a:pPr marL="342900" indent="-342900">
              <a:spcAft>
                <a:spcPts val="1200"/>
              </a:spcAft>
              <a:buSzPct val="100000"/>
              <a:buChar char="•"/>
            </a:pPr>
            <a:r>
              <a:rPr lang="en-US" sz="1550" dirty="0">
                <a:solidFill>
                  <a:srgbClr val="1E293B"/>
                </a:solidFill>
                <a:latin typeface="Calibri" pitchFamily="34" charset="0"/>
                <a:ea typeface="Calibri" pitchFamily="34" charset="-122"/>
                <a:cs typeface="Calibri" pitchFamily="34" charset="-120"/>
              </a:rPr>
              <a:t>kubectl create deployment web-app --image=nginx:1.27 --replicas=3 --dry-run=client -o yaml &gt; deploy.yaml</a:t>
            </a:r>
            <a:endParaRPr lang="en-US" sz="1550" dirty="0"/>
          </a:p>
          <a:p>
            <a:pPr marL="342900" indent="-342900">
              <a:spcAft>
                <a:spcPts val="1200"/>
              </a:spcAft>
              <a:buSzPct val="100000"/>
              <a:buChar char="•"/>
            </a:pPr>
            <a:r>
              <a:rPr lang="en-US" sz="1550" dirty="0">
                <a:solidFill>
                  <a:srgbClr val="1E293B"/>
                </a:solidFill>
                <a:latin typeface="Calibri" pitchFamily="34" charset="0"/>
                <a:ea typeface="Calibri" pitchFamily="34" charset="-122"/>
                <a:cs typeface="Calibri" pitchFamily="34" charset="-120"/>
              </a:rPr>
              <a:t>Edit the generated file for anything the flags don't cover (resources, probes, volumes), then kubectl apply -f.</a:t>
            </a:r>
            <a:endParaRPr lang="en-US" sz="1550" dirty="0"/>
          </a:p>
          <a:p>
            <a:pPr marL="342900" indent="-342900">
              <a:spcAft>
                <a:spcPts val="1200"/>
              </a:spcAft>
              <a:buSzPct val="100000"/>
              <a:buChar char="•"/>
            </a:pPr>
            <a:r>
              <a:rPr lang="en-US" sz="1550" dirty="0">
                <a:solidFill>
                  <a:srgbClr val="1E293B"/>
                </a:solidFill>
                <a:latin typeface="Calibri" pitchFamily="34" charset="0"/>
                <a:ea typeface="Calibri" pitchFamily="34" charset="-122"/>
                <a:cs typeface="Calibri" pitchFamily="34" charset="-120"/>
              </a:rPr>
              <a:t>kubectl explain deployment.spec.strategy --recursive is the fastest way to recall exact field names and types without leaving the terminal.</a:t>
            </a:r>
            <a:endParaRPr lang="en-US" sz="1550" dirty="0"/>
          </a:p>
          <a:p>
            <a:pPr marL="342900" indent="-342900">
              <a:spcAft>
                <a:spcPts val="1200"/>
              </a:spcAft>
              <a:buSzPct val="100000"/>
              <a:buChar char="•"/>
            </a:pPr>
            <a:r>
              <a:rPr lang="en-US" sz="1550" dirty="0">
                <a:solidFill>
                  <a:srgbClr val="1E293B"/>
                </a:solidFill>
                <a:latin typeface="Calibri" pitchFamily="34" charset="0"/>
                <a:ea typeface="Calibri" pitchFamily="34" charset="-122"/>
                <a:cs typeface="Calibri" pitchFamily="34" charset="-120"/>
              </a:rPr>
              <a:t>Never hand-type a Deployment skeleton from scratch on the exam — always generate, then edit.</a:t>
            </a:r>
            <a:endParaRPr lang="en-US" sz="1550" dirty="0"/>
          </a:p>
        </p:txBody>
      </p:sp>
      <p:sp>
        <p:nvSpPr>
          <p:cNvPr id="8" name="Text 6"/>
          <p:cNvSpPr/>
          <p:nvPr/>
        </p:nvSpPr>
        <p:spPr>
          <a:xfrm>
            <a:off x="457200" y="6446520"/>
            <a:ext cx="6400800" cy="27432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CKA v1.36 · Module 2</a:t>
            </a:r>
            <a:endParaRPr lang="en-US" sz="900" dirty="0"/>
          </a:p>
        </p:txBody>
      </p:sp>
      <p:sp>
        <p:nvSpPr>
          <p:cNvPr id="9" name="Text 7"/>
          <p:cNvSpPr/>
          <p:nvPr/>
        </p:nvSpPr>
        <p:spPr>
          <a:xfrm>
            <a:off x="11247120" y="6446520"/>
            <a:ext cx="4572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365760"/>
            <a:ext cx="2468880" cy="384048"/>
          </a:xfrm>
          <a:prstGeom prst="roundRect">
            <a:avLst>
              <a:gd name="adj" fmla="val 50000"/>
            </a:avLst>
          </a:prstGeom>
          <a:solidFill>
            <a:srgbClr val="21295C"/>
          </a:solidFill>
          <a:ln/>
        </p:spPr>
      </p:sp>
      <p:sp>
        <p:nvSpPr>
          <p:cNvPr id="3" name="Text 1"/>
          <p:cNvSpPr/>
          <p:nvPr/>
        </p:nvSpPr>
        <p:spPr>
          <a:xfrm>
            <a:off x="640080" y="365760"/>
            <a:ext cx="2468880" cy="384048"/>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EXAM PATTERN 3</a:t>
            </a:r>
            <a:endParaRPr lang="en-US" sz="1150" dirty="0"/>
          </a:p>
        </p:txBody>
      </p:sp>
      <p:sp>
        <p:nvSpPr>
          <p:cNvPr id="4" name="Text 2"/>
          <p:cNvSpPr/>
          <p:nvPr/>
        </p:nvSpPr>
        <p:spPr>
          <a:xfrm>
            <a:off x="3246120" y="365760"/>
            <a:ext cx="8229600" cy="384048"/>
          </a:xfrm>
          <a:prstGeom prst="rect">
            <a:avLst/>
          </a:prstGeom>
          <a:noFill/>
          <a:ln/>
        </p:spPr>
        <p:txBody>
          <a:bodyPr wrap="square" lIns="0" tIns="0" rIns="0" bIns="0" rtlCol="0" anchor="ctr"/>
          <a:lstStyle/>
          <a:p>
            <a:pPr indent="0" marL="0">
              <a:buNone/>
            </a:pPr>
            <a:r>
              <a:rPr lang="en-US" sz="1100" b="1" spc="120" kern="0" dirty="0">
                <a:solidFill>
                  <a:srgbClr val="1C7293"/>
                </a:solidFill>
                <a:latin typeface="Calibri" pitchFamily="34" charset="0"/>
                <a:ea typeface="Calibri" pitchFamily="34" charset="-122"/>
                <a:cs typeface="Calibri" pitchFamily="34" charset="-120"/>
              </a:rPr>
              <a:t>DEPLOYMENTS</a:t>
            </a:r>
            <a:endParaRPr lang="en-US" sz="1100" dirty="0"/>
          </a:p>
        </p:txBody>
      </p:sp>
      <p:sp>
        <p:nvSpPr>
          <p:cNvPr id="5" name="Text 3"/>
          <p:cNvSpPr/>
          <p:nvPr/>
        </p:nvSpPr>
        <p:spPr>
          <a:xfrm>
            <a:off x="640080" y="841248"/>
            <a:ext cx="10881360" cy="502920"/>
          </a:xfrm>
          <a:prstGeom prst="rect">
            <a:avLst/>
          </a:prstGeom>
          <a:noFill/>
          <a:ln/>
        </p:spPr>
        <p:txBody>
          <a:bodyPr wrap="square" lIns="0" tIns="0" rIns="0" bIns="0" rtlCol="0" anchor="ctr"/>
          <a:lstStyle/>
          <a:p>
            <a:pPr indent="0" marL="0">
              <a:buNone/>
            </a:pPr>
            <a:r>
              <a:rPr lang="en-US" sz="2100" b="1" dirty="0">
                <a:solidFill>
                  <a:srgbClr val="21295C"/>
                </a:solidFill>
                <a:latin typeface="Cambria" pitchFamily="34" charset="0"/>
                <a:ea typeface="Cambria" pitchFamily="34" charset="-122"/>
                <a:cs typeface="Cambria" pitchFamily="34" charset="-120"/>
              </a:rPr>
              <a:t>ImagePullBackOff After a Deployment Update</a:t>
            </a:r>
            <a:endParaRPr lang="en-US" sz="2100" dirty="0"/>
          </a:p>
        </p:txBody>
      </p:sp>
      <p:sp>
        <p:nvSpPr>
          <p:cNvPr id="6" name="Shape 4"/>
          <p:cNvSpPr/>
          <p:nvPr/>
        </p:nvSpPr>
        <p:spPr>
          <a:xfrm>
            <a:off x="640080" y="1463040"/>
            <a:ext cx="10881360" cy="960120"/>
          </a:xfrm>
          <a:prstGeom prst="roundRect">
            <a:avLst>
              <a:gd name="adj" fmla="val 5714"/>
            </a:avLst>
          </a:prstGeom>
          <a:solidFill>
            <a:srgbClr val="EAF4F8"/>
          </a:solidFill>
          <a:ln/>
        </p:spPr>
      </p:sp>
      <p:sp>
        <p:nvSpPr>
          <p:cNvPr id="7" name="Text 5"/>
          <p:cNvSpPr/>
          <p:nvPr/>
        </p:nvSpPr>
        <p:spPr>
          <a:xfrm>
            <a:off x="868680" y="1554480"/>
            <a:ext cx="2743200" cy="274320"/>
          </a:xfrm>
          <a:prstGeom prst="rect">
            <a:avLst/>
          </a:prstGeom>
          <a:noFill/>
          <a:ln/>
        </p:spPr>
        <p:txBody>
          <a:bodyPr wrap="square" lIns="0" tIns="0" rIns="0" bIns="0" rtlCol="0" anchor="ctr"/>
          <a:lstStyle/>
          <a:p>
            <a:pPr indent="0" marL="0">
              <a:buNone/>
            </a:pPr>
            <a:r>
              <a:rPr lang="en-US" sz="1050" b="1" spc="100" kern="0" dirty="0">
                <a:solidFill>
                  <a:srgbClr val="1C7293"/>
                </a:solidFill>
                <a:latin typeface="Calibri" pitchFamily="34" charset="0"/>
                <a:ea typeface="Calibri" pitchFamily="34" charset="-122"/>
                <a:cs typeface="Calibri" pitchFamily="34" charset="-120"/>
              </a:rPr>
              <a:t>SYMPTOM / SCENARIO</a:t>
            </a:r>
            <a:endParaRPr lang="en-US" sz="1050" dirty="0"/>
          </a:p>
        </p:txBody>
      </p:sp>
      <p:sp>
        <p:nvSpPr>
          <p:cNvPr id="8" name="Text 6"/>
          <p:cNvSpPr/>
          <p:nvPr/>
        </p:nvSpPr>
        <p:spPr>
          <a:xfrm>
            <a:off x="868680" y="1810512"/>
            <a:ext cx="10424160" cy="548640"/>
          </a:xfrm>
          <a:prstGeom prst="rect">
            <a:avLst/>
          </a:prstGeom>
          <a:noFill/>
          <a:ln/>
        </p:spPr>
        <p:txBody>
          <a:bodyPr wrap="square" lIns="0" tIns="0" rIns="0" bIns="0" rtlCol="0" anchor="t"/>
          <a:lstStyle/>
          <a:p>
            <a:pPr indent="0" marL="0">
              <a:buNone/>
            </a:pPr>
            <a:r>
              <a:rPr lang="en-US" sz="1300" dirty="0">
                <a:solidFill>
                  <a:srgbClr val="1E293B"/>
                </a:solidFill>
                <a:latin typeface="Calibri" pitchFamily="34" charset="0"/>
                <a:ea typeface="Calibri" pitchFamily="34" charset="-122"/>
                <a:cs typeface="Calibri" pitchFamily="34" charset="-120"/>
              </a:rPr>
              <a:t>kubectl rollout status hangs. kubectl get pods shows new Pods stuck in ImagePullBackOff or ErrImagePull.</a:t>
            </a:r>
            <a:endParaRPr lang="en-US" sz="1300" dirty="0"/>
          </a:p>
        </p:txBody>
      </p:sp>
      <p:sp>
        <p:nvSpPr>
          <p:cNvPr id="9" name="Shape 7"/>
          <p:cNvSpPr/>
          <p:nvPr/>
        </p:nvSpPr>
        <p:spPr>
          <a:xfrm>
            <a:off x="640080" y="2587752"/>
            <a:ext cx="10881360" cy="914400"/>
          </a:xfrm>
          <a:prstGeom prst="roundRect">
            <a:avLst>
              <a:gd name="adj" fmla="val 6000"/>
            </a:avLst>
          </a:prstGeom>
          <a:solidFill>
            <a:srgbClr val="FBF3E3"/>
          </a:solidFill>
          <a:ln/>
        </p:spPr>
      </p:sp>
      <p:sp>
        <p:nvSpPr>
          <p:cNvPr id="10" name="Text 8"/>
          <p:cNvSpPr/>
          <p:nvPr/>
        </p:nvSpPr>
        <p:spPr>
          <a:xfrm>
            <a:off x="868680" y="2679192"/>
            <a:ext cx="2743200" cy="274320"/>
          </a:xfrm>
          <a:prstGeom prst="rect">
            <a:avLst/>
          </a:prstGeom>
          <a:noFill/>
          <a:ln/>
        </p:spPr>
        <p:txBody>
          <a:bodyPr wrap="square" lIns="0" tIns="0" rIns="0" bIns="0" rtlCol="0" anchor="ctr"/>
          <a:lstStyle/>
          <a:p>
            <a:pPr indent="0" marL="0">
              <a:buNone/>
            </a:pPr>
            <a:r>
              <a:rPr lang="en-US" sz="1050" b="1" spc="100" kern="0" dirty="0">
                <a:solidFill>
                  <a:srgbClr val="B7791F"/>
                </a:solidFill>
                <a:latin typeface="Calibri" pitchFamily="34" charset="0"/>
                <a:ea typeface="Calibri" pitchFamily="34" charset="-122"/>
                <a:cs typeface="Calibri" pitchFamily="34" charset="-120"/>
              </a:rPr>
              <a:t>ROOT CAUSE</a:t>
            </a:r>
            <a:endParaRPr lang="en-US" sz="1050" dirty="0"/>
          </a:p>
        </p:txBody>
      </p:sp>
      <p:sp>
        <p:nvSpPr>
          <p:cNvPr id="11" name="Text 9"/>
          <p:cNvSpPr/>
          <p:nvPr/>
        </p:nvSpPr>
        <p:spPr>
          <a:xfrm>
            <a:off x="868680" y="2935224"/>
            <a:ext cx="10424160" cy="502920"/>
          </a:xfrm>
          <a:prstGeom prst="rect">
            <a:avLst/>
          </a:prstGeom>
          <a:noFill/>
          <a:ln/>
        </p:spPr>
        <p:txBody>
          <a:bodyPr wrap="square" lIns="0" tIns="0" rIns="0" bIns="0" rtlCol="0" anchor="t"/>
          <a:lstStyle/>
          <a:p>
            <a:pPr indent="0" marL="0">
              <a:buNone/>
            </a:pPr>
            <a:r>
              <a:rPr lang="en-US" sz="1300" dirty="0">
                <a:solidFill>
                  <a:srgbClr val="1E293B"/>
                </a:solidFill>
                <a:latin typeface="Calibri" pitchFamily="34" charset="0"/>
                <a:ea typeface="Calibri" pitchFamily="34" charset="-122"/>
                <a:cs typeface="Calibri" pitchFamily="34" charset="-120"/>
              </a:rPr>
              <a:t>A typo in the image name/tag, a private registry requiring credentials that aren't attached to the Pod's ServiceAccount, or the tag genuinely doesn't exist in the registry.</a:t>
            </a:r>
            <a:endParaRPr lang="en-US" sz="1300" dirty="0"/>
          </a:p>
        </p:txBody>
      </p:sp>
      <p:sp>
        <p:nvSpPr>
          <p:cNvPr id="12" name="Shape 10"/>
          <p:cNvSpPr/>
          <p:nvPr/>
        </p:nvSpPr>
        <p:spPr>
          <a:xfrm>
            <a:off x="640080" y="3666744"/>
            <a:ext cx="10881360" cy="1417320"/>
          </a:xfrm>
          <a:prstGeom prst="roundRect">
            <a:avLst>
              <a:gd name="adj" fmla="val 3871"/>
            </a:avLst>
          </a:prstGeom>
          <a:solidFill>
            <a:srgbClr val="E7F5EC"/>
          </a:solidFill>
          <a:ln/>
        </p:spPr>
      </p:sp>
      <p:sp>
        <p:nvSpPr>
          <p:cNvPr id="13" name="Text 11"/>
          <p:cNvSpPr/>
          <p:nvPr/>
        </p:nvSpPr>
        <p:spPr>
          <a:xfrm>
            <a:off x="868680" y="3758184"/>
            <a:ext cx="2743200" cy="274320"/>
          </a:xfrm>
          <a:prstGeom prst="rect">
            <a:avLst/>
          </a:prstGeom>
          <a:noFill/>
          <a:ln/>
        </p:spPr>
        <p:txBody>
          <a:bodyPr wrap="square" lIns="0" tIns="0" rIns="0" bIns="0" rtlCol="0" anchor="ctr"/>
          <a:lstStyle/>
          <a:p>
            <a:pPr indent="0" marL="0">
              <a:buNone/>
            </a:pPr>
            <a:r>
              <a:rPr lang="en-US" sz="1050" b="1" spc="100" kern="0" dirty="0">
                <a:solidFill>
                  <a:srgbClr val="15803D"/>
                </a:solidFill>
                <a:latin typeface="Calibri" pitchFamily="34" charset="0"/>
                <a:ea typeface="Calibri" pitchFamily="34" charset="-122"/>
                <a:cs typeface="Calibri" pitchFamily="34" charset="-120"/>
              </a:rPr>
              <a:t>THE FIX</a:t>
            </a:r>
            <a:endParaRPr lang="en-US" sz="1050" dirty="0"/>
          </a:p>
        </p:txBody>
      </p:sp>
      <p:sp>
        <p:nvSpPr>
          <p:cNvPr id="14" name="Text 12"/>
          <p:cNvSpPr/>
          <p:nvPr/>
        </p:nvSpPr>
        <p:spPr>
          <a:xfrm>
            <a:off x="868680" y="4014216"/>
            <a:ext cx="10424160" cy="365760"/>
          </a:xfrm>
          <a:prstGeom prst="rect">
            <a:avLst/>
          </a:prstGeom>
          <a:noFill/>
          <a:ln/>
        </p:spPr>
        <p:txBody>
          <a:bodyPr wrap="square" lIns="0" tIns="0" rIns="0" bIns="0" rtlCol="0" anchor="t"/>
          <a:lstStyle/>
          <a:p>
            <a:pPr indent="0" marL="0">
              <a:buNone/>
            </a:pPr>
            <a:r>
              <a:rPr lang="en-US" sz="1300" dirty="0">
                <a:solidFill>
                  <a:srgbClr val="1E293B"/>
                </a:solidFill>
                <a:latin typeface="Calibri" pitchFamily="34" charset="0"/>
                <a:ea typeface="Calibri" pitchFamily="34" charset="-122"/>
                <a:cs typeface="Calibri" pitchFamily="34" charset="-120"/>
              </a:rPr>
              <a:t>Describe the Pod to see the exact pull error, verify the image string, and if private, ensure imagePullSecrets is set on the Pod spec or the ServiceAccount.</a:t>
            </a:r>
            <a:endParaRPr lang="en-US" sz="1300" dirty="0"/>
          </a:p>
        </p:txBody>
      </p:sp>
      <p:sp>
        <p:nvSpPr>
          <p:cNvPr id="15" name="Shape 13"/>
          <p:cNvSpPr/>
          <p:nvPr/>
        </p:nvSpPr>
        <p:spPr>
          <a:xfrm>
            <a:off x="868680" y="4379976"/>
            <a:ext cx="10424160" cy="594360"/>
          </a:xfrm>
          <a:prstGeom prst="roundRect">
            <a:avLst>
              <a:gd name="adj" fmla="val 7692"/>
            </a:avLst>
          </a:prstGeom>
          <a:solidFill>
            <a:srgbClr val="0B2330"/>
          </a:solidFill>
          <a:ln/>
        </p:spPr>
      </p:sp>
      <p:sp>
        <p:nvSpPr>
          <p:cNvPr id="16" name="Text 14"/>
          <p:cNvSpPr/>
          <p:nvPr/>
        </p:nvSpPr>
        <p:spPr>
          <a:xfrm>
            <a:off x="1005840" y="4453128"/>
            <a:ext cx="10149840" cy="457200"/>
          </a:xfrm>
          <a:prstGeom prst="rect">
            <a:avLst/>
          </a:prstGeom>
          <a:noFill/>
          <a:ln/>
        </p:spPr>
        <p:txBody>
          <a:bodyPr wrap="square" lIns="0" tIns="0" rIns="0" bIns="0" rtlCol="0" anchor="t"/>
          <a:lstStyle/>
          <a:p>
            <a:pPr indent="0" marL="0">
              <a:buNone/>
            </a:pPr>
            <a:r>
              <a:rPr lang="en-US" sz="1200" dirty="0">
                <a:solidFill>
                  <a:srgbClr val="CFEFEA"/>
                </a:solidFill>
                <a:latin typeface="Courier New" pitchFamily="34" charset="0"/>
                <a:ea typeface="Courier New" pitchFamily="34" charset="-122"/>
                <a:cs typeface="Courier New" pitchFamily="34" charset="-120"/>
              </a:rPr>
              <a:t>kubectl describe pod &lt;pod&gt; | grep -A5 Events</a:t>
            </a:r>
            <a:endParaRPr lang="en-US" sz="1200" dirty="0"/>
          </a:p>
          <a:p>
            <a:pPr indent="0" marL="0">
              <a:buNone/>
            </a:pPr>
            <a:r>
              <a:rPr lang="en-US" sz="1200" dirty="0">
                <a:solidFill>
                  <a:srgbClr val="CFEFEA"/>
                </a:solidFill>
                <a:latin typeface="Courier New" pitchFamily="34" charset="0"/>
                <a:ea typeface="Courier New" pitchFamily="34" charset="-122"/>
                <a:cs typeface="Courier New" pitchFamily="34" charset="-120"/>
              </a:rPr>
              <a:t>kubectl create secret docker-registry regcred --docker-server=... \</a:t>
            </a:r>
            <a:endParaRPr lang="en-US" sz="1200" dirty="0"/>
          </a:p>
          <a:p>
            <a:pPr indent="0" marL="0">
              <a:buNone/>
            </a:pPr>
            <a:r>
              <a:rPr lang="en-US" sz="1200" dirty="0">
                <a:solidFill>
                  <a:srgbClr val="CFEFEA"/>
                </a:solidFill>
                <a:latin typeface="Courier New" pitchFamily="34" charset="0"/>
                <a:ea typeface="Courier New" pitchFamily="34" charset="-122"/>
                <a:cs typeface="Courier New" pitchFamily="34" charset="-120"/>
              </a:rPr>
              <a:t>  --docker-username=... --docker-password=...</a:t>
            </a:r>
            <a:endParaRPr lang="en-US" sz="1200" dirty="0"/>
          </a:p>
        </p:txBody>
      </p:sp>
      <p:sp>
        <p:nvSpPr>
          <p:cNvPr id="17" name="Text 15"/>
          <p:cNvSpPr/>
          <p:nvPr/>
        </p:nvSpPr>
        <p:spPr>
          <a:xfrm>
            <a:off x="457200" y="6446520"/>
            <a:ext cx="6400800" cy="27432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CKA v1.36 · Module 2</a:t>
            </a:r>
            <a:endParaRPr lang="en-US" sz="900" dirty="0"/>
          </a:p>
        </p:txBody>
      </p:sp>
      <p:sp>
        <p:nvSpPr>
          <p:cNvPr id="18" name="Text 16"/>
          <p:cNvSpPr/>
          <p:nvPr/>
        </p:nvSpPr>
        <p:spPr>
          <a:xfrm>
            <a:off x="11247120" y="6446520"/>
            <a:ext cx="4572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65760"/>
            <a:ext cx="9144000" cy="320040"/>
          </a:xfrm>
          <a:prstGeom prst="rect">
            <a:avLst/>
          </a:prstGeom>
          <a:noFill/>
          <a:ln/>
        </p:spPr>
        <p:txBody>
          <a:bodyPr wrap="square" lIns="0" tIns="0" rIns="0" bIns="0" rtlCol="0" anchor="ctr"/>
          <a:lstStyle/>
          <a:p>
            <a:pPr indent="0" marL="0">
              <a:buNone/>
            </a:pPr>
            <a:r>
              <a:rPr lang="en-US" sz="1150" b="1" spc="150" kern="0" dirty="0">
                <a:solidFill>
                  <a:srgbClr val="1C7293"/>
                </a:solidFill>
                <a:latin typeface="Calibri" pitchFamily="34" charset="0"/>
                <a:ea typeface="Calibri" pitchFamily="34" charset="-122"/>
                <a:cs typeface="Calibri" pitchFamily="34" charset="-120"/>
              </a:rPr>
              <a:t>DEPLOYMENTS</a:t>
            </a:r>
            <a:endParaRPr lang="en-US" sz="1150" dirty="0"/>
          </a:p>
        </p:txBody>
      </p:sp>
      <p:sp>
        <p:nvSpPr>
          <p:cNvPr id="3" name="Text 1"/>
          <p:cNvSpPr/>
          <p:nvPr/>
        </p:nvSpPr>
        <p:spPr>
          <a:xfrm>
            <a:off x="640080" y="658368"/>
            <a:ext cx="10881360" cy="685800"/>
          </a:xfrm>
          <a:prstGeom prst="rect">
            <a:avLst/>
          </a:prstGeom>
          <a:noFill/>
          <a:ln/>
        </p:spPr>
        <p:txBody>
          <a:bodyPr wrap="square" lIns="0" tIns="0" rIns="0" bIns="0" rtlCol="0" anchor="ctr"/>
          <a:lstStyle/>
          <a:p>
            <a:pPr indent="0" marL="0">
              <a:buNone/>
            </a:pPr>
            <a:r>
              <a:rPr lang="en-US" sz="2600" b="1" dirty="0">
                <a:solidFill>
                  <a:srgbClr val="21295C"/>
                </a:solidFill>
                <a:latin typeface="Cambria" pitchFamily="34" charset="0"/>
                <a:ea typeface="Cambria" pitchFamily="34" charset="-122"/>
                <a:cs typeface="Cambria" pitchFamily="34" charset="-120"/>
              </a:rPr>
              <a:t>Deployments — Module 2 Quick Reference</a:t>
            </a:r>
            <a:endParaRPr lang="en-US" sz="2600" dirty="0"/>
          </a:p>
        </p:txBody>
      </p:sp>
      <p:sp>
        <p:nvSpPr>
          <p:cNvPr id="4" name="Shape 2"/>
          <p:cNvSpPr/>
          <p:nvPr/>
        </p:nvSpPr>
        <p:spPr>
          <a:xfrm>
            <a:off x="640080" y="1371600"/>
            <a:ext cx="10881360" cy="0"/>
          </a:xfrm>
          <a:prstGeom prst="line">
            <a:avLst/>
          </a:prstGeom>
          <a:noFill/>
          <a:ln w="12700">
            <a:solidFill>
              <a:srgbClr val="D7E3E8"/>
            </a:solidFill>
            <a:prstDash val="solid"/>
          </a:ln>
        </p:spPr>
      </p:sp>
      <p:sp>
        <p:nvSpPr>
          <p:cNvPr id="5" name="Shape 3"/>
          <p:cNvSpPr/>
          <p:nvPr/>
        </p:nvSpPr>
        <p:spPr>
          <a:xfrm>
            <a:off x="11109960" y="411480"/>
            <a:ext cx="502920" cy="502920"/>
          </a:xfrm>
          <a:prstGeom prst="ellipse">
            <a:avLst/>
          </a:prstGeom>
          <a:solidFill>
            <a:srgbClr val="EAF4F8"/>
          </a:solidFill>
          <a:ln w="15875">
            <a:solidFill>
              <a:srgbClr val="1C7293"/>
            </a:solidFill>
            <a:prstDash val="solid"/>
          </a:ln>
        </p:spPr>
      </p:sp>
      <p:sp>
        <p:nvSpPr>
          <p:cNvPr id="6" name="Text 4"/>
          <p:cNvSpPr/>
          <p:nvPr/>
        </p:nvSpPr>
        <p:spPr>
          <a:xfrm>
            <a:off x="11109960" y="411480"/>
            <a:ext cx="502920" cy="502920"/>
          </a:xfrm>
          <a:prstGeom prst="rect">
            <a:avLst/>
          </a:prstGeom>
          <a:noFill/>
          <a:ln/>
        </p:spPr>
        <p:txBody>
          <a:bodyPr wrap="square" lIns="0" tIns="0" rIns="0" bIns="0" rtlCol="0" anchor="ctr"/>
          <a:lstStyle/>
          <a:p>
            <a:pPr algn="ctr" indent="0" marL="0">
              <a:buNone/>
            </a:pPr>
            <a:r>
              <a:rPr lang="en-US" sz="1600" b="1" dirty="0">
                <a:solidFill>
                  <a:srgbClr val="1C7293"/>
                </a:solidFill>
                <a:latin typeface="Calibri" pitchFamily="34" charset="0"/>
                <a:ea typeface="Calibri" pitchFamily="34" charset="-122"/>
                <a:cs typeface="Calibri" pitchFamily="34" charset="-120"/>
              </a:rPr>
              <a:t>✓</a:t>
            </a:r>
            <a:endParaRPr lang="en-US" sz="1600" dirty="0"/>
          </a:p>
        </p:txBody>
      </p:sp>
      <p:sp>
        <p:nvSpPr>
          <p:cNvPr id="7" name="Text 5"/>
          <p:cNvSpPr/>
          <p:nvPr/>
        </p:nvSpPr>
        <p:spPr>
          <a:xfrm>
            <a:off x="640080" y="1600200"/>
            <a:ext cx="10881360" cy="4572000"/>
          </a:xfrm>
          <a:prstGeom prst="rect">
            <a:avLst/>
          </a:prstGeom>
          <a:noFill/>
          <a:ln/>
        </p:spPr>
        <p:txBody>
          <a:bodyPr wrap="square" lIns="0" tIns="0" rIns="0" bIns="0" rtlCol="0" anchor="t"/>
          <a:lstStyle/>
          <a:p>
            <a:pPr marL="342900" indent="-342900">
              <a:spcAft>
                <a:spcPts val="1200"/>
              </a:spcAft>
              <a:buSzPct val="100000"/>
              <a:buChar char="•"/>
            </a:pPr>
            <a:r>
              <a:rPr lang="en-US" sz="1550" dirty="0">
                <a:solidFill>
                  <a:srgbClr val="1E293B"/>
                </a:solidFill>
                <a:latin typeface="Calibri" pitchFamily="34" charset="0"/>
                <a:ea typeface="Calibri" pitchFamily="34" charset="-122"/>
                <a:cs typeface="Calibri" pitchFamily="34" charset="-120"/>
              </a:rPr>
              <a:t>Pending Pods after a Deployment apply → check resources.requests against node capacity, and affinity/taint rules, via kubectl describe pod.</a:t>
            </a:r>
            <a:endParaRPr lang="en-US" sz="1550" dirty="0"/>
          </a:p>
          <a:p>
            <a:pPr marL="342900" indent="-342900">
              <a:spcAft>
                <a:spcPts val="1200"/>
              </a:spcAft>
              <a:buSzPct val="100000"/>
              <a:buChar char="•"/>
            </a:pPr>
            <a:r>
              <a:rPr lang="en-US" sz="1550" dirty="0">
                <a:solidFill>
                  <a:srgbClr val="1E293B"/>
                </a:solidFill>
                <a:latin typeface="Calibri" pitchFamily="34" charset="0"/>
                <a:ea typeface="Calibri" pitchFamily="34" charset="-122"/>
                <a:cs typeface="Calibri" pitchFamily="34" charset="-120"/>
              </a:rPr>
              <a:t>No rollout happened after an edit → confirm the change touched spec.template, not just top-level metadata.</a:t>
            </a:r>
            <a:endParaRPr lang="en-US" sz="1550" dirty="0"/>
          </a:p>
          <a:p>
            <a:pPr marL="342900" indent="-342900">
              <a:spcAft>
                <a:spcPts val="1200"/>
              </a:spcAft>
              <a:buSzPct val="100000"/>
              <a:buChar char="•"/>
            </a:pPr>
            <a:r>
              <a:rPr lang="en-US" sz="1550" dirty="0">
                <a:solidFill>
                  <a:srgbClr val="1E293B"/>
                </a:solidFill>
                <a:latin typeface="Calibri" pitchFamily="34" charset="0"/>
                <a:ea typeface="Calibri" pitchFamily="34" charset="-122"/>
                <a:cs typeface="Calibri" pitchFamily="34" charset="-120"/>
              </a:rPr>
              <a:t>ImagePullBackOff → verify the image string and imagePullSecrets.</a:t>
            </a:r>
            <a:endParaRPr lang="en-US" sz="1550" dirty="0"/>
          </a:p>
          <a:p>
            <a:pPr marL="342900" indent="-342900">
              <a:spcAft>
                <a:spcPts val="1200"/>
              </a:spcAft>
              <a:buSzPct val="100000"/>
              <a:buChar char="•"/>
            </a:pPr>
            <a:r>
              <a:rPr lang="en-US" sz="1550" dirty="0">
                <a:solidFill>
                  <a:srgbClr val="1E293B"/>
                </a:solidFill>
                <a:latin typeface="Calibri" pitchFamily="34" charset="0"/>
                <a:ea typeface="Calibri" pitchFamily="34" charset="-122"/>
                <a:cs typeface="Calibri" pitchFamily="34" charset="-120"/>
              </a:rPr>
              <a:t>Bad rollout breaking the app → kubectl rollout undo deployment/&lt;name&gt; (covered in depth in Module 1).</a:t>
            </a:r>
            <a:endParaRPr lang="en-US" sz="1550" dirty="0"/>
          </a:p>
          <a:p>
            <a:pPr marL="342900" indent="-342900">
              <a:spcAft>
                <a:spcPts val="1200"/>
              </a:spcAft>
              <a:buSzPct val="100000"/>
              <a:buChar char="•"/>
            </a:pPr>
            <a:r>
              <a:rPr lang="en-US" sz="1550" dirty="0">
                <a:solidFill>
                  <a:srgbClr val="1E293B"/>
                </a:solidFill>
                <a:latin typeface="Calibri" pitchFamily="34" charset="0"/>
                <a:ea typeface="Calibri" pitchFamily="34" charset="-122"/>
                <a:cs typeface="Calibri" pitchFamily="34" charset="-120"/>
              </a:rPr>
              <a:t>Always verify with kubectl rollout status and kubectl get pods -o wide before considering a task complete.</a:t>
            </a:r>
            <a:endParaRPr lang="en-US" sz="1550" dirty="0"/>
          </a:p>
        </p:txBody>
      </p:sp>
      <p:sp>
        <p:nvSpPr>
          <p:cNvPr id="8" name="Text 6"/>
          <p:cNvSpPr/>
          <p:nvPr/>
        </p:nvSpPr>
        <p:spPr>
          <a:xfrm>
            <a:off x="457200" y="6446520"/>
            <a:ext cx="6400800" cy="27432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CKA v1.36 · Module 2</a:t>
            </a:r>
            <a:endParaRPr lang="en-US" sz="900" dirty="0"/>
          </a:p>
        </p:txBody>
      </p:sp>
      <p:sp>
        <p:nvSpPr>
          <p:cNvPr id="9" name="Text 7"/>
          <p:cNvSpPr/>
          <p:nvPr/>
        </p:nvSpPr>
        <p:spPr>
          <a:xfrm>
            <a:off x="11247120" y="6446520"/>
            <a:ext cx="4572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21295C"/>
        </a:solidFill>
      </p:bgPr>
    </p:bg>
    <p:spTree>
      <p:nvGrpSpPr>
        <p:cNvPr id="1" name=""/>
        <p:cNvGrpSpPr/>
        <p:nvPr/>
      </p:nvGrpSpPr>
      <p:grpSpPr>
        <a:xfrm>
          <a:off x="0" y="0"/>
          <a:ext cx="0" cy="0"/>
          <a:chOff x="0" y="0"/>
          <a:chExt cx="0" cy="0"/>
        </a:xfrm>
      </p:grpSpPr>
      <p:sp>
        <p:nvSpPr>
          <p:cNvPr id="2" name="Shape 0"/>
          <p:cNvSpPr/>
          <p:nvPr/>
        </p:nvSpPr>
        <p:spPr>
          <a:xfrm>
            <a:off x="8778240" y="3291840"/>
            <a:ext cx="5029200" cy="5029200"/>
          </a:xfrm>
          <a:prstGeom prst="ellipse">
            <a:avLst/>
          </a:prstGeom>
          <a:solidFill>
            <a:srgbClr val="065A82">
              <a:alpha val="40000"/>
            </a:srgbClr>
          </a:solidFill>
          <a:ln/>
        </p:spPr>
      </p:sp>
      <p:sp>
        <p:nvSpPr>
          <p:cNvPr id="3" name="Shape 1"/>
          <p:cNvSpPr/>
          <p:nvPr/>
        </p:nvSpPr>
        <p:spPr>
          <a:xfrm>
            <a:off x="822960" y="1828800"/>
            <a:ext cx="1371600" cy="1371600"/>
          </a:xfrm>
          <a:prstGeom prst="roundRect">
            <a:avLst>
              <a:gd name="adj" fmla="val 12000"/>
            </a:avLst>
          </a:prstGeom>
          <a:solidFill>
            <a:srgbClr val="1C7293"/>
          </a:solidFill>
          <a:ln/>
          <a:effectLst>
            <a:outerShdw sx="100000" sy="100000" kx="0" ky="0" algn="bl" rotWithShape="0" blurRad="88900" dist="25400" dir="2700000">
              <a:srgbClr val="1B2A36">
                <a:alpha val="12000"/>
              </a:srgbClr>
            </a:outerShdw>
          </a:effectLst>
        </p:spPr>
      </p:sp>
      <p:sp>
        <p:nvSpPr>
          <p:cNvPr id="4" name="Text 2"/>
          <p:cNvSpPr/>
          <p:nvPr/>
        </p:nvSpPr>
        <p:spPr>
          <a:xfrm>
            <a:off x="822960" y="1828800"/>
            <a:ext cx="1371600" cy="1371600"/>
          </a:xfrm>
          <a:prstGeom prst="rect">
            <a:avLst/>
          </a:prstGeom>
          <a:noFill/>
          <a:ln/>
        </p:spPr>
        <p:txBody>
          <a:bodyPr wrap="square" lIns="0" tIns="0" rIns="0" bIns="0" rtlCol="0" anchor="ctr"/>
          <a:lstStyle/>
          <a:p>
            <a:pPr algn="ctr" indent="0" marL="0">
              <a:buNone/>
            </a:pPr>
            <a:r>
              <a:rPr lang="en-US" sz="4000" b="1" dirty="0">
                <a:solidFill>
                  <a:srgbClr val="FFFFFF"/>
                </a:solidFill>
                <a:latin typeface="Cambria" pitchFamily="34" charset="0"/>
                <a:ea typeface="Cambria" pitchFamily="34" charset="-122"/>
                <a:cs typeface="Cambria" pitchFamily="34" charset="-120"/>
              </a:rPr>
              <a:t>B</a:t>
            </a:r>
            <a:endParaRPr lang="en-US" sz="4000" dirty="0"/>
          </a:p>
        </p:txBody>
      </p:sp>
      <p:sp>
        <p:nvSpPr>
          <p:cNvPr id="5" name="Text 3"/>
          <p:cNvSpPr/>
          <p:nvPr/>
        </p:nvSpPr>
        <p:spPr>
          <a:xfrm>
            <a:off x="2468880" y="1828800"/>
            <a:ext cx="8961120" cy="100584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Deployment Strategies</a:t>
            </a:r>
            <a:endParaRPr lang="en-US" sz="3200" dirty="0"/>
          </a:p>
        </p:txBody>
      </p:sp>
      <p:sp>
        <p:nvSpPr>
          <p:cNvPr id="6" name="Text 4"/>
          <p:cNvSpPr/>
          <p:nvPr/>
        </p:nvSpPr>
        <p:spPr>
          <a:xfrm>
            <a:off x="2468880" y="2788920"/>
            <a:ext cx="8961120" cy="640080"/>
          </a:xfrm>
          <a:prstGeom prst="rect">
            <a:avLst/>
          </a:prstGeom>
          <a:noFill/>
          <a:ln/>
        </p:spPr>
        <p:txBody>
          <a:bodyPr wrap="square" lIns="0" tIns="0" rIns="0" bIns="0" rtlCol="0" anchor="ctr"/>
          <a:lstStyle/>
          <a:p>
            <a:pPr indent="0" marL="0">
              <a:buNone/>
            </a:pPr>
            <a:r>
              <a:rPr lang="en-US" sz="1600" dirty="0">
                <a:solidFill>
                  <a:srgbClr val="C9E4ED"/>
                </a:solidFill>
                <a:latin typeface="Calibri" pitchFamily="34" charset="0"/>
                <a:ea typeface="Calibri" pitchFamily="34" charset="-122"/>
                <a:cs typeface="Calibri" pitchFamily="34" charset="-120"/>
              </a:rPr>
              <a:t>Choosing how traffic moves from old to new</a:t>
            </a:r>
            <a:endParaRPr lang="en-US" sz="1600" dirty="0"/>
          </a:p>
        </p:txBody>
      </p:sp>
      <p:sp>
        <p:nvSpPr>
          <p:cNvPr id="7" name="Shape 5"/>
          <p:cNvSpPr/>
          <p:nvPr/>
        </p:nvSpPr>
        <p:spPr>
          <a:xfrm>
            <a:off x="2468880" y="3429000"/>
            <a:ext cx="8961120" cy="548640"/>
          </a:xfrm>
          <a:prstGeom prst="roundRect">
            <a:avLst>
              <a:gd name="adj" fmla="val 16667"/>
            </a:avLst>
          </a:prstGeom>
          <a:solidFill>
            <a:srgbClr val="FFFFFF">
              <a:alpha val="10000"/>
            </a:srgbClr>
          </a:solidFill>
          <a:ln w="9525">
            <a:solidFill>
              <a:srgbClr val="8FD3E8"/>
            </a:solidFill>
            <a:prstDash val="solid"/>
          </a:ln>
        </p:spPr>
      </p:sp>
      <p:sp>
        <p:nvSpPr>
          <p:cNvPr id="8" name="Text 6"/>
          <p:cNvSpPr/>
          <p:nvPr/>
        </p:nvSpPr>
        <p:spPr>
          <a:xfrm>
            <a:off x="2697480" y="3429000"/>
            <a:ext cx="8503920" cy="548640"/>
          </a:xfrm>
          <a:prstGeom prst="rect">
            <a:avLst/>
          </a:prstGeom>
          <a:noFill/>
          <a:ln/>
        </p:spPr>
        <p:txBody>
          <a:bodyPr wrap="square" lIns="0" tIns="0" rIns="0" bIns="0" rtlCol="0" anchor="ctr"/>
          <a:lstStyle/>
          <a:p>
            <a:pPr algn="l" indent="0" marL="0">
              <a:buNone/>
            </a:pPr>
            <a:r>
              <a:rPr lang="en-US" sz="1200" dirty="0">
                <a:solidFill>
                  <a:srgbClr val="DCEFF5"/>
                </a:solidFill>
                <a:latin typeface="Calibri" pitchFamily="34" charset="0"/>
                <a:ea typeface="Calibri" pitchFamily="34" charset="-122"/>
                <a:cs typeface="Calibri" pitchFamily="34" charset="-120"/>
              </a:rPr>
              <a:t>Domain: Workloads &amp; Scheduling · Deployment strategies</a:t>
            </a:r>
            <a:endParaRPr lang="en-US" sz="1200" dirty="0"/>
          </a:p>
        </p:txBody>
      </p:sp>
      <p:sp>
        <p:nvSpPr>
          <p:cNvPr id="9" name="Text 7"/>
          <p:cNvSpPr/>
          <p:nvPr/>
        </p:nvSpPr>
        <p:spPr>
          <a:xfrm>
            <a:off x="457200" y="6446520"/>
            <a:ext cx="6400800" cy="27432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CKA v1.36 · Module 2</a:t>
            </a:r>
            <a:endParaRPr lang="en-US" sz="900" dirty="0"/>
          </a:p>
        </p:txBody>
      </p:sp>
      <p:sp>
        <p:nvSpPr>
          <p:cNvPr id="10" name="Text 8"/>
          <p:cNvSpPr/>
          <p:nvPr/>
        </p:nvSpPr>
        <p:spPr>
          <a:xfrm>
            <a:off x="11247120" y="6446520"/>
            <a:ext cx="4572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12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65760"/>
            <a:ext cx="9144000" cy="320040"/>
          </a:xfrm>
          <a:prstGeom prst="rect">
            <a:avLst/>
          </a:prstGeom>
          <a:noFill/>
          <a:ln/>
        </p:spPr>
        <p:txBody>
          <a:bodyPr wrap="square" lIns="0" tIns="0" rIns="0" bIns="0" rtlCol="0" anchor="ctr"/>
          <a:lstStyle/>
          <a:p>
            <a:pPr indent="0" marL="0">
              <a:buNone/>
            </a:pPr>
            <a:r>
              <a:rPr lang="en-US" sz="1150" b="1" spc="150" kern="0" dirty="0">
                <a:solidFill>
                  <a:srgbClr val="1C7293"/>
                </a:solidFill>
                <a:latin typeface="Calibri" pitchFamily="34" charset="0"/>
                <a:ea typeface="Calibri" pitchFamily="34" charset="-122"/>
                <a:cs typeface="Calibri" pitchFamily="34" charset="-120"/>
              </a:rPr>
              <a:t>DEPLOYMENT STRATEGIES</a:t>
            </a:r>
            <a:endParaRPr lang="en-US" sz="1150" dirty="0"/>
          </a:p>
        </p:txBody>
      </p:sp>
      <p:sp>
        <p:nvSpPr>
          <p:cNvPr id="3" name="Text 1"/>
          <p:cNvSpPr/>
          <p:nvPr/>
        </p:nvSpPr>
        <p:spPr>
          <a:xfrm>
            <a:off x="640080" y="658368"/>
            <a:ext cx="10881360" cy="548640"/>
          </a:xfrm>
          <a:prstGeom prst="rect">
            <a:avLst/>
          </a:prstGeom>
          <a:noFill/>
          <a:ln/>
        </p:spPr>
        <p:txBody>
          <a:bodyPr wrap="square" lIns="0" tIns="0" rIns="0" bIns="0" rtlCol="0" anchor="ctr"/>
          <a:lstStyle/>
          <a:p>
            <a:pPr indent="0" marL="0">
              <a:buNone/>
            </a:pPr>
            <a:r>
              <a:rPr lang="en-US" sz="2400" b="1" dirty="0">
                <a:solidFill>
                  <a:srgbClr val="21295C"/>
                </a:solidFill>
                <a:latin typeface="Cambria" pitchFamily="34" charset="0"/>
                <a:ea typeface="Cambria" pitchFamily="34" charset="-122"/>
                <a:cs typeface="Cambria" pitchFamily="34" charset="-120"/>
              </a:rPr>
              <a:t>Native vs. Pattern-Based Strategies</a:t>
            </a:r>
            <a:endParaRPr lang="en-US" sz="24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640080" y="1371600"/>
          <a:ext cx="10881360" cy="914400"/>
        </p:xfrm>
        <a:graphic>
          <a:graphicData uri="http://schemas.openxmlformats.org/drawingml/2006/table">
            <a:tbl>
              <a:tblPr/>
              <a:tblGrid>
                <a:gridCol w="2743200"/>
                <a:gridCol w="3291840"/>
                <a:gridCol w="4846320"/>
              </a:tblGrid>
              <a:tr h="0">
                <a:tc>
                  <a:txBody>
                    <a:bodyPr/>
                    <a:lstStyle/>
                    <a:p>
                      <a:pPr algn="l" indent="0" marL="0">
                        <a:buNone/>
                      </a:pPr>
                      <a:r>
                        <a:rPr lang="en-US" sz="1300" b="1" dirty="0">
                          <a:solidFill>
                            <a:srgbClr val="FFFFFF"/>
                          </a:solidFill>
                        </a:rPr>
                        <a:t>Strategy</a:t>
                      </a:r>
                      <a:endParaRPr lang="en-US" sz="1300" dirty="0"/>
                    </a:p>
                  </a:txBody>
                  <a:tcPr marL="101600" marR="101600" marT="50800" marB="50800" anchor="ctr">
                    <a:lnL w="9525" cap="flat" cmpd="sng" algn="ctr">
                      <a:solidFill>
                        <a:srgbClr val="D7E3E8"/>
                      </a:solidFill>
                      <a:prstDash val="solid"/>
                      <a:round/>
                      <a:headEnd type="none" w="med" len="med"/>
                      <a:tailEnd type="none" w="med" len="med"/>
                    </a:lnL>
                    <a:lnR w="9525" cap="flat" cmpd="sng" algn="ctr">
                      <a:solidFill>
                        <a:srgbClr val="D7E3E8"/>
                      </a:solidFill>
                      <a:prstDash val="solid"/>
                      <a:round/>
                      <a:headEnd type="none" w="med" len="med"/>
                      <a:tailEnd type="none" w="med" len="med"/>
                    </a:lnR>
                    <a:lnT w="9525" cap="flat" cmpd="sng" algn="ctr">
                      <a:solidFill>
                        <a:srgbClr val="D7E3E8"/>
                      </a:solidFill>
                      <a:prstDash val="solid"/>
                      <a:round/>
                      <a:headEnd type="none" w="med" len="med"/>
                      <a:tailEnd type="none" w="med" len="med"/>
                    </a:lnT>
                    <a:lnB w="9525" cap="flat" cmpd="sng" algn="ctr">
                      <a:solidFill>
                        <a:srgbClr val="D7E3E8"/>
                      </a:solidFill>
                      <a:prstDash val="solid"/>
                      <a:round/>
                      <a:headEnd type="none" w="med" len="med"/>
                      <a:tailEnd type="none" w="med" len="med"/>
                    </a:lnB>
                    <a:solidFill>
                      <a:srgbClr val="065A82"/>
                    </a:solidFill>
                  </a:tcPr>
                </a:tc>
                <a:tc>
                  <a:txBody>
                    <a:bodyPr/>
                    <a:lstStyle/>
                    <a:p>
                      <a:pPr algn="l" indent="0" marL="0">
                        <a:buNone/>
                      </a:pPr>
                      <a:r>
                        <a:rPr lang="en-US" sz="1300" b="1" dirty="0">
                          <a:solidFill>
                            <a:srgbClr val="FFFFFF"/>
                          </a:solidFill>
                        </a:rPr>
                        <a:t>Native to Deployment object?</a:t>
                      </a:r>
                      <a:endParaRPr lang="en-US" sz="1300" dirty="0"/>
                    </a:p>
                  </a:txBody>
                  <a:tcPr marL="101600" marR="101600" marT="50800" marB="50800" anchor="ctr">
                    <a:lnL w="9525" cap="flat" cmpd="sng" algn="ctr">
                      <a:solidFill>
                        <a:srgbClr val="D7E3E8"/>
                      </a:solidFill>
                      <a:prstDash val="solid"/>
                      <a:round/>
                      <a:headEnd type="none" w="med" len="med"/>
                      <a:tailEnd type="none" w="med" len="med"/>
                    </a:lnL>
                    <a:lnR w="9525" cap="flat" cmpd="sng" algn="ctr">
                      <a:solidFill>
                        <a:srgbClr val="D7E3E8"/>
                      </a:solidFill>
                      <a:prstDash val="solid"/>
                      <a:round/>
                      <a:headEnd type="none" w="med" len="med"/>
                      <a:tailEnd type="none" w="med" len="med"/>
                    </a:lnR>
                    <a:lnT w="9525" cap="flat" cmpd="sng" algn="ctr">
                      <a:solidFill>
                        <a:srgbClr val="D7E3E8"/>
                      </a:solidFill>
                      <a:prstDash val="solid"/>
                      <a:round/>
                      <a:headEnd type="none" w="med" len="med"/>
                      <a:tailEnd type="none" w="med" len="med"/>
                    </a:lnT>
                    <a:lnB w="9525" cap="flat" cmpd="sng" algn="ctr">
                      <a:solidFill>
                        <a:srgbClr val="D7E3E8"/>
                      </a:solidFill>
                      <a:prstDash val="solid"/>
                      <a:round/>
                      <a:headEnd type="none" w="med" len="med"/>
                      <a:tailEnd type="none" w="med" len="med"/>
                    </a:lnB>
                    <a:solidFill>
                      <a:srgbClr val="065A82"/>
                    </a:solidFill>
                  </a:tcPr>
                </a:tc>
                <a:tc>
                  <a:txBody>
                    <a:bodyPr/>
                    <a:lstStyle/>
                    <a:p>
                      <a:pPr algn="l" indent="0" marL="0">
                        <a:buNone/>
                      </a:pPr>
                      <a:r>
                        <a:rPr lang="en-US" sz="1300" b="1" dirty="0">
                          <a:solidFill>
                            <a:srgbClr val="FFFFFF"/>
                          </a:solidFill>
                        </a:rPr>
                        <a:t>How It's Achieved</a:t>
                      </a:r>
                      <a:endParaRPr lang="en-US" sz="1300" dirty="0"/>
                    </a:p>
                  </a:txBody>
                  <a:tcPr marL="101600" marR="101600" marT="50800" marB="50800" anchor="ctr">
                    <a:lnL w="9525" cap="flat" cmpd="sng" algn="ctr">
                      <a:solidFill>
                        <a:srgbClr val="D7E3E8"/>
                      </a:solidFill>
                      <a:prstDash val="solid"/>
                      <a:round/>
                      <a:headEnd type="none" w="med" len="med"/>
                      <a:tailEnd type="none" w="med" len="med"/>
                    </a:lnL>
                    <a:lnR w="9525" cap="flat" cmpd="sng" algn="ctr">
                      <a:solidFill>
                        <a:srgbClr val="D7E3E8"/>
                      </a:solidFill>
                      <a:prstDash val="solid"/>
                      <a:round/>
                      <a:headEnd type="none" w="med" len="med"/>
                      <a:tailEnd type="none" w="med" len="med"/>
                    </a:lnR>
                    <a:lnT w="9525" cap="flat" cmpd="sng" algn="ctr">
                      <a:solidFill>
                        <a:srgbClr val="D7E3E8"/>
                      </a:solidFill>
                      <a:prstDash val="solid"/>
                      <a:round/>
                      <a:headEnd type="none" w="med" len="med"/>
                      <a:tailEnd type="none" w="med" len="med"/>
                    </a:lnT>
                    <a:lnB w="9525" cap="flat" cmpd="sng" algn="ctr">
                      <a:solidFill>
                        <a:srgbClr val="D7E3E8"/>
                      </a:solidFill>
                      <a:prstDash val="solid"/>
                      <a:round/>
                      <a:headEnd type="none" w="med" len="med"/>
                      <a:tailEnd type="none" w="med" len="med"/>
                    </a:lnB>
                    <a:solidFill>
                      <a:srgbClr val="065A82"/>
                    </a:solidFill>
                  </a:tcPr>
                </a:tc>
              </a:tr>
              <a:tr h="0">
                <a:tc>
                  <a:txBody>
                    <a:bodyPr/>
                    <a:lstStyle/>
                    <a:p>
                      <a:pPr algn="l" indent="0" marL="0">
                        <a:buNone/>
                      </a:pPr>
                      <a:r>
                        <a:rPr lang="en-US" sz="1250" dirty="0">
                          <a:solidFill>
                            <a:srgbClr val="1E293B"/>
                          </a:solidFill>
                        </a:rPr>
                        <a:t>RollingUpdate</a:t>
                      </a:r>
                      <a:endParaRPr lang="en-US" sz="1250" dirty="0"/>
                    </a:p>
                  </a:txBody>
                  <a:tcPr marL="101600" marR="101600" marT="50800" marB="50800" anchor="ctr">
                    <a:lnL w="9525" cap="flat" cmpd="sng" algn="ctr">
                      <a:solidFill>
                        <a:srgbClr val="D7E3E8"/>
                      </a:solidFill>
                      <a:prstDash val="solid"/>
                      <a:round/>
                      <a:headEnd type="none" w="med" len="med"/>
                      <a:tailEnd type="none" w="med" len="med"/>
                    </a:lnL>
                    <a:lnR w="9525" cap="flat" cmpd="sng" algn="ctr">
                      <a:solidFill>
                        <a:srgbClr val="D7E3E8"/>
                      </a:solidFill>
                      <a:prstDash val="solid"/>
                      <a:round/>
                      <a:headEnd type="none" w="med" len="med"/>
                      <a:tailEnd type="none" w="med" len="med"/>
                    </a:lnR>
                    <a:lnT w="9525" cap="flat" cmpd="sng" algn="ctr">
                      <a:solidFill>
                        <a:srgbClr val="D7E3E8"/>
                      </a:solidFill>
                      <a:prstDash val="solid"/>
                      <a:round/>
                      <a:headEnd type="none" w="med" len="med"/>
                      <a:tailEnd type="none" w="med" len="med"/>
                    </a:lnT>
                    <a:lnB w="9525" cap="flat" cmpd="sng" algn="ctr">
                      <a:solidFill>
                        <a:srgbClr val="D7E3E8"/>
                      </a:solidFill>
                      <a:prstDash val="solid"/>
                      <a:round/>
                      <a:headEnd type="none" w="med" len="med"/>
                      <a:tailEnd type="none" w="med" len="med"/>
                    </a:lnB>
                    <a:solidFill>
                      <a:srgbClr val="FFFFFF"/>
                    </a:solidFill>
                  </a:tcPr>
                </a:tc>
                <a:tc>
                  <a:txBody>
                    <a:bodyPr/>
                    <a:lstStyle/>
                    <a:p>
                      <a:pPr algn="l" indent="0" marL="0">
                        <a:buNone/>
                      </a:pPr>
                      <a:r>
                        <a:rPr lang="en-US" sz="1250" dirty="0">
                          <a:solidFill>
                            <a:srgbClr val="1E293B"/>
                          </a:solidFill>
                        </a:rPr>
                        <a:t>Yes (default)</a:t>
                      </a:r>
                      <a:endParaRPr lang="en-US" sz="1250" dirty="0"/>
                    </a:p>
                  </a:txBody>
                  <a:tcPr marL="101600" marR="101600" marT="50800" marB="50800" anchor="ctr">
                    <a:lnL w="9525" cap="flat" cmpd="sng" algn="ctr">
                      <a:solidFill>
                        <a:srgbClr val="D7E3E8"/>
                      </a:solidFill>
                      <a:prstDash val="solid"/>
                      <a:round/>
                      <a:headEnd type="none" w="med" len="med"/>
                      <a:tailEnd type="none" w="med" len="med"/>
                    </a:lnL>
                    <a:lnR w="9525" cap="flat" cmpd="sng" algn="ctr">
                      <a:solidFill>
                        <a:srgbClr val="D7E3E8"/>
                      </a:solidFill>
                      <a:prstDash val="solid"/>
                      <a:round/>
                      <a:headEnd type="none" w="med" len="med"/>
                      <a:tailEnd type="none" w="med" len="med"/>
                    </a:lnR>
                    <a:lnT w="9525" cap="flat" cmpd="sng" algn="ctr">
                      <a:solidFill>
                        <a:srgbClr val="D7E3E8"/>
                      </a:solidFill>
                      <a:prstDash val="solid"/>
                      <a:round/>
                      <a:headEnd type="none" w="med" len="med"/>
                      <a:tailEnd type="none" w="med" len="med"/>
                    </a:lnT>
                    <a:lnB w="9525" cap="flat" cmpd="sng" algn="ctr">
                      <a:solidFill>
                        <a:srgbClr val="D7E3E8"/>
                      </a:solidFill>
                      <a:prstDash val="solid"/>
                      <a:round/>
                      <a:headEnd type="none" w="med" len="med"/>
                      <a:tailEnd type="none" w="med" len="med"/>
                    </a:lnB>
                    <a:solidFill>
                      <a:srgbClr val="FFFFFF"/>
                    </a:solidFill>
                  </a:tcPr>
                </a:tc>
                <a:tc>
                  <a:txBody>
                    <a:bodyPr/>
                    <a:lstStyle/>
                    <a:p>
                      <a:pPr algn="l" indent="0" marL="0">
                        <a:buNone/>
                      </a:pPr>
                      <a:r>
                        <a:rPr lang="en-US" sz="1250" dirty="0">
                          <a:solidFill>
                            <a:srgbClr val="1E293B"/>
                          </a:solidFill>
                        </a:rPr>
                        <a:t>spec.strategy.type: RollingUpdate with maxUnavailable / maxSurge</a:t>
                      </a:r>
                      <a:endParaRPr lang="en-US" sz="1250" dirty="0"/>
                    </a:p>
                  </a:txBody>
                  <a:tcPr marL="101600" marR="101600" marT="50800" marB="50800" anchor="ctr">
                    <a:lnL w="9525" cap="flat" cmpd="sng" algn="ctr">
                      <a:solidFill>
                        <a:srgbClr val="D7E3E8"/>
                      </a:solidFill>
                      <a:prstDash val="solid"/>
                      <a:round/>
                      <a:headEnd type="none" w="med" len="med"/>
                      <a:tailEnd type="none" w="med" len="med"/>
                    </a:lnL>
                    <a:lnR w="9525" cap="flat" cmpd="sng" algn="ctr">
                      <a:solidFill>
                        <a:srgbClr val="D7E3E8"/>
                      </a:solidFill>
                      <a:prstDash val="solid"/>
                      <a:round/>
                      <a:headEnd type="none" w="med" len="med"/>
                      <a:tailEnd type="none" w="med" len="med"/>
                    </a:lnR>
                    <a:lnT w="9525" cap="flat" cmpd="sng" algn="ctr">
                      <a:solidFill>
                        <a:srgbClr val="D7E3E8"/>
                      </a:solidFill>
                      <a:prstDash val="solid"/>
                      <a:round/>
                      <a:headEnd type="none" w="med" len="med"/>
                      <a:tailEnd type="none" w="med" len="med"/>
                    </a:lnT>
                    <a:lnB w="9525" cap="flat" cmpd="sng" algn="ctr">
                      <a:solidFill>
                        <a:srgbClr val="D7E3E8"/>
                      </a:solidFill>
                      <a:prstDash val="solid"/>
                      <a:round/>
                      <a:headEnd type="none" w="med" len="med"/>
                      <a:tailEnd type="none" w="med" len="med"/>
                    </a:lnB>
                    <a:solidFill>
                      <a:srgbClr val="FFFFFF"/>
                    </a:solidFill>
                  </a:tcPr>
                </a:tc>
              </a:tr>
              <a:tr h="0">
                <a:tc>
                  <a:txBody>
                    <a:bodyPr/>
                    <a:lstStyle/>
                    <a:p>
                      <a:pPr algn="l" indent="0" marL="0">
                        <a:buNone/>
                      </a:pPr>
                      <a:r>
                        <a:rPr lang="en-US" sz="1250" dirty="0">
                          <a:solidFill>
                            <a:srgbClr val="1E293B"/>
                          </a:solidFill>
                        </a:rPr>
                        <a:t>Recreate</a:t>
                      </a:r>
                      <a:endParaRPr lang="en-US" sz="1250" dirty="0"/>
                    </a:p>
                  </a:txBody>
                  <a:tcPr marL="101600" marR="101600" marT="50800" marB="50800" anchor="ctr">
                    <a:lnL w="9525" cap="flat" cmpd="sng" algn="ctr">
                      <a:solidFill>
                        <a:srgbClr val="D7E3E8"/>
                      </a:solidFill>
                      <a:prstDash val="solid"/>
                      <a:round/>
                      <a:headEnd type="none" w="med" len="med"/>
                      <a:tailEnd type="none" w="med" len="med"/>
                    </a:lnL>
                    <a:lnR w="9525" cap="flat" cmpd="sng" algn="ctr">
                      <a:solidFill>
                        <a:srgbClr val="D7E3E8"/>
                      </a:solidFill>
                      <a:prstDash val="solid"/>
                      <a:round/>
                      <a:headEnd type="none" w="med" len="med"/>
                      <a:tailEnd type="none" w="med" len="med"/>
                    </a:lnR>
                    <a:lnT w="9525" cap="flat" cmpd="sng" algn="ctr">
                      <a:solidFill>
                        <a:srgbClr val="D7E3E8"/>
                      </a:solidFill>
                      <a:prstDash val="solid"/>
                      <a:round/>
                      <a:headEnd type="none" w="med" len="med"/>
                      <a:tailEnd type="none" w="med" len="med"/>
                    </a:lnT>
                    <a:lnB w="9525" cap="flat" cmpd="sng" algn="ctr">
                      <a:solidFill>
                        <a:srgbClr val="D7E3E8"/>
                      </a:solidFill>
                      <a:prstDash val="solid"/>
                      <a:round/>
                      <a:headEnd type="none" w="med" len="med"/>
                      <a:tailEnd type="none" w="med" len="med"/>
                    </a:lnB>
                    <a:solidFill>
                      <a:srgbClr val="EAF4F8"/>
                    </a:solidFill>
                  </a:tcPr>
                </a:tc>
                <a:tc>
                  <a:txBody>
                    <a:bodyPr/>
                    <a:lstStyle/>
                    <a:p>
                      <a:pPr algn="l" indent="0" marL="0">
                        <a:buNone/>
                      </a:pPr>
                      <a:r>
                        <a:rPr lang="en-US" sz="1250" dirty="0">
                          <a:solidFill>
                            <a:srgbClr val="1E293B"/>
                          </a:solidFill>
                        </a:rPr>
                        <a:t>Yes</a:t>
                      </a:r>
                      <a:endParaRPr lang="en-US" sz="1250" dirty="0"/>
                    </a:p>
                  </a:txBody>
                  <a:tcPr marL="101600" marR="101600" marT="50800" marB="50800" anchor="ctr">
                    <a:lnL w="9525" cap="flat" cmpd="sng" algn="ctr">
                      <a:solidFill>
                        <a:srgbClr val="D7E3E8"/>
                      </a:solidFill>
                      <a:prstDash val="solid"/>
                      <a:round/>
                      <a:headEnd type="none" w="med" len="med"/>
                      <a:tailEnd type="none" w="med" len="med"/>
                    </a:lnL>
                    <a:lnR w="9525" cap="flat" cmpd="sng" algn="ctr">
                      <a:solidFill>
                        <a:srgbClr val="D7E3E8"/>
                      </a:solidFill>
                      <a:prstDash val="solid"/>
                      <a:round/>
                      <a:headEnd type="none" w="med" len="med"/>
                      <a:tailEnd type="none" w="med" len="med"/>
                    </a:lnR>
                    <a:lnT w="9525" cap="flat" cmpd="sng" algn="ctr">
                      <a:solidFill>
                        <a:srgbClr val="D7E3E8"/>
                      </a:solidFill>
                      <a:prstDash val="solid"/>
                      <a:round/>
                      <a:headEnd type="none" w="med" len="med"/>
                      <a:tailEnd type="none" w="med" len="med"/>
                    </a:lnT>
                    <a:lnB w="9525" cap="flat" cmpd="sng" algn="ctr">
                      <a:solidFill>
                        <a:srgbClr val="D7E3E8"/>
                      </a:solidFill>
                      <a:prstDash val="solid"/>
                      <a:round/>
                      <a:headEnd type="none" w="med" len="med"/>
                      <a:tailEnd type="none" w="med" len="med"/>
                    </a:lnB>
                    <a:solidFill>
                      <a:srgbClr val="EAF4F8"/>
                    </a:solidFill>
                  </a:tcPr>
                </a:tc>
                <a:tc>
                  <a:txBody>
                    <a:bodyPr/>
                    <a:lstStyle/>
                    <a:p>
                      <a:pPr algn="l" indent="0" marL="0">
                        <a:buNone/>
                      </a:pPr>
                      <a:r>
                        <a:rPr lang="en-US" sz="1250" dirty="0">
                          <a:solidFill>
                            <a:srgbClr val="1E293B"/>
                          </a:solidFill>
                        </a:rPr>
                        <a:t>spec.strategy.type: Recreate</a:t>
                      </a:r>
                      <a:endParaRPr lang="en-US" sz="1250" dirty="0"/>
                    </a:p>
                  </a:txBody>
                  <a:tcPr marL="101600" marR="101600" marT="50800" marB="50800" anchor="ctr">
                    <a:lnL w="9525" cap="flat" cmpd="sng" algn="ctr">
                      <a:solidFill>
                        <a:srgbClr val="D7E3E8"/>
                      </a:solidFill>
                      <a:prstDash val="solid"/>
                      <a:round/>
                      <a:headEnd type="none" w="med" len="med"/>
                      <a:tailEnd type="none" w="med" len="med"/>
                    </a:lnL>
                    <a:lnR w="9525" cap="flat" cmpd="sng" algn="ctr">
                      <a:solidFill>
                        <a:srgbClr val="D7E3E8"/>
                      </a:solidFill>
                      <a:prstDash val="solid"/>
                      <a:round/>
                      <a:headEnd type="none" w="med" len="med"/>
                      <a:tailEnd type="none" w="med" len="med"/>
                    </a:lnR>
                    <a:lnT w="9525" cap="flat" cmpd="sng" algn="ctr">
                      <a:solidFill>
                        <a:srgbClr val="D7E3E8"/>
                      </a:solidFill>
                      <a:prstDash val="solid"/>
                      <a:round/>
                      <a:headEnd type="none" w="med" len="med"/>
                      <a:tailEnd type="none" w="med" len="med"/>
                    </a:lnT>
                    <a:lnB w="9525" cap="flat" cmpd="sng" algn="ctr">
                      <a:solidFill>
                        <a:srgbClr val="D7E3E8"/>
                      </a:solidFill>
                      <a:prstDash val="solid"/>
                      <a:round/>
                      <a:headEnd type="none" w="med" len="med"/>
                      <a:tailEnd type="none" w="med" len="med"/>
                    </a:lnB>
                    <a:solidFill>
                      <a:srgbClr val="EAF4F8"/>
                    </a:solidFill>
                  </a:tcPr>
                </a:tc>
              </a:tr>
              <a:tr h="0">
                <a:tc>
                  <a:txBody>
                    <a:bodyPr/>
                    <a:lstStyle/>
                    <a:p>
                      <a:pPr algn="l" indent="0" marL="0">
                        <a:buNone/>
                      </a:pPr>
                      <a:r>
                        <a:rPr lang="en-US" sz="1250" dirty="0">
                          <a:solidFill>
                            <a:srgbClr val="1E293B"/>
                          </a:solidFill>
                        </a:rPr>
                        <a:t>Blue-Green</a:t>
                      </a:r>
                      <a:endParaRPr lang="en-US" sz="1250" dirty="0"/>
                    </a:p>
                  </a:txBody>
                  <a:tcPr marL="101600" marR="101600" marT="50800" marB="50800" anchor="ctr">
                    <a:lnL w="9525" cap="flat" cmpd="sng" algn="ctr">
                      <a:solidFill>
                        <a:srgbClr val="D7E3E8"/>
                      </a:solidFill>
                      <a:prstDash val="solid"/>
                      <a:round/>
                      <a:headEnd type="none" w="med" len="med"/>
                      <a:tailEnd type="none" w="med" len="med"/>
                    </a:lnL>
                    <a:lnR w="9525" cap="flat" cmpd="sng" algn="ctr">
                      <a:solidFill>
                        <a:srgbClr val="D7E3E8"/>
                      </a:solidFill>
                      <a:prstDash val="solid"/>
                      <a:round/>
                      <a:headEnd type="none" w="med" len="med"/>
                      <a:tailEnd type="none" w="med" len="med"/>
                    </a:lnR>
                    <a:lnT w="9525" cap="flat" cmpd="sng" algn="ctr">
                      <a:solidFill>
                        <a:srgbClr val="D7E3E8"/>
                      </a:solidFill>
                      <a:prstDash val="solid"/>
                      <a:round/>
                      <a:headEnd type="none" w="med" len="med"/>
                      <a:tailEnd type="none" w="med" len="med"/>
                    </a:lnT>
                    <a:lnB w="9525" cap="flat" cmpd="sng" algn="ctr">
                      <a:solidFill>
                        <a:srgbClr val="D7E3E8"/>
                      </a:solidFill>
                      <a:prstDash val="solid"/>
                      <a:round/>
                      <a:headEnd type="none" w="med" len="med"/>
                      <a:tailEnd type="none" w="med" len="med"/>
                    </a:lnB>
                    <a:solidFill>
                      <a:srgbClr val="FFFFFF"/>
                    </a:solidFill>
                  </a:tcPr>
                </a:tc>
                <a:tc>
                  <a:txBody>
                    <a:bodyPr/>
                    <a:lstStyle/>
                    <a:p>
                      <a:pPr algn="l" indent="0" marL="0">
                        <a:buNone/>
                      </a:pPr>
                      <a:r>
                        <a:rPr lang="en-US" sz="1250" dirty="0">
                          <a:solidFill>
                            <a:srgbClr val="1E293B"/>
                          </a:solidFill>
                        </a:rPr>
                        <a:t>No — a pattern</a:t>
                      </a:r>
                      <a:endParaRPr lang="en-US" sz="1250" dirty="0"/>
                    </a:p>
                  </a:txBody>
                  <a:tcPr marL="101600" marR="101600" marT="50800" marB="50800" anchor="ctr">
                    <a:lnL w="9525" cap="flat" cmpd="sng" algn="ctr">
                      <a:solidFill>
                        <a:srgbClr val="D7E3E8"/>
                      </a:solidFill>
                      <a:prstDash val="solid"/>
                      <a:round/>
                      <a:headEnd type="none" w="med" len="med"/>
                      <a:tailEnd type="none" w="med" len="med"/>
                    </a:lnL>
                    <a:lnR w="9525" cap="flat" cmpd="sng" algn="ctr">
                      <a:solidFill>
                        <a:srgbClr val="D7E3E8"/>
                      </a:solidFill>
                      <a:prstDash val="solid"/>
                      <a:round/>
                      <a:headEnd type="none" w="med" len="med"/>
                      <a:tailEnd type="none" w="med" len="med"/>
                    </a:lnR>
                    <a:lnT w="9525" cap="flat" cmpd="sng" algn="ctr">
                      <a:solidFill>
                        <a:srgbClr val="D7E3E8"/>
                      </a:solidFill>
                      <a:prstDash val="solid"/>
                      <a:round/>
                      <a:headEnd type="none" w="med" len="med"/>
                      <a:tailEnd type="none" w="med" len="med"/>
                    </a:lnT>
                    <a:lnB w="9525" cap="flat" cmpd="sng" algn="ctr">
                      <a:solidFill>
                        <a:srgbClr val="D7E3E8"/>
                      </a:solidFill>
                      <a:prstDash val="solid"/>
                      <a:round/>
                      <a:headEnd type="none" w="med" len="med"/>
                      <a:tailEnd type="none" w="med" len="med"/>
                    </a:lnB>
                    <a:solidFill>
                      <a:srgbClr val="FFFFFF"/>
                    </a:solidFill>
                  </a:tcPr>
                </a:tc>
                <a:tc>
                  <a:txBody>
                    <a:bodyPr/>
                    <a:lstStyle/>
                    <a:p>
                      <a:pPr algn="l" indent="0" marL="0">
                        <a:buNone/>
                      </a:pPr>
                      <a:r>
                        <a:rPr lang="en-US" sz="1250" dirty="0">
                          <a:solidFill>
                            <a:srgbClr val="1E293B"/>
                          </a:solidFill>
                        </a:rPr>
                        <a:t>Two full Deployments (blue, green); a Service selector is flipped between them</a:t>
                      </a:r>
                      <a:endParaRPr lang="en-US" sz="1250" dirty="0"/>
                    </a:p>
                  </a:txBody>
                  <a:tcPr marL="101600" marR="101600" marT="50800" marB="50800" anchor="ctr">
                    <a:lnL w="9525" cap="flat" cmpd="sng" algn="ctr">
                      <a:solidFill>
                        <a:srgbClr val="D7E3E8"/>
                      </a:solidFill>
                      <a:prstDash val="solid"/>
                      <a:round/>
                      <a:headEnd type="none" w="med" len="med"/>
                      <a:tailEnd type="none" w="med" len="med"/>
                    </a:lnL>
                    <a:lnR w="9525" cap="flat" cmpd="sng" algn="ctr">
                      <a:solidFill>
                        <a:srgbClr val="D7E3E8"/>
                      </a:solidFill>
                      <a:prstDash val="solid"/>
                      <a:round/>
                      <a:headEnd type="none" w="med" len="med"/>
                      <a:tailEnd type="none" w="med" len="med"/>
                    </a:lnR>
                    <a:lnT w="9525" cap="flat" cmpd="sng" algn="ctr">
                      <a:solidFill>
                        <a:srgbClr val="D7E3E8"/>
                      </a:solidFill>
                      <a:prstDash val="solid"/>
                      <a:round/>
                      <a:headEnd type="none" w="med" len="med"/>
                      <a:tailEnd type="none" w="med" len="med"/>
                    </a:lnT>
                    <a:lnB w="9525" cap="flat" cmpd="sng" algn="ctr">
                      <a:solidFill>
                        <a:srgbClr val="D7E3E8"/>
                      </a:solidFill>
                      <a:prstDash val="solid"/>
                      <a:round/>
                      <a:headEnd type="none" w="med" len="med"/>
                      <a:tailEnd type="none" w="med" len="med"/>
                    </a:lnB>
                    <a:solidFill>
                      <a:srgbClr val="FFFFFF"/>
                    </a:solidFill>
                  </a:tcPr>
                </a:tc>
              </a:tr>
              <a:tr h="0">
                <a:tc>
                  <a:txBody>
                    <a:bodyPr/>
                    <a:lstStyle/>
                    <a:p>
                      <a:pPr algn="l" indent="0" marL="0">
                        <a:buNone/>
                      </a:pPr>
                      <a:r>
                        <a:rPr lang="en-US" sz="1250" dirty="0">
                          <a:solidFill>
                            <a:srgbClr val="1E293B"/>
                          </a:solidFill>
                        </a:rPr>
                        <a:t>Canary</a:t>
                      </a:r>
                      <a:endParaRPr lang="en-US" sz="1250" dirty="0"/>
                    </a:p>
                  </a:txBody>
                  <a:tcPr marL="101600" marR="101600" marT="50800" marB="50800" anchor="ctr">
                    <a:lnL w="9525" cap="flat" cmpd="sng" algn="ctr">
                      <a:solidFill>
                        <a:srgbClr val="D7E3E8"/>
                      </a:solidFill>
                      <a:prstDash val="solid"/>
                      <a:round/>
                      <a:headEnd type="none" w="med" len="med"/>
                      <a:tailEnd type="none" w="med" len="med"/>
                    </a:lnL>
                    <a:lnR w="9525" cap="flat" cmpd="sng" algn="ctr">
                      <a:solidFill>
                        <a:srgbClr val="D7E3E8"/>
                      </a:solidFill>
                      <a:prstDash val="solid"/>
                      <a:round/>
                      <a:headEnd type="none" w="med" len="med"/>
                      <a:tailEnd type="none" w="med" len="med"/>
                    </a:lnR>
                    <a:lnT w="9525" cap="flat" cmpd="sng" algn="ctr">
                      <a:solidFill>
                        <a:srgbClr val="D7E3E8"/>
                      </a:solidFill>
                      <a:prstDash val="solid"/>
                      <a:round/>
                      <a:headEnd type="none" w="med" len="med"/>
                      <a:tailEnd type="none" w="med" len="med"/>
                    </a:lnT>
                    <a:lnB w="9525" cap="flat" cmpd="sng" algn="ctr">
                      <a:solidFill>
                        <a:srgbClr val="D7E3E8"/>
                      </a:solidFill>
                      <a:prstDash val="solid"/>
                      <a:round/>
                      <a:headEnd type="none" w="med" len="med"/>
                      <a:tailEnd type="none" w="med" len="med"/>
                    </a:lnB>
                    <a:solidFill>
                      <a:srgbClr val="EAF4F8"/>
                    </a:solidFill>
                  </a:tcPr>
                </a:tc>
                <a:tc>
                  <a:txBody>
                    <a:bodyPr/>
                    <a:lstStyle/>
                    <a:p>
                      <a:pPr algn="l" indent="0" marL="0">
                        <a:buNone/>
                      </a:pPr>
                      <a:r>
                        <a:rPr lang="en-US" sz="1250" dirty="0">
                          <a:solidFill>
                            <a:srgbClr val="1E293B"/>
                          </a:solidFill>
                        </a:rPr>
                        <a:t>No — a pattern</a:t>
                      </a:r>
                      <a:endParaRPr lang="en-US" sz="1250" dirty="0"/>
                    </a:p>
                  </a:txBody>
                  <a:tcPr marL="101600" marR="101600" marT="50800" marB="50800" anchor="ctr">
                    <a:lnL w="9525" cap="flat" cmpd="sng" algn="ctr">
                      <a:solidFill>
                        <a:srgbClr val="D7E3E8"/>
                      </a:solidFill>
                      <a:prstDash val="solid"/>
                      <a:round/>
                      <a:headEnd type="none" w="med" len="med"/>
                      <a:tailEnd type="none" w="med" len="med"/>
                    </a:lnL>
                    <a:lnR w="9525" cap="flat" cmpd="sng" algn="ctr">
                      <a:solidFill>
                        <a:srgbClr val="D7E3E8"/>
                      </a:solidFill>
                      <a:prstDash val="solid"/>
                      <a:round/>
                      <a:headEnd type="none" w="med" len="med"/>
                      <a:tailEnd type="none" w="med" len="med"/>
                    </a:lnR>
                    <a:lnT w="9525" cap="flat" cmpd="sng" algn="ctr">
                      <a:solidFill>
                        <a:srgbClr val="D7E3E8"/>
                      </a:solidFill>
                      <a:prstDash val="solid"/>
                      <a:round/>
                      <a:headEnd type="none" w="med" len="med"/>
                      <a:tailEnd type="none" w="med" len="med"/>
                    </a:lnT>
                    <a:lnB w="9525" cap="flat" cmpd="sng" algn="ctr">
                      <a:solidFill>
                        <a:srgbClr val="D7E3E8"/>
                      </a:solidFill>
                      <a:prstDash val="solid"/>
                      <a:round/>
                      <a:headEnd type="none" w="med" len="med"/>
                      <a:tailEnd type="none" w="med" len="med"/>
                    </a:lnB>
                    <a:solidFill>
                      <a:srgbClr val="EAF4F8"/>
                    </a:solidFill>
                  </a:tcPr>
                </a:tc>
                <a:tc>
                  <a:txBody>
                    <a:bodyPr/>
                    <a:lstStyle/>
                    <a:p>
                      <a:pPr algn="l" indent="0" marL="0">
                        <a:buNone/>
                      </a:pPr>
                      <a:r>
                        <a:rPr lang="en-US" sz="1250" dirty="0">
                          <a:solidFill>
                            <a:srgbClr val="1E293B"/>
                          </a:solidFill>
                        </a:rPr>
                        <a:t>Two Deployments sharing one Service label; the canary runs a small replica count</a:t>
                      </a:r>
                      <a:endParaRPr lang="en-US" sz="1250" dirty="0"/>
                    </a:p>
                  </a:txBody>
                  <a:tcPr marL="101600" marR="101600" marT="50800" marB="50800" anchor="ctr">
                    <a:lnL w="9525" cap="flat" cmpd="sng" algn="ctr">
                      <a:solidFill>
                        <a:srgbClr val="D7E3E8"/>
                      </a:solidFill>
                      <a:prstDash val="solid"/>
                      <a:round/>
                      <a:headEnd type="none" w="med" len="med"/>
                      <a:tailEnd type="none" w="med" len="med"/>
                    </a:lnL>
                    <a:lnR w="9525" cap="flat" cmpd="sng" algn="ctr">
                      <a:solidFill>
                        <a:srgbClr val="D7E3E8"/>
                      </a:solidFill>
                      <a:prstDash val="solid"/>
                      <a:round/>
                      <a:headEnd type="none" w="med" len="med"/>
                      <a:tailEnd type="none" w="med" len="med"/>
                    </a:lnR>
                    <a:lnT w="9525" cap="flat" cmpd="sng" algn="ctr">
                      <a:solidFill>
                        <a:srgbClr val="D7E3E8"/>
                      </a:solidFill>
                      <a:prstDash val="solid"/>
                      <a:round/>
                      <a:headEnd type="none" w="med" len="med"/>
                      <a:tailEnd type="none" w="med" len="med"/>
                    </a:lnT>
                    <a:lnB w="9525" cap="flat" cmpd="sng" algn="ctr">
                      <a:solidFill>
                        <a:srgbClr val="D7E3E8"/>
                      </a:solidFill>
                      <a:prstDash val="solid"/>
                      <a:round/>
                      <a:headEnd type="none" w="med" len="med"/>
                      <a:tailEnd type="none" w="med" len="med"/>
                    </a:lnB>
                    <a:solidFill>
                      <a:srgbClr val="EAF4F8"/>
                    </a:solidFill>
                  </a:tcPr>
                </a:tc>
              </a:tr>
              <a:tr h="0">
                <a:tc>
                  <a:txBody>
                    <a:bodyPr/>
                    <a:lstStyle/>
                    <a:p>
                      <a:pPr algn="l" indent="0" marL="0">
                        <a:buNone/>
                      </a:pPr>
                      <a:r>
                        <a:rPr lang="en-US" sz="1250" dirty="0">
                          <a:solidFill>
                            <a:srgbClr val="1E293B"/>
                          </a:solidFill>
                        </a:rPr>
                        <a:t>A/B Testing</a:t>
                      </a:r>
                      <a:endParaRPr lang="en-US" sz="1250" dirty="0"/>
                    </a:p>
                  </a:txBody>
                  <a:tcPr marL="101600" marR="101600" marT="50800" marB="50800" anchor="ctr">
                    <a:lnL w="9525" cap="flat" cmpd="sng" algn="ctr">
                      <a:solidFill>
                        <a:srgbClr val="D7E3E8"/>
                      </a:solidFill>
                      <a:prstDash val="solid"/>
                      <a:round/>
                      <a:headEnd type="none" w="med" len="med"/>
                      <a:tailEnd type="none" w="med" len="med"/>
                    </a:lnL>
                    <a:lnR w="9525" cap="flat" cmpd="sng" algn="ctr">
                      <a:solidFill>
                        <a:srgbClr val="D7E3E8"/>
                      </a:solidFill>
                      <a:prstDash val="solid"/>
                      <a:round/>
                      <a:headEnd type="none" w="med" len="med"/>
                      <a:tailEnd type="none" w="med" len="med"/>
                    </a:lnR>
                    <a:lnT w="9525" cap="flat" cmpd="sng" algn="ctr">
                      <a:solidFill>
                        <a:srgbClr val="D7E3E8"/>
                      </a:solidFill>
                      <a:prstDash val="solid"/>
                      <a:round/>
                      <a:headEnd type="none" w="med" len="med"/>
                      <a:tailEnd type="none" w="med" len="med"/>
                    </a:lnT>
                    <a:lnB w="9525" cap="flat" cmpd="sng" algn="ctr">
                      <a:solidFill>
                        <a:srgbClr val="D7E3E8"/>
                      </a:solidFill>
                      <a:prstDash val="solid"/>
                      <a:round/>
                      <a:headEnd type="none" w="med" len="med"/>
                      <a:tailEnd type="none" w="med" len="med"/>
                    </a:lnB>
                    <a:solidFill>
                      <a:srgbClr val="FFFFFF"/>
                    </a:solidFill>
                  </a:tcPr>
                </a:tc>
                <a:tc>
                  <a:txBody>
                    <a:bodyPr/>
                    <a:lstStyle/>
                    <a:p>
                      <a:pPr algn="l" indent="0" marL="0">
                        <a:buNone/>
                      </a:pPr>
                      <a:r>
                        <a:rPr lang="en-US" sz="1250" dirty="0">
                          <a:solidFill>
                            <a:srgbClr val="1E293B"/>
                          </a:solidFill>
                        </a:rPr>
                        <a:t>No — a pattern</a:t>
                      </a:r>
                      <a:endParaRPr lang="en-US" sz="1250" dirty="0"/>
                    </a:p>
                  </a:txBody>
                  <a:tcPr marL="101600" marR="101600" marT="50800" marB="50800" anchor="ctr">
                    <a:lnL w="9525" cap="flat" cmpd="sng" algn="ctr">
                      <a:solidFill>
                        <a:srgbClr val="D7E3E8"/>
                      </a:solidFill>
                      <a:prstDash val="solid"/>
                      <a:round/>
                      <a:headEnd type="none" w="med" len="med"/>
                      <a:tailEnd type="none" w="med" len="med"/>
                    </a:lnL>
                    <a:lnR w="9525" cap="flat" cmpd="sng" algn="ctr">
                      <a:solidFill>
                        <a:srgbClr val="D7E3E8"/>
                      </a:solidFill>
                      <a:prstDash val="solid"/>
                      <a:round/>
                      <a:headEnd type="none" w="med" len="med"/>
                      <a:tailEnd type="none" w="med" len="med"/>
                    </a:lnR>
                    <a:lnT w="9525" cap="flat" cmpd="sng" algn="ctr">
                      <a:solidFill>
                        <a:srgbClr val="D7E3E8"/>
                      </a:solidFill>
                      <a:prstDash val="solid"/>
                      <a:round/>
                      <a:headEnd type="none" w="med" len="med"/>
                      <a:tailEnd type="none" w="med" len="med"/>
                    </a:lnT>
                    <a:lnB w="9525" cap="flat" cmpd="sng" algn="ctr">
                      <a:solidFill>
                        <a:srgbClr val="D7E3E8"/>
                      </a:solidFill>
                      <a:prstDash val="solid"/>
                      <a:round/>
                      <a:headEnd type="none" w="med" len="med"/>
                      <a:tailEnd type="none" w="med" len="med"/>
                    </a:lnB>
                    <a:solidFill>
                      <a:srgbClr val="FFFFFF"/>
                    </a:solidFill>
                  </a:tcPr>
                </a:tc>
                <a:tc>
                  <a:txBody>
                    <a:bodyPr/>
                    <a:lstStyle/>
                    <a:p>
                      <a:pPr algn="l" indent="0" marL="0">
                        <a:buNone/>
                      </a:pPr>
                      <a:r>
                        <a:rPr lang="en-US" sz="1250" dirty="0">
                          <a:solidFill>
                            <a:srgbClr val="1E293B"/>
                          </a:solidFill>
                        </a:rPr>
                        <a:t>Typically done at the Ingress/Gateway layer using header- or weight-based routing</a:t>
                      </a:r>
                      <a:endParaRPr lang="en-US" sz="1250" dirty="0"/>
                    </a:p>
                  </a:txBody>
                  <a:tcPr marL="101600" marR="101600" marT="50800" marB="50800" anchor="ctr">
                    <a:lnL w="9525" cap="flat" cmpd="sng" algn="ctr">
                      <a:solidFill>
                        <a:srgbClr val="D7E3E8"/>
                      </a:solidFill>
                      <a:prstDash val="solid"/>
                      <a:round/>
                      <a:headEnd type="none" w="med" len="med"/>
                      <a:tailEnd type="none" w="med" len="med"/>
                    </a:lnL>
                    <a:lnR w="9525" cap="flat" cmpd="sng" algn="ctr">
                      <a:solidFill>
                        <a:srgbClr val="D7E3E8"/>
                      </a:solidFill>
                      <a:prstDash val="solid"/>
                      <a:round/>
                      <a:headEnd type="none" w="med" len="med"/>
                      <a:tailEnd type="none" w="med" len="med"/>
                    </a:lnR>
                    <a:lnT w="9525" cap="flat" cmpd="sng" algn="ctr">
                      <a:solidFill>
                        <a:srgbClr val="D7E3E8"/>
                      </a:solidFill>
                      <a:prstDash val="solid"/>
                      <a:round/>
                      <a:headEnd type="none" w="med" len="med"/>
                      <a:tailEnd type="none" w="med" len="med"/>
                    </a:lnT>
                    <a:lnB w="9525" cap="flat" cmpd="sng" algn="ctr">
                      <a:solidFill>
                        <a:srgbClr val="D7E3E8"/>
                      </a:solidFill>
                      <a:prstDash val="solid"/>
                      <a:round/>
                      <a:headEnd type="none" w="med" len="med"/>
                      <a:tailEnd type="none" w="med" len="med"/>
                    </a:lnB>
                    <a:solidFill>
                      <a:srgbClr val="FFFFFF"/>
                    </a:solidFill>
                  </a:tcPr>
                </a:tc>
              </a:tr>
            </a:tbl>
          </a:graphicData>
        </a:graphic>
      </p:graphicFrame>
      <p:sp>
        <p:nvSpPr>
          <p:cNvPr id="5" name="Text 2"/>
          <p:cNvSpPr/>
          <p:nvPr/>
        </p:nvSpPr>
        <p:spPr>
          <a:xfrm>
            <a:off x="457200" y="6446520"/>
            <a:ext cx="6400800" cy="27432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CKA v1.36 · Module 2</a:t>
            </a:r>
            <a:endParaRPr lang="en-US" sz="900" dirty="0"/>
          </a:p>
        </p:txBody>
      </p:sp>
      <p:sp>
        <p:nvSpPr>
          <p:cNvPr id="6" name="Text 3"/>
          <p:cNvSpPr/>
          <p:nvPr/>
        </p:nvSpPr>
        <p:spPr>
          <a:xfrm>
            <a:off x="11247120" y="6446520"/>
            <a:ext cx="4572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13</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65760"/>
            <a:ext cx="9144000" cy="320040"/>
          </a:xfrm>
          <a:prstGeom prst="rect">
            <a:avLst/>
          </a:prstGeom>
          <a:noFill/>
          <a:ln/>
        </p:spPr>
        <p:txBody>
          <a:bodyPr wrap="square" lIns="0" tIns="0" rIns="0" bIns="0" rtlCol="0" anchor="ctr"/>
          <a:lstStyle/>
          <a:p>
            <a:pPr indent="0" marL="0">
              <a:buNone/>
            </a:pPr>
            <a:r>
              <a:rPr lang="en-US" sz="1150" b="1" spc="150" kern="0" dirty="0">
                <a:solidFill>
                  <a:srgbClr val="1C7293"/>
                </a:solidFill>
                <a:latin typeface="Calibri" pitchFamily="34" charset="0"/>
                <a:ea typeface="Calibri" pitchFamily="34" charset="-122"/>
                <a:cs typeface="Calibri" pitchFamily="34" charset="-120"/>
              </a:rPr>
              <a:t>DEPLOYMENT STRATEGIES</a:t>
            </a:r>
            <a:endParaRPr lang="en-US" sz="1150" dirty="0"/>
          </a:p>
        </p:txBody>
      </p:sp>
      <p:sp>
        <p:nvSpPr>
          <p:cNvPr id="3" name="Text 1"/>
          <p:cNvSpPr/>
          <p:nvPr/>
        </p:nvSpPr>
        <p:spPr>
          <a:xfrm>
            <a:off x="640080" y="658368"/>
            <a:ext cx="10881360" cy="685800"/>
          </a:xfrm>
          <a:prstGeom prst="rect">
            <a:avLst/>
          </a:prstGeom>
          <a:noFill/>
          <a:ln/>
        </p:spPr>
        <p:txBody>
          <a:bodyPr wrap="square" lIns="0" tIns="0" rIns="0" bIns="0" rtlCol="0" anchor="ctr"/>
          <a:lstStyle/>
          <a:p>
            <a:pPr indent="0" marL="0">
              <a:buNone/>
            </a:pPr>
            <a:r>
              <a:rPr lang="en-US" sz="2600" b="1" dirty="0">
                <a:solidFill>
                  <a:srgbClr val="21295C"/>
                </a:solidFill>
                <a:latin typeface="Cambria" pitchFamily="34" charset="0"/>
                <a:ea typeface="Cambria" pitchFamily="34" charset="-122"/>
                <a:cs typeface="Cambria" pitchFamily="34" charset="-120"/>
              </a:rPr>
              <a:t>RollingUpdate — Exam Math</a:t>
            </a:r>
            <a:endParaRPr lang="en-US" sz="2600" dirty="0"/>
          </a:p>
        </p:txBody>
      </p:sp>
      <p:sp>
        <p:nvSpPr>
          <p:cNvPr id="4" name="Shape 2"/>
          <p:cNvSpPr/>
          <p:nvPr/>
        </p:nvSpPr>
        <p:spPr>
          <a:xfrm>
            <a:off x="640080" y="1371600"/>
            <a:ext cx="10881360" cy="0"/>
          </a:xfrm>
          <a:prstGeom prst="line">
            <a:avLst/>
          </a:prstGeom>
          <a:noFill/>
          <a:ln w="12700">
            <a:solidFill>
              <a:srgbClr val="D7E3E8"/>
            </a:solidFill>
            <a:prstDash val="solid"/>
          </a:ln>
        </p:spPr>
      </p:sp>
      <p:sp>
        <p:nvSpPr>
          <p:cNvPr id="5" name="Shape 3"/>
          <p:cNvSpPr/>
          <p:nvPr/>
        </p:nvSpPr>
        <p:spPr>
          <a:xfrm>
            <a:off x="11109960" y="411480"/>
            <a:ext cx="502920" cy="502920"/>
          </a:xfrm>
          <a:prstGeom prst="ellipse">
            <a:avLst/>
          </a:prstGeom>
          <a:solidFill>
            <a:srgbClr val="EAF4F8"/>
          </a:solidFill>
          <a:ln w="15875">
            <a:solidFill>
              <a:srgbClr val="1C7293"/>
            </a:solidFill>
            <a:prstDash val="solid"/>
          </a:ln>
        </p:spPr>
      </p:sp>
      <p:sp>
        <p:nvSpPr>
          <p:cNvPr id="6" name="Text 4"/>
          <p:cNvSpPr/>
          <p:nvPr/>
        </p:nvSpPr>
        <p:spPr>
          <a:xfrm>
            <a:off x="11109960" y="411480"/>
            <a:ext cx="502920" cy="502920"/>
          </a:xfrm>
          <a:prstGeom prst="rect">
            <a:avLst/>
          </a:prstGeom>
          <a:noFill/>
          <a:ln/>
        </p:spPr>
        <p:txBody>
          <a:bodyPr wrap="square" lIns="0" tIns="0" rIns="0" bIns="0" rtlCol="0" anchor="ctr"/>
          <a:lstStyle/>
          <a:p>
            <a:pPr algn="ctr" indent="0" marL="0">
              <a:buNone/>
            </a:pPr>
            <a:r>
              <a:rPr lang="en-US" sz="1600" b="1" dirty="0">
                <a:solidFill>
                  <a:srgbClr val="1C7293"/>
                </a:solidFill>
                <a:latin typeface="Calibri" pitchFamily="34" charset="0"/>
                <a:ea typeface="Calibri" pitchFamily="34" charset="-122"/>
                <a:cs typeface="Calibri" pitchFamily="34" charset="-120"/>
              </a:rPr>
              <a:t>4</a:t>
            </a:r>
            <a:endParaRPr lang="en-US" sz="1600" dirty="0"/>
          </a:p>
        </p:txBody>
      </p:sp>
      <p:sp>
        <p:nvSpPr>
          <p:cNvPr id="7" name="Text 5"/>
          <p:cNvSpPr/>
          <p:nvPr/>
        </p:nvSpPr>
        <p:spPr>
          <a:xfrm>
            <a:off x="640080" y="1600200"/>
            <a:ext cx="10881360" cy="4572000"/>
          </a:xfrm>
          <a:prstGeom prst="rect">
            <a:avLst/>
          </a:prstGeom>
          <a:noFill/>
          <a:ln/>
        </p:spPr>
        <p:txBody>
          <a:bodyPr wrap="square" lIns="0" tIns="0" rIns="0" bIns="0" rtlCol="0" anchor="t"/>
          <a:lstStyle/>
          <a:p>
            <a:pPr marL="342900" indent="-342900">
              <a:spcAft>
                <a:spcPts val="1200"/>
              </a:spcAft>
              <a:buSzPct val="100000"/>
              <a:buChar char="•"/>
            </a:pPr>
            <a:r>
              <a:rPr lang="en-US" sz="1550" dirty="0">
                <a:solidFill>
                  <a:srgbClr val="1E293B"/>
                </a:solidFill>
                <a:latin typeface="Calibri" pitchFamily="34" charset="0"/>
                <a:ea typeface="Calibri" pitchFamily="34" charset="-122"/>
                <a:cs typeface="Calibri" pitchFamily="34" charset="-120"/>
              </a:rPr>
              <a:t>Given replicas: 10, maxUnavailable: 20%, maxSurge: 20% — the exam expects you to compute: at minimum 8 Pods stay available, and at most 12 Pods can exist at once during the rollout.</a:t>
            </a:r>
            <a:endParaRPr lang="en-US" sz="1550" dirty="0"/>
          </a:p>
          <a:p>
            <a:pPr marL="342900" indent="-342900">
              <a:spcAft>
                <a:spcPts val="1200"/>
              </a:spcAft>
              <a:buSzPct val="100000"/>
              <a:buChar char="•"/>
            </a:pPr>
            <a:r>
              <a:rPr lang="en-US" sz="1550" dirty="0">
                <a:solidFill>
                  <a:srgbClr val="1E293B"/>
                </a:solidFill>
                <a:latin typeface="Calibri" pitchFamily="34" charset="0"/>
                <a:ea typeface="Calibri" pitchFamily="34" charset="-122"/>
                <a:cs typeface="Calibri" pitchFamily="34" charset="-120"/>
              </a:rPr>
              <a:t>maxUnavailable and maxSurge accept either an integer or a percentage (rounded per Kubernetes' own rounding rules) — read the manifest carefully on exam questions that test this.</a:t>
            </a:r>
            <a:endParaRPr lang="en-US" sz="1550" dirty="0"/>
          </a:p>
          <a:p>
            <a:pPr marL="342900" indent="-342900">
              <a:spcAft>
                <a:spcPts val="1200"/>
              </a:spcAft>
              <a:buSzPct val="100000"/>
              <a:buChar char="•"/>
            </a:pPr>
            <a:r>
              <a:rPr lang="en-US" sz="1550" dirty="0">
                <a:solidFill>
                  <a:srgbClr val="1E293B"/>
                </a:solidFill>
                <a:latin typeface="Calibri" pitchFamily="34" charset="0"/>
                <a:ea typeface="Calibri" pitchFamily="34" charset="-122"/>
                <a:cs typeface="Calibri" pitchFamily="34" charset="-120"/>
              </a:rPr>
              <a:t>Setting maxUnavailable: 0 forces the rollout to rely entirely on maxSurge to create new Pods before removing old ones — guarantees zero capacity loss, costs temporary extra resources.</a:t>
            </a:r>
            <a:endParaRPr lang="en-US" sz="1550" dirty="0"/>
          </a:p>
          <a:p>
            <a:pPr marL="342900" indent="-342900">
              <a:spcAft>
                <a:spcPts val="1200"/>
              </a:spcAft>
              <a:buSzPct val="100000"/>
              <a:buChar char="•"/>
            </a:pPr>
            <a:r>
              <a:rPr lang="en-US" sz="1550" dirty="0">
                <a:solidFill>
                  <a:srgbClr val="1E293B"/>
                </a:solidFill>
                <a:latin typeface="Calibri" pitchFamily="34" charset="0"/>
                <a:ea typeface="Calibri" pitchFamily="34" charset="-122"/>
                <a:cs typeface="Calibri" pitchFamily="34" charset="-120"/>
              </a:rPr>
              <a:t>Readiness probes are what actually gate 'available' — a Pod counts as unavailable until its readiness probe passes, regardless of its Running status.</a:t>
            </a:r>
            <a:endParaRPr lang="en-US" sz="1550" dirty="0"/>
          </a:p>
        </p:txBody>
      </p:sp>
      <p:sp>
        <p:nvSpPr>
          <p:cNvPr id="8" name="Text 6"/>
          <p:cNvSpPr/>
          <p:nvPr/>
        </p:nvSpPr>
        <p:spPr>
          <a:xfrm>
            <a:off x="457200" y="6446520"/>
            <a:ext cx="6400800" cy="27432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CKA v1.36 · Module 2</a:t>
            </a:r>
            <a:endParaRPr lang="en-US" sz="900" dirty="0"/>
          </a:p>
        </p:txBody>
      </p:sp>
      <p:sp>
        <p:nvSpPr>
          <p:cNvPr id="9" name="Text 7"/>
          <p:cNvSpPr/>
          <p:nvPr/>
        </p:nvSpPr>
        <p:spPr>
          <a:xfrm>
            <a:off x="11247120" y="6446520"/>
            <a:ext cx="4572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14</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65760"/>
            <a:ext cx="9144000" cy="320040"/>
          </a:xfrm>
          <a:prstGeom prst="rect">
            <a:avLst/>
          </a:prstGeom>
          <a:noFill/>
          <a:ln/>
        </p:spPr>
        <p:txBody>
          <a:bodyPr wrap="square" lIns="0" tIns="0" rIns="0" bIns="0" rtlCol="0" anchor="ctr"/>
          <a:lstStyle/>
          <a:p>
            <a:pPr indent="0" marL="0">
              <a:buNone/>
            </a:pPr>
            <a:r>
              <a:rPr lang="en-US" sz="1150" b="1" spc="150" kern="0" dirty="0">
                <a:solidFill>
                  <a:srgbClr val="1C7293"/>
                </a:solidFill>
                <a:latin typeface="Calibri" pitchFamily="34" charset="0"/>
                <a:ea typeface="Calibri" pitchFamily="34" charset="-122"/>
                <a:cs typeface="Calibri" pitchFamily="34" charset="-120"/>
              </a:rPr>
              <a:t>DEPLOYMENT STRATEGIES</a:t>
            </a:r>
            <a:endParaRPr lang="en-US" sz="1150" dirty="0"/>
          </a:p>
        </p:txBody>
      </p:sp>
      <p:sp>
        <p:nvSpPr>
          <p:cNvPr id="3" name="Text 1"/>
          <p:cNvSpPr/>
          <p:nvPr/>
        </p:nvSpPr>
        <p:spPr>
          <a:xfrm>
            <a:off x="640080" y="658368"/>
            <a:ext cx="10881360" cy="548640"/>
          </a:xfrm>
          <a:prstGeom prst="rect">
            <a:avLst/>
          </a:prstGeom>
          <a:noFill/>
          <a:ln/>
        </p:spPr>
        <p:txBody>
          <a:bodyPr wrap="square" lIns="0" tIns="0" rIns="0" bIns="0" rtlCol="0" anchor="ctr"/>
          <a:lstStyle/>
          <a:p>
            <a:pPr indent="0" marL="0">
              <a:buNone/>
            </a:pPr>
            <a:r>
              <a:rPr lang="en-US" sz="2400" b="1" dirty="0">
                <a:solidFill>
                  <a:srgbClr val="21295C"/>
                </a:solidFill>
                <a:latin typeface="Cambria" pitchFamily="34" charset="0"/>
                <a:ea typeface="Cambria" pitchFamily="34" charset="-122"/>
                <a:cs typeface="Cambria" pitchFamily="34" charset="-120"/>
              </a:rPr>
              <a:t>Blue-Green Deployment Pattern</a:t>
            </a:r>
            <a:endParaRPr lang="en-US" sz="2400" dirty="0"/>
          </a:p>
        </p:txBody>
      </p:sp>
      <p:sp>
        <p:nvSpPr>
          <p:cNvPr id="4" name="Text 2"/>
          <p:cNvSpPr/>
          <p:nvPr/>
        </p:nvSpPr>
        <p:spPr>
          <a:xfrm>
            <a:off x="640080" y="1143000"/>
            <a:ext cx="10881360" cy="411480"/>
          </a:xfrm>
          <a:prstGeom prst="rect">
            <a:avLst/>
          </a:prstGeom>
          <a:noFill/>
          <a:ln/>
        </p:spPr>
        <p:txBody>
          <a:bodyPr wrap="square" lIns="0" tIns="0" rIns="0" bIns="0" rtlCol="0" anchor="ctr"/>
          <a:lstStyle/>
          <a:p>
            <a:pPr indent="0" marL="0">
              <a:buNone/>
            </a:pPr>
            <a:r>
              <a:rPr lang="en-US" sz="1350" i="1" dirty="0">
                <a:solidFill>
                  <a:srgbClr val="64748B"/>
                </a:solidFill>
                <a:latin typeface="Calibri" pitchFamily="34" charset="0"/>
                <a:ea typeface="Calibri" pitchFamily="34" charset="-122"/>
                <a:cs typeface="Calibri" pitchFamily="34" charset="-120"/>
              </a:rPr>
              <a:t>Two complete, independent Deployments; a single Service's selector decides which one receives live traffic.</a:t>
            </a:r>
            <a:endParaRPr lang="en-US" sz="1350" dirty="0"/>
          </a:p>
        </p:txBody>
      </p:sp>
      <p:sp>
        <p:nvSpPr>
          <p:cNvPr id="5" name="Shape 3"/>
          <p:cNvSpPr/>
          <p:nvPr/>
        </p:nvSpPr>
        <p:spPr>
          <a:xfrm>
            <a:off x="640080" y="1645920"/>
            <a:ext cx="10881360" cy="3749040"/>
          </a:xfrm>
          <a:prstGeom prst="roundRect">
            <a:avLst>
              <a:gd name="adj" fmla="val 1463"/>
            </a:avLst>
          </a:prstGeom>
          <a:solidFill>
            <a:srgbClr val="0B2330"/>
          </a:solidFill>
          <a:ln/>
          <a:effectLst>
            <a:outerShdw sx="100000" sy="100000" kx="0" ky="0" algn="bl" rotWithShape="0" blurRad="88900" dist="25400" dir="2700000">
              <a:srgbClr val="1B2A36">
                <a:alpha val="12000"/>
              </a:srgbClr>
            </a:outerShdw>
          </a:effectLst>
        </p:spPr>
      </p:sp>
      <p:sp>
        <p:nvSpPr>
          <p:cNvPr id="6" name="Text 4"/>
          <p:cNvSpPr/>
          <p:nvPr/>
        </p:nvSpPr>
        <p:spPr>
          <a:xfrm>
            <a:off x="868680" y="1810512"/>
            <a:ext cx="10424160" cy="3419856"/>
          </a:xfrm>
          <a:prstGeom prst="rect">
            <a:avLst/>
          </a:prstGeom>
          <a:noFill/>
          <a:ln/>
        </p:spPr>
        <p:txBody>
          <a:bodyPr wrap="square" lIns="0" tIns="0" rIns="0" bIns="0" rtlCol="0" anchor="t"/>
          <a:lstStyle/>
          <a:p>
            <a:pPr indent="0" marL="0">
              <a:buNone/>
            </a:pPr>
            <a:r>
              <a:rPr lang="en-US" sz="1350" dirty="0">
                <a:solidFill>
                  <a:srgbClr val="CFEFEA"/>
                </a:solidFill>
                <a:latin typeface="Courier New" pitchFamily="34" charset="0"/>
                <a:ea typeface="Courier New" pitchFamily="34" charset="-122"/>
                <a:cs typeface="Courier New" pitchFamily="34" charset="-120"/>
              </a:rPr>
              <a:t># Both Deployments exist simultaneously, with DIFFERENT labels</a:t>
            </a:r>
            <a:endParaRPr lang="en-US" sz="1350" dirty="0"/>
          </a:p>
          <a:p>
            <a:pPr indent="0" marL="0">
              <a:buNone/>
            </a:pPr>
            <a:r>
              <a:rPr lang="en-US" sz="1350" dirty="0">
                <a:solidFill>
                  <a:srgbClr val="CFEFEA"/>
                </a:solidFill>
                <a:latin typeface="Courier New" pitchFamily="34" charset="0"/>
                <a:ea typeface="Courier New" pitchFamily="34" charset="-122"/>
                <a:cs typeface="Courier New" pitchFamily="34" charset="-120"/>
              </a:rPr>
              <a:t>metadata: { labels: { app: web-app, version: blue } }   # currently live</a:t>
            </a:r>
            <a:endParaRPr lang="en-US" sz="1350" dirty="0"/>
          </a:p>
          <a:p>
            <a:pPr indent="0" marL="0">
              <a:buNone/>
            </a:pPr>
            <a:r>
              <a:rPr lang="en-US" sz="1350" dirty="0">
                <a:solidFill>
                  <a:srgbClr val="CFEFEA"/>
                </a:solidFill>
                <a:latin typeface="Courier New" pitchFamily="34" charset="0"/>
                <a:ea typeface="Courier New" pitchFamily="34" charset="-122"/>
                <a:cs typeface="Courier New" pitchFamily="34" charset="-120"/>
              </a:rPr>
              <a:t>metadata: { labels: { app: web-app, version: green } }  # new version, idle</a:t>
            </a:r>
            <a:endParaRPr lang="en-US" sz="1350" dirty="0"/>
          </a:p>
          <a:p>
            <a:pPr indent="0" marL="0">
              <a:buNone/>
            </a:pPr>
            <a:endParaRPr lang="en-US" sz="1350" dirty="0"/>
          </a:p>
          <a:p>
            <a:pPr indent="0" marL="0">
              <a:buNone/>
            </a:pPr>
            <a:r>
              <a:rPr lang="en-US" sz="1350" dirty="0">
                <a:solidFill>
                  <a:srgbClr val="CFEFEA"/>
                </a:solidFill>
                <a:latin typeface="Courier New" pitchFamily="34" charset="0"/>
                <a:ea typeface="Courier New" pitchFamily="34" charset="-122"/>
                <a:cs typeface="Courier New" pitchFamily="34" charset="-120"/>
              </a:rPr>
              <a:t># The Service initially points at blue:</a:t>
            </a:r>
            <a:endParaRPr lang="en-US" sz="1350" dirty="0"/>
          </a:p>
          <a:p>
            <a:pPr indent="0" marL="0">
              <a:buNone/>
            </a:pPr>
            <a:r>
              <a:rPr lang="en-US" sz="1350" dirty="0">
                <a:solidFill>
                  <a:srgbClr val="CFEFEA"/>
                </a:solidFill>
                <a:latin typeface="Courier New" pitchFamily="34" charset="0"/>
                <a:ea typeface="Courier New" pitchFamily="34" charset="-122"/>
                <a:cs typeface="Courier New" pitchFamily="34" charset="-120"/>
              </a:rPr>
              <a:t>apiVersion: v1</a:t>
            </a:r>
            <a:endParaRPr lang="en-US" sz="1350" dirty="0"/>
          </a:p>
          <a:p>
            <a:pPr indent="0" marL="0">
              <a:buNone/>
            </a:pPr>
            <a:r>
              <a:rPr lang="en-US" sz="1350" dirty="0">
                <a:solidFill>
                  <a:srgbClr val="CFEFEA"/>
                </a:solidFill>
                <a:latin typeface="Courier New" pitchFamily="34" charset="0"/>
                <a:ea typeface="Courier New" pitchFamily="34" charset="-122"/>
                <a:cs typeface="Courier New" pitchFamily="34" charset="-120"/>
              </a:rPr>
              <a:t>kind: Service</a:t>
            </a:r>
            <a:endParaRPr lang="en-US" sz="1350" dirty="0"/>
          </a:p>
          <a:p>
            <a:pPr indent="0" marL="0">
              <a:buNone/>
            </a:pPr>
            <a:r>
              <a:rPr lang="en-US" sz="1350" dirty="0">
                <a:solidFill>
                  <a:srgbClr val="CFEFEA"/>
                </a:solidFill>
                <a:latin typeface="Courier New" pitchFamily="34" charset="0"/>
                <a:ea typeface="Courier New" pitchFamily="34" charset="-122"/>
                <a:cs typeface="Courier New" pitchFamily="34" charset="-120"/>
              </a:rPr>
              <a:t>metadata: { name: web-app-svc }</a:t>
            </a:r>
            <a:endParaRPr lang="en-US" sz="1350" dirty="0"/>
          </a:p>
          <a:p>
            <a:pPr indent="0" marL="0">
              <a:buNone/>
            </a:pPr>
            <a:r>
              <a:rPr lang="en-US" sz="1350" dirty="0">
                <a:solidFill>
                  <a:srgbClr val="CFEFEA"/>
                </a:solidFill>
                <a:latin typeface="Courier New" pitchFamily="34" charset="0"/>
                <a:ea typeface="Courier New" pitchFamily="34" charset="-122"/>
                <a:cs typeface="Courier New" pitchFamily="34" charset="-120"/>
              </a:rPr>
              <a:t>spec:</a:t>
            </a:r>
            <a:endParaRPr lang="en-US" sz="1350" dirty="0"/>
          </a:p>
          <a:p>
            <a:pPr indent="0" marL="0">
              <a:buNone/>
            </a:pPr>
            <a:r>
              <a:rPr lang="en-US" sz="1350" dirty="0">
                <a:solidFill>
                  <a:srgbClr val="CFEFEA"/>
                </a:solidFill>
                <a:latin typeface="Courier New" pitchFamily="34" charset="0"/>
                <a:ea typeface="Courier New" pitchFamily="34" charset="-122"/>
                <a:cs typeface="Courier New" pitchFamily="34" charset="-120"/>
              </a:rPr>
              <a:t>  selector: { app: web-app, version: blue }</a:t>
            </a:r>
            <a:endParaRPr lang="en-US" sz="1350" dirty="0"/>
          </a:p>
          <a:p>
            <a:pPr indent="0" marL="0">
              <a:buNone/>
            </a:pPr>
            <a:r>
              <a:rPr lang="en-US" sz="1350" dirty="0">
                <a:solidFill>
                  <a:srgbClr val="CFEFEA"/>
                </a:solidFill>
                <a:latin typeface="Courier New" pitchFamily="34" charset="0"/>
                <a:ea typeface="Courier New" pitchFamily="34" charset="-122"/>
                <a:cs typeface="Courier New" pitchFamily="34" charset="-120"/>
              </a:rPr>
              <a:t>  ports: [{ port: 80, targetPort: 8080 }]</a:t>
            </a:r>
            <a:endParaRPr lang="en-US" sz="1350" dirty="0"/>
          </a:p>
          <a:p>
            <a:pPr indent="0" marL="0">
              <a:buNone/>
            </a:pPr>
            <a:endParaRPr lang="en-US" sz="1350" dirty="0"/>
          </a:p>
          <a:p>
            <a:pPr indent="0" marL="0">
              <a:buNone/>
            </a:pPr>
            <a:r>
              <a:rPr lang="en-US" sz="1350" dirty="0">
                <a:solidFill>
                  <a:srgbClr val="CFEFEA"/>
                </a:solidFill>
                <a:latin typeface="Courier New" pitchFamily="34" charset="0"/>
                <a:ea typeface="Courier New" pitchFamily="34" charset="-122"/>
                <a:cs typeface="Courier New" pitchFamily="34" charset="-120"/>
              </a:rPr>
              <a:t># Cut traffic over instantly by patching the selector:</a:t>
            </a:r>
            <a:endParaRPr lang="en-US" sz="1350" dirty="0"/>
          </a:p>
          <a:p>
            <a:pPr indent="0" marL="0">
              <a:buNone/>
            </a:pPr>
            <a:r>
              <a:rPr lang="en-US" sz="1350" dirty="0">
                <a:solidFill>
                  <a:srgbClr val="CFEFEA"/>
                </a:solidFill>
                <a:latin typeface="Courier New" pitchFamily="34" charset="0"/>
                <a:ea typeface="Courier New" pitchFamily="34" charset="-122"/>
                <a:cs typeface="Courier New" pitchFamily="34" charset="-120"/>
              </a:rPr>
              <a:t>kubectl patch service web-app-svc -p \</a:t>
            </a:r>
            <a:endParaRPr lang="en-US" sz="1350" dirty="0"/>
          </a:p>
          <a:p>
            <a:pPr indent="0" marL="0">
              <a:buNone/>
            </a:pPr>
            <a:r>
              <a:rPr lang="en-US" sz="1350" dirty="0">
                <a:solidFill>
                  <a:srgbClr val="CFEFEA"/>
                </a:solidFill>
                <a:latin typeface="Courier New" pitchFamily="34" charset="0"/>
                <a:ea typeface="Courier New" pitchFamily="34" charset="-122"/>
                <a:cs typeface="Courier New" pitchFamily="34" charset="-120"/>
              </a:rPr>
              <a:t>  '{"spec":{"selector":{"version":"green"}}}'</a:t>
            </a:r>
            <a:endParaRPr lang="en-US" sz="1350" dirty="0"/>
          </a:p>
        </p:txBody>
      </p:sp>
      <p:sp>
        <p:nvSpPr>
          <p:cNvPr id="7" name="Text 5"/>
          <p:cNvSpPr/>
          <p:nvPr/>
        </p:nvSpPr>
        <p:spPr>
          <a:xfrm>
            <a:off x="640080" y="5623560"/>
            <a:ext cx="10881360" cy="777240"/>
          </a:xfrm>
          <a:prstGeom prst="rect">
            <a:avLst/>
          </a:prstGeom>
          <a:noFill/>
          <a:ln/>
        </p:spPr>
        <p:txBody>
          <a:bodyPr wrap="square" lIns="0" tIns="0" rIns="0" bIns="0" rtlCol="0" anchor="t"/>
          <a:lstStyle/>
          <a:p>
            <a:pPr marL="342900" indent="-342900">
              <a:spcAft>
                <a:spcPts val="500"/>
              </a:spcAft>
              <a:buSzPct val="100000"/>
              <a:buChar char="•"/>
            </a:pPr>
            <a:r>
              <a:rPr lang="en-US" sz="1200" dirty="0">
                <a:solidFill>
                  <a:srgbClr val="1E293B"/>
                </a:solidFill>
                <a:latin typeface="Calibri" pitchFamily="34" charset="0"/>
                <a:ea typeface="Calibri" pitchFamily="34" charset="-122"/>
                <a:cs typeface="Calibri" pitchFamily="34" charset="-120"/>
              </a:rPr>
              <a:t>Cutover is instant and trivially reversible — just patch the selector back to blue if green has a problem.</a:t>
            </a:r>
            <a:endParaRPr lang="en-US" sz="1200" dirty="0"/>
          </a:p>
          <a:p>
            <a:pPr marL="342900" indent="-342900">
              <a:spcAft>
                <a:spcPts val="500"/>
              </a:spcAft>
              <a:buSzPct val="100000"/>
              <a:buChar char="•"/>
            </a:pPr>
            <a:r>
              <a:rPr lang="en-US" sz="1200" dirty="0">
                <a:solidFill>
                  <a:srgbClr val="1E293B"/>
                </a:solidFill>
                <a:latin typeface="Calibri" pitchFamily="34" charset="0"/>
                <a:ea typeface="Calibri" pitchFamily="34" charset="-122"/>
                <a:cs typeface="Calibri" pitchFamily="34" charset="-120"/>
              </a:rPr>
              <a:t>Costs double the resources while both versions are running side by side.</a:t>
            </a:r>
            <a:endParaRPr lang="en-US" sz="1200" dirty="0"/>
          </a:p>
        </p:txBody>
      </p:sp>
      <p:sp>
        <p:nvSpPr>
          <p:cNvPr id="8" name="Text 6"/>
          <p:cNvSpPr/>
          <p:nvPr/>
        </p:nvSpPr>
        <p:spPr>
          <a:xfrm>
            <a:off x="457200" y="6446520"/>
            <a:ext cx="6400800" cy="27432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CKA v1.36 · Module 2</a:t>
            </a:r>
            <a:endParaRPr lang="en-US" sz="900" dirty="0"/>
          </a:p>
        </p:txBody>
      </p:sp>
      <p:sp>
        <p:nvSpPr>
          <p:cNvPr id="9" name="Text 7"/>
          <p:cNvSpPr/>
          <p:nvPr/>
        </p:nvSpPr>
        <p:spPr>
          <a:xfrm>
            <a:off x="11247120" y="6446520"/>
            <a:ext cx="4572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15</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65760"/>
            <a:ext cx="9144000" cy="320040"/>
          </a:xfrm>
          <a:prstGeom prst="rect">
            <a:avLst/>
          </a:prstGeom>
          <a:noFill/>
          <a:ln/>
        </p:spPr>
        <p:txBody>
          <a:bodyPr wrap="square" lIns="0" tIns="0" rIns="0" bIns="0" rtlCol="0" anchor="ctr"/>
          <a:lstStyle/>
          <a:p>
            <a:pPr indent="0" marL="0">
              <a:buNone/>
            </a:pPr>
            <a:r>
              <a:rPr lang="en-US" sz="1150" b="1" spc="150" kern="0" dirty="0">
                <a:solidFill>
                  <a:srgbClr val="1C7293"/>
                </a:solidFill>
                <a:latin typeface="Calibri" pitchFamily="34" charset="0"/>
                <a:ea typeface="Calibri" pitchFamily="34" charset="-122"/>
                <a:cs typeface="Calibri" pitchFamily="34" charset="-120"/>
              </a:rPr>
              <a:t>DEPLOYMENT STRATEGIES</a:t>
            </a:r>
            <a:endParaRPr lang="en-US" sz="1150" dirty="0"/>
          </a:p>
        </p:txBody>
      </p:sp>
      <p:sp>
        <p:nvSpPr>
          <p:cNvPr id="3" name="Text 1"/>
          <p:cNvSpPr/>
          <p:nvPr/>
        </p:nvSpPr>
        <p:spPr>
          <a:xfrm>
            <a:off x="640080" y="658368"/>
            <a:ext cx="10881360" cy="548640"/>
          </a:xfrm>
          <a:prstGeom prst="rect">
            <a:avLst/>
          </a:prstGeom>
          <a:noFill/>
          <a:ln/>
        </p:spPr>
        <p:txBody>
          <a:bodyPr wrap="square" lIns="0" tIns="0" rIns="0" bIns="0" rtlCol="0" anchor="ctr"/>
          <a:lstStyle/>
          <a:p>
            <a:pPr indent="0" marL="0">
              <a:buNone/>
            </a:pPr>
            <a:r>
              <a:rPr lang="en-US" sz="2400" b="1" dirty="0">
                <a:solidFill>
                  <a:srgbClr val="21295C"/>
                </a:solidFill>
                <a:latin typeface="Cambria" pitchFamily="34" charset="0"/>
                <a:ea typeface="Cambria" pitchFamily="34" charset="-122"/>
                <a:cs typeface="Cambria" pitchFamily="34" charset="-120"/>
              </a:rPr>
              <a:t>Canary Deployment Pattern</a:t>
            </a:r>
            <a:endParaRPr lang="en-US" sz="2400" dirty="0"/>
          </a:p>
        </p:txBody>
      </p:sp>
      <p:sp>
        <p:nvSpPr>
          <p:cNvPr id="4" name="Text 2"/>
          <p:cNvSpPr/>
          <p:nvPr/>
        </p:nvSpPr>
        <p:spPr>
          <a:xfrm>
            <a:off x="640080" y="1143000"/>
            <a:ext cx="10881360" cy="411480"/>
          </a:xfrm>
          <a:prstGeom prst="rect">
            <a:avLst/>
          </a:prstGeom>
          <a:noFill/>
          <a:ln/>
        </p:spPr>
        <p:txBody>
          <a:bodyPr wrap="square" lIns="0" tIns="0" rIns="0" bIns="0" rtlCol="0" anchor="ctr"/>
          <a:lstStyle/>
          <a:p>
            <a:pPr indent="0" marL="0">
              <a:buNone/>
            </a:pPr>
            <a:r>
              <a:rPr lang="en-US" sz="1350" i="1" dirty="0">
                <a:solidFill>
                  <a:srgbClr val="64748B"/>
                </a:solidFill>
                <a:latin typeface="Calibri" pitchFamily="34" charset="0"/>
                <a:ea typeface="Calibri" pitchFamily="34" charset="-122"/>
                <a:cs typeface="Calibri" pitchFamily="34" charset="-120"/>
              </a:rPr>
              <a:t>A small-scale second Deployment shares the SAME Service selector as the main Deployment, receiving a proportional slice of traffic.</a:t>
            </a:r>
            <a:endParaRPr lang="en-US" sz="1350" dirty="0"/>
          </a:p>
        </p:txBody>
      </p:sp>
      <p:sp>
        <p:nvSpPr>
          <p:cNvPr id="5" name="Shape 3"/>
          <p:cNvSpPr/>
          <p:nvPr/>
        </p:nvSpPr>
        <p:spPr>
          <a:xfrm>
            <a:off x="640080" y="1645920"/>
            <a:ext cx="10881360" cy="2953512"/>
          </a:xfrm>
          <a:prstGeom prst="roundRect">
            <a:avLst>
              <a:gd name="adj" fmla="val 1858"/>
            </a:avLst>
          </a:prstGeom>
          <a:solidFill>
            <a:srgbClr val="0B2330"/>
          </a:solidFill>
          <a:ln/>
          <a:effectLst>
            <a:outerShdw sx="100000" sy="100000" kx="0" ky="0" algn="bl" rotWithShape="0" blurRad="88900" dist="25400" dir="2700000">
              <a:srgbClr val="1B2A36">
                <a:alpha val="12000"/>
              </a:srgbClr>
            </a:outerShdw>
          </a:effectLst>
        </p:spPr>
      </p:sp>
      <p:sp>
        <p:nvSpPr>
          <p:cNvPr id="6" name="Text 4"/>
          <p:cNvSpPr/>
          <p:nvPr/>
        </p:nvSpPr>
        <p:spPr>
          <a:xfrm>
            <a:off x="868680" y="1810512"/>
            <a:ext cx="10424160" cy="2624328"/>
          </a:xfrm>
          <a:prstGeom prst="rect">
            <a:avLst/>
          </a:prstGeom>
          <a:noFill/>
          <a:ln/>
        </p:spPr>
        <p:txBody>
          <a:bodyPr wrap="square" lIns="0" tIns="0" rIns="0" bIns="0" rtlCol="0" anchor="t"/>
          <a:lstStyle/>
          <a:p>
            <a:pPr indent="0" marL="0">
              <a:buNone/>
            </a:pPr>
            <a:r>
              <a:rPr lang="en-US" sz="1350" dirty="0">
                <a:solidFill>
                  <a:srgbClr val="CFEFEA"/>
                </a:solidFill>
                <a:latin typeface="Courier New" pitchFamily="34" charset="0"/>
                <a:ea typeface="Courier New" pitchFamily="34" charset="-122"/>
                <a:cs typeface="Courier New" pitchFamily="34" charset="-120"/>
              </a:rPr>
              <a:t># Stable: 9 replicas, label app=web-app, track=stable</a:t>
            </a:r>
            <a:endParaRPr lang="en-US" sz="1350" dirty="0"/>
          </a:p>
          <a:p>
            <a:pPr indent="0" marL="0">
              <a:buNone/>
            </a:pPr>
            <a:r>
              <a:rPr lang="en-US" sz="1350" dirty="0">
                <a:solidFill>
                  <a:srgbClr val="CFEFEA"/>
                </a:solidFill>
                <a:latin typeface="Courier New" pitchFamily="34" charset="0"/>
                <a:ea typeface="Courier New" pitchFamily="34" charset="-122"/>
                <a:cs typeface="Courier New" pitchFamily="34" charset="-120"/>
              </a:rPr>
              <a:t># Canary: 1 replica, label app=web-app, track=canary</a:t>
            </a:r>
            <a:endParaRPr lang="en-US" sz="1350" dirty="0"/>
          </a:p>
          <a:p>
            <a:pPr indent="0" marL="0">
              <a:buNone/>
            </a:pPr>
            <a:endParaRPr lang="en-US" sz="1350" dirty="0"/>
          </a:p>
          <a:p>
            <a:pPr indent="0" marL="0">
              <a:buNone/>
            </a:pPr>
            <a:r>
              <a:rPr lang="en-US" sz="1350" dirty="0">
                <a:solidFill>
                  <a:srgbClr val="CFEFEA"/>
                </a:solidFill>
                <a:latin typeface="Courier New" pitchFamily="34" charset="0"/>
                <a:ea typeface="Courier New" pitchFamily="34" charset="-122"/>
                <a:cs typeface="Courier New" pitchFamily="34" charset="-120"/>
              </a:rPr>
              <a:t>apiVersion: v1</a:t>
            </a:r>
            <a:endParaRPr lang="en-US" sz="1350" dirty="0"/>
          </a:p>
          <a:p>
            <a:pPr indent="0" marL="0">
              <a:buNone/>
            </a:pPr>
            <a:r>
              <a:rPr lang="en-US" sz="1350" dirty="0">
                <a:solidFill>
                  <a:srgbClr val="CFEFEA"/>
                </a:solidFill>
                <a:latin typeface="Courier New" pitchFamily="34" charset="0"/>
                <a:ea typeface="Courier New" pitchFamily="34" charset="-122"/>
                <a:cs typeface="Courier New" pitchFamily="34" charset="-120"/>
              </a:rPr>
              <a:t>kind: Service</a:t>
            </a:r>
            <a:endParaRPr lang="en-US" sz="1350" dirty="0"/>
          </a:p>
          <a:p>
            <a:pPr indent="0" marL="0">
              <a:buNone/>
            </a:pPr>
            <a:r>
              <a:rPr lang="en-US" sz="1350" dirty="0">
                <a:solidFill>
                  <a:srgbClr val="CFEFEA"/>
                </a:solidFill>
                <a:latin typeface="Courier New" pitchFamily="34" charset="0"/>
                <a:ea typeface="Courier New" pitchFamily="34" charset="-122"/>
                <a:cs typeface="Courier New" pitchFamily="34" charset="-120"/>
              </a:rPr>
              <a:t>metadata: { name: web-app-svc }</a:t>
            </a:r>
            <a:endParaRPr lang="en-US" sz="1350" dirty="0"/>
          </a:p>
          <a:p>
            <a:pPr indent="0" marL="0">
              <a:buNone/>
            </a:pPr>
            <a:r>
              <a:rPr lang="en-US" sz="1350" dirty="0">
                <a:solidFill>
                  <a:srgbClr val="CFEFEA"/>
                </a:solidFill>
                <a:latin typeface="Courier New" pitchFamily="34" charset="0"/>
                <a:ea typeface="Courier New" pitchFamily="34" charset="-122"/>
                <a:cs typeface="Courier New" pitchFamily="34" charset="-120"/>
              </a:rPr>
              <a:t>spec:</a:t>
            </a:r>
            <a:endParaRPr lang="en-US" sz="1350" dirty="0"/>
          </a:p>
          <a:p>
            <a:pPr indent="0" marL="0">
              <a:buNone/>
            </a:pPr>
            <a:r>
              <a:rPr lang="en-US" sz="1350" dirty="0">
                <a:solidFill>
                  <a:srgbClr val="CFEFEA"/>
                </a:solidFill>
                <a:latin typeface="Courier New" pitchFamily="34" charset="0"/>
                <a:ea typeface="Courier New" pitchFamily="34" charset="-122"/>
                <a:cs typeface="Courier New" pitchFamily="34" charset="-120"/>
              </a:rPr>
              <a:t>  selector: { app: web-app }     # matches BOTH stable and canary</a:t>
            </a:r>
            <a:endParaRPr lang="en-US" sz="1350" dirty="0"/>
          </a:p>
          <a:p>
            <a:pPr indent="0" marL="0">
              <a:buNone/>
            </a:pPr>
            <a:r>
              <a:rPr lang="en-US" sz="1350" dirty="0">
                <a:solidFill>
                  <a:srgbClr val="CFEFEA"/>
                </a:solidFill>
                <a:latin typeface="Courier New" pitchFamily="34" charset="0"/>
                <a:ea typeface="Courier New" pitchFamily="34" charset="-122"/>
                <a:cs typeface="Courier New" pitchFamily="34" charset="-120"/>
              </a:rPr>
              <a:t>  ports: [{ port: 80, targetPort: 8080 }]</a:t>
            </a:r>
            <a:endParaRPr lang="en-US" sz="1350" dirty="0"/>
          </a:p>
        </p:txBody>
      </p:sp>
      <p:sp>
        <p:nvSpPr>
          <p:cNvPr id="7" name="Text 5"/>
          <p:cNvSpPr/>
          <p:nvPr/>
        </p:nvSpPr>
        <p:spPr>
          <a:xfrm>
            <a:off x="640080" y="4828032"/>
            <a:ext cx="10881360" cy="1572768"/>
          </a:xfrm>
          <a:prstGeom prst="rect">
            <a:avLst/>
          </a:prstGeom>
          <a:noFill/>
          <a:ln/>
        </p:spPr>
        <p:txBody>
          <a:bodyPr wrap="square" lIns="0" tIns="0" rIns="0" bIns="0" rtlCol="0" anchor="t"/>
          <a:lstStyle/>
          <a:p>
            <a:pPr marL="342900" indent="-342900">
              <a:spcAft>
                <a:spcPts val="500"/>
              </a:spcAft>
              <a:buSzPct val="100000"/>
              <a:buChar char="•"/>
            </a:pPr>
            <a:r>
              <a:rPr lang="en-US" sz="1200" dirty="0">
                <a:solidFill>
                  <a:srgbClr val="1E293B"/>
                </a:solidFill>
                <a:latin typeface="Calibri" pitchFamily="34" charset="0"/>
                <a:ea typeface="Calibri" pitchFamily="34" charset="-122"/>
                <a:cs typeface="Calibri" pitchFamily="34" charset="-120"/>
              </a:rPr>
              <a:t>The Service selector intentionally omits the 'track' label, so kube-proxy load-balances across both ReplicaSets — roughly 10% of traffic hits the canary in this example.</a:t>
            </a:r>
            <a:endParaRPr lang="en-US" sz="1200" dirty="0"/>
          </a:p>
          <a:p>
            <a:pPr marL="342900" indent="-342900">
              <a:spcAft>
                <a:spcPts val="500"/>
              </a:spcAft>
              <a:buSzPct val="100000"/>
              <a:buChar char="•"/>
            </a:pPr>
            <a:r>
              <a:rPr lang="en-US" sz="1200" dirty="0">
                <a:solidFill>
                  <a:srgbClr val="1E293B"/>
                </a:solidFill>
                <a:latin typeface="Calibri" pitchFamily="34" charset="0"/>
                <a:ea typeface="Calibri" pitchFamily="34" charset="-122"/>
                <a:cs typeface="Calibri" pitchFamily="34" charset="-120"/>
              </a:rPr>
              <a:t>Scale the canary Deployment up (and the stable one down) gradually to increase rollout confidence before a full cutover.</a:t>
            </a:r>
            <a:endParaRPr lang="en-US" sz="1200" dirty="0"/>
          </a:p>
          <a:p>
            <a:pPr marL="342900" indent="-342900">
              <a:spcAft>
                <a:spcPts val="500"/>
              </a:spcAft>
              <a:buSzPct val="100000"/>
              <a:buChar char="•"/>
            </a:pPr>
            <a:r>
              <a:rPr lang="en-US" sz="1200" dirty="0">
                <a:solidFill>
                  <a:srgbClr val="1E293B"/>
                </a:solidFill>
                <a:latin typeface="Calibri" pitchFamily="34" charset="0"/>
                <a:ea typeface="Calibri" pitchFamily="34" charset="-122"/>
                <a:cs typeface="Calibri" pitchFamily="34" charset="-120"/>
              </a:rPr>
              <a:t>For precise, weighted traffic splitting (not just replica-ratio-based), use a Gateway API HTTPRoute instead — covered later in this module.</a:t>
            </a:r>
            <a:endParaRPr lang="en-US" sz="1200" dirty="0"/>
          </a:p>
        </p:txBody>
      </p:sp>
      <p:sp>
        <p:nvSpPr>
          <p:cNvPr id="8" name="Text 6"/>
          <p:cNvSpPr/>
          <p:nvPr/>
        </p:nvSpPr>
        <p:spPr>
          <a:xfrm>
            <a:off x="457200" y="6446520"/>
            <a:ext cx="6400800" cy="27432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CKA v1.36 · Module 2</a:t>
            </a:r>
            <a:endParaRPr lang="en-US" sz="900" dirty="0"/>
          </a:p>
        </p:txBody>
      </p:sp>
      <p:sp>
        <p:nvSpPr>
          <p:cNvPr id="9" name="Text 7"/>
          <p:cNvSpPr/>
          <p:nvPr/>
        </p:nvSpPr>
        <p:spPr>
          <a:xfrm>
            <a:off x="11247120" y="6446520"/>
            <a:ext cx="4572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16</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365760"/>
            <a:ext cx="2468880" cy="384048"/>
          </a:xfrm>
          <a:prstGeom prst="roundRect">
            <a:avLst>
              <a:gd name="adj" fmla="val 50000"/>
            </a:avLst>
          </a:prstGeom>
          <a:solidFill>
            <a:srgbClr val="21295C"/>
          </a:solidFill>
          <a:ln/>
        </p:spPr>
      </p:sp>
      <p:sp>
        <p:nvSpPr>
          <p:cNvPr id="3" name="Text 1"/>
          <p:cNvSpPr/>
          <p:nvPr/>
        </p:nvSpPr>
        <p:spPr>
          <a:xfrm>
            <a:off x="640080" y="365760"/>
            <a:ext cx="2468880" cy="384048"/>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EXAM PATTERN 4</a:t>
            </a:r>
            <a:endParaRPr lang="en-US" sz="1150" dirty="0"/>
          </a:p>
        </p:txBody>
      </p:sp>
      <p:sp>
        <p:nvSpPr>
          <p:cNvPr id="4" name="Text 2"/>
          <p:cNvSpPr/>
          <p:nvPr/>
        </p:nvSpPr>
        <p:spPr>
          <a:xfrm>
            <a:off x="3246120" y="365760"/>
            <a:ext cx="8229600" cy="384048"/>
          </a:xfrm>
          <a:prstGeom prst="rect">
            <a:avLst/>
          </a:prstGeom>
          <a:noFill/>
          <a:ln/>
        </p:spPr>
        <p:txBody>
          <a:bodyPr wrap="square" lIns="0" tIns="0" rIns="0" bIns="0" rtlCol="0" anchor="ctr"/>
          <a:lstStyle/>
          <a:p>
            <a:pPr indent="0" marL="0">
              <a:buNone/>
            </a:pPr>
            <a:r>
              <a:rPr lang="en-US" sz="1100" b="1" spc="120" kern="0" dirty="0">
                <a:solidFill>
                  <a:srgbClr val="1C7293"/>
                </a:solidFill>
                <a:latin typeface="Calibri" pitchFamily="34" charset="0"/>
                <a:ea typeface="Calibri" pitchFamily="34" charset="-122"/>
                <a:cs typeface="Calibri" pitchFamily="34" charset="-120"/>
              </a:rPr>
              <a:t>DEPLOYMENT STRATEGIES</a:t>
            </a:r>
            <a:endParaRPr lang="en-US" sz="1100" dirty="0"/>
          </a:p>
        </p:txBody>
      </p:sp>
      <p:sp>
        <p:nvSpPr>
          <p:cNvPr id="5" name="Text 3"/>
          <p:cNvSpPr/>
          <p:nvPr/>
        </p:nvSpPr>
        <p:spPr>
          <a:xfrm>
            <a:off x="640080" y="841248"/>
            <a:ext cx="10881360" cy="502920"/>
          </a:xfrm>
          <a:prstGeom prst="rect">
            <a:avLst/>
          </a:prstGeom>
          <a:noFill/>
          <a:ln/>
        </p:spPr>
        <p:txBody>
          <a:bodyPr wrap="square" lIns="0" tIns="0" rIns="0" bIns="0" rtlCol="0" anchor="ctr"/>
          <a:lstStyle/>
          <a:p>
            <a:pPr indent="0" marL="0">
              <a:buNone/>
            </a:pPr>
            <a:r>
              <a:rPr lang="en-US" sz="2100" b="1" dirty="0">
                <a:solidFill>
                  <a:srgbClr val="21295C"/>
                </a:solidFill>
                <a:latin typeface="Cambria" pitchFamily="34" charset="0"/>
                <a:ea typeface="Cambria" pitchFamily="34" charset="-122"/>
                <a:cs typeface="Cambria" pitchFamily="34" charset="-120"/>
              </a:rPr>
              <a:t>Recreate Strategy Causes Unexpected Downtime</a:t>
            </a:r>
            <a:endParaRPr lang="en-US" sz="2100" dirty="0"/>
          </a:p>
        </p:txBody>
      </p:sp>
      <p:sp>
        <p:nvSpPr>
          <p:cNvPr id="6" name="Shape 4"/>
          <p:cNvSpPr/>
          <p:nvPr/>
        </p:nvSpPr>
        <p:spPr>
          <a:xfrm>
            <a:off x="640080" y="1463040"/>
            <a:ext cx="10881360" cy="960120"/>
          </a:xfrm>
          <a:prstGeom prst="roundRect">
            <a:avLst>
              <a:gd name="adj" fmla="val 5714"/>
            </a:avLst>
          </a:prstGeom>
          <a:solidFill>
            <a:srgbClr val="EAF4F8"/>
          </a:solidFill>
          <a:ln/>
        </p:spPr>
      </p:sp>
      <p:sp>
        <p:nvSpPr>
          <p:cNvPr id="7" name="Text 5"/>
          <p:cNvSpPr/>
          <p:nvPr/>
        </p:nvSpPr>
        <p:spPr>
          <a:xfrm>
            <a:off x="868680" y="1554480"/>
            <a:ext cx="2743200" cy="274320"/>
          </a:xfrm>
          <a:prstGeom prst="rect">
            <a:avLst/>
          </a:prstGeom>
          <a:noFill/>
          <a:ln/>
        </p:spPr>
        <p:txBody>
          <a:bodyPr wrap="square" lIns="0" tIns="0" rIns="0" bIns="0" rtlCol="0" anchor="ctr"/>
          <a:lstStyle/>
          <a:p>
            <a:pPr indent="0" marL="0">
              <a:buNone/>
            </a:pPr>
            <a:r>
              <a:rPr lang="en-US" sz="1050" b="1" spc="100" kern="0" dirty="0">
                <a:solidFill>
                  <a:srgbClr val="1C7293"/>
                </a:solidFill>
                <a:latin typeface="Calibri" pitchFamily="34" charset="0"/>
                <a:ea typeface="Calibri" pitchFamily="34" charset="-122"/>
                <a:cs typeface="Calibri" pitchFamily="34" charset="-120"/>
              </a:rPr>
              <a:t>SYMPTOM / SCENARIO</a:t>
            </a:r>
            <a:endParaRPr lang="en-US" sz="1050" dirty="0"/>
          </a:p>
        </p:txBody>
      </p:sp>
      <p:sp>
        <p:nvSpPr>
          <p:cNvPr id="8" name="Text 6"/>
          <p:cNvSpPr/>
          <p:nvPr/>
        </p:nvSpPr>
        <p:spPr>
          <a:xfrm>
            <a:off x="868680" y="1810512"/>
            <a:ext cx="10424160" cy="548640"/>
          </a:xfrm>
          <a:prstGeom prst="rect">
            <a:avLst/>
          </a:prstGeom>
          <a:noFill/>
          <a:ln/>
        </p:spPr>
        <p:txBody>
          <a:bodyPr wrap="square" lIns="0" tIns="0" rIns="0" bIns="0" rtlCol="0" anchor="t"/>
          <a:lstStyle/>
          <a:p>
            <a:pPr indent="0" marL="0">
              <a:buNone/>
            </a:pPr>
            <a:r>
              <a:rPr lang="en-US" sz="1300" dirty="0">
                <a:solidFill>
                  <a:srgbClr val="1E293B"/>
                </a:solidFill>
                <a:latin typeface="Calibri" pitchFamily="34" charset="0"/>
                <a:ea typeface="Calibri" pitchFamily="34" charset="-122"/>
                <a:cs typeface="Calibri" pitchFamily="34" charset="-120"/>
              </a:rPr>
              <a:t>A team complains their app has a full outage on every deploy, even though they expected zero-downtime updates.</a:t>
            </a:r>
            <a:endParaRPr lang="en-US" sz="1300" dirty="0"/>
          </a:p>
        </p:txBody>
      </p:sp>
      <p:sp>
        <p:nvSpPr>
          <p:cNvPr id="9" name="Shape 7"/>
          <p:cNvSpPr/>
          <p:nvPr/>
        </p:nvSpPr>
        <p:spPr>
          <a:xfrm>
            <a:off x="640080" y="2587752"/>
            <a:ext cx="10881360" cy="914400"/>
          </a:xfrm>
          <a:prstGeom prst="roundRect">
            <a:avLst>
              <a:gd name="adj" fmla="val 6000"/>
            </a:avLst>
          </a:prstGeom>
          <a:solidFill>
            <a:srgbClr val="FBF3E3"/>
          </a:solidFill>
          <a:ln/>
        </p:spPr>
      </p:sp>
      <p:sp>
        <p:nvSpPr>
          <p:cNvPr id="10" name="Text 8"/>
          <p:cNvSpPr/>
          <p:nvPr/>
        </p:nvSpPr>
        <p:spPr>
          <a:xfrm>
            <a:off x="868680" y="2679192"/>
            <a:ext cx="2743200" cy="274320"/>
          </a:xfrm>
          <a:prstGeom prst="rect">
            <a:avLst/>
          </a:prstGeom>
          <a:noFill/>
          <a:ln/>
        </p:spPr>
        <p:txBody>
          <a:bodyPr wrap="square" lIns="0" tIns="0" rIns="0" bIns="0" rtlCol="0" anchor="ctr"/>
          <a:lstStyle/>
          <a:p>
            <a:pPr indent="0" marL="0">
              <a:buNone/>
            </a:pPr>
            <a:r>
              <a:rPr lang="en-US" sz="1050" b="1" spc="100" kern="0" dirty="0">
                <a:solidFill>
                  <a:srgbClr val="B7791F"/>
                </a:solidFill>
                <a:latin typeface="Calibri" pitchFamily="34" charset="0"/>
                <a:ea typeface="Calibri" pitchFamily="34" charset="-122"/>
                <a:cs typeface="Calibri" pitchFamily="34" charset="-120"/>
              </a:rPr>
              <a:t>ROOT CAUSE</a:t>
            </a:r>
            <a:endParaRPr lang="en-US" sz="1050" dirty="0"/>
          </a:p>
        </p:txBody>
      </p:sp>
      <p:sp>
        <p:nvSpPr>
          <p:cNvPr id="11" name="Text 9"/>
          <p:cNvSpPr/>
          <p:nvPr/>
        </p:nvSpPr>
        <p:spPr>
          <a:xfrm>
            <a:off x="868680" y="2935224"/>
            <a:ext cx="10424160" cy="502920"/>
          </a:xfrm>
          <a:prstGeom prst="rect">
            <a:avLst/>
          </a:prstGeom>
          <a:noFill/>
          <a:ln/>
        </p:spPr>
        <p:txBody>
          <a:bodyPr wrap="square" lIns="0" tIns="0" rIns="0" bIns="0" rtlCol="0" anchor="t"/>
          <a:lstStyle/>
          <a:p>
            <a:pPr indent="0" marL="0">
              <a:buNone/>
            </a:pPr>
            <a:r>
              <a:rPr lang="en-US" sz="1300" dirty="0">
                <a:solidFill>
                  <a:srgbClr val="1E293B"/>
                </a:solidFill>
                <a:latin typeface="Calibri" pitchFamily="34" charset="0"/>
                <a:ea typeface="Calibri" pitchFamily="34" charset="-122"/>
                <a:cs typeface="Calibri" pitchFamily="34" charset="-120"/>
              </a:rPr>
              <a:t>spec.strategy.type is set to Recreate instead of RollingUpdate. Recreate intentionally terminates ALL old Pods before creating any new ones.</a:t>
            </a:r>
            <a:endParaRPr lang="en-US" sz="1300" dirty="0"/>
          </a:p>
        </p:txBody>
      </p:sp>
      <p:sp>
        <p:nvSpPr>
          <p:cNvPr id="12" name="Shape 10"/>
          <p:cNvSpPr/>
          <p:nvPr/>
        </p:nvSpPr>
        <p:spPr>
          <a:xfrm>
            <a:off x="640080" y="3666744"/>
            <a:ext cx="10881360" cy="1417320"/>
          </a:xfrm>
          <a:prstGeom prst="roundRect">
            <a:avLst>
              <a:gd name="adj" fmla="val 3871"/>
            </a:avLst>
          </a:prstGeom>
          <a:solidFill>
            <a:srgbClr val="E7F5EC"/>
          </a:solidFill>
          <a:ln/>
        </p:spPr>
      </p:sp>
      <p:sp>
        <p:nvSpPr>
          <p:cNvPr id="13" name="Text 11"/>
          <p:cNvSpPr/>
          <p:nvPr/>
        </p:nvSpPr>
        <p:spPr>
          <a:xfrm>
            <a:off x="868680" y="3758184"/>
            <a:ext cx="2743200" cy="274320"/>
          </a:xfrm>
          <a:prstGeom prst="rect">
            <a:avLst/>
          </a:prstGeom>
          <a:noFill/>
          <a:ln/>
        </p:spPr>
        <p:txBody>
          <a:bodyPr wrap="square" lIns="0" tIns="0" rIns="0" bIns="0" rtlCol="0" anchor="ctr"/>
          <a:lstStyle/>
          <a:p>
            <a:pPr indent="0" marL="0">
              <a:buNone/>
            </a:pPr>
            <a:r>
              <a:rPr lang="en-US" sz="1050" b="1" spc="100" kern="0" dirty="0">
                <a:solidFill>
                  <a:srgbClr val="15803D"/>
                </a:solidFill>
                <a:latin typeface="Calibri" pitchFamily="34" charset="0"/>
                <a:ea typeface="Calibri" pitchFamily="34" charset="-122"/>
                <a:cs typeface="Calibri" pitchFamily="34" charset="-120"/>
              </a:rPr>
              <a:t>THE FIX</a:t>
            </a:r>
            <a:endParaRPr lang="en-US" sz="1050" dirty="0"/>
          </a:p>
        </p:txBody>
      </p:sp>
      <p:sp>
        <p:nvSpPr>
          <p:cNvPr id="14" name="Text 12"/>
          <p:cNvSpPr/>
          <p:nvPr/>
        </p:nvSpPr>
        <p:spPr>
          <a:xfrm>
            <a:off x="868680" y="4014216"/>
            <a:ext cx="10424160" cy="365760"/>
          </a:xfrm>
          <a:prstGeom prst="rect">
            <a:avLst/>
          </a:prstGeom>
          <a:noFill/>
          <a:ln/>
        </p:spPr>
        <p:txBody>
          <a:bodyPr wrap="square" lIns="0" tIns="0" rIns="0" bIns="0" rtlCol="0" anchor="t"/>
          <a:lstStyle/>
          <a:p>
            <a:pPr indent="0" marL="0">
              <a:buNone/>
            </a:pPr>
            <a:r>
              <a:rPr lang="en-US" sz="1300" dirty="0">
                <a:solidFill>
                  <a:srgbClr val="1E293B"/>
                </a:solidFill>
                <a:latin typeface="Calibri" pitchFamily="34" charset="0"/>
                <a:ea typeface="Calibri" pitchFamily="34" charset="-122"/>
                <a:cs typeface="Calibri" pitchFamily="34" charset="-120"/>
              </a:rPr>
              <a:t>Change strategy.type to RollingUpdate (the default) unless there's a real reason the app can't run two versions side-by-side (e.g. an exclusive DB schema migration).</a:t>
            </a:r>
            <a:endParaRPr lang="en-US" sz="1300" dirty="0"/>
          </a:p>
        </p:txBody>
      </p:sp>
      <p:sp>
        <p:nvSpPr>
          <p:cNvPr id="15" name="Shape 13"/>
          <p:cNvSpPr/>
          <p:nvPr/>
        </p:nvSpPr>
        <p:spPr>
          <a:xfrm>
            <a:off x="868680" y="4379976"/>
            <a:ext cx="10424160" cy="594360"/>
          </a:xfrm>
          <a:prstGeom prst="roundRect">
            <a:avLst>
              <a:gd name="adj" fmla="val 7692"/>
            </a:avLst>
          </a:prstGeom>
          <a:solidFill>
            <a:srgbClr val="0B2330"/>
          </a:solidFill>
          <a:ln/>
        </p:spPr>
      </p:sp>
      <p:sp>
        <p:nvSpPr>
          <p:cNvPr id="16" name="Text 14"/>
          <p:cNvSpPr/>
          <p:nvPr/>
        </p:nvSpPr>
        <p:spPr>
          <a:xfrm>
            <a:off x="1005840" y="4453128"/>
            <a:ext cx="10149840" cy="457200"/>
          </a:xfrm>
          <a:prstGeom prst="rect">
            <a:avLst/>
          </a:prstGeom>
          <a:noFill/>
          <a:ln/>
        </p:spPr>
        <p:txBody>
          <a:bodyPr wrap="square" lIns="0" tIns="0" rIns="0" bIns="0" rtlCol="0" anchor="t"/>
          <a:lstStyle/>
          <a:p>
            <a:pPr indent="0" marL="0">
              <a:buNone/>
            </a:pPr>
            <a:r>
              <a:rPr lang="en-US" sz="1200" dirty="0">
                <a:solidFill>
                  <a:srgbClr val="CFEFEA"/>
                </a:solidFill>
                <a:latin typeface="Courier New" pitchFamily="34" charset="0"/>
                <a:ea typeface="Courier New" pitchFamily="34" charset="-122"/>
                <a:cs typeface="Courier New" pitchFamily="34" charset="-120"/>
              </a:rPr>
              <a:t>kubectl patch deployment web-app -p \</a:t>
            </a:r>
            <a:endParaRPr lang="en-US" sz="1200" dirty="0"/>
          </a:p>
          <a:p>
            <a:pPr indent="0" marL="0">
              <a:buNone/>
            </a:pPr>
            <a:r>
              <a:rPr lang="en-US" sz="1200" dirty="0">
                <a:solidFill>
                  <a:srgbClr val="CFEFEA"/>
                </a:solidFill>
                <a:latin typeface="Courier New" pitchFamily="34" charset="0"/>
                <a:ea typeface="Courier New" pitchFamily="34" charset="-122"/>
                <a:cs typeface="Courier New" pitchFamily="34" charset="-120"/>
              </a:rPr>
              <a:t>  '{"spec":{"strategy":{"type":"RollingUpdate"}}}'</a:t>
            </a:r>
            <a:endParaRPr lang="en-US" sz="1200" dirty="0"/>
          </a:p>
        </p:txBody>
      </p:sp>
      <p:sp>
        <p:nvSpPr>
          <p:cNvPr id="17" name="Text 15"/>
          <p:cNvSpPr/>
          <p:nvPr/>
        </p:nvSpPr>
        <p:spPr>
          <a:xfrm>
            <a:off x="457200" y="6446520"/>
            <a:ext cx="6400800" cy="27432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CKA v1.36 · Module 2</a:t>
            </a:r>
            <a:endParaRPr lang="en-US" sz="900" dirty="0"/>
          </a:p>
        </p:txBody>
      </p:sp>
      <p:sp>
        <p:nvSpPr>
          <p:cNvPr id="18" name="Text 16"/>
          <p:cNvSpPr/>
          <p:nvPr/>
        </p:nvSpPr>
        <p:spPr>
          <a:xfrm>
            <a:off x="11247120" y="6446520"/>
            <a:ext cx="4572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17</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65760"/>
            <a:ext cx="9144000" cy="320040"/>
          </a:xfrm>
          <a:prstGeom prst="rect">
            <a:avLst/>
          </a:prstGeom>
          <a:noFill/>
          <a:ln/>
        </p:spPr>
        <p:txBody>
          <a:bodyPr wrap="square" lIns="0" tIns="0" rIns="0" bIns="0" rtlCol="0" anchor="ctr"/>
          <a:lstStyle/>
          <a:p>
            <a:pPr indent="0" marL="0">
              <a:buNone/>
            </a:pPr>
            <a:r>
              <a:rPr lang="en-US" sz="1150" b="1" spc="150" kern="0" dirty="0">
                <a:solidFill>
                  <a:srgbClr val="1C7293"/>
                </a:solidFill>
                <a:latin typeface="Calibri" pitchFamily="34" charset="0"/>
                <a:ea typeface="Calibri" pitchFamily="34" charset="-122"/>
                <a:cs typeface="Calibri" pitchFamily="34" charset="-120"/>
              </a:rPr>
              <a:t>DEPLOYMENT STRATEGIES</a:t>
            </a:r>
            <a:endParaRPr lang="en-US" sz="1150" dirty="0"/>
          </a:p>
        </p:txBody>
      </p:sp>
      <p:sp>
        <p:nvSpPr>
          <p:cNvPr id="3" name="Text 1"/>
          <p:cNvSpPr/>
          <p:nvPr/>
        </p:nvSpPr>
        <p:spPr>
          <a:xfrm>
            <a:off x="640080" y="658368"/>
            <a:ext cx="10881360" cy="685800"/>
          </a:xfrm>
          <a:prstGeom prst="rect">
            <a:avLst/>
          </a:prstGeom>
          <a:noFill/>
          <a:ln/>
        </p:spPr>
        <p:txBody>
          <a:bodyPr wrap="square" lIns="0" tIns="0" rIns="0" bIns="0" rtlCol="0" anchor="ctr"/>
          <a:lstStyle/>
          <a:p>
            <a:pPr indent="0" marL="0">
              <a:buNone/>
            </a:pPr>
            <a:r>
              <a:rPr lang="en-US" sz="2600" b="1" dirty="0">
                <a:solidFill>
                  <a:srgbClr val="21295C"/>
                </a:solidFill>
                <a:latin typeface="Cambria" pitchFamily="34" charset="0"/>
                <a:ea typeface="Cambria" pitchFamily="34" charset="-122"/>
                <a:cs typeface="Cambria" pitchFamily="34" charset="-120"/>
              </a:rPr>
              <a:t>Choosing the Right Strategy — Decision Guide</a:t>
            </a:r>
            <a:endParaRPr lang="en-US" sz="2600" dirty="0"/>
          </a:p>
        </p:txBody>
      </p:sp>
      <p:sp>
        <p:nvSpPr>
          <p:cNvPr id="4" name="Shape 2"/>
          <p:cNvSpPr/>
          <p:nvPr/>
        </p:nvSpPr>
        <p:spPr>
          <a:xfrm>
            <a:off x="640080" y="1371600"/>
            <a:ext cx="10881360" cy="0"/>
          </a:xfrm>
          <a:prstGeom prst="line">
            <a:avLst/>
          </a:prstGeom>
          <a:noFill/>
          <a:ln w="12700">
            <a:solidFill>
              <a:srgbClr val="D7E3E8"/>
            </a:solidFill>
            <a:prstDash val="solid"/>
          </a:ln>
        </p:spPr>
      </p:sp>
      <p:sp>
        <p:nvSpPr>
          <p:cNvPr id="5" name="Shape 3"/>
          <p:cNvSpPr/>
          <p:nvPr/>
        </p:nvSpPr>
        <p:spPr>
          <a:xfrm>
            <a:off x="11109960" y="411480"/>
            <a:ext cx="502920" cy="502920"/>
          </a:xfrm>
          <a:prstGeom prst="ellipse">
            <a:avLst/>
          </a:prstGeom>
          <a:solidFill>
            <a:srgbClr val="EAF4F8"/>
          </a:solidFill>
          <a:ln w="15875">
            <a:solidFill>
              <a:srgbClr val="1C7293"/>
            </a:solidFill>
            <a:prstDash val="solid"/>
          </a:ln>
        </p:spPr>
      </p:sp>
      <p:sp>
        <p:nvSpPr>
          <p:cNvPr id="6" name="Text 4"/>
          <p:cNvSpPr/>
          <p:nvPr/>
        </p:nvSpPr>
        <p:spPr>
          <a:xfrm>
            <a:off x="11109960" y="411480"/>
            <a:ext cx="502920" cy="502920"/>
          </a:xfrm>
          <a:prstGeom prst="rect">
            <a:avLst/>
          </a:prstGeom>
          <a:noFill/>
          <a:ln/>
        </p:spPr>
        <p:txBody>
          <a:bodyPr wrap="square" lIns="0" tIns="0" rIns="0" bIns="0" rtlCol="0" anchor="ctr"/>
          <a:lstStyle/>
          <a:p>
            <a:pPr algn="ctr" indent="0" marL="0">
              <a:buNone/>
            </a:pPr>
            <a:r>
              <a:rPr lang="en-US" sz="1600" b="1" dirty="0">
                <a:solidFill>
                  <a:srgbClr val="1C7293"/>
                </a:solidFill>
                <a:latin typeface="Calibri" pitchFamily="34" charset="0"/>
                <a:ea typeface="Calibri" pitchFamily="34" charset="-122"/>
                <a:cs typeface="Calibri" pitchFamily="34" charset="-120"/>
              </a:rPr>
              <a:t>✓</a:t>
            </a:r>
            <a:endParaRPr lang="en-US" sz="1600" dirty="0"/>
          </a:p>
        </p:txBody>
      </p:sp>
      <p:sp>
        <p:nvSpPr>
          <p:cNvPr id="7" name="Text 5"/>
          <p:cNvSpPr/>
          <p:nvPr/>
        </p:nvSpPr>
        <p:spPr>
          <a:xfrm>
            <a:off x="640080" y="1600200"/>
            <a:ext cx="10881360" cy="4572000"/>
          </a:xfrm>
          <a:prstGeom prst="rect">
            <a:avLst/>
          </a:prstGeom>
          <a:noFill/>
          <a:ln/>
        </p:spPr>
        <p:txBody>
          <a:bodyPr wrap="square" lIns="0" tIns="0" rIns="0" bIns="0" rtlCol="0" anchor="t"/>
          <a:lstStyle/>
          <a:p>
            <a:pPr marL="342900" indent="-342900">
              <a:spcAft>
                <a:spcPts val="1200"/>
              </a:spcAft>
              <a:buSzPct val="100000"/>
              <a:buChar char="•"/>
            </a:pPr>
            <a:r>
              <a:rPr lang="en-US" sz="1550" dirty="0">
                <a:solidFill>
                  <a:srgbClr val="1E293B"/>
                </a:solidFill>
                <a:latin typeface="Calibri" pitchFamily="34" charset="0"/>
                <a:ea typeface="Calibri" pitchFamily="34" charset="-122"/>
                <a:cs typeface="Calibri" pitchFamily="34" charset="-120"/>
              </a:rPr>
              <a:t>Default to RollingUpdate for almost everything — it's zero-downtime-capable and resource-efficient.</a:t>
            </a:r>
            <a:endParaRPr lang="en-US" sz="1550" dirty="0"/>
          </a:p>
          <a:p>
            <a:pPr marL="342900" indent="-342900">
              <a:spcAft>
                <a:spcPts val="1200"/>
              </a:spcAft>
              <a:buSzPct val="100000"/>
              <a:buChar char="•"/>
            </a:pPr>
            <a:r>
              <a:rPr lang="en-US" sz="1550" dirty="0">
                <a:solidFill>
                  <a:srgbClr val="1E293B"/>
                </a:solidFill>
                <a:latin typeface="Calibri" pitchFamily="34" charset="0"/>
                <a:ea typeface="Calibri" pitchFamily="34" charset="-122"/>
                <a:cs typeface="Calibri" pitchFamily="34" charset="-120"/>
              </a:rPr>
              <a:t>Use Recreate only when old and new versions genuinely cannot coexist (exclusive locks, incompatible schema versions).</a:t>
            </a:r>
            <a:endParaRPr lang="en-US" sz="1550" dirty="0"/>
          </a:p>
          <a:p>
            <a:pPr marL="342900" indent="-342900">
              <a:spcAft>
                <a:spcPts val="1200"/>
              </a:spcAft>
              <a:buSzPct val="100000"/>
              <a:buChar char="•"/>
            </a:pPr>
            <a:r>
              <a:rPr lang="en-US" sz="1550" dirty="0">
                <a:solidFill>
                  <a:srgbClr val="1E293B"/>
                </a:solidFill>
                <a:latin typeface="Calibri" pitchFamily="34" charset="0"/>
                <a:ea typeface="Calibri" pitchFamily="34" charset="-122"/>
                <a:cs typeface="Calibri" pitchFamily="34" charset="-120"/>
              </a:rPr>
              <a:t>Use Blue-Green when you need instant, fully-tested cutover and can afford double resource usage temporarily.</a:t>
            </a:r>
            <a:endParaRPr lang="en-US" sz="1550" dirty="0"/>
          </a:p>
          <a:p>
            <a:pPr marL="342900" indent="-342900">
              <a:spcAft>
                <a:spcPts val="1200"/>
              </a:spcAft>
              <a:buSzPct val="100000"/>
              <a:buChar char="•"/>
            </a:pPr>
            <a:r>
              <a:rPr lang="en-US" sz="1550" dirty="0">
                <a:solidFill>
                  <a:srgbClr val="1E293B"/>
                </a:solidFill>
                <a:latin typeface="Calibri" pitchFamily="34" charset="0"/>
                <a:ea typeface="Calibri" pitchFamily="34" charset="-122"/>
                <a:cs typeface="Calibri" pitchFamily="34" charset="-120"/>
              </a:rPr>
              <a:t>Use Canary when you want gradual, real-traffic validation of a new version before committing fully.</a:t>
            </a:r>
            <a:endParaRPr lang="en-US" sz="1550" dirty="0"/>
          </a:p>
          <a:p>
            <a:pPr marL="342900" indent="-342900">
              <a:spcAft>
                <a:spcPts val="1200"/>
              </a:spcAft>
              <a:buSzPct val="100000"/>
              <a:buChar char="•"/>
            </a:pPr>
            <a:r>
              <a:rPr lang="en-US" sz="1550" dirty="0">
                <a:solidFill>
                  <a:srgbClr val="1E293B"/>
                </a:solidFill>
                <a:latin typeface="Calibri" pitchFamily="34" charset="0"/>
                <a:ea typeface="Calibri" pitchFamily="34" charset="-122"/>
                <a:cs typeface="Calibri" pitchFamily="34" charset="-120"/>
              </a:rPr>
              <a:t>Use Gateway API weighted routing (not replica-ratio canary) when you need PRECISE traffic percentages, e.g. exactly 5% to canary regardless of replica count.</a:t>
            </a:r>
            <a:endParaRPr lang="en-US" sz="1550" dirty="0"/>
          </a:p>
        </p:txBody>
      </p:sp>
      <p:sp>
        <p:nvSpPr>
          <p:cNvPr id="8" name="Text 6"/>
          <p:cNvSpPr/>
          <p:nvPr/>
        </p:nvSpPr>
        <p:spPr>
          <a:xfrm>
            <a:off x="457200" y="6446520"/>
            <a:ext cx="6400800" cy="27432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CKA v1.36 · Module 2</a:t>
            </a:r>
            <a:endParaRPr lang="en-US" sz="900" dirty="0"/>
          </a:p>
        </p:txBody>
      </p:sp>
      <p:sp>
        <p:nvSpPr>
          <p:cNvPr id="9" name="Text 7"/>
          <p:cNvSpPr/>
          <p:nvPr/>
        </p:nvSpPr>
        <p:spPr>
          <a:xfrm>
            <a:off x="11247120" y="6446520"/>
            <a:ext cx="4572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18</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21295C"/>
        </a:solidFill>
      </p:bgPr>
    </p:bg>
    <p:spTree>
      <p:nvGrpSpPr>
        <p:cNvPr id="1" name=""/>
        <p:cNvGrpSpPr/>
        <p:nvPr/>
      </p:nvGrpSpPr>
      <p:grpSpPr>
        <a:xfrm>
          <a:off x="0" y="0"/>
          <a:ext cx="0" cy="0"/>
          <a:chOff x="0" y="0"/>
          <a:chExt cx="0" cy="0"/>
        </a:xfrm>
      </p:grpSpPr>
      <p:sp>
        <p:nvSpPr>
          <p:cNvPr id="2" name="Shape 0"/>
          <p:cNvSpPr/>
          <p:nvPr/>
        </p:nvSpPr>
        <p:spPr>
          <a:xfrm>
            <a:off x="8778240" y="3291840"/>
            <a:ext cx="5029200" cy="5029200"/>
          </a:xfrm>
          <a:prstGeom prst="ellipse">
            <a:avLst/>
          </a:prstGeom>
          <a:solidFill>
            <a:srgbClr val="065A82">
              <a:alpha val="40000"/>
            </a:srgbClr>
          </a:solidFill>
          <a:ln/>
        </p:spPr>
      </p:sp>
      <p:sp>
        <p:nvSpPr>
          <p:cNvPr id="3" name="Shape 1"/>
          <p:cNvSpPr/>
          <p:nvPr/>
        </p:nvSpPr>
        <p:spPr>
          <a:xfrm>
            <a:off x="822960" y="1828800"/>
            <a:ext cx="1371600" cy="1371600"/>
          </a:xfrm>
          <a:prstGeom prst="roundRect">
            <a:avLst>
              <a:gd name="adj" fmla="val 12000"/>
            </a:avLst>
          </a:prstGeom>
          <a:solidFill>
            <a:srgbClr val="1C7293"/>
          </a:solidFill>
          <a:ln/>
          <a:effectLst>
            <a:outerShdw sx="100000" sy="100000" kx="0" ky="0" algn="bl" rotWithShape="0" blurRad="88900" dist="25400" dir="2700000">
              <a:srgbClr val="1B2A36">
                <a:alpha val="12000"/>
              </a:srgbClr>
            </a:outerShdw>
          </a:effectLst>
        </p:spPr>
      </p:sp>
      <p:sp>
        <p:nvSpPr>
          <p:cNvPr id="4" name="Text 2"/>
          <p:cNvSpPr/>
          <p:nvPr/>
        </p:nvSpPr>
        <p:spPr>
          <a:xfrm>
            <a:off x="822960" y="1828800"/>
            <a:ext cx="1371600" cy="1371600"/>
          </a:xfrm>
          <a:prstGeom prst="rect">
            <a:avLst/>
          </a:prstGeom>
          <a:noFill/>
          <a:ln/>
        </p:spPr>
        <p:txBody>
          <a:bodyPr wrap="square" lIns="0" tIns="0" rIns="0" bIns="0" rtlCol="0" anchor="ctr"/>
          <a:lstStyle/>
          <a:p>
            <a:pPr algn="ctr" indent="0" marL="0">
              <a:buNone/>
            </a:pPr>
            <a:r>
              <a:rPr lang="en-US" sz="4000" b="1" dirty="0">
                <a:solidFill>
                  <a:srgbClr val="FFFFFF"/>
                </a:solidFill>
                <a:latin typeface="Cambria" pitchFamily="34" charset="0"/>
                <a:ea typeface="Cambria" pitchFamily="34" charset="-122"/>
                <a:cs typeface="Cambria" pitchFamily="34" charset="-120"/>
              </a:rPr>
              <a:t>C</a:t>
            </a:r>
            <a:endParaRPr lang="en-US" sz="4000" dirty="0"/>
          </a:p>
        </p:txBody>
      </p:sp>
      <p:sp>
        <p:nvSpPr>
          <p:cNvPr id="5" name="Text 3"/>
          <p:cNvSpPr/>
          <p:nvPr/>
        </p:nvSpPr>
        <p:spPr>
          <a:xfrm>
            <a:off x="2468880" y="1828800"/>
            <a:ext cx="8961120" cy="100584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Understand Connectivity Between Pods</a:t>
            </a:r>
            <a:endParaRPr lang="en-US" sz="3200" dirty="0"/>
          </a:p>
        </p:txBody>
      </p:sp>
      <p:sp>
        <p:nvSpPr>
          <p:cNvPr id="6" name="Text 4"/>
          <p:cNvSpPr/>
          <p:nvPr/>
        </p:nvSpPr>
        <p:spPr>
          <a:xfrm>
            <a:off x="2468880" y="2788920"/>
            <a:ext cx="8961120" cy="640080"/>
          </a:xfrm>
          <a:prstGeom prst="rect">
            <a:avLst/>
          </a:prstGeom>
          <a:noFill/>
          <a:ln/>
        </p:spPr>
        <p:txBody>
          <a:bodyPr wrap="square" lIns="0" tIns="0" rIns="0" bIns="0" rtlCol="0" anchor="ctr"/>
          <a:lstStyle/>
          <a:p>
            <a:pPr indent="0" marL="0">
              <a:buNone/>
            </a:pPr>
            <a:r>
              <a:rPr lang="en-US" sz="1600" dirty="0">
                <a:solidFill>
                  <a:srgbClr val="C9E4ED"/>
                </a:solidFill>
                <a:latin typeface="Calibri" pitchFamily="34" charset="0"/>
                <a:ea typeface="Calibri" pitchFamily="34" charset="-122"/>
                <a:cs typeface="Calibri" pitchFamily="34" charset="-120"/>
              </a:rPr>
              <a:t>How packets actually move inside the cluster</a:t>
            </a:r>
            <a:endParaRPr lang="en-US" sz="1600" dirty="0"/>
          </a:p>
        </p:txBody>
      </p:sp>
      <p:sp>
        <p:nvSpPr>
          <p:cNvPr id="7" name="Shape 5"/>
          <p:cNvSpPr/>
          <p:nvPr/>
        </p:nvSpPr>
        <p:spPr>
          <a:xfrm>
            <a:off x="2468880" y="3429000"/>
            <a:ext cx="8961120" cy="548640"/>
          </a:xfrm>
          <a:prstGeom prst="roundRect">
            <a:avLst>
              <a:gd name="adj" fmla="val 16667"/>
            </a:avLst>
          </a:prstGeom>
          <a:solidFill>
            <a:srgbClr val="FFFFFF">
              <a:alpha val="10000"/>
            </a:srgbClr>
          </a:solidFill>
          <a:ln w="9525">
            <a:solidFill>
              <a:srgbClr val="8FD3E8"/>
            </a:solidFill>
            <a:prstDash val="solid"/>
          </a:ln>
        </p:spPr>
      </p:sp>
      <p:sp>
        <p:nvSpPr>
          <p:cNvPr id="8" name="Text 6"/>
          <p:cNvSpPr/>
          <p:nvPr/>
        </p:nvSpPr>
        <p:spPr>
          <a:xfrm>
            <a:off x="2697480" y="3429000"/>
            <a:ext cx="8503920" cy="548640"/>
          </a:xfrm>
          <a:prstGeom prst="rect">
            <a:avLst/>
          </a:prstGeom>
          <a:noFill/>
          <a:ln/>
        </p:spPr>
        <p:txBody>
          <a:bodyPr wrap="square" lIns="0" tIns="0" rIns="0" bIns="0" rtlCol="0" anchor="ctr"/>
          <a:lstStyle/>
          <a:p>
            <a:pPr algn="l" indent="0" marL="0">
              <a:buNone/>
            </a:pPr>
            <a:r>
              <a:rPr lang="en-US" sz="1200" dirty="0">
                <a:solidFill>
                  <a:srgbClr val="DCEFF5"/>
                </a:solidFill>
                <a:latin typeface="Calibri" pitchFamily="34" charset="0"/>
                <a:ea typeface="Calibri" pitchFamily="34" charset="-122"/>
                <a:cs typeface="Calibri" pitchFamily="34" charset="-120"/>
              </a:rPr>
              <a:t>Domain: Services &amp; Networking · Pod connectivity</a:t>
            </a:r>
            <a:endParaRPr lang="en-US" sz="1200" dirty="0"/>
          </a:p>
        </p:txBody>
      </p:sp>
      <p:sp>
        <p:nvSpPr>
          <p:cNvPr id="9" name="Text 7"/>
          <p:cNvSpPr/>
          <p:nvPr/>
        </p:nvSpPr>
        <p:spPr>
          <a:xfrm>
            <a:off x="457200" y="6446520"/>
            <a:ext cx="6400800" cy="27432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CKA v1.36 · Module 2</a:t>
            </a:r>
            <a:endParaRPr lang="en-US" sz="900" dirty="0"/>
          </a:p>
        </p:txBody>
      </p:sp>
      <p:sp>
        <p:nvSpPr>
          <p:cNvPr id="10" name="Text 8"/>
          <p:cNvSpPr/>
          <p:nvPr/>
        </p:nvSpPr>
        <p:spPr>
          <a:xfrm>
            <a:off x="11247120" y="6446520"/>
            <a:ext cx="4572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19</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65760"/>
            <a:ext cx="9144000" cy="320040"/>
          </a:xfrm>
          <a:prstGeom prst="rect">
            <a:avLst/>
          </a:prstGeom>
          <a:noFill/>
          <a:ln/>
        </p:spPr>
        <p:txBody>
          <a:bodyPr wrap="square" lIns="0" tIns="0" rIns="0" bIns="0" rtlCol="0" anchor="ctr"/>
          <a:lstStyle/>
          <a:p>
            <a:pPr indent="0" marL="0">
              <a:buNone/>
            </a:pPr>
            <a:r>
              <a:rPr lang="en-US" sz="1150" b="1" spc="150" kern="0" dirty="0">
                <a:solidFill>
                  <a:srgbClr val="1C7293"/>
                </a:solidFill>
                <a:latin typeface="Calibri" pitchFamily="34" charset="0"/>
                <a:ea typeface="Calibri" pitchFamily="34" charset="-122"/>
                <a:cs typeface="Calibri" pitchFamily="34" charset="-120"/>
              </a:rPr>
              <a:t>POD CONNECTIVITY</a:t>
            </a:r>
            <a:endParaRPr lang="en-US" sz="1150" dirty="0"/>
          </a:p>
        </p:txBody>
      </p:sp>
      <p:sp>
        <p:nvSpPr>
          <p:cNvPr id="3" name="Text 1"/>
          <p:cNvSpPr/>
          <p:nvPr/>
        </p:nvSpPr>
        <p:spPr>
          <a:xfrm>
            <a:off x="640080" y="658368"/>
            <a:ext cx="10881360" cy="685800"/>
          </a:xfrm>
          <a:prstGeom prst="rect">
            <a:avLst/>
          </a:prstGeom>
          <a:noFill/>
          <a:ln/>
        </p:spPr>
        <p:txBody>
          <a:bodyPr wrap="square" lIns="0" tIns="0" rIns="0" bIns="0" rtlCol="0" anchor="ctr"/>
          <a:lstStyle/>
          <a:p>
            <a:pPr indent="0" marL="0">
              <a:buNone/>
            </a:pPr>
            <a:r>
              <a:rPr lang="en-US" sz="2600" b="1" dirty="0">
                <a:solidFill>
                  <a:srgbClr val="21295C"/>
                </a:solidFill>
                <a:latin typeface="Cambria" pitchFamily="34" charset="0"/>
                <a:ea typeface="Cambria" pitchFamily="34" charset="-122"/>
                <a:cs typeface="Cambria" pitchFamily="34" charset="-120"/>
              </a:rPr>
              <a:t>The Kubernetes Networking Model</a:t>
            </a:r>
            <a:endParaRPr lang="en-US" sz="2600" dirty="0"/>
          </a:p>
        </p:txBody>
      </p:sp>
      <p:sp>
        <p:nvSpPr>
          <p:cNvPr id="4" name="Shape 2"/>
          <p:cNvSpPr/>
          <p:nvPr/>
        </p:nvSpPr>
        <p:spPr>
          <a:xfrm>
            <a:off x="640080" y="1371600"/>
            <a:ext cx="10881360" cy="0"/>
          </a:xfrm>
          <a:prstGeom prst="line">
            <a:avLst/>
          </a:prstGeom>
          <a:noFill/>
          <a:ln w="12700">
            <a:solidFill>
              <a:srgbClr val="D7E3E8"/>
            </a:solidFill>
            <a:prstDash val="solid"/>
          </a:ln>
        </p:spPr>
      </p:sp>
      <p:sp>
        <p:nvSpPr>
          <p:cNvPr id="5" name="Shape 3"/>
          <p:cNvSpPr/>
          <p:nvPr/>
        </p:nvSpPr>
        <p:spPr>
          <a:xfrm>
            <a:off x="11109960" y="411480"/>
            <a:ext cx="502920" cy="502920"/>
          </a:xfrm>
          <a:prstGeom prst="ellipse">
            <a:avLst/>
          </a:prstGeom>
          <a:solidFill>
            <a:srgbClr val="EAF4F8"/>
          </a:solidFill>
          <a:ln w="15875">
            <a:solidFill>
              <a:srgbClr val="1C7293"/>
            </a:solidFill>
            <a:prstDash val="solid"/>
          </a:ln>
        </p:spPr>
      </p:sp>
      <p:sp>
        <p:nvSpPr>
          <p:cNvPr id="6" name="Text 4"/>
          <p:cNvSpPr/>
          <p:nvPr/>
        </p:nvSpPr>
        <p:spPr>
          <a:xfrm>
            <a:off x="11109960" y="411480"/>
            <a:ext cx="502920" cy="502920"/>
          </a:xfrm>
          <a:prstGeom prst="rect">
            <a:avLst/>
          </a:prstGeom>
          <a:noFill/>
          <a:ln/>
        </p:spPr>
        <p:txBody>
          <a:bodyPr wrap="square" lIns="0" tIns="0" rIns="0" bIns="0" rtlCol="0" anchor="ctr"/>
          <a:lstStyle/>
          <a:p>
            <a:pPr algn="ctr" indent="0" marL="0">
              <a:buNone/>
            </a:pPr>
            <a:r>
              <a:rPr lang="en-US" sz="1600" b="1" dirty="0">
                <a:solidFill>
                  <a:srgbClr val="1C7293"/>
                </a:solidFill>
                <a:latin typeface="Calibri" pitchFamily="34" charset="0"/>
                <a:ea typeface="Calibri" pitchFamily="34" charset="-122"/>
                <a:cs typeface="Calibri" pitchFamily="34" charset="-120"/>
              </a:rPr>
              <a:t>5</a:t>
            </a:r>
            <a:endParaRPr lang="en-US" sz="1600" dirty="0"/>
          </a:p>
        </p:txBody>
      </p:sp>
      <p:sp>
        <p:nvSpPr>
          <p:cNvPr id="7" name="Text 5"/>
          <p:cNvSpPr/>
          <p:nvPr/>
        </p:nvSpPr>
        <p:spPr>
          <a:xfrm>
            <a:off x="640080" y="1600200"/>
            <a:ext cx="10881360" cy="4572000"/>
          </a:xfrm>
          <a:prstGeom prst="rect">
            <a:avLst/>
          </a:prstGeom>
          <a:noFill/>
          <a:ln/>
        </p:spPr>
        <p:txBody>
          <a:bodyPr wrap="square" lIns="0" tIns="0" rIns="0" bIns="0" rtlCol="0" anchor="t"/>
          <a:lstStyle/>
          <a:p>
            <a:pPr marL="342900" indent="-342900">
              <a:spcAft>
                <a:spcPts val="1200"/>
              </a:spcAft>
              <a:buSzPct val="100000"/>
              <a:buChar char="•"/>
            </a:pPr>
            <a:r>
              <a:rPr lang="en-US" sz="1550" dirty="0">
                <a:solidFill>
                  <a:srgbClr val="1E293B"/>
                </a:solidFill>
                <a:latin typeface="Calibri" pitchFamily="34" charset="0"/>
                <a:ea typeface="Calibri" pitchFamily="34" charset="-122"/>
                <a:cs typeface="Calibri" pitchFamily="34" charset="-120"/>
              </a:rPr>
              <a:t>Every Pod gets its own unique IP address from the cluster's Pod CIDR — no NAT is required for Pod-to-Pod communication.</a:t>
            </a:r>
            <a:endParaRPr lang="en-US" sz="1550" dirty="0"/>
          </a:p>
          <a:p>
            <a:pPr marL="342900" indent="-342900">
              <a:spcAft>
                <a:spcPts val="1200"/>
              </a:spcAft>
              <a:buSzPct val="100000"/>
              <a:buChar char="•"/>
            </a:pPr>
            <a:r>
              <a:rPr lang="en-US" sz="1550" dirty="0">
                <a:solidFill>
                  <a:srgbClr val="1E293B"/>
                </a:solidFill>
                <a:latin typeface="Calibri" pitchFamily="34" charset="0"/>
                <a:ea typeface="Calibri" pitchFamily="34" charset="-122"/>
                <a:cs typeface="Calibri" pitchFamily="34" charset="-120"/>
              </a:rPr>
              <a:t>Every Pod can reach every other Pod's IP directly, across any node, without explicit configuration — this is a flat networking requirement, not an implementation detail.</a:t>
            </a:r>
            <a:endParaRPr lang="en-US" sz="1550" dirty="0"/>
          </a:p>
          <a:p>
            <a:pPr marL="342900" indent="-342900">
              <a:spcAft>
                <a:spcPts val="1200"/>
              </a:spcAft>
              <a:buSzPct val="100000"/>
              <a:buChar char="•"/>
            </a:pPr>
            <a:r>
              <a:rPr lang="en-US" sz="1550" dirty="0">
                <a:solidFill>
                  <a:srgbClr val="1E293B"/>
                </a:solidFill>
                <a:latin typeface="Calibri" pitchFamily="34" charset="0"/>
                <a:ea typeface="Calibri" pitchFamily="34" charset="-122"/>
                <a:cs typeface="Calibri" pitchFamily="34" charset="-120"/>
              </a:rPr>
              <a:t>Containers within the SAME Pod share one network namespace — they communicate over localhost and must use distinct ports.</a:t>
            </a:r>
            <a:endParaRPr lang="en-US" sz="1550" dirty="0"/>
          </a:p>
          <a:p>
            <a:pPr marL="342900" indent="-342900">
              <a:spcAft>
                <a:spcPts val="1200"/>
              </a:spcAft>
              <a:buSzPct val="100000"/>
              <a:buChar char="•"/>
            </a:pPr>
            <a:r>
              <a:rPr lang="en-US" sz="1550" dirty="0">
                <a:solidFill>
                  <a:srgbClr val="1E293B"/>
                </a:solidFill>
                <a:latin typeface="Calibri" pitchFamily="34" charset="0"/>
                <a:ea typeface="Calibri" pitchFamily="34" charset="-122"/>
                <a:cs typeface="Calibri" pitchFamily="34" charset="-120"/>
              </a:rPr>
              <a:t>The CNI plugin (Calico, Cilium, Flannel, etc.) is what actually implements this flat network requirement — Kubernetes itself defines the contract, not the mechanism.</a:t>
            </a:r>
            <a:endParaRPr lang="en-US" sz="1550" dirty="0"/>
          </a:p>
          <a:p>
            <a:pPr marL="342900" indent="-342900">
              <a:spcAft>
                <a:spcPts val="1200"/>
              </a:spcAft>
              <a:buSzPct val="100000"/>
              <a:buChar char="•"/>
            </a:pPr>
            <a:r>
              <a:rPr lang="en-US" sz="1550" dirty="0">
                <a:solidFill>
                  <a:srgbClr val="1E293B"/>
                </a:solidFill>
                <a:latin typeface="Calibri" pitchFamily="34" charset="0"/>
                <a:ea typeface="Calibri" pitchFamily="34" charset="-122"/>
                <a:cs typeface="Calibri" pitchFamily="34" charset="-120"/>
              </a:rPr>
              <a:t>kube-proxy (or eBPF equivalents in CNIs like Cilium) implements Service IP routing on top of this flat Pod network, covered later in this module.</a:t>
            </a:r>
            <a:endParaRPr lang="en-US" sz="1550" dirty="0"/>
          </a:p>
        </p:txBody>
      </p:sp>
      <p:sp>
        <p:nvSpPr>
          <p:cNvPr id="8" name="Text 6"/>
          <p:cNvSpPr/>
          <p:nvPr/>
        </p:nvSpPr>
        <p:spPr>
          <a:xfrm>
            <a:off x="457200" y="6446520"/>
            <a:ext cx="6400800" cy="27432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CKA v1.36 · Module 2</a:t>
            </a:r>
            <a:endParaRPr lang="en-US" sz="900" dirty="0"/>
          </a:p>
        </p:txBody>
      </p:sp>
      <p:sp>
        <p:nvSpPr>
          <p:cNvPr id="9" name="Text 7"/>
          <p:cNvSpPr/>
          <p:nvPr/>
        </p:nvSpPr>
        <p:spPr>
          <a:xfrm>
            <a:off x="11247120" y="6446520"/>
            <a:ext cx="4572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20</a:t>
            </a:r>
            <a:endParaRPr lang="en-US" sz="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65760"/>
            <a:ext cx="9144000" cy="320040"/>
          </a:xfrm>
          <a:prstGeom prst="rect">
            <a:avLst/>
          </a:prstGeom>
          <a:noFill/>
          <a:ln/>
        </p:spPr>
        <p:txBody>
          <a:bodyPr wrap="square" lIns="0" tIns="0" rIns="0" bIns="0" rtlCol="0" anchor="ctr"/>
          <a:lstStyle/>
          <a:p>
            <a:pPr indent="0" marL="0">
              <a:buNone/>
            </a:pPr>
            <a:r>
              <a:rPr lang="en-US" sz="1150" b="1" spc="150" kern="0" dirty="0">
                <a:solidFill>
                  <a:srgbClr val="1C7293"/>
                </a:solidFill>
                <a:latin typeface="Calibri" pitchFamily="34" charset="0"/>
                <a:ea typeface="Calibri" pitchFamily="34" charset="-122"/>
                <a:cs typeface="Calibri" pitchFamily="34" charset="-120"/>
              </a:rPr>
              <a:t>POD CONNECTIVITY</a:t>
            </a:r>
            <a:endParaRPr lang="en-US" sz="1150" dirty="0"/>
          </a:p>
        </p:txBody>
      </p:sp>
      <p:sp>
        <p:nvSpPr>
          <p:cNvPr id="3" name="Text 1"/>
          <p:cNvSpPr/>
          <p:nvPr/>
        </p:nvSpPr>
        <p:spPr>
          <a:xfrm>
            <a:off x="640080" y="658368"/>
            <a:ext cx="10881360" cy="685800"/>
          </a:xfrm>
          <a:prstGeom prst="rect">
            <a:avLst/>
          </a:prstGeom>
          <a:noFill/>
          <a:ln/>
        </p:spPr>
        <p:txBody>
          <a:bodyPr wrap="square" lIns="0" tIns="0" rIns="0" bIns="0" rtlCol="0" anchor="ctr"/>
          <a:lstStyle/>
          <a:p>
            <a:pPr indent="0" marL="0">
              <a:buNone/>
            </a:pPr>
            <a:r>
              <a:rPr lang="en-US" sz="2600" b="1" dirty="0">
                <a:solidFill>
                  <a:srgbClr val="21295C"/>
                </a:solidFill>
                <a:latin typeface="Cambria" pitchFamily="34" charset="0"/>
                <a:ea typeface="Cambria" pitchFamily="34" charset="-122"/>
                <a:cs typeface="Cambria" pitchFamily="34" charset="-120"/>
              </a:rPr>
              <a:t>DNS-Based Service Discovery Between Pods</a:t>
            </a:r>
            <a:endParaRPr lang="en-US" sz="2600" dirty="0"/>
          </a:p>
        </p:txBody>
      </p:sp>
      <p:sp>
        <p:nvSpPr>
          <p:cNvPr id="4" name="Shape 2"/>
          <p:cNvSpPr/>
          <p:nvPr/>
        </p:nvSpPr>
        <p:spPr>
          <a:xfrm>
            <a:off x="640080" y="1371600"/>
            <a:ext cx="10881360" cy="0"/>
          </a:xfrm>
          <a:prstGeom prst="line">
            <a:avLst/>
          </a:prstGeom>
          <a:noFill/>
          <a:ln w="12700">
            <a:solidFill>
              <a:srgbClr val="D7E3E8"/>
            </a:solidFill>
            <a:prstDash val="solid"/>
          </a:ln>
        </p:spPr>
      </p:sp>
      <p:sp>
        <p:nvSpPr>
          <p:cNvPr id="5" name="Shape 3"/>
          <p:cNvSpPr/>
          <p:nvPr/>
        </p:nvSpPr>
        <p:spPr>
          <a:xfrm>
            <a:off x="11109960" y="411480"/>
            <a:ext cx="502920" cy="502920"/>
          </a:xfrm>
          <a:prstGeom prst="ellipse">
            <a:avLst/>
          </a:prstGeom>
          <a:solidFill>
            <a:srgbClr val="EAF4F8"/>
          </a:solidFill>
          <a:ln w="15875">
            <a:solidFill>
              <a:srgbClr val="1C7293"/>
            </a:solidFill>
            <a:prstDash val="solid"/>
          </a:ln>
        </p:spPr>
      </p:sp>
      <p:sp>
        <p:nvSpPr>
          <p:cNvPr id="6" name="Text 4"/>
          <p:cNvSpPr/>
          <p:nvPr/>
        </p:nvSpPr>
        <p:spPr>
          <a:xfrm>
            <a:off x="11109960" y="411480"/>
            <a:ext cx="502920" cy="502920"/>
          </a:xfrm>
          <a:prstGeom prst="rect">
            <a:avLst/>
          </a:prstGeom>
          <a:noFill/>
          <a:ln/>
        </p:spPr>
        <p:txBody>
          <a:bodyPr wrap="square" lIns="0" tIns="0" rIns="0" bIns="0" rtlCol="0" anchor="ctr"/>
          <a:lstStyle/>
          <a:p>
            <a:pPr algn="ctr" indent="0" marL="0">
              <a:buNone/>
            </a:pPr>
            <a:r>
              <a:rPr lang="en-US" sz="1600" b="1" dirty="0">
                <a:solidFill>
                  <a:srgbClr val="1C7293"/>
                </a:solidFill>
                <a:latin typeface="Calibri" pitchFamily="34" charset="0"/>
                <a:ea typeface="Calibri" pitchFamily="34" charset="-122"/>
                <a:cs typeface="Calibri" pitchFamily="34" charset="-120"/>
              </a:rPr>
              <a:t>6</a:t>
            </a:r>
            <a:endParaRPr lang="en-US" sz="1600" dirty="0"/>
          </a:p>
        </p:txBody>
      </p:sp>
      <p:sp>
        <p:nvSpPr>
          <p:cNvPr id="7" name="Text 5"/>
          <p:cNvSpPr/>
          <p:nvPr/>
        </p:nvSpPr>
        <p:spPr>
          <a:xfrm>
            <a:off x="640080" y="1600200"/>
            <a:ext cx="5212080" cy="365760"/>
          </a:xfrm>
          <a:prstGeom prst="rect">
            <a:avLst/>
          </a:prstGeom>
          <a:noFill/>
          <a:ln/>
        </p:spPr>
        <p:txBody>
          <a:bodyPr wrap="square" lIns="0" tIns="0" rIns="0" bIns="0" rtlCol="0" anchor="ctr"/>
          <a:lstStyle/>
          <a:p>
            <a:pPr indent="0" marL="0">
              <a:buNone/>
            </a:pPr>
            <a:r>
              <a:rPr lang="en-US" sz="1450" b="1" dirty="0">
                <a:solidFill>
                  <a:srgbClr val="065A82"/>
                </a:solidFill>
                <a:latin typeface="Calibri" pitchFamily="34" charset="0"/>
                <a:ea typeface="Calibri" pitchFamily="34" charset="-122"/>
                <a:cs typeface="Calibri" pitchFamily="34" charset="-120"/>
              </a:rPr>
              <a:t>Same-Namespace Lookup</a:t>
            </a:r>
            <a:endParaRPr lang="en-US" sz="1450" dirty="0"/>
          </a:p>
        </p:txBody>
      </p:sp>
      <p:sp>
        <p:nvSpPr>
          <p:cNvPr id="8" name="Text 6"/>
          <p:cNvSpPr/>
          <p:nvPr/>
        </p:nvSpPr>
        <p:spPr>
          <a:xfrm>
            <a:off x="640080" y="2011680"/>
            <a:ext cx="5212080" cy="3931920"/>
          </a:xfrm>
          <a:prstGeom prst="rect">
            <a:avLst/>
          </a:prstGeom>
          <a:noFill/>
          <a:ln/>
        </p:spPr>
        <p:txBody>
          <a:bodyPr wrap="square" lIns="0" tIns="0" rIns="0" bIns="0" rtlCol="0" anchor="t"/>
          <a:lstStyle/>
          <a:p>
            <a:pPr marL="342900" indent="-342900">
              <a:spcAft>
                <a:spcPts val="1000"/>
              </a:spcAft>
              <a:buSzPct val="100000"/>
              <a:buChar char="•"/>
            </a:pPr>
            <a:r>
              <a:rPr lang="en-US" sz="1400" dirty="0">
                <a:solidFill>
                  <a:srgbClr val="1E293B"/>
                </a:solidFill>
                <a:latin typeface="Calibri" pitchFamily="34" charset="0"/>
                <a:ea typeface="Calibri" pitchFamily="34" charset="-122"/>
                <a:cs typeface="Calibri" pitchFamily="34" charset="-120"/>
              </a:rPr>
              <a:t>curl http://my-service — short name resolves within the same namespace</a:t>
            </a:r>
            <a:endParaRPr lang="en-US" sz="1400" dirty="0"/>
          </a:p>
          <a:p>
            <a:pPr marL="342900" indent="-342900">
              <a:spcAft>
                <a:spcPts val="1000"/>
              </a:spcAft>
              <a:buSzPct val="100000"/>
              <a:buChar char="•"/>
            </a:pPr>
            <a:r>
              <a:rPr lang="en-US" sz="1400" dirty="0">
                <a:solidFill>
                  <a:srgbClr val="1E293B"/>
                </a:solidFill>
                <a:latin typeface="Calibri" pitchFamily="34" charset="0"/>
                <a:ea typeface="Calibri" pitchFamily="34" charset="-122"/>
                <a:cs typeface="Calibri" pitchFamily="34" charset="-120"/>
              </a:rPr>
              <a:t>Resolved by CoreDNS, the cluster's internal DNS server</a:t>
            </a:r>
            <a:endParaRPr lang="en-US" sz="1400" dirty="0"/>
          </a:p>
        </p:txBody>
      </p:sp>
      <p:sp>
        <p:nvSpPr>
          <p:cNvPr id="9" name="Text 7"/>
          <p:cNvSpPr/>
          <p:nvPr/>
        </p:nvSpPr>
        <p:spPr>
          <a:xfrm>
            <a:off x="6309360" y="1600200"/>
            <a:ext cx="5212080" cy="365760"/>
          </a:xfrm>
          <a:prstGeom prst="rect">
            <a:avLst/>
          </a:prstGeom>
          <a:noFill/>
          <a:ln/>
        </p:spPr>
        <p:txBody>
          <a:bodyPr wrap="square" lIns="0" tIns="0" rIns="0" bIns="0" rtlCol="0" anchor="ctr"/>
          <a:lstStyle/>
          <a:p>
            <a:pPr indent="0" marL="0">
              <a:buNone/>
            </a:pPr>
            <a:r>
              <a:rPr lang="en-US" sz="1450" b="1" dirty="0">
                <a:solidFill>
                  <a:srgbClr val="065A82"/>
                </a:solidFill>
                <a:latin typeface="Calibri" pitchFamily="34" charset="0"/>
                <a:ea typeface="Calibri" pitchFamily="34" charset="-122"/>
                <a:cs typeface="Calibri" pitchFamily="34" charset="-120"/>
              </a:rPr>
              <a:t>Cross-Namespace Lookup</a:t>
            </a:r>
            <a:endParaRPr lang="en-US" sz="1450" dirty="0"/>
          </a:p>
        </p:txBody>
      </p:sp>
      <p:sp>
        <p:nvSpPr>
          <p:cNvPr id="10" name="Text 8"/>
          <p:cNvSpPr/>
          <p:nvPr/>
        </p:nvSpPr>
        <p:spPr>
          <a:xfrm>
            <a:off x="6309360" y="2011680"/>
            <a:ext cx="5212080" cy="3931920"/>
          </a:xfrm>
          <a:prstGeom prst="rect">
            <a:avLst/>
          </a:prstGeom>
          <a:noFill/>
          <a:ln/>
        </p:spPr>
        <p:txBody>
          <a:bodyPr wrap="square" lIns="0" tIns="0" rIns="0" bIns="0" rtlCol="0" anchor="t"/>
          <a:lstStyle/>
          <a:p>
            <a:pPr marL="342900" indent="-342900">
              <a:spcAft>
                <a:spcPts val="1000"/>
              </a:spcAft>
              <a:buSzPct val="100000"/>
              <a:buChar char="•"/>
            </a:pPr>
            <a:r>
              <a:rPr lang="en-US" sz="1400" dirty="0">
                <a:solidFill>
                  <a:srgbClr val="1E293B"/>
                </a:solidFill>
                <a:latin typeface="Calibri" pitchFamily="34" charset="0"/>
                <a:ea typeface="Calibri" pitchFamily="34" charset="-122"/>
                <a:cs typeface="Calibri" pitchFamily="34" charset="-120"/>
              </a:rPr>
              <a:t>curl http://my-service.other-namespace</a:t>
            </a:r>
            <a:endParaRPr lang="en-US" sz="1400" dirty="0"/>
          </a:p>
          <a:p>
            <a:pPr marL="342900" indent="-342900">
              <a:spcAft>
                <a:spcPts val="1000"/>
              </a:spcAft>
              <a:buSzPct val="100000"/>
              <a:buChar char="•"/>
            </a:pPr>
            <a:r>
              <a:rPr lang="en-US" sz="1400" dirty="0">
                <a:solidFill>
                  <a:srgbClr val="1E293B"/>
                </a:solidFill>
                <a:latin typeface="Calibri" pitchFamily="34" charset="0"/>
                <a:ea typeface="Calibri" pitchFamily="34" charset="-122"/>
                <a:cs typeface="Calibri" pitchFamily="34" charset="-120"/>
              </a:rPr>
              <a:t>Full FQDN: my-service.other-namespace.svc.cluster.local</a:t>
            </a:r>
            <a:endParaRPr lang="en-US" sz="1400" dirty="0"/>
          </a:p>
          <a:p>
            <a:pPr marL="342900" indent="-342900">
              <a:spcAft>
                <a:spcPts val="1000"/>
              </a:spcAft>
              <a:buSzPct val="100000"/>
              <a:buChar char="•"/>
            </a:pPr>
            <a:r>
              <a:rPr lang="en-US" sz="1400" dirty="0">
                <a:solidFill>
                  <a:srgbClr val="1E293B"/>
                </a:solidFill>
                <a:latin typeface="Calibri" pitchFamily="34" charset="0"/>
                <a:ea typeface="Calibri" pitchFamily="34" charset="-122"/>
                <a:cs typeface="Calibri" pitchFamily="34" charset="-120"/>
              </a:rPr>
              <a:t>The 5-part FQDN form always works regardless of which namespace you're calling from</a:t>
            </a:r>
            <a:endParaRPr lang="en-US" sz="1400" dirty="0"/>
          </a:p>
        </p:txBody>
      </p:sp>
      <p:sp>
        <p:nvSpPr>
          <p:cNvPr id="11" name="Text 9"/>
          <p:cNvSpPr/>
          <p:nvPr/>
        </p:nvSpPr>
        <p:spPr>
          <a:xfrm>
            <a:off x="457200" y="6446520"/>
            <a:ext cx="6400800" cy="27432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CKA v1.36 · Module 2</a:t>
            </a:r>
            <a:endParaRPr lang="en-US" sz="900" dirty="0"/>
          </a:p>
        </p:txBody>
      </p:sp>
      <p:sp>
        <p:nvSpPr>
          <p:cNvPr id="12" name="Text 10"/>
          <p:cNvSpPr/>
          <p:nvPr/>
        </p:nvSpPr>
        <p:spPr>
          <a:xfrm>
            <a:off x="11247120" y="6446520"/>
            <a:ext cx="4572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21</a:t>
            </a:r>
            <a:endParaRPr lang="en-US" sz="9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65760"/>
            <a:ext cx="9144000" cy="320040"/>
          </a:xfrm>
          <a:prstGeom prst="rect">
            <a:avLst/>
          </a:prstGeom>
          <a:noFill/>
          <a:ln/>
        </p:spPr>
        <p:txBody>
          <a:bodyPr wrap="square" lIns="0" tIns="0" rIns="0" bIns="0" rtlCol="0" anchor="ctr"/>
          <a:lstStyle/>
          <a:p>
            <a:pPr indent="0" marL="0">
              <a:buNone/>
            </a:pPr>
            <a:r>
              <a:rPr lang="en-US" sz="1150" b="1" spc="150" kern="0" dirty="0">
                <a:solidFill>
                  <a:srgbClr val="1C7293"/>
                </a:solidFill>
                <a:latin typeface="Calibri" pitchFamily="34" charset="0"/>
                <a:ea typeface="Calibri" pitchFamily="34" charset="-122"/>
                <a:cs typeface="Calibri" pitchFamily="34" charset="-120"/>
              </a:rPr>
              <a:t>POD CONNECTIVITY</a:t>
            </a:r>
            <a:endParaRPr lang="en-US" sz="1150" dirty="0"/>
          </a:p>
        </p:txBody>
      </p:sp>
      <p:sp>
        <p:nvSpPr>
          <p:cNvPr id="3" name="Text 1"/>
          <p:cNvSpPr/>
          <p:nvPr/>
        </p:nvSpPr>
        <p:spPr>
          <a:xfrm>
            <a:off x="640080" y="658368"/>
            <a:ext cx="10881360" cy="548640"/>
          </a:xfrm>
          <a:prstGeom prst="rect">
            <a:avLst/>
          </a:prstGeom>
          <a:noFill/>
          <a:ln/>
        </p:spPr>
        <p:txBody>
          <a:bodyPr wrap="square" lIns="0" tIns="0" rIns="0" bIns="0" rtlCol="0" anchor="ctr"/>
          <a:lstStyle/>
          <a:p>
            <a:pPr indent="0" marL="0">
              <a:buNone/>
            </a:pPr>
            <a:r>
              <a:rPr lang="en-US" sz="2400" b="1" dirty="0">
                <a:solidFill>
                  <a:srgbClr val="21295C"/>
                </a:solidFill>
                <a:latin typeface="Cambria" pitchFamily="34" charset="0"/>
                <a:ea typeface="Cambria" pitchFamily="34" charset="-122"/>
                <a:cs typeface="Cambria" pitchFamily="34" charset="-120"/>
              </a:rPr>
              <a:t>Diagnosing Pod-to-Pod Connectivity, Step by Step</a:t>
            </a:r>
            <a:endParaRPr lang="en-US" sz="2400" dirty="0"/>
          </a:p>
        </p:txBody>
      </p:sp>
      <p:sp>
        <p:nvSpPr>
          <p:cNvPr id="4" name="Text 2"/>
          <p:cNvSpPr/>
          <p:nvPr/>
        </p:nvSpPr>
        <p:spPr>
          <a:xfrm>
            <a:off x="640080" y="1143000"/>
            <a:ext cx="10881360" cy="411480"/>
          </a:xfrm>
          <a:prstGeom prst="rect">
            <a:avLst/>
          </a:prstGeom>
          <a:noFill/>
          <a:ln/>
        </p:spPr>
        <p:txBody>
          <a:bodyPr wrap="square" lIns="0" tIns="0" rIns="0" bIns="0" rtlCol="0" anchor="ctr"/>
          <a:lstStyle/>
          <a:p>
            <a:pPr indent="0" marL="0">
              <a:buNone/>
            </a:pPr>
            <a:r>
              <a:rPr lang="en-US" sz="1350" i="1" dirty="0">
                <a:solidFill>
                  <a:srgbClr val="64748B"/>
                </a:solidFill>
                <a:latin typeface="Calibri" pitchFamily="34" charset="0"/>
                <a:ea typeface="Calibri" pitchFamily="34" charset="-122"/>
                <a:cs typeface="Calibri" pitchFamily="34" charset="-120"/>
              </a:rPr>
              <a:t>The exam-standard troubleshooting order — work top to bottom.</a:t>
            </a:r>
            <a:endParaRPr lang="en-US" sz="1350" dirty="0"/>
          </a:p>
        </p:txBody>
      </p:sp>
      <p:sp>
        <p:nvSpPr>
          <p:cNvPr id="5" name="Shape 3"/>
          <p:cNvSpPr/>
          <p:nvPr/>
        </p:nvSpPr>
        <p:spPr>
          <a:xfrm>
            <a:off x="640080" y="1645920"/>
            <a:ext cx="10881360" cy="3502152"/>
          </a:xfrm>
          <a:prstGeom prst="roundRect">
            <a:avLst>
              <a:gd name="adj" fmla="val 1567"/>
            </a:avLst>
          </a:prstGeom>
          <a:solidFill>
            <a:srgbClr val="0B2330"/>
          </a:solidFill>
          <a:ln/>
          <a:effectLst>
            <a:outerShdw sx="100000" sy="100000" kx="0" ky="0" algn="bl" rotWithShape="0" blurRad="88900" dist="25400" dir="2700000">
              <a:srgbClr val="1B2A36">
                <a:alpha val="12000"/>
              </a:srgbClr>
            </a:outerShdw>
          </a:effectLst>
        </p:spPr>
      </p:sp>
      <p:sp>
        <p:nvSpPr>
          <p:cNvPr id="6" name="Text 4"/>
          <p:cNvSpPr/>
          <p:nvPr/>
        </p:nvSpPr>
        <p:spPr>
          <a:xfrm>
            <a:off x="868680" y="1810512"/>
            <a:ext cx="10424160" cy="3172968"/>
          </a:xfrm>
          <a:prstGeom prst="rect">
            <a:avLst/>
          </a:prstGeom>
          <a:noFill/>
          <a:ln/>
        </p:spPr>
        <p:txBody>
          <a:bodyPr wrap="square" lIns="0" tIns="0" rIns="0" bIns="0" rtlCol="0" anchor="t"/>
          <a:lstStyle/>
          <a:p>
            <a:pPr indent="0" marL="0">
              <a:buNone/>
            </a:pPr>
            <a:r>
              <a:rPr lang="en-US" sz="1350" dirty="0">
                <a:solidFill>
                  <a:srgbClr val="CFEFEA"/>
                </a:solidFill>
                <a:latin typeface="Courier New" pitchFamily="34" charset="0"/>
                <a:ea typeface="Courier New" pitchFamily="34" charset="-122"/>
                <a:cs typeface="Courier New" pitchFamily="34" charset="-120"/>
              </a:rPr>
              <a:t># 1. Can the source Pod resolve the target Service's DNS name?</a:t>
            </a:r>
            <a:endParaRPr lang="en-US" sz="1350" dirty="0"/>
          </a:p>
          <a:p>
            <a:pPr indent="0" marL="0">
              <a:buNone/>
            </a:pPr>
            <a:r>
              <a:rPr lang="en-US" sz="1350" dirty="0">
                <a:solidFill>
                  <a:srgbClr val="CFEFEA"/>
                </a:solidFill>
                <a:latin typeface="Courier New" pitchFamily="34" charset="0"/>
                <a:ea typeface="Courier New" pitchFamily="34" charset="-122"/>
                <a:cs typeface="Courier New" pitchFamily="34" charset="-120"/>
              </a:rPr>
              <a:t>kubectl exec -it pod-a -- nslookup my-service</a:t>
            </a:r>
            <a:endParaRPr lang="en-US" sz="1350" dirty="0"/>
          </a:p>
          <a:p>
            <a:pPr indent="0" marL="0">
              <a:buNone/>
            </a:pPr>
            <a:endParaRPr lang="en-US" sz="1350" dirty="0"/>
          </a:p>
          <a:p>
            <a:pPr indent="0" marL="0">
              <a:buNone/>
            </a:pPr>
            <a:r>
              <a:rPr lang="en-US" sz="1350" dirty="0">
                <a:solidFill>
                  <a:srgbClr val="CFEFEA"/>
                </a:solidFill>
                <a:latin typeface="Courier New" pitchFamily="34" charset="0"/>
                <a:ea typeface="Courier New" pitchFamily="34" charset="-122"/>
                <a:cs typeface="Courier New" pitchFamily="34" charset="-120"/>
              </a:rPr>
              <a:t># 2. Can the source Pod reach the target Service's ClusterIP directly?</a:t>
            </a:r>
            <a:endParaRPr lang="en-US" sz="1350" dirty="0"/>
          </a:p>
          <a:p>
            <a:pPr indent="0" marL="0">
              <a:buNone/>
            </a:pPr>
            <a:r>
              <a:rPr lang="en-US" sz="1350" dirty="0">
                <a:solidFill>
                  <a:srgbClr val="CFEFEA"/>
                </a:solidFill>
                <a:latin typeface="Courier New" pitchFamily="34" charset="0"/>
                <a:ea typeface="Courier New" pitchFamily="34" charset="-122"/>
                <a:cs typeface="Courier New" pitchFamily="34" charset="-120"/>
              </a:rPr>
              <a:t>kubectl exec -it pod-a -- curl -v http://&lt;cluster-ip&gt;:&lt;port&gt;</a:t>
            </a:r>
            <a:endParaRPr lang="en-US" sz="1350" dirty="0"/>
          </a:p>
          <a:p>
            <a:pPr indent="0" marL="0">
              <a:buNone/>
            </a:pPr>
            <a:endParaRPr lang="en-US" sz="1350" dirty="0"/>
          </a:p>
          <a:p>
            <a:pPr indent="0" marL="0">
              <a:buNone/>
            </a:pPr>
            <a:r>
              <a:rPr lang="en-US" sz="1350" dirty="0">
                <a:solidFill>
                  <a:srgbClr val="CFEFEA"/>
                </a:solidFill>
                <a:latin typeface="Courier New" pitchFamily="34" charset="0"/>
                <a:ea typeface="Courier New" pitchFamily="34" charset="-122"/>
                <a:cs typeface="Courier New" pitchFamily="34" charset="-120"/>
              </a:rPr>
              <a:t># 3. Does the Service actually have healthy Endpoints?</a:t>
            </a:r>
            <a:endParaRPr lang="en-US" sz="1350" dirty="0"/>
          </a:p>
          <a:p>
            <a:pPr indent="0" marL="0">
              <a:buNone/>
            </a:pPr>
            <a:r>
              <a:rPr lang="en-US" sz="1350" dirty="0">
                <a:solidFill>
                  <a:srgbClr val="CFEFEA"/>
                </a:solidFill>
                <a:latin typeface="Courier New" pitchFamily="34" charset="0"/>
                <a:ea typeface="Courier New" pitchFamily="34" charset="-122"/>
                <a:cs typeface="Courier New" pitchFamily="34" charset="-120"/>
              </a:rPr>
              <a:t>kubectl get endpoints my-service</a:t>
            </a:r>
            <a:endParaRPr lang="en-US" sz="1350" dirty="0"/>
          </a:p>
          <a:p>
            <a:pPr indent="0" marL="0">
              <a:buNone/>
            </a:pPr>
            <a:endParaRPr lang="en-US" sz="1350" dirty="0"/>
          </a:p>
          <a:p>
            <a:pPr indent="0" marL="0">
              <a:buNone/>
            </a:pPr>
            <a:r>
              <a:rPr lang="en-US" sz="1350" dirty="0">
                <a:solidFill>
                  <a:srgbClr val="CFEFEA"/>
                </a:solidFill>
                <a:latin typeface="Courier New" pitchFamily="34" charset="0"/>
                <a:ea typeface="Courier New" pitchFamily="34" charset="-122"/>
                <a:cs typeface="Courier New" pitchFamily="34" charset="-120"/>
              </a:rPr>
              <a:t># 4. Is a NetworkPolicy blocking the traffic?</a:t>
            </a:r>
            <a:endParaRPr lang="en-US" sz="1350" dirty="0"/>
          </a:p>
          <a:p>
            <a:pPr indent="0" marL="0">
              <a:buNone/>
            </a:pPr>
            <a:r>
              <a:rPr lang="en-US" sz="1350" dirty="0">
                <a:solidFill>
                  <a:srgbClr val="CFEFEA"/>
                </a:solidFill>
                <a:latin typeface="Courier New" pitchFamily="34" charset="0"/>
                <a:ea typeface="Courier New" pitchFamily="34" charset="-122"/>
                <a:cs typeface="Courier New" pitchFamily="34" charset="-120"/>
              </a:rPr>
              <a:t>kubectl get networkpolicy -A</a:t>
            </a:r>
            <a:endParaRPr lang="en-US" sz="1350" dirty="0"/>
          </a:p>
          <a:p>
            <a:pPr indent="0" marL="0">
              <a:buNone/>
            </a:pPr>
            <a:endParaRPr lang="en-US" sz="1350" dirty="0"/>
          </a:p>
          <a:p>
            <a:pPr indent="0" marL="0">
              <a:buNone/>
            </a:pPr>
            <a:r>
              <a:rPr lang="en-US" sz="1350" dirty="0">
                <a:solidFill>
                  <a:srgbClr val="CFEFEA"/>
                </a:solidFill>
                <a:latin typeface="Courier New" pitchFamily="34" charset="0"/>
                <a:ea typeface="Courier New" pitchFamily="34" charset="-122"/>
                <a:cs typeface="Courier New" pitchFamily="34" charset="-120"/>
              </a:rPr>
              <a:t># 5. Can the two Pods reach each other directly, bypassing the Service?</a:t>
            </a:r>
            <a:endParaRPr lang="en-US" sz="1350" dirty="0"/>
          </a:p>
          <a:p>
            <a:pPr indent="0" marL="0">
              <a:buNone/>
            </a:pPr>
            <a:r>
              <a:rPr lang="en-US" sz="1350" dirty="0">
                <a:solidFill>
                  <a:srgbClr val="CFEFEA"/>
                </a:solidFill>
                <a:latin typeface="Courier New" pitchFamily="34" charset="0"/>
                <a:ea typeface="Courier New" pitchFamily="34" charset="-122"/>
                <a:cs typeface="Courier New" pitchFamily="34" charset="-120"/>
              </a:rPr>
              <a:t>kubectl exec -it pod-a -- curl -v http://&lt;pod-b-ip&gt;:&lt;port&gt;</a:t>
            </a:r>
            <a:endParaRPr lang="en-US" sz="1350" dirty="0"/>
          </a:p>
        </p:txBody>
      </p:sp>
      <p:sp>
        <p:nvSpPr>
          <p:cNvPr id="7" name="Text 5"/>
          <p:cNvSpPr/>
          <p:nvPr/>
        </p:nvSpPr>
        <p:spPr>
          <a:xfrm>
            <a:off x="640080" y="5376672"/>
            <a:ext cx="10881360" cy="1024128"/>
          </a:xfrm>
          <a:prstGeom prst="rect">
            <a:avLst/>
          </a:prstGeom>
          <a:noFill/>
          <a:ln/>
        </p:spPr>
        <p:txBody>
          <a:bodyPr wrap="square" lIns="0" tIns="0" rIns="0" bIns="0" rtlCol="0" anchor="t"/>
          <a:lstStyle/>
          <a:p>
            <a:pPr marL="342900" indent="-342900">
              <a:spcAft>
                <a:spcPts val="500"/>
              </a:spcAft>
              <a:buSzPct val="100000"/>
              <a:buChar char="•"/>
            </a:pPr>
            <a:r>
              <a:rPr lang="en-US" sz="1200" dirty="0">
                <a:solidFill>
                  <a:srgbClr val="1E293B"/>
                </a:solidFill>
                <a:latin typeface="Calibri" pitchFamily="34" charset="0"/>
                <a:ea typeface="Calibri" pitchFamily="34" charset="-122"/>
                <a:cs typeface="Calibri" pitchFamily="34" charset="-120"/>
              </a:rPr>
              <a:t>If step 5 (direct Pod IP) fails but step 2 doesn't even apply, the problem is the CNI/network layer itself, not Services or DNS.</a:t>
            </a:r>
            <a:endParaRPr lang="en-US" sz="1200" dirty="0"/>
          </a:p>
          <a:p>
            <a:pPr marL="342900" indent="-342900">
              <a:spcAft>
                <a:spcPts val="500"/>
              </a:spcAft>
              <a:buSzPct val="100000"/>
              <a:buChar char="•"/>
            </a:pPr>
            <a:r>
              <a:rPr lang="en-US" sz="1200" dirty="0">
                <a:solidFill>
                  <a:srgbClr val="1E293B"/>
                </a:solidFill>
                <a:latin typeface="Calibri" pitchFamily="34" charset="0"/>
                <a:ea typeface="Calibri" pitchFamily="34" charset="-122"/>
                <a:cs typeface="Calibri" pitchFamily="34" charset="-120"/>
              </a:rPr>
              <a:t>If Endpoints in step 3 is empty, the Service's selector doesn't match any Pod's labels — the single most common Service misconfiguration on the exam.</a:t>
            </a:r>
            <a:endParaRPr lang="en-US" sz="1200" dirty="0"/>
          </a:p>
        </p:txBody>
      </p:sp>
      <p:sp>
        <p:nvSpPr>
          <p:cNvPr id="8" name="Text 6"/>
          <p:cNvSpPr/>
          <p:nvPr/>
        </p:nvSpPr>
        <p:spPr>
          <a:xfrm>
            <a:off x="457200" y="6446520"/>
            <a:ext cx="6400800" cy="27432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CKA v1.36 · Module 2</a:t>
            </a:r>
            <a:endParaRPr lang="en-US" sz="900" dirty="0"/>
          </a:p>
        </p:txBody>
      </p:sp>
      <p:sp>
        <p:nvSpPr>
          <p:cNvPr id="9" name="Text 7"/>
          <p:cNvSpPr/>
          <p:nvPr/>
        </p:nvSpPr>
        <p:spPr>
          <a:xfrm>
            <a:off x="11247120" y="6446520"/>
            <a:ext cx="4572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22</a:t>
            </a:r>
            <a:endParaRPr lang="en-US" sz="9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365760"/>
            <a:ext cx="2468880" cy="384048"/>
          </a:xfrm>
          <a:prstGeom prst="roundRect">
            <a:avLst>
              <a:gd name="adj" fmla="val 50000"/>
            </a:avLst>
          </a:prstGeom>
          <a:solidFill>
            <a:srgbClr val="21295C"/>
          </a:solidFill>
          <a:ln/>
        </p:spPr>
      </p:sp>
      <p:sp>
        <p:nvSpPr>
          <p:cNvPr id="3" name="Text 1"/>
          <p:cNvSpPr/>
          <p:nvPr/>
        </p:nvSpPr>
        <p:spPr>
          <a:xfrm>
            <a:off x="640080" y="365760"/>
            <a:ext cx="2468880" cy="384048"/>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EXAM PATTERN 5</a:t>
            </a:r>
            <a:endParaRPr lang="en-US" sz="1150" dirty="0"/>
          </a:p>
        </p:txBody>
      </p:sp>
      <p:sp>
        <p:nvSpPr>
          <p:cNvPr id="4" name="Text 2"/>
          <p:cNvSpPr/>
          <p:nvPr/>
        </p:nvSpPr>
        <p:spPr>
          <a:xfrm>
            <a:off x="3246120" y="365760"/>
            <a:ext cx="8229600" cy="384048"/>
          </a:xfrm>
          <a:prstGeom prst="rect">
            <a:avLst/>
          </a:prstGeom>
          <a:noFill/>
          <a:ln/>
        </p:spPr>
        <p:txBody>
          <a:bodyPr wrap="square" lIns="0" tIns="0" rIns="0" bIns="0" rtlCol="0" anchor="ctr"/>
          <a:lstStyle/>
          <a:p>
            <a:pPr indent="0" marL="0">
              <a:buNone/>
            </a:pPr>
            <a:r>
              <a:rPr lang="en-US" sz="1100" b="1" spc="120" kern="0" dirty="0">
                <a:solidFill>
                  <a:srgbClr val="1C7293"/>
                </a:solidFill>
                <a:latin typeface="Calibri" pitchFamily="34" charset="0"/>
                <a:ea typeface="Calibri" pitchFamily="34" charset="-122"/>
                <a:cs typeface="Calibri" pitchFamily="34" charset="-120"/>
              </a:rPr>
              <a:t>POD CONNECTIVITY</a:t>
            </a:r>
            <a:endParaRPr lang="en-US" sz="1100" dirty="0"/>
          </a:p>
        </p:txBody>
      </p:sp>
      <p:sp>
        <p:nvSpPr>
          <p:cNvPr id="5" name="Text 3"/>
          <p:cNvSpPr/>
          <p:nvPr/>
        </p:nvSpPr>
        <p:spPr>
          <a:xfrm>
            <a:off x="640080" y="841248"/>
            <a:ext cx="10881360" cy="502920"/>
          </a:xfrm>
          <a:prstGeom prst="rect">
            <a:avLst/>
          </a:prstGeom>
          <a:noFill/>
          <a:ln/>
        </p:spPr>
        <p:txBody>
          <a:bodyPr wrap="square" lIns="0" tIns="0" rIns="0" bIns="0" rtlCol="0" anchor="ctr"/>
          <a:lstStyle/>
          <a:p>
            <a:pPr indent="0" marL="0">
              <a:buNone/>
            </a:pPr>
            <a:r>
              <a:rPr lang="en-US" sz="2100" b="1" dirty="0">
                <a:solidFill>
                  <a:srgbClr val="21295C"/>
                </a:solidFill>
                <a:latin typeface="Cambria" pitchFamily="34" charset="0"/>
                <a:ea typeface="Cambria" pitchFamily="34" charset="-122"/>
                <a:cs typeface="Cambria" pitchFamily="34" charset="-120"/>
              </a:rPr>
              <a:t>Service Has No Endpoints</a:t>
            </a:r>
            <a:endParaRPr lang="en-US" sz="2100" dirty="0"/>
          </a:p>
        </p:txBody>
      </p:sp>
      <p:sp>
        <p:nvSpPr>
          <p:cNvPr id="6" name="Shape 4"/>
          <p:cNvSpPr/>
          <p:nvPr/>
        </p:nvSpPr>
        <p:spPr>
          <a:xfrm>
            <a:off x="640080" y="1463040"/>
            <a:ext cx="10881360" cy="960120"/>
          </a:xfrm>
          <a:prstGeom prst="roundRect">
            <a:avLst>
              <a:gd name="adj" fmla="val 5714"/>
            </a:avLst>
          </a:prstGeom>
          <a:solidFill>
            <a:srgbClr val="EAF4F8"/>
          </a:solidFill>
          <a:ln/>
        </p:spPr>
      </p:sp>
      <p:sp>
        <p:nvSpPr>
          <p:cNvPr id="7" name="Text 5"/>
          <p:cNvSpPr/>
          <p:nvPr/>
        </p:nvSpPr>
        <p:spPr>
          <a:xfrm>
            <a:off x="868680" y="1554480"/>
            <a:ext cx="2743200" cy="274320"/>
          </a:xfrm>
          <a:prstGeom prst="rect">
            <a:avLst/>
          </a:prstGeom>
          <a:noFill/>
          <a:ln/>
        </p:spPr>
        <p:txBody>
          <a:bodyPr wrap="square" lIns="0" tIns="0" rIns="0" bIns="0" rtlCol="0" anchor="ctr"/>
          <a:lstStyle/>
          <a:p>
            <a:pPr indent="0" marL="0">
              <a:buNone/>
            </a:pPr>
            <a:r>
              <a:rPr lang="en-US" sz="1050" b="1" spc="100" kern="0" dirty="0">
                <a:solidFill>
                  <a:srgbClr val="1C7293"/>
                </a:solidFill>
                <a:latin typeface="Calibri" pitchFamily="34" charset="0"/>
                <a:ea typeface="Calibri" pitchFamily="34" charset="-122"/>
                <a:cs typeface="Calibri" pitchFamily="34" charset="-120"/>
              </a:rPr>
              <a:t>SYMPTOM / SCENARIO</a:t>
            </a:r>
            <a:endParaRPr lang="en-US" sz="1050" dirty="0"/>
          </a:p>
        </p:txBody>
      </p:sp>
      <p:sp>
        <p:nvSpPr>
          <p:cNvPr id="8" name="Text 6"/>
          <p:cNvSpPr/>
          <p:nvPr/>
        </p:nvSpPr>
        <p:spPr>
          <a:xfrm>
            <a:off x="868680" y="1810512"/>
            <a:ext cx="10424160" cy="548640"/>
          </a:xfrm>
          <a:prstGeom prst="rect">
            <a:avLst/>
          </a:prstGeom>
          <a:noFill/>
          <a:ln/>
        </p:spPr>
        <p:txBody>
          <a:bodyPr wrap="square" lIns="0" tIns="0" rIns="0" bIns="0" rtlCol="0" anchor="t"/>
          <a:lstStyle/>
          <a:p>
            <a:pPr indent="0" marL="0">
              <a:buNone/>
            </a:pPr>
            <a:r>
              <a:rPr lang="en-US" sz="1300" dirty="0">
                <a:solidFill>
                  <a:srgbClr val="1E293B"/>
                </a:solidFill>
                <a:latin typeface="Calibri" pitchFamily="34" charset="0"/>
                <a:ea typeface="Calibri" pitchFamily="34" charset="-122"/>
                <a:cs typeface="Calibri" pitchFamily="34" charset="-120"/>
              </a:rPr>
              <a:t>kubectl get endpoints my-service returns &lt;none&gt;, and every request to the Service times out, even though the backing Pods are Running and healthy.</a:t>
            </a:r>
            <a:endParaRPr lang="en-US" sz="1300" dirty="0"/>
          </a:p>
        </p:txBody>
      </p:sp>
      <p:sp>
        <p:nvSpPr>
          <p:cNvPr id="9" name="Shape 7"/>
          <p:cNvSpPr/>
          <p:nvPr/>
        </p:nvSpPr>
        <p:spPr>
          <a:xfrm>
            <a:off x="640080" y="2587752"/>
            <a:ext cx="10881360" cy="914400"/>
          </a:xfrm>
          <a:prstGeom prst="roundRect">
            <a:avLst>
              <a:gd name="adj" fmla="val 6000"/>
            </a:avLst>
          </a:prstGeom>
          <a:solidFill>
            <a:srgbClr val="FBF3E3"/>
          </a:solidFill>
          <a:ln/>
        </p:spPr>
      </p:sp>
      <p:sp>
        <p:nvSpPr>
          <p:cNvPr id="10" name="Text 8"/>
          <p:cNvSpPr/>
          <p:nvPr/>
        </p:nvSpPr>
        <p:spPr>
          <a:xfrm>
            <a:off x="868680" y="2679192"/>
            <a:ext cx="2743200" cy="274320"/>
          </a:xfrm>
          <a:prstGeom prst="rect">
            <a:avLst/>
          </a:prstGeom>
          <a:noFill/>
          <a:ln/>
        </p:spPr>
        <p:txBody>
          <a:bodyPr wrap="square" lIns="0" tIns="0" rIns="0" bIns="0" rtlCol="0" anchor="ctr"/>
          <a:lstStyle/>
          <a:p>
            <a:pPr indent="0" marL="0">
              <a:buNone/>
            </a:pPr>
            <a:r>
              <a:rPr lang="en-US" sz="1050" b="1" spc="100" kern="0" dirty="0">
                <a:solidFill>
                  <a:srgbClr val="B7791F"/>
                </a:solidFill>
                <a:latin typeface="Calibri" pitchFamily="34" charset="0"/>
                <a:ea typeface="Calibri" pitchFamily="34" charset="-122"/>
                <a:cs typeface="Calibri" pitchFamily="34" charset="-120"/>
              </a:rPr>
              <a:t>ROOT CAUSE</a:t>
            </a:r>
            <a:endParaRPr lang="en-US" sz="1050" dirty="0"/>
          </a:p>
        </p:txBody>
      </p:sp>
      <p:sp>
        <p:nvSpPr>
          <p:cNvPr id="11" name="Text 9"/>
          <p:cNvSpPr/>
          <p:nvPr/>
        </p:nvSpPr>
        <p:spPr>
          <a:xfrm>
            <a:off x="868680" y="2935224"/>
            <a:ext cx="10424160" cy="502920"/>
          </a:xfrm>
          <a:prstGeom prst="rect">
            <a:avLst/>
          </a:prstGeom>
          <a:noFill/>
          <a:ln/>
        </p:spPr>
        <p:txBody>
          <a:bodyPr wrap="square" lIns="0" tIns="0" rIns="0" bIns="0" rtlCol="0" anchor="t"/>
          <a:lstStyle/>
          <a:p>
            <a:pPr indent="0" marL="0">
              <a:buNone/>
            </a:pPr>
            <a:r>
              <a:rPr lang="en-US" sz="1300" dirty="0">
                <a:solidFill>
                  <a:srgbClr val="1E293B"/>
                </a:solidFill>
                <a:latin typeface="Calibri" pitchFamily="34" charset="0"/>
                <a:ea typeface="Calibri" pitchFamily="34" charset="-122"/>
                <a:cs typeface="Calibri" pitchFamily="34" charset="-120"/>
              </a:rPr>
              <a:t>The Service's spec.selector does not match the labels on any running Pod — a typo, a missing label, or a selector that's simply pointed at the wrong app.</a:t>
            </a:r>
            <a:endParaRPr lang="en-US" sz="1300" dirty="0"/>
          </a:p>
        </p:txBody>
      </p:sp>
      <p:sp>
        <p:nvSpPr>
          <p:cNvPr id="12" name="Shape 10"/>
          <p:cNvSpPr/>
          <p:nvPr/>
        </p:nvSpPr>
        <p:spPr>
          <a:xfrm>
            <a:off x="640080" y="3666744"/>
            <a:ext cx="10881360" cy="1417320"/>
          </a:xfrm>
          <a:prstGeom prst="roundRect">
            <a:avLst>
              <a:gd name="adj" fmla="val 3871"/>
            </a:avLst>
          </a:prstGeom>
          <a:solidFill>
            <a:srgbClr val="E7F5EC"/>
          </a:solidFill>
          <a:ln/>
        </p:spPr>
      </p:sp>
      <p:sp>
        <p:nvSpPr>
          <p:cNvPr id="13" name="Text 11"/>
          <p:cNvSpPr/>
          <p:nvPr/>
        </p:nvSpPr>
        <p:spPr>
          <a:xfrm>
            <a:off x="868680" y="3758184"/>
            <a:ext cx="2743200" cy="274320"/>
          </a:xfrm>
          <a:prstGeom prst="rect">
            <a:avLst/>
          </a:prstGeom>
          <a:noFill/>
          <a:ln/>
        </p:spPr>
        <p:txBody>
          <a:bodyPr wrap="square" lIns="0" tIns="0" rIns="0" bIns="0" rtlCol="0" anchor="ctr"/>
          <a:lstStyle/>
          <a:p>
            <a:pPr indent="0" marL="0">
              <a:buNone/>
            </a:pPr>
            <a:r>
              <a:rPr lang="en-US" sz="1050" b="1" spc="100" kern="0" dirty="0">
                <a:solidFill>
                  <a:srgbClr val="15803D"/>
                </a:solidFill>
                <a:latin typeface="Calibri" pitchFamily="34" charset="0"/>
                <a:ea typeface="Calibri" pitchFamily="34" charset="-122"/>
                <a:cs typeface="Calibri" pitchFamily="34" charset="-120"/>
              </a:rPr>
              <a:t>THE FIX</a:t>
            </a:r>
            <a:endParaRPr lang="en-US" sz="1050" dirty="0"/>
          </a:p>
        </p:txBody>
      </p:sp>
      <p:sp>
        <p:nvSpPr>
          <p:cNvPr id="14" name="Text 12"/>
          <p:cNvSpPr/>
          <p:nvPr/>
        </p:nvSpPr>
        <p:spPr>
          <a:xfrm>
            <a:off x="868680" y="4014216"/>
            <a:ext cx="10424160" cy="365760"/>
          </a:xfrm>
          <a:prstGeom prst="rect">
            <a:avLst/>
          </a:prstGeom>
          <a:noFill/>
          <a:ln/>
        </p:spPr>
        <p:txBody>
          <a:bodyPr wrap="square" lIns="0" tIns="0" rIns="0" bIns="0" rtlCol="0" anchor="t"/>
          <a:lstStyle/>
          <a:p>
            <a:pPr indent="0" marL="0">
              <a:buNone/>
            </a:pPr>
            <a:r>
              <a:rPr lang="en-US" sz="1300" dirty="0">
                <a:solidFill>
                  <a:srgbClr val="1E293B"/>
                </a:solidFill>
                <a:latin typeface="Calibri" pitchFamily="34" charset="0"/>
                <a:ea typeface="Calibri" pitchFamily="34" charset="-122"/>
                <a:cs typeface="Calibri" pitchFamily="34" charset="-120"/>
              </a:rPr>
              <a:t>Compare the Service's selector to the Pod's actual labels side by side, then correct whichever one is wrong.</a:t>
            </a:r>
            <a:endParaRPr lang="en-US" sz="1300" dirty="0"/>
          </a:p>
        </p:txBody>
      </p:sp>
      <p:sp>
        <p:nvSpPr>
          <p:cNvPr id="15" name="Shape 13"/>
          <p:cNvSpPr/>
          <p:nvPr/>
        </p:nvSpPr>
        <p:spPr>
          <a:xfrm>
            <a:off x="868680" y="4379976"/>
            <a:ext cx="10424160" cy="594360"/>
          </a:xfrm>
          <a:prstGeom prst="roundRect">
            <a:avLst>
              <a:gd name="adj" fmla="val 7692"/>
            </a:avLst>
          </a:prstGeom>
          <a:solidFill>
            <a:srgbClr val="0B2330"/>
          </a:solidFill>
          <a:ln/>
        </p:spPr>
      </p:sp>
      <p:sp>
        <p:nvSpPr>
          <p:cNvPr id="16" name="Text 14"/>
          <p:cNvSpPr/>
          <p:nvPr/>
        </p:nvSpPr>
        <p:spPr>
          <a:xfrm>
            <a:off x="1005840" y="4453128"/>
            <a:ext cx="10149840" cy="457200"/>
          </a:xfrm>
          <a:prstGeom prst="rect">
            <a:avLst/>
          </a:prstGeom>
          <a:noFill/>
          <a:ln/>
        </p:spPr>
        <p:txBody>
          <a:bodyPr wrap="square" lIns="0" tIns="0" rIns="0" bIns="0" rtlCol="0" anchor="t"/>
          <a:lstStyle/>
          <a:p>
            <a:pPr indent="0" marL="0">
              <a:buNone/>
            </a:pPr>
            <a:r>
              <a:rPr lang="en-US" sz="1200" dirty="0">
                <a:solidFill>
                  <a:srgbClr val="CFEFEA"/>
                </a:solidFill>
                <a:latin typeface="Courier New" pitchFamily="34" charset="0"/>
                <a:ea typeface="Courier New" pitchFamily="34" charset="-122"/>
                <a:cs typeface="Courier New" pitchFamily="34" charset="-120"/>
              </a:rPr>
              <a:t>kubectl get service my-service -o jsonpath='{.spec.selector}'</a:t>
            </a:r>
            <a:endParaRPr lang="en-US" sz="1200" dirty="0"/>
          </a:p>
          <a:p>
            <a:pPr indent="0" marL="0">
              <a:buNone/>
            </a:pPr>
            <a:r>
              <a:rPr lang="en-US" sz="1200" dirty="0">
                <a:solidFill>
                  <a:srgbClr val="CFEFEA"/>
                </a:solidFill>
                <a:latin typeface="Courier New" pitchFamily="34" charset="0"/>
                <a:ea typeface="Courier New" pitchFamily="34" charset="-122"/>
                <a:cs typeface="Courier New" pitchFamily="34" charset="-120"/>
              </a:rPr>
              <a:t>kubectl get pods --show-labels</a:t>
            </a:r>
            <a:endParaRPr lang="en-US" sz="1200" dirty="0"/>
          </a:p>
        </p:txBody>
      </p:sp>
      <p:sp>
        <p:nvSpPr>
          <p:cNvPr id="17" name="Text 15"/>
          <p:cNvSpPr/>
          <p:nvPr/>
        </p:nvSpPr>
        <p:spPr>
          <a:xfrm>
            <a:off x="457200" y="6446520"/>
            <a:ext cx="6400800" cy="27432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CKA v1.36 · Module 2</a:t>
            </a:r>
            <a:endParaRPr lang="en-US" sz="900" dirty="0"/>
          </a:p>
        </p:txBody>
      </p:sp>
      <p:sp>
        <p:nvSpPr>
          <p:cNvPr id="18" name="Text 16"/>
          <p:cNvSpPr/>
          <p:nvPr/>
        </p:nvSpPr>
        <p:spPr>
          <a:xfrm>
            <a:off x="11247120" y="6446520"/>
            <a:ext cx="4572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23</a:t>
            </a:r>
            <a:endParaRPr lang="en-US" sz="9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21295C"/>
        </a:solidFill>
      </p:bgPr>
    </p:bg>
    <p:spTree>
      <p:nvGrpSpPr>
        <p:cNvPr id="1" name=""/>
        <p:cNvGrpSpPr/>
        <p:nvPr/>
      </p:nvGrpSpPr>
      <p:grpSpPr>
        <a:xfrm>
          <a:off x="0" y="0"/>
          <a:ext cx="0" cy="0"/>
          <a:chOff x="0" y="0"/>
          <a:chExt cx="0" cy="0"/>
        </a:xfrm>
      </p:grpSpPr>
      <p:sp>
        <p:nvSpPr>
          <p:cNvPr id="2" name="Shape 0"/>
          <p:cNvSpPr/>
          <p:nvPr/>
        </p:nvSpPr>
        <p:spPr>
          <a:xfrm>
            <a:off x="8778240" y="3291840"/>
            <a:ext cx="5029200" cy="5029200"/>
          </a:xfrm>
          <a:prstGeom prst="ellipse">
            <a:avLst/>
          </a:prstGeom>
          <a:solidFill>
            <a:srgbClr val="065A82">
              <a:alpha val="40000"/>
            </a:srgbClr>
          </a:solidFill>
          <a:ln/>
        </p:spPr>
      </p:sp>
      <p:sp>
        <p:nvSpPr>
          <p:cNvPr id="3" name="Shape 1"/>
          <p:cNvSpPr/>
          <p:nvPr/>
        </p:nvSpPr>
        <p:spPr>
          <a:xfrm>
            <a:off x="822960" y="1828800"/>
            <a:ext cx="1371600" cy="1371600"/>
          </a:xfrm>
          <a:prstGeom prst="roundRect">
            <a:avLst>
              <a:gd name="adj" fmla="val 12000"/>
            </a:avLst>
          </a:prstGeom>
          <a:solidFill>
            <a:srgbClr val="1C7293"/>
          </a:solidFill>
          <a:ln/>
          <a:effectLst>
            <a:outerShdw sx="100000" sy="100000" kx="0" ky="0" algn="bl" rotWithShape="0" blurRad="88900" dist="25400" dir="2700000">
              <a:srgbClr val="1B2A36">
                <a:alpha val="12000"/>
              </a:srgbClr>
            </a:outerShdw>
          </a:effectLst>
        </p:spPr>
      </p:sp>
      <p:sp>
        <p:nvSpPr>
          <p:cNvPr id="4" name="Text 2"/>
          <p:cNvSpPr/>
          <p:nvPr/>
        </p:nvSpPr>
        <p:spPr>
          <a:xfrm>
            <a:off x="822960" y="1828800"/>
            <a:ext cx="1371600" cy="1371600"/>
          </a:xfrm>
          <a:prstGeom prst="rect">
            <a:avLst/>
          </a:prstGeom>
          <a:noFill/>
          <a:ln/>
        </p:spPr>
        <p:txBody>
          <a:bodyPr wrap="square" lIns="0" tIns="0" rIns="0" bIns="0" rtlCol="0" anchor="ctr"/>
          <a:lstStyle/>
          <a:p>
            <a:pPr algn="ctr" indent="0" marL="0">
              <a:buNone/>
            </a:pPr>
            <a:r>
              <a:rPr lang="en-US" sz="4000" b="1" dirty="0">
                <a:solidFill>
                  <a:srgbClr val="FFFFFF"/>
                </a:solidFill>
                <a:latin typeface="Cambria" pitchFamily="34" charset="0"/>
                <a:ea typeface="Cambria" pitchFamily="34" charset="-122"/>
                <a:cs typeface="Cambria" pitchFamily="34" charset="-120"/>
              </a:rPr>
              <a:t>D</a:t>
            </a:r>
            <a:endParaRPr lang="en-US" sz="4000" dirty="0"/>
          </a:p>
        </p:txBody>
      </p:sp>
      <p:sp>
        <p:nvSpPr>
          <p:cNvPr id="5" name="Text 3"/>
          <p:cNvSpPr/>
          <p:nvPr/>
        </p:nvSpPr>
        <p:spPr>
          <a:xfrm>
            <a:off x="2468880" y="1828800"/>
            <a:ext cx="8961120" cy="100584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Define and Enforce Network Policies</a:t>
            </a:r>
            <a:endParaRPr lang="en-US" sz="3200" dirty="0"/>
          </a:p>
        </p:txBody>
      </p:sp>
      <p:sp>
        <p:nvSpPr>
          <p:cNvPr id="6" name="Text 4"/>
          <p:cNvSpPr/>
          <p:nvPr/>
        </p:nvSpPr>
        <p:spPr>
          <a:xfrm>
            <a:off x="2468880" y="2788920"/>
            <a:ext cx="8961120" cy="640080"/>
          </a:xfrm>
          <a:prstGeom prst="rect">
            <a:avLst/>
          </a:prstGeom>
          <a:noFill/>
          <a:ln/>
        </p:spPr>
        <p:txBody>
          <a:bodyPr wrap="square" lIns="0" tIns="0" rIns="0" bIns="0" rtlCol="0" anchor="ctr"/>
          <a:lstStyle/>
          <a:p>
            <a:pPr indent="0" marL="0">
              <a:buNone/>
            </a:pPr>
            <a:r>
              <a:rPr lang="en-US" sz="1600" dirty="0">
                <a:solidFill>
                  <a:srgbClr val="C9E4ED"/>
                </a:solidFill>
                <a:latin typeface="Calibri" pitchFamily="34" charset="0"/>
                <a:ea typeface="Calibri" pitchFamily="34" charset="-122"/>
                <a:cs typeface="Calibri" pitchFamily="34" charset="-120"/>
              </a:rPr>
              <a:t>Pod-level firewalling inside the cluster</a:t>
            </a:r>
            <a:endParaRPr lang="en-US" sz="1600" dirty="0"/>
          </a:p>
        </p:txBody>
      </p:sp>
      <p:sp>
        <p:nvSpPr>
          <p:cNvPr id="7" name="Shape 5"/>
          <p:cNvSpPr/>
          <p:nvPr/>
        </p:nvSpPr>
        <p:spPr>
          <a:xfrm>
            <a:off x="2468880" y="3429000"/>
            <a:ext cx="8961120" cy="548640"/>
          </a:xfrm>
          <a:prstGeom prst="roundRect">
            <a:avLst>
              <a:gd name="adj" fmla="val 16667"/>
            </a:avLst>
          </a:prstGeom>
          <a:solidFill>
            <a:srgbClr val="FFFFFF">
              <a:alpha val="10000"/>
            </a:srgbClr>
          </a:solidFill>
          <a:ln w="9525">
            <a:solidFill>
              <a:srgbClr val="8FD3E8"/>
            </a:solidFill>
            <a:prstDash val="solid"/>
          </a:ln>
        </p:spPr>
      </p:sp>
      <p:sp>
        <p:nvSpPr>
          <p:cNvPr id="8" name="Text 6"/>
          <p:cNvSpPr/>
          <p:nvPr/>
        </p:nvSpPr>
        <p:spPr>
          <a:xfrm>
            <a:off x="2697480" y="3429000"/>
            <a:ext cx="8503920" cy="548640"/>
          </a:xfrm>
          <a:prstGeom prst="rect">
            <a:avLst/>
          </a:prstGeom>
          <a:noFill/>
          <a:ln/>
        </p:spPr>
        <p:txBody>
          <a:bodyPr wrap="square" lIns="0" tIns="0" rIns="0" bIns="0" rtlCol="0" anchor="ctr"/>
          <a:lstStyle/>
          <a:p>
            <a:pPr algn="l" indent="0" marL="0">
              <a:buNone/>
            </a:pPr>
            <a:r>
              <a:rPr lang="en-US" sz="1200" dirty="0">
                <a:solidFill>
                  <a:srgbClr val="DCEFF5"/>
                </a:solidFill>
                <a:latin typeface="Calibri" pitchFamily="34" charset="0"/>
                <a:ea typeface="Calibri" pitchFamily="34" charset="-122"/>
                <a:cs typeface="Calibri" pitchFamily="34" charset="-120"/>
              </a:rPr>
              <a:t>Domain: Services &amp; Networking · Network Policies</a:t>
            </a:r>
            <a:endParaRPr lang="en-US" sz="1200" dirty="0"/>
          </a:p>
        </p:txBody>
      </p:sp>
      <p:sp>
        <p:nvSpPr>
          <p:cNvPr id="9" name="Text 7"/>
          <p:cNvSpPr/>
          <p:nvPr/>
        </p:nvSpPr>
        <p:spPr>
          <a:xfrm>
            <a:off x="457200" y="6446520"/>
            <a:ext cx="6400800" cy="27432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CKA v1.36 · Module 2</a:t>
            </a:r>
            <a:endParaRPr lang="en-US" sz="900" dirty="0"/>
          </a:p>
        </p:txBody>
      </p:sp>
      <p:sp>
        <p:nvSpPr>
          <p:cNvPr id="10" name="Text 8"/>
          <p:cNvSpPr/>
          <p:nvPr/>
        </p:nvSpPr>
        <p:spPr>
          <a:xfrm>
            <a:off x="11247120" y="6446520"/>
            <a:ext cx="4572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24</a:t>
            </a:r>
            <a:endParaRPr lang="en-US" sz="9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65760"/>
            <a:ext cx="9144000" cy="320040"/>
          </a:xfrm>
          <a:prstGeom prst="rect">
            <a:avLst/>
          </a:prstGeom>
          <a:noFill/>
          <a:ln/>
        </p:spPr>
        <p:txBody>
          <a:bodyPr wrap="square" lIns="0" tIns="0" rIns="0" bIns="0" rtlCol="0" anchor="ctr"/>
          <a:lstStyle/>
          <a:p>
            <a:pPr indent="0" marL="0">
              <a:buNone/>
            </a:pPr>
            <a:r>
              <a:rPr lang="en-US" sz="1150" b="1" spc="150" kern="0" dirty="0">
                <a:solidFill>
                  <a:srgbClr val="1C7293"/>
                </a:solidFill>
                <a:latin typeface="Calibri" pitchFamily="34" charset="0"/>
                <a:ea typeface="Calibri" pitchFamily="34" charset="-122"/>
                <a:cs typeface="Calibri" pitchFamily="34" charset="-120"/>
              </a:rPr>
              <a:t>NETWORK POLICIES</a:t>
            </a:r>
            <a:endParaRPr lang="en-US" sz="1150" dirty="0"/>
          </a:p>
        </p:txBody>
      </p:sp>
      <p:sp>
        <p:nvSpPr>
          <p:cNvPr id="3" name="Text 1"/>
          <p:cNvSpPr/>
          <p:nvPr/>
        </p:nvSpPr>
        <p:spPr>
          <a:xfrm>
            <a:off x="640080" y="658368"/>
            <a:ext cx="10881360" cy="685800"/>
          </a:xfrm>
          <a:prstGeom prst="rect">
            <a:avLst/>
          </a:prstGeom>
          <a:noFill/>
          <a:ln/>
        </p:spPr>
        <p:txBody>
          <a:bodyPr wrap="square" lIns="0" tIns="0" rIns="0" bIns="0" rtlCol="0" anchor="ctr"/>
          <a:lstStyle/>
          <a:p>
            <a:pPr indent="0" marL="0">
              <a:buNone/>
            </a:pPr>
            <a:r>
              <a:rPr lang="en-US" sz="2600" b="1" dirty="0">
                <a:solidFill>
                  <a:srgbClr val="21295C"/>
                </a:solidFill>
                <a:latin typeface="Cambria" pitchFamily="34" charset="0"/>
                <a:ea typeface="Cambria" pitchFamily="34" charset="-122"/>
                <a:cs typeface="Cambria" pitchFamily="34" charset="-120"/>
              </a:rPr>
              <a:t>NetworkPolicy Fundamentals</a:t>
            </a:r>
            <a:endParaRPr lang="en-US" sz="2600" dirty="0"/>
          </a:p>
        </p:txBody>
      </p:sp>
      <p:sp>
        <p:nvSpPr>
          <p:cNvPr id="4" name="Shape 2"/>
          <p:cNvSpPr/>
          <p:nvPr/>
        </p:nvSpPr>
        <p:spPr>
          <a:xfrm>
            <a:off x="640080" y="1371600"/>
            <a:ext cx="10881360" cy="0"/>
          </a:xfrm>
          <a:prstGeom prst="line">
            <a:avLst/>
          </a:prstGeom>
          <a:noFill/>
          <a:ln w="12700">
            <a:solidFill>
              <a:srgbClr val="D7E3E8"/>
            </a:solidFill>
            <a:prstDash val="solid"/>
          </a:ln>
        </p:spPr>
      </p:sp>
      <p:sp>
        <p:nvSpPr>
          <p:cNvPr id="5" name="Shape 3"/>
          <p:cNvSpPr/>
          <p:nvPr/>
        </p:nvSpPr>
        <p:spPr>
          <a:xfrm>
            <a:off x="11109960" y="411480"/>
            <a:ext cx="502920" cy="502920"/>
          </a:xfrm>
          <a:prstGeom prst="ellipse">
            <a:avLst/>
          </a:prstGeom>
          <a:solidFill>
            <a:srgbClr val="EAF4F8"/>
          </a:solidFill>
          <a:ln w="15875">
            <a:solidFill>
              <a:srgbClr val="1C7293"/>
            </a:solidFill>
            <a:prstDash val="solid"/>
          </a:ln>
        </p:spPr>
      </p:sp>
      <p:sp>
        <p:nvSpPr>
          <p:cNvPr id="6" name="Text 4"/>
          <p:cNvSpPr/>
          <p:nvPr/>
        </p:nvSpPr>
        <p:spPr>
          <a:xfrm>
            <a:off x="11109960" y="411480"/>
            <a:ext cx="502920" cy="502920"/>
          </a:xfrm>
          <a:prstGeom prst="rect">
            <a:avLst/>
          </a:prstGeom>
          <a:noFill/>
          <a:ln/>
        </p:spPr>
        <p:txBody>
          <a:bodyPr wrap="square" lIns="0" tIns="0" rIns="0" bIns="0" rtlCol="0" anchor="ctr"/>
          <a:lstStyle/>
          <a:p>
            <a:pPr algn="ctr" indent="0" marL="0">
              <a:buNone/>
            </a:pPr>
            <a:r>
              <a:rPr lang="en-US" sz="1600" b="1" dirty="0">
                <a:solidFill>
                  <a:srgbClr val="1C7293"/>
                </a:solidFill>
                <a:latin typeface="Calibri" pitchFamily="34" charset="0"/>
                <a:ea typeface="Calibri" pitchFamily="34" charset="-122"/>
                <a:cs typeface="Calibri" pitchFamily="34" charset="-120"/>
              </a:rPr>
              <a:t>7</a:t>
            </a:r>
            <a:endParaRPr lang="en-US" sz="1600" dirty="0"/>
          </a:p>
        </p:txBody>
      </p:sp>
      <p:sp>
        <p:nvSpPr>
          <p:cNvPr id="7" name="Text 5"/>
          <p:cNvSpPr/>
          <p:nvPr/>
        </p:nvSpPr>
        <p:spPr>
          <a:xfrm>
            <a:off x="640080" y="1600200"/>
            <a:ext cx="10881360" cy="4572000"/>
          </a:xfrm>
          <a:prstGeom prst="rect">
            <a:avLst/>
          </a:prstGeom>
          <a:noFill/>
          <a:ln/>
        </p:spPr>
        <p:txBody>
          <a:bodyPr wrap="square" lIns="0" tIns="0" rIns="0" bIns="0" rtlCol="0" anchor="t"/>
          <a:lstStyle/>
          <a:p>
            <a:pPr marL="342900" indent="-342900">
              <a:spcAft>
                <a:spcPts val="1200"/>
              </a:spcAft>
              <a:buSzPct val="100000"/>
              <a:buChar char="•"/>
            </a:pPr>
            <a:r>
              <a:rPr lang="en-US" sz="1550" dirty="0">
                <a:solidFill>
                  <a:srgbClr val="1E293B"/>
                </a:solidFill>
                <a:latin typeface="Calibri" pitchFamily="34" charset="0"/>
                <a:ea typeface="Calibri" pitchFamily="34" charset="-122"/>
                <a:cs typeface="Calibri" pitchFamily="34" charset="-120"/>
              </a:rPr>
              <a:t>By default, Kubernetes networking is fully open — every Pod can reach every other Pod with no restrictions whatsoever.</a:t>
            </a:r>
            <a:endParaRPr lang="en-US" sz="1550" dirty="0"/>
          </a:p>
          <a:p>
            <a:pPr marL="342900" indent="-342900">
              <a:spcAft>
                <a:spcPts val="1200"/>
              </a:spcAft>
              <a:buSzPct val="100000"/>
              <a:buChar char="•"/>
            </a:pPr>
            <a:r>
              <a:rPr lang="en-US" sz="1550" dirty="0">
                <a:solidFill>
                  <a:srgbClr val="1E293B"/>
                </a:solidFill>
                <a:latin typeface="Calibri" pitchFamily="34" charset="0"/>
                <a:ea typeface="Calibri" pitchFamily="34" charset="-122"/>
                <a:cs typeface="Calibri" pitchFamily="34" charset="-120"/>
              </a:rPr>
              <a:t>A NetworkPolicy is OPT-IN: the moment any NetworkPolicy selects a Pod, that Pod's traffic becomes default-deny for whichever direction(s) the policy specifies, and only explicitly allowed traffic gets through.</a:t>
            </a:r>
            <a:endParaRPr lang="en-US" sz="1550" dirty="0"/>
          </a:p>
          <a:p>
            <a:pPr marL="342900" indent="-342900">
              <a:spcAft>
                <a:spcPts val="1200"/>
              </a:spcAft>
              <a:buSzPct val="100000"/>
              <a:buChar char="•"/>
            </a:pPr>
            <a:r>
              <a:rPr lang="en-US" sz="1550" dirty="0">
                <a:solidFill>
                  <a:srgbClr val="1E293B"/>
                </a:solidFill>
                <a:latin typeface="Calibri" pitchFamily="34" charset="0"/>
                <a:ea typeface="Calibri" pitchFamily="34" charset="-122"/>
                <a:cs typeface="Calibri" pitchFamily="34" charset="-120"/>
              </a:rPr>
              <a:t>NetworkPolicies require CNI plugin support to be enforced — Flannel alone does NOT support them; Calico, Cilium, and Weave Net do.</a:t>
            </a:r>
            <a:endParaRPr lang="en-US" sz="1550" dirty="0"/>
          </a:p>
          <a:p>
            <a:pPr marL="342900" indent="-342900">
              <a:spcAft>
                <a:spcPts val="1200"/>
              </a:spcAft>
              <a:buSzPct val="100000"/>
              <a:buChar char="•"/>
            </a:pPr>
            <a:r>
              <a:rPr lang="en-US" sz="1550" dirty="0">
                <a:solidFill>
                  <a:srgbClr val="1E293B"/>
                </a:solidFill>
                <a:latin typeface="Calibri" pitchFamily="34" charset="0"/>
                <a:ea typeface="Calibri" pitchFamily="34" charset="-122"/>
                <a:cs typeface="Calibri" pitchFamily="34" charset="-120"/>
              </a:rPr>
              <a:t>Policies are additive across the cluster: if multiple NetworkPolicies select the same Pod, the union of all their allow rules applies.</a:t>
            </a:r>
            <a:endParaRPr lang="en-US" sz="1550" dirty="0"/>
          </a:p>
          <a:p>
            <a:pPr marL="342900" indent="-342900">
              <a:spcAft>
                <a:spcPts val="1200"/>
              </a:spcAft>
              <a:buSzPct val="100000"/>
              <a:buChar char="•"/>
            </a:pPr>
            <a:r>
              <a:rPr lang="en-US" sz="1550" dirty="0">
                <a:solidFill>
                  <a:srgbClr val="1E293B"/>
                </a:solidFill>
                <a:latin typeface="Calibri" pitchFamily="34" charset="0"/>
                <a:ea typeface="Calibri" pitchFamily="34" charset="-122"/>
                <a:cs typeface="Calibri" pitchFamily="34" charset="-120"/>
              </a:rPr>
              <a:t>Policies operate at L3/L4 (IP and port) — not application-layer (no path-based HTTP rules); that's the job of Ingress/Gateway API instead.</a:t>
            </a:r>
            <a:endParaRPr lang="en-US" sz="1550" dirty="0"/>
          </a:p>
        </p:txBody>
      </p:sp>
      <p:sp>
        <p:nvSpPr>
          <p:cNvPr id="8" name="Text 6"/>
          <p:cNvSpPr/>
          <p:nvPr/>
        </p:nvSpPr>
        <p:spPr>
          <a:xfrm>
            <a:off x="457200" y="6446520"/>
            <a:ext cx="6400800" cy="27432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CKA v1.36 · Module 2</a:t>
            </a:r>
            <a:endParaRPr lang="en-US" sz="900" dirty="0"/>
          </a:p>
        </p:txBody>
      </p:sp>
      <p:sp>
        <p:nvSpPr>
          <p:cNvPr id="9" name="Text 7"/>
          <p:cNvSpPr/>
          <p:nvPr/>
        </p:nvSpPr>
        <p:spPr>
          <a:xfrm>
            <a:off x="11247120" y="6446520"/>
            <a:ext cx="4572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25</a:t>
            </a:r>
            <a:endParaRPr lang="en-US" sz="9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65760"/>
            <a:ext cx="9144000" cy="320040"/>
          </a:xfrm>
          <a:prstGeom prst="rect">
            <a:avLst/>
          </a:prstGeom>
          <a:noFill/>
          <a:ln/>
        </p:spPr>
        <p:txBody>
          <a:bodyPr wrap="square" lIns="0" tIns="0" rIns="0" bIns="0" rtlCol="0" anchor="ctr"/>
          <a:lstStyle/>
          <a:p>
            <a:pPr indent="0" marL="0">
              <a:buNone/>
            </a:pPr>
            <a:r>
              <a:rPr lang="en-US" sz="1150" b="1" spc="150" kern="0" dirty="0">
                <a:solidFill>
                  <a:srgbClr val="1C7293"/>
                </a:solidFill>
                <a:latin typeface="Calibri" pitchFamily="34" charset="0"/>
                <a:ea typeface="Calibri" pitchFamily="34" charset="-122"/>
                <a:cs typeface="Calibri" pitchFamily="34" charset="-120"/>
              </a:rPr>
              <a:t>NETWORK POLICIES</a:t>
            </a:r>
            <a:endParaRPr lang="en-US" sz="1150" dirty="0"/>
          </a:p>
        </p:txBody>
      </p:sp>
      <p:sp>
        <p:nvSpPr>
          <p:cNvPr id="3" name="Text 1"/>
          <p:cNvSpPr/>
          <p:nvPr/>
        </p:nvSpPr>
        <p:spPr>
          <a:xfrm>
            <a:off x="640080" y="658368"/>
            <a:ext cx="10881360" cy="548640"/>
          </a:xfrm>
          <a:prstGeom prst="rect">
            <a:avLst/>
          </a:prstGeom>
          <a:noFill/>
          <a:ln/>
        </p:spPr>
        <p:txBody>
          <a:bodyPr wrap="square" lIns="0" tIns="0" rIns="0" bIns="0" rtlCol="0" anchor="ctr"/>
          <a:lstStyle/>
          <a:p>
            <a:pPr indent="0" marL="0">
              <a:buNone/>
            </a:pPr>
            <a:r>
              <a:rPr lang="en-US" sz="2400" b="1" dirty="0">
                <a:solidFill>
                  <a:srgbClr val="21295C"/>
                </a:solidFill>
                <a:latin typeface="Cambria" pitchFamily="34" charset="0"/>
                <a:ea typeface="Cambria" pitchFamily="34" charset="-122"/>
                <a:cs typeface="Cambria" pitchFamily="34" charset="-120"/>
              </a:rPr>
              <a:t>Default-Deny-All Ingress (the Most Common Exam Task)</a:t>
            </a:r>
            <a:endParaRPr lang="en-US" sz="2400" dirty="0"/>
          </a:p>
        </p:txBody>
      </p:sp>
      <p:sp>
        <p:nvSpPr>
          <p:cNvPr id="4" name="Shape 2"/>
          <p:cNvSpPr/>
          <p:nvPr/>
        </p:nvSpPr>
        <p:spPr>
          <a:xfrm>
            <a:off x="640080" y="1371600"/>
            <a:ext cx="10881360" cy="3776472"/>
          </a:xfrm>
          <a:prstGeom prst="roundRect">
            <a:avLst>
              <a:gd name="adj" fmla="val 1453"/>
            </a:avLst>
          </a:prstGeom>
          <a:solidFill>
            <a:srgbClr val="0B2330"/>
          </a:solidFill>
          <a:ln/>
          <a:effectLst>
            <a:outerShdw sx="100000" sy="100000" kx="0" ky="0" algn="bl" rotWithShape="0" blurRad="88900" dist="25400" dir="2700000">
              <a:srgbClr val="1B2A36">
                <a:alpha val="12000"/>
              </a:srgbClr>
            </a:outerShdw>
          </a:effectLst>
        </p:spPr>
      </p:sp>
      <p:sp>
        <p:nvSpPr>
          <p:cNvPr id="5" name="Text 3"/>
          <p:cNvSpPr/>
          <p:nvPr/>
        </p:nvSpPr>
        <p:spPr>
          <a:xfrm>
            <a:off x="868680" y="1536192"/>
            <a:ext cx="10424160" cy="3447288"/>
          </a:xfrm>
          <a:prstGeom prst="rect">
            <a:avLst/>
          </a:prstGeom>
          <a:noFill/>
          <a:ln/>
        </p:spPr>
        <p:txBody>
          <a:bodyPr wrap="square" lIns="0" tIns="0" rIns="0" bIns="0" rtlCol="0" anchor="t"/>
          <a:lstStyle/>
          <a:p>
            <a:pPr indent="0" marL="0">
              <a:buNone/>
            </a:pPr>
            <a:r>
              <a:rPr lang="en-US" sz="1350" dirty="0">
                <a:solidFill>
                  <a:srgbClr val="CFEFEA"/>
                </a:solidFill>
                <a:latin typeface="Courier New" pitchFamily="34" charset="0"/>
                <a:ea typeface="Courier New" pitchFamily="34" charset="-122"/>
                <a:cs typeface="Courier New" pitchFamily="34" charset="-120"/>
              </a:rPr>
              <a:t>apiVersion: networking.k8s.io/v1</a:t>
            </a:r>
            <a:endParaRPr lang="en-US" sz="1350" dirty="0"/>
          </a:p>
          <a:p>
            <a:pPr indent="0" marL="0">
              <a:buNone/>
            </a:pPr>
            <a:r>
              <a:rPr lang="en-US" sz="1350" dirty="0">
                <a:solidFill>
                  <a:srgbClr val="CFEFEA"/>
                </a:solidFill>
                <a:latin typeface="Courier New" pitchFamily="34" charset="0"/>
                <a:ea typeface="Courier New" pitchFamily="34" charset="-122"/>
                <a:cs typeface="Courier New" pitchFamily="34" charset="-120"/>
              </a:rPr>
              <a:t>kind: NetworkPolicy</a:t>
            </a:r>
            <a:endParaRPr lang="en-US" sz="1350" dirty="0"/>
          </a:p>
          <a:p>
            <a:pPr indent="0" marL="0">
              <a:buNone/>
            </a:pPr>
            <a:r>
              <a:rPr lang="en-US" sz="1350" dirty="0">
                <a:solidFill>
                  <a:srgbClr val="CFEFEA"/>
                </a:solidFill>
                <a:latin typeface="Courier New" pitchFamily="34" charset="0"/>
                <a:ea typeface="Courier New" pitchFamily="34" charset="-122"/>
                <a:cs typeface="Courier New" pitchFamily="34" charset="-120"/>
              </a:rPr>
              <a:t>metadata:</a:t>
            </a:r>
            <a:endParaRPr lang="en-US" sz="1350" dirty="0"/>
          </a:p>
          <a:p>
            <a:pPr indent="0" marL="0">
              <a:buNone/>
            </a:pPr>
            <a:r>
              <a:rPr lang="en-US" sz="1350" dirty="0">
                <a:solidFill>
                  <a:srgbClr val="CFEFEA"/>
                </a:solidFill>
                <a:latin typeface="Courier New" pitchFamily="34" charset="0"/>
                <a:ea typeface="Courier New" pitchFamily="34" charset="-122"/>
                <a:cs typeface="Courier New" pitchFamily="34" charset="-120"/>
              </a:rPr>
              <a:t>  name: default-deny-ingress</a:t>
            </a:r>
            <a:endParaRPr lang="en-US" sz="1350" dirty="0"/>
          </a:p>
          <a:p>
            <a:pPr indent="0" marL="0">
              <a:buNone/>
            </a:pPr>
            <a:r>
              <a:rPr lang="en-US" sz="1350" dirty="0">
                <a:solidFill>
                  <a:srgbClr val="CFEFEA"/>
                </a:solidFill>
                <a:latin typeface="Courier New" pitchFamily="34" charset="0"/>
                <a:ea typeface="Courier New" pitchFamily="34" charset="-122"/>
                <a:cs typeface="Courier New" pitchFamily="34" charset="-120"/>
              </a:rPr>
              <a:t>  namespace: production</a:t>
            </a:r>
            <a:endParaRPr lang="en-US" sz="1350" dirty="0"/>
          </a:p>
          <a:p>
            <a:pPr indent="0" marL="0">
              <a:buNone/>
            </a:pPr>
            <a:r>
              <a:rPr lang="en-US" sz="1350" dirty="0">
                <a:solidFill>
                  <a:srgbClr val="CFEFEA"/>
                </a:solidFill>
                <a:latin typeface="Courier New" pitchFamily="34" charset="0"/>
                <a:ea typeface="Courier New" pitchFamily="34" charset="-122"/>
                <a:cs typeface="Courier New" pitchFamily="34" charset="-120"/>
              </a:rPr>
              <a:t>spec:</a:t>
            </a:r>
            <a:endParaRPr lang="en-US" sz="1350" dirty="0"/>
          </a:p>
          <a:p>
            <a:pPr indent="0" marL="0">
              <a:buNone/>
            </a:pPr>
            <a:r>
              <a:rPr lang="en-US" sz="1350" dirty="0">
                <a:solidFill>
                  <a:srgbClr val="CFEFEA"/>
                </a:solidFill>
                <a:latin typeface="Courier New" pitchFamily="34" charset="0"/>
                <a:ea typeface="Courier New" pitchFamily="34" charset="-122"/>
                <a:cs typeface="Courier New" pitchFamily="34" charset="-120"/>
              </a:rPr>
              <a:t>  podSelector: {}        # selects ALL Pods in the namespace</a:t>
            </a:r>
            <a:endParaRPr lang="en-US" sz="1350" dirty="0"/>
          </a:p>
          <a:p>
            <a:pPr indent="0" marL="0">
              <a:buNone/>
            </a:pPr>
            <a:r>
              <a:rPr lang="en-US" sz="1350" dirty="0">
                <a:solidFill>
                  <a:srgbClr val="CFEFEA"/>
                </a:solidFill>
                <a:latin typeface="Courier New" pitchFamily="34" charset="0"/>
                <a:ea typeface="Courier New" pitchFamily="34" charset="-122"/>
                <a:cs typeface="Courier New" pitchFamily="34" charset="-120"/>
              </a:rPr>
              <a:t>  policyTypes:</a:t>
            </a:r>
            <a:endParaRPr lang="en-US" sz="1350" dirty="0"/>
          </a:p>
          <a:p>
            <a:pPr indent="0" marL="0">
              <a:buNone/>
            </a:pPr>
            <a:r>
              <a:rPr lang="en-US" sz="1350" dirty="0">
                <a:solidFill>
                  <a:srgbClr val="CFEFEA"/>
                </a:solidFill>
                <a:latin typeface="Courier New" pitchFamily="34" charset="0"/>
                <a:ea typeface="Courier New" pitchFamily="34" charset="-122"/>
                <a:cs typeface="Courier New" pitchFamily="34" charset="-120"/>
              </a:rPr>
              <a:t>  - Ingress</a:t>
            </a:r>
            <a:endParaRPr lang="en-US" sz="1350" dirty="0"/>
          </a:p>
          <a:p>
            <a:pPr indent="0" marL="0">
              <a:buNone/>
            </a:pPr>
            <a:r>
              <a:rPr lang="en-US" sz="1350" dirty="0">
                <a:solidFill>
                  <a:srgbClr val="CFEFEA"/>
                </a:solidFill>
                <a:latin typeface="Courier New" pitchFamily="34" charset="0"/>
                <a:ea typeface="Courier New" pitchFamily="34" charset="-122"/>
                <a:cs typeface="Courier New" pitchFamily="34" charset="-120"/>
              </a:rPr>
              <a:t>  # no 'ingress:' rules block at all = nothing is allowed in</a:t>
            </a:r>
            <a:endParaRPr lang="en-US" sz="1350" dirty="0"/>
          </a:p>
        </p:txBody>
      </p:sp>
      <p:sp>
        <p:nvSpPr>
          <p:cNvPr id="6" name="Text 4"/>
          <p:cNvSpPr/>
          <p:nvPr/>
        </p:nvSpPr>
        <p:spPr>
          <a:xfrm>
            <a:off x="640080" y="5376672"/>
            <a:ext cx="10881360" cy="1024128"/>
          </a:xfrm>
          <a:prstGeom prst="rect">
            <a:avLst/>
          </a:prstGeom>
          <a:noFill/>
          <a:ln/>
        </p:spPr>
        <p:txBody>
          <a:bodyPr wrap="square" lIns="0" tIns="0" rIns="0" bIns="0" rtlCol="0" anchor="t"/>
          <a:lstStyle/>
          <a:p>
            <a:pPr marL="342900" indent="-342900">
              <a:spcAft>
                <a:spcPts val="500"/>
              </a:spcAft>
              <a:buSzPct val="100000"/>
              <a:buChar char="•"/>
            </a:pPr>
            <a:r>
              <a:rPr lang="en-US" sz="1200" dirty="0">
                <a:solidFill>
                  <a:srgbClr val="1E293B"/>
                </a:solidFill>
                <a:latin typeface="Calibri" pitchFamily="34" charset="0"/>
                <a:ea typeface="Calibri" pitchFamily="34" charset="-122"/>
                <a:cs typeface="Calibri" pitchFamily="34" charset="-120"/>
              </a:rPr>
              <a:t>podSelector: {} is the syntax for 'every Pod in this namespace' — an easy point to lose if you instead leave it omitted (which is invalid) or mistype it.</a:t>
            </a:r>
            <a:endParaRPr lang="en-US" sz="1200" dirty="0"/>
          </a:p>
          <a:p>
            <a:pPr marL="342900" indent="-342900">
              <a:spcAft>
                <a:spcPts val="500"/>
              </a:spcAft>
              <a:buSzPct val="100000"/>
              <a:buChar char="•"/>
            </a:pPr>
            <a:r>
              <a:rPr lang="en-US" sz="1200" dirty="0">
                <a:solidFill>
                  <a:srgbClr val="1E293B"/>
                </a:solidFill>
                <a:latin typeface="Calibri" pitchFamily="34" charset="0"/>
                <a:ea typeface="Calibri" pitchFamily="34" charset="-122"/>
                <a:cs typeface="Calibri" pitchFamily="34" charset="-120"/>
              </a:rPr>
              <a:t>An empty podSelector combined with an empty (or absent) ingress list is the canonical default-deny-all pattern asked on the exam.</a:t>
            </a:r>
            <a:endParaRPr lang="en-US" sz="1200" dirty="0"/>
          </a:p>
        </p:txBody>
      </p:sp>
      <p:sp>
        <p:nvSpPr>
          <p:cNvPr id="7" name="Text 5"/>
          <p:cNvSpPr/>
          <p:nvPr/>
        </p:nvSpPr>
        <p:spPr>
          <a:xfrm>
            <a:off x="457200" y="6446520"/>
            <a:ext cx="6400800" cy="27432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CKA v1.36 · Module 2</a:t>
            </a:r>
            <a:endParaRPr lang="en-US" sz="900" dirty="0"/>
          </a:p>
        </p:txBody>
      </p:sp>
      <p:sp>
        <p:nvSpPr>
          <p:cNvPr id="8" name="Text 6"/>
          <p:cNvSpPr/>
          <p:nvPr/>
        </p:nvSpPr>
        <p:spPr>
          <a:xfrm>
            <a:off x="11247120" y="6446520"/>
            <a:ext cx="4572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26</a:t>
            </a:r>
            <a:endParaRPr lang="en-US" sz="9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65760"/>
            <a:ext cx="9144000" cy="320040"/>
          </a:xfrm>
          <a:prstGeom prst="rect">
            <a:avLst/>
          </a:prstGeom>
          <a:noFill/>
          <a:ln/>
        </p:spPr>
        <p:txBody>
          <a:bodyPr wrap="square" lIns="0" tIns="0" rIns="0" bIns="0" rtlCol="0" anchor="ctr"/>
          <a:lstStyle/>
          <a:p>
            <a:pPr indent="0" marL="0">
              <a:buNone/>
            </a:pPr>
            <a:r>
              <a:rPr lang="en-US" sz="1150" b="1" spc="150" kern="0" dirty="0">
                <a:solidFill>
                  <a:srgbClr val="1C7293"/>
                </a:solidFill>
                <a:latin typeface="Calibri" pitchFamily="34" charset="0"/>
                <a:ea typeface="Calibri" pitchFamily="34" charset="-122"/>
                <a:cs typeface="Calibri" pitchFamily="34" charset="-120"/>
              </a:rPr>
              <a:t>NETWORK POLICIES</a:t>
            </a:r>
            <a:endParaRPr lang="en-US" sz="1150" dirty="0"/>
          </a:p>
        </p:txBody>
      </p:sp>
      <p:sp>
        <p:nvSpPr>
          <p:cNvPr id="3" name="Text 1"/>
          <p:cNvSpPr/>
          <p:nvPr/>
        </p:nvSpPr>
        <p:spPr>
          <a:xfrm>
            <a:off x="640080" y="658368"/>
            <a:ext cx="10881360" cy="548640"/>
          </a:xfrm>
          <a:prstGeom prst="rect">
            <a:avLst/>
          </a:prstGeom>
          <a:noFill/>
          <a:ln/>
        </p:spPr>
        <p:txBody>
          <a:bodyPr wrap="square" lIns="0" tIns="0" rIns="0" bIns="0" rtlCol="0" anchor="ctr"/>
          <a:lstStyle/>
          <a:p>
            <a:pPr indent="0" marL="0">
              <a:buNone/>
            </a:pPr>
            <a:r>
              <a:rPr lang="en-US" sz="2400" b="1" dirty="0">
                <a:solidFill>
                  <a:srgbClr val="21295C"/>
                </a:solidFill>
                <a:latin typeface="Cambria" pitchFamily="34" charset="0"/>
                <a:ea typeface="Cambria" pitchFamily="34" charset="-122"/>
                <a:cs typeface="Cambria" pitchFamily="34" charset="-120"/>
              </a:rPr>
              <a:t>Allowing Traffic from a Specific Pod Selector</a:t>
            </a:r>
            <a:endParaRPr lang="en-US" sz="2400" dirty="0"/>
          </a:p>
        </p:txBody>
      </p:sp>
      <p:sp>
        <p:nvSpPr>
          <p:cNvPr id="4" name="Shape 2"/>
          <p:cNvSpPr/>
          <p:nvPr/>
        </p:nvSpPr>
        <p:spPr>
          <a:xfrm>
            <a:off x="640080" y="1371600"/>
            <a:ext cx="10881360" cy="3529584"/>
          </a:xfrm>
          <a:prstGeom prst="roundRect">
            <a:avLst>
              <a:gd name="adj" fmla="val 1554"/>
            </a:avLst>
          </a:prstGeom>
          <a:solidFill>
            <a:srgbClr val="0B2330"/>
          </a:solidFill>
          <a:ln/>
          <a:effectLst>
            <a:outerShdw sx="100000" sy="100000" kx="0" ky="0" algn="bl" rotWithShape="0" blurRad="88900" dist="25400" dir="2700000">
              <a:srgbClr val="1B2A36">
                <a:alpha val="12000"/>
              </a:srgbClr>
            </a:outerShdw>
          </a:effectLst>
        </p:spPr>
      </p:sp>
      <p:sp>
        <p:nvSpPr>
          <p:cNvPr id="5" name="Text 3"/>
          <p:cNvSpPr/>
          <p:nvPr/>
        </p:nvSpPr>
        <p:spPr>
          <a:xfrm>
            <a:off x="868680" y="1536192"/>
            <a:ext cx="10424160" cy="3200400"/>
          </a:xfrm>
          <a:prstGeom prst="rect">
            <a:avLst/>
          </a:prstGeom>
          <a:noFill/>
          <a:ln/>
        </p:spPr>
        <p:txBody>
          <a:bodyPr wrap="square" lIns="0" tIns="0" rIns="0" bIns="0" rtlCol="0" anchor="t"/>
          <a:lstStyle/>
          <a:p>
            <a:pPr indent="0" marL="0">
              <a:buNone/>
            </a:pPr>
            <a:r>
              <a:rPr lang="en-US" sz="1050" dirty="0">
                <a:solidFill>
                  <a:srgbClr val="CFEFEA"/>
                </a:solidFill>
                <a:latin typeface="Courier New" pitchFamily="34" charset="0"/>
                <a:ea typeface="Courier New" pitchFamily="34" charset="-122"/>
                <a:cs typeface="Courier New" pitchFamily="34" charset="-120"/>
              </a:rPr>
              <a:t>apiVersion: networking.k8s.io/v1</a:t>
            </a:r>
            <a:endParaRPr lang="en-US" sz="1050" dirty="0"/>
          </a:p>
          <a:p>
            <a:pPr indent="0" marL="0">
              <a:buNone/>
            </a:pPr>
            <a:r>
              <a:rPr lang="en-US" sz="1050" dirty="0">
                <a:solidFill>
                  <a:srgbClr val="CFEFEA"/>
                </a:solidFill>
                <a:latin typeface="Courier New" pitchFamily="34" charset="0"/>
                <a:ea typeface="Courier New" pitchFamily="34" charset="-122"/>
                <a:cs typeface="Courier New" pitchFamily="34" charset="-120"/>
              </a:rPr>
              <a:t>kind: NetworkPolicy</a:t>
            </a:r>
            <a:endParaRPr lang="en-US" sz="1050" dirty="0"/>
          </a:p>
          <a:p>
            <a:pPr indent="0" marL="0">
              <a:buNone/>
            </a:pPr>
            <a:r>
              <a:rPr lang="en-US" sz="1050" dirty="0">
                <a:solidFill>
                  <a:srgbClr val="CFEFEA"/>
                </a:solidFill>
                <a:latin typeface="Courier New" pitchFamily="34" charset="0"/>
                <a:ea typeface="Courier New" pitchFamily="34" charset="-122"/>
                <a:cs typeface="Courier New" pitchFamily="34" charset="-120"/>
              </a:rPr>
              <a:t>metadata:</a:t>
            </a:r>
            <a:endParaRPr lang="en-US" sz="1050" dirty="0"/>
          </a:p>
          <a:p>
            <a:pPr indent="0" marL="0">
              <a:buNone/>
            </a:pPr>
            <a:r>
              <a:rPr lang="en-US" sz="1050" dirty="0">
                <a:solidFill>
                  <a:srgbClr val="CFEFEA"/>
                </a:solidFill>
                <a:latin typeface="Courier New" pitchFamily="34" charset="0"/>
                <a:ea typeface="Courier New" pitchFamily="34" charset="-122"/>
                <a:cs typeface="Courier New" pitchFamily="34" charset="-120"/>
              </a:rPr>
              <a:t>  name: allow-frontend-to-backend</a:t>
            </a:r>
            <a:endParaRPr lang="en-US" sz="1050" dirty="0"/>
          </a:p>
          <a:p>
            <a:pPr indent="0" marL="0">
              <a:buNone/>
            </a:pPr>
            <a:r>
              <a:rPr lang="en-US" sz="1050" dirty="0">
                <a:solidFill>
                  <a:srgbClr val="CFEFEA"/>
                </a:solidFill>
                <a:latin typeface="Courier New" pitchFamily="34" charset="0"/>
                <a:ea typeface="Courier New" pitchFamily="34" charset="-122"/>
                <a:cs typeface="Courier New" pitchFamily="34" charset="-120"/>
              </a:rPr>
              <a:t>  namespace: production</a:t>
            </a:r>
            <a:endParaRPr lang="en-US" sz="1050" dirty="0"/>
          </a:p>
          <a:p>
            <a:pPr indent="0" marL="0">
              <a:buNone/>
            </a:pPr>
            <a:r>
              <a:rPr lang="en-US" sz="1050" dirty="0">
                <a:solidFill>
                  <a:srgbClr val="CFEFEA"/>
                </a:solidFill>
                <a:latin typeface="Courier New" pitchFamily="34" charset="0"/>
                <a:ea typeface="Courier New" pitchFamily="34" charset="-122"/>
                <a:cs typeface="Courier New" pitchFamily="34" charset="-120"/>
              </a:rPr>
              <a:t>spec:</a:t>
            </a:r>
            <a:endParaRPr lang="en-US" sz="1050" dirty="0"/>
          </a:p>
          <a:p>
            <a:pPr indent="0" marL="0">
              <a:buNone/>
            </a:pPr>
            <a:r>
              <a:rPr lang="en-US" sz="1050" dirty="0">
                <a:solidFill>
                  <a:srgbClr val="CFEFEA"/>
                </a:solidFill>
                <a:latin typeface="Courier New" pitchFamily="34" charset="0"/>
                <a:ea typeface="Courier New" pitchFamily="34" charset="-122"/>
                <a:cs typeface="Courier New" pitchFamily="34" charset="-120"/>
              </a:rPr>
              <a:t>  podSelector:</a:t>
            </a:r>
            <a:endParaRPr lang="en-US" sz="1050" dirty="0"/>
          </a:p>
          <a:p>
            <a:pPr indent="0" marL="0">
              <a:buNone/>
            </a:pPr>
            <a:r>
              <a:rPr lang="en-US" sz="1050" dirty="0">
                <a:solidFill>
                  <a:srgbClr val="CFEFEA"/>
                </a:solidFill>
                <a:latin typeface="Courier New" pitchFamily="34" charset="0"/>
                <a:ea typeface="Courier New" pitchFamily="34" charset="-122"/>
                <a:cs typeface="Courier New" pitchFamily="34" charset="-120"/>
              </a:rPr>
              <a:t>    matchLabels:</a:t>
            </a:r>
            <a:endParaRPr lang="en-US" sz="1050" dirty="0"/>
          </a:p>
          <a:p>
            <a:pPr indent="0" marL="0">
              <a:buNone/>
            </a:pPr>
            <a:r>
              <a:rPr lang="en-US" sz="1050" dirty="0">
                <a:solidFill>
                  <a:srgbClr val="CFEFEA"/>
                </a:solidFill>
                <a:latin typeface="Courier New" pitchFamily="34" charset="0"/>
                <a:ea typeface="Courier New" pitchFamily="34" charset="-122"/>
                <a:cs typeface="Courier New" pitchFamily="34" charset="-120"/>
              </a:rPr>
              <a:t>      app: backend</a:t>
            </a:r>
            <a:endParaRPr lang="en-US" sz="1050" dirty="0"/>
          </a:p>
          <a:p>
            <a:pPr indent="0" marL="0">
              <a:buNone/>
            </a:pPr>
            <a:r>
              <a:rPr lang="en-US" sz="1050" dirty="0">
                <a:solidFill>
                  <a:srgbClr val="CFEFEA"/>
                </a:solidFill>
                <a:latin typeface="Courier New" pitchFamily="34" charset="0"/>
                <a:ea typeface="Courier New" pitchFamily="34" charset="-122"/>
                <a:cs typeface="Courier New" pitchFamily="34" charset="-120"/>
              </a:rPr>
              <a:t>  policyTypes:</a:t>
            </a:r>
            <a:endParaRPr lang="en-US" sz="1050" dirty="0"/>
          </a:p>
          <a:p>
            <a:pPr indent="0" marL="0">
              <a:buNone/>
            </a:pPr>
            <a:r>
              <a:rPr lang="en-US" sz="1050" dirty="0">
                <a:solidFill>
                  <a:srgbClr val="CFEFEA"/>
                </a:solidFill>
                <a:latin typeface="Courier New" pitchFamily="34" charset="0"/>
                <a:ea typeface="Courier New" pitchFamily="34" charset="-122"/>
                <a:cs typeface="Courier New" pitchFamily="34" charset="-120"/>
              </a:rPr>
              <a:t>  - Ingress</a:t>
            </a:r>
            <a:endParaRPr lang="en-US" sz="1050" dirty="0"/>
          </a:p>
          <a:p>
            <a:pPr indent="0" marL="0">
              <a:buNone/>
            </a:pPr>
            <a:r>
              <a:rPr lang="en-US" sz="1050" dirty="0">
                <a:solidFill>
                  <a:srgbClr val="CFEFEA"/>
                </a:solidFill>
                <a:latin typeface="Courier New" pitchFamily="34" charset="0"/>
                <a:ea typeface="Courier New" pitchFamily="34" charset="-122"/>
                <a:cs typeface="Courier New" pitchFamily="34" charset="-120"/>
              </a:rPr>
              <a:t>  ingress:</a:t>
            </a:r>
            <a:endParaRPr lang="en-US" sz="1050" dirty="0"/>
          </a:p>
          <a:p>
            <a:pPr indent="0" marL="0">
              <a:buNone/>
            </a:pPr>
            <a:r>
              <a:rPr lang="en-US" sz="1050" dirty="0">
                <a:solidFill>
                  <a:srgbClr val="CFEFEA"/>
                </a:solidFill>
                <a:latin typeface="Courier New" pitchFamily="34" charset="0"/>
                <a:ea typeface="Courier New" pitchFamily="34" charset="-122"/>
                <a:cs typeface="Courier New" pitchFamily="34" charset="-120"/>
              </a:rPr>
              <a:t>  - from:</a:t>
            </a:r>
            <a:endParaRPr lang="en-US" sz="1050" dirty="0"/>
          </a:p>
          <a:p>
            <a:pPr indent="0" marL="0">
              <a:buNone/>
            </a:pPr>
            <a:r>
              <a:rPr lang="en-US" sz="1050" dirty="0">
                <a:solidFill>
                  <a:srgbClr val="CFEFEA"/>
                </a:solidFill>
                <a:latin typeface="Courier New" pitchFamily="34" charset="0"/>
                <a:ea typeface="Courier New" pitchFamily="34" charset="-122"/>
                <a:cs typeface="Courier New" pitchFamily="34" charset="-120"/>
              </a:rPr>
              <a:t>    - podSelector:</a:t>
            </a:r>
            <a:endParaRPr lang="en-US" sz="1050" dirty="0"/>
          </a:p>
          <a:p>
            <a:pPr indent="0" marL="0">
              <a:buNone/>
            </a:pPr>
            <a:r>
              <a:rPr lang="en-US" sz="1050" dirty="0">
                <a:solidFill>
                  <a:srgbClr val="CFEFEA"/>
                </a:solidFill>
                <a:latin typeface="Courier New" pitchFamily="34" charset="0"/>
                <a:ea typeface="Courier New" pitchFamily="34" charset="-122"/>
                <a:cs typeface="Courier New" pitchFamily="34" charset="-120"/>
              </a:rPr>
              <a:t>        matchLabels:</a:t>
            </a:r>
            <a:endParaRPr lang="en-US" sz="1050" dirty="0"/>
          </a:p>
          <a:p>
            <a:pPr indent="0" marL="0">
              <a:buNone/>
            </a:pPr>
            <a:r>
              <a:rPr lang="en-US" sz="1050" dirty="0">
                <a:solidFill>
                  <a:srgbClr val="CFEFEA"/>
                </a:solidFill>
                <a:latin typeface="Courier New" pitchFamily="34" charset="0"/>
                <a:ea typeface="Courier New" pitchFamily="34" charset="-122"/>
                <a:cs typeface="Courier New" pitchFamily="34" charset="-120"/>
              </a:rPr>
              <a:t>          app: frontend</a:t>
            </a:r>
            <a:endParaRPr lang="en-US" sz="1050" dirty="0"/>
          </a:p>
          <a:p>
            <a:pPr indent="0" marL="0">
              <a:buNone/>
            </a:pPr>
            <a:r>
              <a:rPr lang="en-US" sz="1050" dirty="0">
                <a:solidFill>
                  <a:srgbClr val="CFEFEA"/>
                </a:solidFill>
                <a:latin typeface="Courier New" pitchFamily="34" charset="0"/>
                <a:ea typeface="Courier New" pitchFamily="34" charset="-122"/>
                <a:cs typeface="Courier New" pitchFamily="34" charset="-120"/>
              </a:rPr>
              <a:t>    ports:</a:t>
            </a:r>
            <a:endParaRPr lang="en-US" sz="1050" dirty="0"/>
          </a:p>
          <a:p>
            <a:pPr indent="0" marL="0">
              <a:buNone/>
            </a:pPr>
            <a:r>
              <a:rPr lang="en-US" sz="1050" dirty="0">
                <a:solidFill>
                  <a:srgbClr val="CFEFEA"/>
                </a:solidFill>
                <a:latin typeface="Courier New" pitchFamily="34" charset="0"/>
                <a:ea typeface="Courier New" pitchFamily="34" charset="-122"/>
                <a:cs typeface="Courier New" pitchFamily="34" charset="-120"/>
              </a:rPr>
              <a:t>    - protocol: TCP</a:t>
            </a:r>
            <a:endParaRPr lang="en-US" sz="1050" dirty="0"/>
          </a:p>
          <a:p>
            <a:pPr indent="0" marL="0">
              <a:buNone/>
            </a:pPr>
            <a:r>
              <a:rPr lang="en-US" sz="1050" dirty="0">
                <a:solidFill>
                  <a:srgbClr val="CFEFEA"/>
                </a:solidFill>
                <a:latin typeface="Courier New" pitchFamily="34" charset="0"/>
                <a:ea typeface="Courier New" pitchFamily="34" charset="-122"/>
                <a:cs typeface="Courier New" pitchFamily="34" charset="-120"/>
              </a:rPr>
              <a:t>      port: 8080</a:t>
            </a:r>
            <a:endParaRPr lang="en-US" sz="1050" dirty="0"/>
          </a:p>
        </p:txBody>
      </p:sp>
      <p:sp>
        <p:nvSpPr>
          <p:cNvPr id="6" name="Text 4"/>
          <p:cNvSpPr/>
          <p:nvPr/>
        </p:nvSpPr>
        <p:spPr>
          <a:xfrm>
            <a:off x="640080" y="5129784"/>
            <a:ext cx="10881360" cy="1271016"/>
          </a:xfrm>
          <a:prstGeom prst="rect">
            <a:avLst/>
          </a:prstGeom>
          <a:noFill/>
          <a:ln/>
        </p:spPr>
        <p:txBody>
          <a:bodyPr wrap="square" lIns="0" tIns="0" rIns="0" bIns="0" rtlCol="0" anchor="t"/>
          <a:lstStyle/>
          <a:p>
            <a:pPr marL="342900" indent="-342900">
              <a:spcAft>
                <a:spcPts val="500"/>
              </a:spcAft>
              <a:buSzPct val="100000"/>
              <a:buChar char="•"/>
            </a:pPr>
            <a:r>
              <a:rPr lang="en-US" sz="1200" dirty="0">
                <a:solidFill>
                  <a:srgbClr val="1E293B"/>
                </a:solidFill>
                <a:latin typeface="Calibri" pitchFamily="34" charset="0"/>
                <a:ea typeface="Calibri" pitchFamily="34" charset="-122"/>
                <a:cs typeface="Calibri" pitchFamily="34" charset="-120"/>
              </a:rPr>
              <a:t>podSelector at the top level picks which Pods this POLICY applies to (the destination); the 'from' podSelector picks who is ALLOWED to reach them (the source).</a:t>
            </a:r>
            <a:endParaRPr lang="en-US" sz="1200" dirty="0"/>
          </a:p>
          <a:p>
            <a:pPr marL="342900" indent="-342900">
              <a:spcAft>
                <a:spcPts val="500"/>
              </a:spcAft>
              <a:buSzPct val="100000"/>
              <a:buChar char="•"/>
            </a:pPr>
            <a:r>
              <a:rPr lang="en-US" sz="1200" dirty="0">
                <a:solidFill>
                  <a:srgbClr val="1E293B"/>
                </a:solidFill>
                <a:latin typeface="Calibri" pitchFamily="34" charset="0"/>
                <a:ea typeface="Calibri" pitchFamily="34" charset="-122"/>
                <a:cs typeface="Calibri" pitchFamily="34" charset="-120"/>
              </a:rPr>
              <a:t>Without the ports block, all ports are allowed from the matching source — always specify ports unless intentionally allowing everything.</a:t>
            </a:r>
            <a:endParaRPr lang="en-US" sz="1200" dirty="0"/>
          </a:p>
        </p:txBody>
      </p:sp>
      <p:sp>
        <p:nvSpPr>
          <p:cNvPr id="7" name="Text 5"/>
          <p:cNvSpPr/>
          <p:nvPr/>
        </p:nvSpPr>
        <p:spPr>
          <a:xfrm>
            <a:off x="457200" y="6446520"/>
            <a:ext cx="6400800" cy="27432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CKA v1.36 · Module 2</a:t>
            </a:r>
            <a:endParaRPr lang="en-US" sz="900" dirty="0"/>
          </a:p>
        </p:txBody>
      </p:sp>
      <p:sp>
        <p:nvSpPr>
          <p:cNvPr id="8" name="Text 6"/>
          <p:cNvSpPr/>
          <p:nvPr/>
        </p:nvSpPr>
        <p:spPr>
          <a:xfrm>
            <a:off x="11247120" y="6446520"/>
            <a:ext cx="4572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27</a:t>
            </a:r>
            <a:endParaRPr lang="en-US" sz="9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65760"/>
            <a:ext cx="9144000" cy="320040"/>
          </a:xfrm>
          <a:prstGeom prst="rect">
            <a:avLst/>
          </a:prstGeom>
          <a:noFill/>
          <a:ln/>
        </p:spPr>
        <p:txBody>
          <a:bodyPr wrap="square" lIns="0" tIns="0" rIns="0" bIns="0" rtlCol="0" anchor="ctr"/>
          <a:lstStyle/>
          <a:p>
            <a:pPr indent="0" marL="0">
              <a:buNone/>
            </a:pPr>
            <a:r>
              <a:rPr lang="en-US" sz="1150" b="1" spc="150" kern="0" dirty="0">
                <a:solidFill>
                  <a:srgbClr val="1C7293"/>
                </a:solidFill>
                <a:latin typeface="Calibri" pitchFamily="34" charset="0"/>
                <a:ea typeface="Calibri" pitchFamily="34" charset="-122"/>
                <a:cs typeface="Calibri" pitchFamily="34" charset="-120"/>
              </a:rPr>
              <a:t>NETWORK POLICIES</a:t>
            </a:r>
            <a:endParaRPr lang="en-US" sz="1150" dirty="0"/>
          </a:p>
        </p:txBody>
      </p:sp>
      <p:sp>
        <p:nvSpPr>
          <p:cNvPr id="3" name="Text 1"/>
          <p:cNvSpPr/>
          <p:nvPr/>
        </p:nvSpPr>
        <p:spPr>
          <a:xfrm>
            <a:off x="640080" y="658368"/>
            <a:ext cx="10881360" cy="685800"/>
          </a:xfrm>
          <a:prstGeom prst="rect">
            <a:avLst/>
          </a:prstGeom>
          <a:noFill/>
          <a:ln/>
        </p:spPr>
        <p:txBody>
          <a:bodyPr wrap="square" lIns="0" tIns="0" rIns="0" bIns="0" rtlCol="0" anchor="ctr"/>
          <a:lstStyle/>
          <a:p>
            <a:pPr indent="0" marL="0">
              <a:buNone/>
            </a:pPr>
            <a:r>
              <a:rPr lang="en-US" sz="2600" b="1" dirty="0">
                <a:solidFill>
                  <a:srgbClr val="21295C"/>
                </a:solidFill>
                <a:latin typeface="Cambria" pitchFamily="34" charset="0"/>
                <a:ea typeface="Cambria" pitchFamily="34" charset="-122"/>
                <a:cs typeface="Cambria" pitchFamily="34" charset="-120"/>
              </a:rPr>
              <a:t>Selecting Traffic by Namespace</a:t>
            </a:r>
            <a:endParaRPr lang="en-US" sz="2600" dirty="0"/>
          </a:p>
        </p:txBody>
      </p:sp>
      <p:sp>
        <p:nvSpPr>
          <p:cNvPr id="4" name="Shape 2"/>
          <p:cNvSpPr/>
          <p:nvPr/>
        </p:nvSpPr>
        <p:spPr>
          <a:xfrm>
            <a:off x="640080" y="1371600"/>
            <a:ext cx="10881360" cy="0"/>
          </a:xfrm>
          <a:prstGeom prst="line">
            <a:avLst/>
          </a:prstGeom>
          <a:noFill/>
          <a:ln w="12700">
            <a:solidFill>
              <a:srgbClr val="D7E3E8"/>
            </a:solidFill>
            <a:prstDash val="solid"/>
          </a:ln>
        </p:spPr>
      </p:sp>
      <p:sp>
        <p:nvSpPr>
          <p:cNvPr id="5" name="Shape 3"/>
          <p:cNvSpPr/>
          <p:nvPr/>
        </p:nvSpPr>
        <p:spPr>
          <a:xfrm>
            <a:off x="11109960" y="411480"/>
            <a:ext cx="502920" cy="502920"/>
          </a:xfrm>
          <a:prstGeom prst="ellipse">
            <a:avLst/>
          </a:prstGeom>
          <a:solidFill>
            <a:srgbClr val="EAF4F8"/>
          </a:solidFill>
          <a:ln w="15875">
            <a:solidFill>
              <a:srgbClr val="1C7293"/>
            </a:solidFill>
            <a:prstDash val="solid"/>
          </a:ln>
        </p:spPr>
      </p:sp>
      <p:sp>
        <p:nvSpPr>
          <p:cNvPr id="6" name="Text 4"/>
          <p:cNvSpPr/>
          <p:nvPr/>
        </p:nvSpPr>
        <p:spPr>
          <a:xfrm>
            <a:off x="11109960" y="411480"/>
            <a:ext cx="502920" cy="502920"/>
          </a:xfrm>
          <a:prstGeom prst="rect">
            <a:avLst/>
          </a:prstGeom>
          <a:noFill/>
          <a:ln/>
        </p:spPr>
        <p:txBody>
          <a:bodyPr wrap="square" lIns="0" tIns="0" rIns="0" bIns="0" rtlCol="0" anchor="ctr"/>
          <a:lstStyle/>
          <a:p>
            <a:pPr algn="ctr" indent="0" marL="0">
              <a:buNone/>
            </a:pPr>
            <a:r>
              <a:rPr lang="en-US" sz="1600" b="1" dirty="0">
                <a:solidFill>
                  <a:srgbClr val="1C7293"/>
                </a:solidFill>
                <a:latin typeface="Calibri" pitchFamily="34" charset="0"/>
                <a:ea typeface="Calibri" pitchFamily="34" charset="-122"/>
                <a:cs typeface="Calibri" pitchFamily="34" charset="-120"/>
              </a:rPr>
              <a:t>8</a:t>
            </a:r>
            <a:endParaRPr lang="en-US" sz="1600" dirty="0"/>
          </a:p>
        </p:txBody>
      </p:sp>
      <p:sp>
        <p:nvSpPr>
          <p:cNvPr id="7" name="Text 5"/>
          <p:cNvSpPr/>
          <p:nvPr/>
        </p:nvSpPr>
        <p:spPr>
          <a:xfrm>
            <a:off x="640080" y="1600200"/>
            <a:ext cx="10881360" cy="4572000"/>
          </a:xfrm>
          <a:prstGeom prst="rect">
            <a:avLst/>
          </a:prstGeom>
          <a:noFill/>
          <a:ln/>
        </p:spPr>
        <p:txBody>
          <a:bodyPr wrap="square" lIns="0" tIns="0" rIns="0" bIns="0" rtlCol="0" anchor="t"/>
          <a:lstStyle/>
          <a:p>
            <a:pPr marL="342900" indent="-342900">
              <a:spcAft>
                <a:spcPts val="1200"/>
              </a:spcAft>
              <a:buSzPct val="100000"/>
              <a:buChar char="•"/>
            </a:pPr>
            <a:r>
              <a:rPr lang="en-US" sz="1550" dirty="0">
                <a:solidFill>
                  <a:srgbClr val="1E293B"/>
                </a:solidFill>
                <a:latin typeface="Calibri" pitchFamily="34" charset="0"/>
                <a:ea typeface="Calibri" pitchFamily="34" charset="-122"/>
                <a:cs typeface="Calibri" pitchFamily="34" charset="-120"/>
              </a:rPr>
              <a:t>namespaceSelector restricts allowed traffic to Pods running in namespaces matching certain labels — namespaces need labels applied first (kubectl label namespace).</a:t>
            </a:r>
            <a:endParaRPr lang="en-US" sz="1550" dirty="0"/>
          </a:p>
          <a:p>
            <a:pPr marL="342900" indent="-342900">
              <a:spcAft>
                <a:spcPts val="1200"/>
              </a:spcAft>
              <a:buSzPct val="100000"/>
              <a:buChar char="•"/>
            </a:pPr>
            <a:r>
              <a:rPr lang="en-US" sz="1550" dirty="0">
                <a:solidFill>
                  <a:srgbClr val="1E293B"/>
                </a:solidFill>
                <a:latin typeface="Calibri" pitchFamily="34" charset="0"/>
                <a:ea typeface="Calibri" pitchFamily="34" charset="-122"/>
                <a:cs typeface="Calibri" pitchFamily="34" charset="-120"/>
              </a:rPr>
              <a:t>Combining podSelector AND namespaceSelector in the SAME 'from' entry is an AND condition: traffic must match both.</a:t>
            </a:r>
            <a:endParaRPr lang="en-US" sz="1550" dirty="0"/>
          </a:p>
          <a:p>
            <a:pPr marL="342900" indent="-342900">
              <a:spcAft>
                <a:spcPts val="1200"/>
              </a:spcAft>
              <a:buSzPct val="100000"/>
              <a:buChar char="•"/>
            </a:pPr>
            <a:r>
              <a:rPr lang="en-US" sz="1550" dirty="0">
                <a:solidFill>
                  <a:srgbClr val="1E293B"/>
                </a:solidFill>
                <a:latin typeface="Calibri" pitchFamily="34" charset="0"/>
                <a:ea typeface="Calibri" pitchFamily="34" charset="-122"/>
                <a:cs typeface="Calibri" pitchFamily="34" charset="-120"/>
              </a:rPr>
              <a:t>Listing podSelector and namespaceSelector as SEPARATE 'from' entries (separate list items) is an OR condition: either one matching is enough.</a:t>
            </a:r>
            <a:endParaRPr lang="en-US" sz="1550" dirty="0"/>
          </a:p>
          <a:p>
            <a:pPr marL="342900" indent="-342900">
              <a:spcAft>
                <a:spcPts val="1200"/>
              </a:spcAft>
              <a:buSzPct val="100000"/>
              <a:buChar char="•"/>
            </a:pPr>
            <a:r>
              <a:rPr lang="en-US" sz="1550" dirty="0">
                <a:solidFill>
                  <a:srgbClr val="1E293B"/>
                </a:solidFill>
                <a:latin typeface="Calibri" pitchFamily="34" charset="0"/>
                <a:ea typeface="Calibri" pitchFamily="34" charset="-122"/>
                <a:cs typeface="Calibri" pitchFamily="34" charset="-120"/>
              </a:rPr>
              <a:t>This AND-vs-OR distinction inside the 'from' array is one of the most commonly mis-answered exam concepts — pay close attention to YAML indentation/structure on policy questions.</a:t>
            </a:r>
            <a:endParaRPr lang="en-US" sz="1550" dirty="0"/>
          </a:p>
        </p:txBody>
      </p:sp>
      <p:sp>
        <p:nvSpPr>
          <p:cNvPr id="8" name="Text 6"/>
          <p:cNvSpPr/>
          <p:nvPr/>
        </p:nvSpPr>
        <p:spPr>
          <a:xfrm>
            <a:off x="457200" y="6446520"/>
            <a:ext cx="6400800" cy="27432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CKA v1.36 · Module 2</a:t>
            </a:r>
            <a:endParaRPr lang="en-US" sz="900" dirty="0"/>
          </a:p>
        </p:txBody>
      </p:sp>
      <p:sp>
        <p:nvSpPr>
          <p:cNvPr id="9" name="Text 7"/>
          <p:cNvSpPr/>
          <p:nvPr/>
        </p:nvSpPr>
        <p:spPr>
          <a:xfrm>
            <a:off x="11247120" y="6446520"/>
            <a:ext cx="4572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28</a:t>
            </a:r>
            <a:endParaRPr lang="en-US" sz="9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65760"/>
            <a:ext cx="9144000" cy="320040"/>
          </a:xfrm>
          <a:prstGeom prst="rect">
            <a:avLst/>
          </a:prstGeom>
          <a:noFill/>
          <a:ln/>
        </p:spPr>
        <p:txBody>
          <a:bodyPr wrap="square" lIns="0" tIns="0" rIns="0" bIns="0" rtlCol="0" anchor="ctr"/>
          <a:lstStyle/>
          <a:p>
            <a:pPr indent="0" marL="0">
              <a:buNone/>
            </a:pPr>
            <a:r>
              <a:rPr lang="en-US" sz="1150" b="1" spc="150" kern="0" dirty="0">
                <a:solidFill>
                  <a:srgbClr val="1C7293"/>
                </a:solidFill>
                <a:latin typeface="Calibri" pitchFamily="34" charset="0"/>
                <a:ea typeface="Calibri" pitchFamily="34" charset="-122"/>
                <a:cs typeface="Calibri" pitchFamily="34" charset="-120"/>
              </a:rPr>
              <a:t>NETWORK POLICIES</a:t>
            </a:r>
            <a:endParaRPr lang="en-US" sz="1150" dirty="0"/>
          </a:p>
        </p:txBody>
      </p:sp>
      <p:sp>
        <p:nvSpPr>
          <p:cNvPr id="3" name="Text 1"/>
          <p:cNvSpPr/>
          <p:nvPr/>
        </p:nvSpPr>
        <p:spPr>
          <a:xfrm>
            <a:off x="640080" y="658368"/>
            <a:ext cx="10881360" cy="548640"/>
          </a:xfrm>
          <a:prstGeom prst="rect">
            <a:avLst/>
          </a:prstGeom>
          <a:noFill/>
          <a:ln/>
        </p:spPr>
        <p:txBody>
          <a:bodyPr wrap="square" lIns="0" tIns="0" rIns="0" bIns="0" rtlCol="0" anchor="ctr"/>
          <a:lstStyle/>
          <a:p>
            <a:pPr indent="0" marL="0">
              <a:buNone/>
            </a:pPr>
            <a:r>
              <a:rPr lang="en-US" sz="2400" b="1" dirty="0">
                <a:solidFill>
                  <a:srgbClr val="21295C"/>
                </a:solidFill>
                <a:latin typeface="Cambria" pitchFamily="34" charset="0"/>
                <a:ea typeface="Cambria" pitchFamily="34" charset="-122"/>
                <a:cs typeface="Cambria" pitchFamily="34" charset="-120"/>
              </a:rPr>
              <a:t>AND vs. OR: Reading the YAML Structure Correctly</a:t>
            </a:r>
            <a:endParaRPr lang="en-US" sz="2400" dirty="0"/>
          </a:p>
        </p:txBody>
      </p:sp>
      <p:sp>
        <p:nvSpPr>
          <p:cNvPr id="4" name="Shape 2"/>
          <p:cNvSpPr/>
          <p:nvPr/>
        </p:nvSpPr>
        <p:spPr>
          <a:xfrm>
            <a:off x="640080" y="1371600"/>
            <a:ext cx="10881360" cy="4023360"/>
          </a:xfrm>
          <a:prstGeom prst="roundRect">
            <a:avLst>
              <a:gd name="adj" fmla="val 1364"/>
            </a:avLst>
          </a:prstGeom>
          <a:solidFill>
            <a:srgbClr val="0B2330"/>
          </a:solidFill>
          <a:ln/>
          <a:effectLst>
            <a:outerShdw sx="100000" sy="100000" kx="0" ky="0" algn="bl" rotWithShape="0" blurRad="88900" dist="25400" dir="2700000">
              <a:srgbClr val="1B2A36">
                <a:alpha val="12000"/>
              </a:srgbClr>
            </a:outerShdw>
          </a:effectLst>
        </p:spPr>
      </p:sp>
      <p:sp>
        <p:nvSpPr>
          <p:cNvPr id="5" name="Text 3"/>
          <p:cNvSpPr/>
          <p:nvPr/>
        </p:nvSpPr>
        <p:spPr>
          <a:xfrm>
            <a:off x="868680" y="1536192"/>
            <a:ext cx="10424160" cy="3694176"/>
          </a:xfrm>
          <a:prstGeom prst="rect">
            <a:avLst/>
          </a:prstGeom>
          <a:noFill/>
          <a:ln/>
        </p:spPr>
        <p:txBody>
          <a:bodyPr wrap="square" lIns="0" tIns="0" rIns="0" bIns="0" rtlCol="0" anchor="t"/>
          <a:lstStyle/>
          <a:p>
            <a:pPr indent="0" marL="0">
              <a:buNone/>
            </a:pPr>
            <a:r>
              <a:rPr lang="en-US" sz="1350" dirty="0">
                <a:solidFill>
                  <a:srgbClr val="CFEFEA"/>
                </a:solidFill>
                <a:latin typeface="Courier New" pitchFamily="34" charset="0"/>
                <a:ea typeface="Courier New" pitchFamily="34" charset="-122"/>
                <a:cs typeface="Courier New" pitchFamily="34" charset="-120"/>
              </a:rPr>
              <a:t># AND: traffic must come from app=frontend AND namespace=prod</a:t>
            </a:r>
            <a:endParaRPr lang="en-US" sz="1350" dirty="0"/>
          </a:p>
          <a:p>
            <a:pPr indent="0" marL="0">
              <a:buNone/>
            </a:pPr>
            <a:r>
              <a:rPr lang="en-US" sz="1350" dirty="0">
                <a:solidFill>
                  <a:srgbClr val="CFEFEA"/>
                </a:solidFill>
                <a:latin typeface="Courier New" pitchFamily="34" charset="0"/>
                <a:ea typeface="Courier New" pitchFamily="34" charset="-122"/>
                <a:cs typeface="Courier New" pitchFamily="34" charset="-120"/>
              </a:rPr>
              <a:t>ingress:</a:t>
            </a:r>
            <a:endParaRPr lang="en-US" sz="1350" dirty="0"/>
          </a:p>
          <a:p>
            <a:pPr indent="0" marL="0">
              <a:buNone/>
            </a:pPr>
            <a:r>
              <a:rPr lang="en-US" sz="1350" dirty="0">
                <a:solidFill>
                  <a:srgbClr val="CFEFEA"/>
                </a:solidFill>
                <a:latin typeface="Courier New" pitchFamily="34" charset="0"/>
                <a:ea typeface="Courier New" pitchFamily="34" charset="-122"/>
                <a:cs typeface="Courier New" pitchFamily="34" charset="-120"/>
              </a:rPr>
              <a:t>- from:</a:t>
            </a:r>
            <a:endParaRPr lang="en-US" sz="1350" dirty="0"/>
          </a:p>
          <a:p>
            <a:pPr indent="0" marL="0">
              <a:buNone/>
            </a:pPr>
            <a:r>
              <a:rPr lang="en-US" sz="1350" dirty="0">
                <a:solidFill>
                  <a:srgbClr val="CFEFEA"/>
                </a:solidFill>
                <a:latin typeface="Courier New" pitchFamily="34" charset="0"/>
                <a:ea typeface="Courier New" pitchFamily="34" charset="-122"/>
                <a:cs typeface="Courier New" pitchFamily="34" charset="-120"/>
              </a:rPr>
              <a:t>  - podSelector: {matchLabels: {app: frontend}}</a:t>
            </a:r>
            <a:endParaRPr lang="en-US" sz="1350" dirty="0"/>
          </a:p>
          <a:p>
            <a:pPr indent="0" marL="0">
              <a:buNone/>
            </a:pPr>
            <a:r>
              <a:rPr lang="en-US" sz="1350" dirty="0">
                <a:solidFill>
                  <a:srgbClr val="CFEFEA"/>
                </a:solidFill>
                <a:latin typeface="Courier New" pitchFamily="34" charset="0"/>
                <a:ea typeface="Courier New" pitchFamily="34" charset="-122"/>
                <a:cs typeface="Courier New" pitchFamily="34" charset="-120"/>
              </a:rPr>
              <a:t>    namespaceSelector: {matchLabels: {env: prod}}</a:t>
            </a:r>
            <a:endParaRPr lang="en-US" sz="1350" dirty="0"/>
          </a:p>
          <a:p>
            <a:pPr indent="0" marL="0">
              <a:buNone/>
            </a:pPr>
            <a:endParaRPr lang="en-US" sz="1350" dirty="0"/>
          </a:p>
          <a:p>
            <a:pPr indent="0" marL="0">
              <a:buNone/>
            </a:pPr>
            <a:r>
              <a:rPr lang="en-US" sz="1350" dirty="0">
                <a:solidFill>
                  <a:srgbClr val="CFEFEA"/>
                </a:solidFill>
                <a:latin typeface="Courier New" pitchFamily="34" charset="0"/>
                <a:ea typeface="Courier New" pitchFamily="34" charset="-122"/>
                <a:cs typeface="Courier New" pitchFamily="34" charset="-120"/>
              </a:rPr>
              <a:t># OR: traffic from app=frontend (any ns) OR from namespace=prod (any pod)</a:t>
            </a:r>
            <a:endParaRPr lang="en-US" sz="1350" dirty="0"/>
          </a:p>
          <a:p>
            <a:pPr indent="0" marL="0">
              <a:buNone/>
            </a:pPr>
            <a:r>
              <a:rPr lang="en-US" sz="1350" dirty="0">
                <a:solidFill>
                  <a:srgbClr val="CFEFEA"/>
                </a:solidFill>
                <a:latin typeface="Courier New" pitchFamily="34" charset="0"/>
                <a:ea typeface="Courier New" pitchFamily="34" charset="-122"/>
                <a:cs typeface="Courier New" pitchFamily="34" charset="-120"/>
              </a:rPr>
              <a:t>ingress:</a:t>
            </a:r>
            <a:endParaRPr lang="en-US" sz="1350" dirty="0"/>
          </a:p>
          <a:p>
            <a:pPr indent="0" marL="0">
              <a:buNone/>
            </a:pPr>
            <a:r>
              <a:rPr lang="en-US" sz="1350" dirty="0">
                <a:solidFill>
                  <a:srgbClr val="CFEFEA"/>
                </a:solidFill>
                <a:latin typeface="Courier New" pitchFamily="34" charset="0"/>
                <a:ea typeface="Courier New" pitchFamily="34" charset="-122"/>
                <a:cs typeface="Courier New" pitchFamily="34" charset="-120"/>
              </a:rPr>
              <a:t>- from:</a:t>
            </a:r>
            <a:endParaRPr lang="en-US" sz="1350" dirty="0"/>
          </a:p>
          <a:p>
            <a:pPr indent="0" marL="0">
              <a:buNone/>
            </a:pPr>
            <a:r>
              <a:rPr lang="en-US" sz="1350" dirty="0">
                <a:solidFill>
                  <a:srgbClr val="CFEFEA"/>
                </a:solidFill>
                <a:latin typeface="Courier New" pitchFamily="34" charset="0"/>
                <a:ea typeface="Courier New" pitchFamily="34" charset="-122"/>
                <a:cs typeface="Courier New" pitchFamily="34" charset="-120"/>
              </a:rPr>
              <a:t>  - podSelector: {matchLabels: {app: frontend}}</a:t>
            </a:r>
            <a:endParaRPr lang="en-US" sz="1350" dirty="0"/>
          </a:p>
          <a:p>
            <a:pPr indent="0" marL="0">
              <a:buNone/>
            </a:pPr>
            <a:r>
              <a:rPr lang="en-US" sz="1350" dirty="0">
                <a:solidFill>
                  <a:srgbClr val="CFEFEA"/>
                </a:solidFill>
                <a:latin typeface="Courier New" pitchFamily="34" charset="0"/>
                <a:ea typeface="Courier New" pitchFamily="34" charset="-122"/>
                <a:cs typeface="Courier New" pitchFamily="34" charset="-120"/>
              </a:rPr>
              <a:t>  - namespaceSelector: {matchLabels: {env: prod}}</a:t>
            </a:r>
            <a:endParaRPr lang="en-US" sz="1350" dirty="0"/>
          </a:p>
        </p:txBody>
      </p:sp>
      <p:sp>
        <p:nvSpPr>
          <p:cNvPr id="6" name="Text 4"/>
          <p:cNvSpPr/>
          <p:nvPr/>
        </p:nvSpPr>
        <p:spPr>
          <a:xfrm>
            <a:off x="640080" y="5623560"/>
            <a:ext cx="10881360" cy="777240"/>
          </a:xfrm>
          <a:prstGeom prst="rect">
            <a:avLst/>
          </a:prstGeom>
          <a:noFill/>
          <a:ln/>
        </p:spPr>
        <p:txBody>
          <a:bodyPr wrap="square" lIns="0" tIns="0" rIns="0" bIns="0" rtlCol="0" anchor="t"/>
          <a:lstStyle/>
          <a:p>
            <a:pPr marL="342900" indent="-342900">
              <a:spcAft>
                <a:spcPts val="500"/>
              </a:spcAft>
              <a:buSzPct val="100000"/>
              <a:buChar char="•"/>
            </a:pPr>
            <a:r>
              <a:rPr lang="en-US" sz="1200" dirty="0">
                <a:solidFill>
                  <a:srgbClr val="1E293B"/>
                </a:solidFill>
                <a:latin typeface="Calibri" pitchFamily="34" charset="0"/>
                <a:ea typeface="Calibri" pitchFamily="34" charset="-122"/>
                <a:cs typeface="Calibri" pitchFamily="34" charset="-120"/>
              </a:rPr>
              <a:t>The tell: a single dash (-) starting ONE list item containing both selectors means AND; TWO separate dashes means OR.</a:t>
            </a:r>
            <a:endParaRPr lang="en-US" sz="1200" dirty="0"/>
          </a:p>
          <a:p>
            <a:pPr marL="342900" indent="-342900">
              <a:spcAft>
                <a:spcPts val="500"/>
              </a:spcAft>
              <a:buSzPct val="100000"/>
              <a:buChar char="•"/>
            </a:pPr>
            <a:r>
              <a:rPr lang="en-US" sz="1200" dirty="0">
                <a:solidFill>
                  <a:srgbClr val="1E293B"/>
                </a:solidFill>
                <a:latin typeface="Calibri" pitchFamily="34" charset="0"/>
                <a:ea typeface="Calibri" pitchFamily="34" charset="-122"/>
                <a:cs typeface="Calibri" pitchFamily="34" charset="-120"/>
              </a:rPr>
              <a:t>This exact AND/OR YAML structure question appears in some form on most CKA exam attempts.</a:t>
            </a:r>
            <a:endParaRPr lang="en-US" sz="1200" dirty="0"/>
          </a:p>
        </p:txBody>
      </p:sp>
      <p:sp>
        <p:nvSpPr>
          <p:cNvPr id="7" name="Text 5"/>
          <p:cNvSpPr/>
          <p:nvPr/>
        </p:nvSpPr>
        <p:spPr>
          <a:xfrm>
            <a:off x="457200" y="6446520"/>
            <a:ext cx="6400800" cy="27432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CKA v1.36 · Module 2</a:t>
            </a:r>
            <a:endParaRPr lang="en-US" sz="900" dirty="0"/>
          </a:p>
        </p:txBody>
      </p:sp>
      <p:sp>
        <p:nvSpPr>
          <p:cNvPr id="8" name="Text 6"/>
          <p:cNvSpPr/>
          <p:nvPr/>
        </p:nvSpPr>
        <p:spPr>
          <a:xfrm>
            <a:off x="11247120" y="6446520"/>
            <a:ext cx="4572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29</a:t>
            </a:r>
            <a:endParaRPr lang="en-US" sz="9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365760"/>
            <a:ext cx="2468880" cy="384048"/>
          </a:xfrm>
          <a:prstGeom prst="roundRect">
            <a:avLst>
              <a:gd name="adj" fmla="val 50000"/>
            </a:avLst>
          </a:prstGeom>
          <a:solidFill>
            <a:srgbClr val="21295C"/>
          </a:solidFill>
          <a:ln/>
        </p:spPr>
      </p:sp>
      <p:sp>
        <p:nvSpPr>
          <p:cNvPr id="3" name="Text 1"/>
          <p:cNvSpPr/>
          <p:nvPr/>
        </p:nvSpPr>
        <p:spPr>
          <a:xfrm>
            <a:off x="640080" y="365760"/>
            <a:ext cx="2468880" cy="384048"/>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EXAM PATTERN 6</a:t>
            </a:r>
            <a:endParaRPr lang="en-US" sz="1150" dirty="0"/>
          </a:p>
        </p:txBody>
      </p:sp>
      <p:sp>
        <p:nvSpPr>
          <p:cNvPr id="4" name="Text 2"/>
          <p:cNvSpPr/>
          <p:nvPr/>
        </p:nvSpPr>
        <p:spPr>
          <a:xfrm>
            <a:off x="3246120" y="365760"/>
            <a:ext cx="8229600" cy="384048"/>
          </a:xfrm>
          <a:prstGeom prst="rect">
            <a:avLst/>
          </a:prstGeom>
          <a:noFill/>
          <a:ln/>
        </p:spPr>
        <p:txBody>
          <a:bodyPr wrap="square" lIns="0" tIns="0" rIns="0" bIns="0" rtlCol="0" anchor="ctr"/>
          <a:lstStyle/>
          <a:p>
            <a:pPr indent="0" marL="0">
              <a:buNone/>
            </a:pPr>
            <a:r>
              <a:rPr lang="en-US" sz="1100" b="1" spc="120" kern="0" dirty="0">
                <a:solidFill>
                  <a:srgbClr val="1C7293"/>
                </a:solidFill>
                <a:latin typeface="Calibri" pitchFamily="34" charset="0"/>
                <a:ea typeface="Calibri" pitchFamily="34" charset="-122"/>
                <a:cs typeface="Calibri" pitchFamily="34" charset="-120"/>
              </a:rPr>
              <a:t>NETWORK POLICIES</a:t>
            </a:r>
            <a:endParaRPr lang="en-US" sz="1100" dirty="0"/>
          </a:p>
        </p:txBody>
      </p:sp>
      <p:sp>
        <p:nvSpPr>
          <p:cNvPr id="5" name="Text 3"/>
          <p:cNvSpPr/>
          <p:nvPr/>
        </p:nvSpPr>
        <p:spPr>
          <a:xfrm>
            <a:off x="640080" y="841248"/>
            <a:ext cx="10881360" cy="502920"/>
          </a:xfrm>
          <a:prstGeom prst="rect">
            <a:avLst/>
          </a:prstGeom>
          <a:noFill/>
          <a:ln/>
        </p:spPr>
        <p:txBody>
          <a:bodyPr wrap="square" lIns="0" tIns="0" rIns="0" bIns="0" rtlCol="0" anchor="ctr"/>
          <a:lstStyle/>
          <a:p>
            <a:pPr indent="0" marL="0">
              <a:buNone/>
            </a:pPr>
            <a:r>
              <a:rPr lang="en-US" sz="2100" b="1" dirty="0">
                <a:solidFill>
                  <a:srgbClr val="21295C"/>
                </a:solidFill>
                <a:latin typeface="Cambria" pitchFamily="34" charset="0"/>
                <a:ea typeface="Cambria" pitchFamily="34" charset="-122"/>
                <a:cs typeface="Cambria" pitchFamily="34" charset="-120"/>
              </a:rPr>
              <a:t>NetworkPolicy Applied but Traffic Still Not Blocked</a:t>
            </a:r>
            <a:endParaRPr lang="en-US" sz="2100" dirty="0"/>
          </a:p>
        </p:txBody>
      </p:sp>
      <p:sp>
        <p:nvSpPr>
          <p:cNvPr id="6" name="Shape 4"/>
          <p:cNvSpPr/>
          <p:nvPr/>
        </p:nvSpPr>
        <p:spPr>
          <a:xfrm>
            <a:off x="640080" y="1463040"/>
            <a:ext cx="10881360" cy="960120"/>
          </a:xfrm>
          <a:prstGeom prst="roundRect">
            <a:avLst>
              <a:gd name="adj" fmla="val 5714"/>
            </a:avLst>
          </a:prstGeom>
          <a:solidFill>
            <a:srgbClr val="EAF4F8"/>
          </a:solidFill>
          <a:ln/>
        </p:spPr>
      </p:sp>
      <p:sp>
        <p:nvSpPr>
          <p:cNvPr id="7" name="Text 5"/>
          <p:cNvSpPr/>
          <p:nvPr/>
        </p:nvSpPr>
        <p:spPr>
          <a:xfrm>
            <a:off x="868680" y="1554480"/>
            <a:ext cx="2743200" cy="274320"/>
          </a:xfrm>
          <a:prstGeom prst="rect">
            <a:avLst/>
          </a:prstGeom>
          <a:noFill/>
          <a:ln/>
        </p:spPr>
        <p:txBody>
          <a:bodyPr wrap="square" lIns="0" tIns="0" rIns="0" bIns="0" rtlCol="0" anchor="ctr"/>
          <a:lstStyle/>
          <a:p>
            <a:pPr indent="0" marL="0">
              <a:buNone/>
            </a:pPr>
            <a:r>
              <a:rPr lang="en-US" sz="1050" b="1" spc="100" kern="0" dirty="0">
                <a:solidFill>
                  <a:srgbClr val="1C7293"/>
                </a:solidFill>
                <a:latin typeface="Calibri" pitchFamily="34" charset="0"/>
                <a:ea typeface="Calibri" pitchFamily="34" charset="-122"/>
                <a:cs typeface="Calibri" pitchFamily="34" charset="-120"/>
              </a:rPr>
              <a:t>SYMPTOM / SCENARIO</a:t>
            </a:r>
            <a:endParaRPr lang="en-US" sz="1050" dirty="0"/>
          </a:p>
        </p:txBody>
      </p:sp>
      <p:sp>
        <p:nvSpPr>
          <p:cNvPr id="8" name="Text 6"/>
          <p:cNvSpPr/>
          <p:nvPr/>
        </p:nvSpPr>
        <p:spPr>
          <a:xfrm>
            <a:off x="868680" y="1810512"/>
            <a:ext cx="10424160" cy="548640"/>
          </a:xfrm>
          <a:prstGeom prst="rect">
            <a:avLst/>
          </a:prstGeom>
          <a:noFill/>
          <a:ln/>
        </p:spPr>
        <p:txBody>
          <a:bodyPr wrap="square" lIns="0" tIns="0" rIns="0" bIns="0" rtlCol="0" anchor="t"/>
          <a:lstStyle/>
          <a:p>
            <a:pPr indent="0" marL="0">
              <a:buNone/>
            </a:pPr>
            <a:r>
              <a:rPr lang="en-US" sz="1300" dirty="0">
                <a:solidFill>
                  <a:srgbClr val="1E293B"/>
                </a:solidFill>
                <a:latin typeface="Calibri" pitchFamily="34" charset="0"/>
                <a:ea typeface="Calibri" pitchFamily="34" charset="-122"/>
                <a:cs typeface="Calibri" pitchFamily="34" charset="-120"/>
              </a:rPr>
              <a:t>You apply a default-deny NetworkPolicy in a namespace, but Pods can still reach each other freely, as if the policy didn't exist.</a:t>
            </a:r>
            <a:endParaRPr lang="en-US" sz="1300" dirty="0"/>
          </a:p>
        </p:txBody>
      </p:sp>
      <p:sp>
        <p:nvSpPr>
          <p:cNvPr id="9" name="Shape 7"/>
          <p:cNvSpPr/>
          <p:nvPr/>
        </p:nvSpPr>
        <p:spPr>
          <a:xfrm>
            <a:off x="640080" y="2587752"/>
            <a:ext cx="10881360" cy="914400"/>
          </a:xfrm>
          <a:prstGeom prst="roundRect">
            <a:avLst>
              <a:gd name="adj" fmla="val 6000"/>
            </a:avLst>
          </a:prstGeom>
          <a:solidFill>
            <a:srgbClr val="FBF3E3"/>
          </a:solidFill>
          <a:ln/>
        </p:spPr>
      </p:sp>
      <p:sp>
        <p:nvSpPr>
          <p:cNvPr id="10" name="Text 8"/>
          <p:cNvSpPr/>
          <p:nvPr/>
        </p:nvSpPr>
        <p:spPr>
          <a:xfrm>
            <a:off x="868680" y="2679192"/>
            <a:ext cx="2743200" cy="274320"/>
          </a:xfrm>
          <a:prstGeom prst="rect">
            <a:avLst/>
          </a:prstGeom>
          <a:noFill/>
          <a:ln/>
        </p:spPr>
        <p:txBody>
          <a:bodyPr wrap="square" lIns="0" tIns="0" rIns="0" bIns="0" rtlCol="0" anchor="ctr"/>
          <a:lstStyle/>
          <a:p>
            <a:pPr indent="0" marL="0">
              <a:buNone/>
            </a:pPr>
            <a:r>
              <a:rPr lang="en-US" sz="1050" b="1" spc="100" kern="0" dirty="0">
                <a:solidFill>
                  <a:srgbClr val="B7791F"/>
                </a:solidFill>
                <a:latin typeface="Calibri" pitchFamily="34" charset="0"/>
                <a:ea typeface="Calibri" pitchFamily="34" charset="-122"/>
                <a:cs typeface="Calibri" pitchFamily="34" charset="-120"/>
              </a:rPr>
              <a:t>ROOT CAUSE</a:t>
            </a:r>
            <a:endParaRPr lang="en-US" sz="1050" dirty="0"/>
          </a:p>
        </p:txBody>
      </p:sp>
      <p:sp>
        <p:nvSpPr>
          <p:cNvPr id="11" name="Text 9"/>
          <p:cNvSpPr/>
          <p:nvPr/>
        </p:nvSpPr>
        <p:spPr>
          <a:xfrm>
            <a:off x="868680" y="2935224"/>
            <a:ext cx="10424160" cy="502920"/>
          </a:xfrm>
          <a:prstGeom prst="rect">
            <a:avLst/>
          </a:prstGeom>
          <a:noFill/>
          <a:ln/>
        </p:spPr>
        <p:txBody>
          <a:bodyPr wrap="square" lIns="0" tIns="0" rIns="0" bIns="0" rtlCol="0" anchor="t"/>
          <a:lstStyle/>
          <a:p>
            <a:pPr indent="0" marL="0">
              <a:buNone/>
            </a:pPr>
            <a:r>
              <a:rPr lang="en-US" sz="1300" dirty="0">
                <a:solidFill>
                  <a:srgbClr val="1E293B"/>
                </a:solidFill>
                <a:latin typeface="Calibri" pitchFamily="34" charset="0"/>
                <a:ea typeface="Calibri" pitchFamily="34" charset="-122"/>
                <a:cs typeface="Calibri" pitchFamily="34" charset="-120"/>
              </a:rPr>
              <a:t>The cluster's CNI plugin does not implement NetworkPolicy enforcement (e.g. plain Flannel without a policy add-on). Kubernetes accepts the object into etcd regardless, but nothing actually enforces it.</a:t>
            </a:r>
            <a:endParaRPr lang="en-US" sz="1300" dirty="0"/>
          </a:p>
        </p:txBody>
      </p:sp>
      <p:sp>
        <p:nvSpPr>
          <p:cNvPr id="12" name="Shape 10"/>
          <p:cNvSpPr/>
          <p:nvPr/>
        </p:nvSpPr>
        <p:spPr>
          <a:xfrm>
            <a:off x="640080" y="3666744"/>
            <a:ext cx="10881360" cy="1417320"/>
          </a:xfrm>
          <a:prstGeom prst="roundRect">
            <a:avLst>
              <a:gd name="adj" fmla="val 3871"/>
            </a:avLst>
          </a:prstGeom>
          <a:solidFill>
            <a:srgbClr val="E7F5EC"/>
          </a:solidFill>
          <a:ln/>
        </p:spPr>
      </p:sp>
      <p:sp>
        <p:nvSpPr>
          <p:cNvPr id="13" name="Text 11"/>
          <p:cNvSpPr/>
          <p:nvPr/>
        </p:nvSpPr>
        <p:spPr>
          <a:xfrm>
            <a:off x="868680" y="3758184"/>
            <a:ext cx="2743200" cy="274320"/>
          </a:xfrm>
          <a:prstGeom prst="rect">
            <a:avLst/>
          </a:prstGeom>
          <a:noFill/>
          <a:ln/>
        </p:spPr>
        <p:txBody>
          <a:bodyPr wrap="square" lIns="0" tIns="0" rIns="0" bIns="0" rtlCol="0" anchor="ctr"/>
          <a:lstStyle/>
          <a:p>
            <a:pPr indent="0" marL="0">
              <a:buNone/>
            </a:pPr>
            <a:r>
              <a:rPr lang="en-US" sz="1050" b="1" spc="100" kern="0" dirty="0">
                <a:solidFill>
                  <a:srgbClr val="15803D"/>
                </a:solidFill>
                <a:latin typeface="Calibri" pitchFamily="34" charset="0"/>
                <a:ea typeface="Calibri" pitchFamily="34" charset="-122"/>
                <a:cs typeface="Calibri" pitchFamily="34" charset="-120"/>
              </a:rPr>
              <a:t>THE FIX</a:t>
            </a:r>
            <a:endParaRPr lang="en-US" sz="1050" dirty="0"/>
          </a:p>
        </p:txBody>
      </p:sp>
      <p:sp>
        <p:nvSpPr>
          <p:cNvPr id="14" name="Text 12"/>
          <p:cNvSpPr/>
          <p:nvPr/>
        </p:nvSpPr>
        <p:spPr>
          <a:xfrm>
            <a:off x="868680" y="4014216"/>
            <a:ext cx="10424160" cy="365760"/>
          </a:xfrm>
          <a:prstGeom prst="rect">
            <a:avLst/>
          </a:prstGeom>
          <a:noFill/>
          <a:ln/>
        </p:spPr>
        <p:txBody>
          <a:bodyPr wrap="square" lIns="0" tIns="0" rIns="0" bIns="0" rtlCol="0" anchor="t"/>
          <a:lstStyle/>
          <a:p>
            <a:pPr indent="0" marL="0">
              <a:buNone/>
            </a:pPr>
            <a:r>
              <a:rPr lang="en-US" sz="1300" dirty="0">
                <a:solidFill>
                  <a:srgbClr val="1E293B"/>
                </a:solidFill>
                <a:latin typeface="Calibri" pitchFamily="34" charset="0"/>
                <a:ea typeface="Calibri" pitchFamily="34" charset="-122"/>
                <a:cs typeface="Calibri" pitchFamily="34" charset="-120"/>
              </a:rPr>
              <a:t>Confirm the CNI in use, and if it lacks NetworkPolicy support, either switch to/add Calico, Cilium, or another policy-capable CNI.</a:t>
            </a:r>
            <a:endParaRPr lang="en-US" sz="1300" dirty="0"/>
          </a:p>
        </p:txBody>
      </p:sp>
      <p:sp>
        <p:nvSpPr>
          <p:cNvPr id="15" name="Shape 13"/>
          <p:cNvSpPr/>
          <p:nvPr/>
        </p:nvSpPr>
        <p:spPr>
          <a:xfrm>
            <a:off x="868680" y="4379976"/>
            <a:ext cx="10424160" cy="594360"/>
          </a:xfrm>
          <a:prstGeom prst="roundRect">
            <a:avLst>
              <a:gd name="adj" fmla="val 7692"/>
            </a:avLst>
          </a:prstGeom>
          <a:solidFill>
            <a:srgbClr val="0B2330"/>
          </a:solidFill>
          <a:ln/>
        </p:spPr>
      </p:sp>
      <p:sp>
        <p:nvSpPr>
          <p:cNvPr id="16" name="Text 14"/>
          <p:cNvSpPr/>
          <p:nvPr/>
        </p:nvSpPr>
        <p:spPr>
          <a:xfrm>
            <a:off x="1005840" y="4453128"/>
            <a:ext cx="10149840" cy="457200"/>
          </a:xfrm>
          <a:prstGeom prst="rect">
            <a:avLst/>
          </a:prstGeom>
          <a:noFill/>
          <a:ln/>
        </p:spPr>
        <p:txBody>
          <a:bodyPr wrap="square" lIns="0" tIns="0" rIns="0" bIns="0" rtlCol="0" anchor="t"/>
          <a:lstStyle/>
          <a:p>
            <a:pPr indent="0" marL="0">
              <a:buNone/>
            </a:pPr>
            <a:r>
              <a:rPr lang="en-US" sz="1200" dirty="0">
                <a:solidFill>
                  <a:srgbClr val="CFEFEA"/>
                </a:solidFill>
                <a:latin typeface="Courier New" pitchFamily="34" charset="0"/>
                <a:ea typeface="Courier New" pitchFamily="34" charset="-122"/>
                <a:cs typeface="Courier New" pitchFamily="34" charset="-120"/>
              </a:rPr>
              <a:t>kubectl get pods -n kube-system -o wide | grep -iE 'calico|cilium|flannel|weave'</a:t>
            </a:r>
            <a:endParaRPr lang="en-US" sz="1200" dirty="0"/>
          </a:p>
        </p:txBody>
      </p:sp>
      <p:sp>
        <p:nvSpPr>
          <p:cNvPr id="17" name="Text 15"/>
          <p:cNvSpPr/>
          <p:nvPr/>
        </p:nvSpPr>
        <p:spPr>
          <a:xfrm>
            <a:off x="457200" y="6446520"/>
            <a:ext cx="6400800" cy="27432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CKA v1.36 · Module 2</a:t>
            </a:r>
            <a:endParaRPr lang="en-US" sz="900" dirty="0"/>
          </a:p>
        </p:txBody>
      </p:sp>
      <p:sp>
        <p:nvSpPr>
          <p:cNvPr id="18" name="Text 16"/>
          <p:cNvSpPr/>
          <p:nvPr/>
        </p:nvSpPr>
        <p:spPr>
          <a:xfrm>
            <a:off x="11247120" y="6446520"/>
            <a:ext cx="4572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30</a:t>
            </a:r>
            <a:endParaRPr lang="en-US" sz="9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65760"/>
            <a:ext cx="9144000" cy="320040"/>
          </a:xfrm>
          <a:prstGeom prst="rect">
            <a:avLst/>
          </a:prstGeom>
          <a:noFill/>
          <a:ln/>
        </p:spPr>
        <p:txBody>
          <a:bodyPr wrap="square" lIns="0" tIns="0" rIns="0" bIns="0" rtlCol="0" anchor="ctr"/>
          <a:lstStyle/>
          <a:p>
            <a:pPr indent="0" marL="0">
              <a:buNone/>
            </a:pPr>
            <a:r>
              <a:rPr lang="en-US" sz="1150" b="1" spc="150" kern="0" dirty="0">
                <a:solidFill>
                  <a:srgbClr val="1C7293"/>
                </a:solidFill>
                <a:latin typeface="Calibri" pitchFamily="34" charset="0"/>
                <a:ea typeface="Calibri" pitchFamily="34" charset="-122"/>
                <a:cs typeface="Calibri" pitchFamily="34" charset="-120"/>
              </a:rPr>
              <a:t>NETWORK POLICIES</a:t>
            </a:r>
            <a:endParaRPr lang="en-US" sz="1150" dirty="0"/>
          </a:p>
        </p:txBody>
      </p:sp>
      <p:sp>
        <p:nvSpPr>
          <p:cNvPr id="3" name="Text 1"/>
          <p:cNvSpPr/>
          <p:nvPr/>
        </p:nvSpPr>
        <p:spPr>
          <a:xfrm>
            <a:off x="640080" y="658368"/>
            <a:ext cx="10881360" cy="685800"/>
          </a:xfrm>
          <a:prstGeom prst="rect">
            <a:avLst/>
          </a:prstGeom>
          <a:noFill/>
          <a:ln/>
        </p:spPr>
        <p:txBody>
          <a:bodyPr wrap="square" lIns="0" tIns="0" rIns="0" bIns="0" rtlCol="0" anchor="ctr"/>
          <a:lstStyle/>
          <a:p>
            <a:pPr indent="0" marL="0">
              <a:buNone/>
            </a:pPr>
            <a:r>
              <a:rPr lang="en-US" sz="2600" b="1" dirty="0">
                <a:solidFill>
                  <a:srgbClr val="21295C"/>
                </a:solidFill>
                <a:latin typeface="Cambria" pitchFamily="34" charset="0"/>
                <a:ea typeface="Cambria" pitchFamily="34" charset="-122"/>
                <a:cs typeface="Cambria" pitchFamily="34" charset="-120"/>
              </a:rPr>
              <a:t>Egress Policies &amp; Common Pitfalls</a:t>
            </a:r>
            <a:endParaRPr lang="en-US" sz="2600" dirty="0"/>
          </a:p>
        </p:txBody>
      </p:sp>
      <p:sp>
        <p:nvSpPr>
          <p:cNvPr id="4" name="Shape 2"/>
          <p:cNvSpPr/>
          <p:nvPr/>
        </p:nvSpPr>
        <p:spPr>
          <a:xfrm>
            <a:off x="640080" y="1371600"/>
            <a:ext cx="10881360" cy="0"/>
          </a:xfrm>
          <a:prstGeom prst="line">
            <a:avLst/>
          </a:prstGeom>
          <a:noFill/>
          <a:ln w="12700">
            <a:solidFill>
              <a:srgbClr val="D7E3E8"/>
            </a:solidFill>
            <a:prstDash val="solid"/>
          </a:ln>
        </p:spPr>
      </p:sp>
      <p:sp>
        <p:nvSpPr>
          <p:cNvPr id="5" name="Shape 3"/>
          <p:cNvSpPr/>
          <p:nvPr/>
        </p:nvSpPr>
        <p:spPr>
          <a:xfrm>
            <a:off x="11109960" y="411480"/>
            <a:ext cx="502920" cy="502920"/>
          </a:xfrm>
          <a:prstGeom prst="ellipse">
            <a:avLst/>
          </a:prstGeom>
          <a:solidFill>
            <a:srgbClr val="EAF4F8"/>
          </a:solidFill>
          <a:ln w="15875">
            <a:solidFill>
              <a:srgbClr val="1C7293"/>
            </a:solidFill>
            <a:prstDash val="solid"/>
          </a:ln>
        </p:spPr>
      </p:sp>
      <p:sp>
        <p:nvSpPr>
          <p:cNvPr id="6" name="Text 4"/>
          <p:cNvSpPr/>
          <p:nvPr/>
        </p:nvSpPr>
        <p:spPr>
          <a:xfrm>
            <a:off x="11109960" y="411480"/>
            <a:ext cx="502920" cy="502920"/>
          </a:xfrm>
          <a:prstGeom prst="rect">
            <a:avLst/>
          </a:prstGeom>
          <a:noFill/>
          <a:ln/>
        </p:spPr>
        <p:txBody>
          <a:bodyPr wrap="square" lIns="0" tIns="0" rIns="0" bIns="0" rtlCol="0" anchor="ctr"/>
          <a:lstStyle/>
          <a:p>
            <a:pPr algn="ctr" indent="0" marL="0">
              <a:buNone/>
            </a:pPr>
            <a:r>
              <a:rPr lang="en-US" sz="1600" b="1" dirty="0">
                <a:solidFill>
                  <a:srgbClr val="1C7293"/>
                </a:solidFill>
                <a:latin typeface="Calibri" pitchFamily="34" charset="0"/>
                <a:ea typeface="Calibri" pitchFamily="34" charset="-122"/>
                <a:cs typeface="Calibri" pitchFamily="34" charset="-120"/>
              </a:rPr>
              <a:t>!</a:t>
            </a:r>
            <a:endParaRPr lang="en-US" sz="1600" dirty="0"/>
          </a:p>
        </p:txBody>
      </p:sp>
      <p:sp>
        <p:nvSpPr>
          <p:cNvPr id="7" name="Text 5"/>
          <p:cNvSpPr/>
          <p:nvPr/>
        </p:nvSpPr>
        <p:spPr>
          <a:xfrm>
            <a:off x="640080" y="1600200"/>
            <a:ext cx="10881360" cy="4572000"/>
          </a:xfrm>
          <a:prstGeom prst="rect">
            <a:avLst/>
          </a:prstGeom>
          <a:noFill/>
          <a:ln/>
        </p:spPr>
        <p:txBody>
          <a:bodyPr wrap="square" lIns="0" tIns="0" rIns="0" bIns="0" rtlCol="0" anchor="t"/>
          <a:lstStyle/>
          <a:p>
            <a:pPr marL="342900" indent="-342900">
              <a:spcAft>
                <a:spcPts val="1200"/>
              </a:spcAft>
              <a:buSzPct val="100000"/>
              <a:buChar char="•"/>
            </a:pPr>
            <a:r>
              <a:rPr lang="en-US" sz="1550" dirty="0">
                <a:solidFill>
                  <a:srgbClr val="1E293B"/>
                </a:solidFill>
                <a:latin typeface="Calibri" pitchFamily="34" charset="0"/>
                <a:ea typeface="Calibri" pitchFamily="34" charset="-122"/>
                <a:cs typeface="Calibri" pitchFamily="34" charset="-120"/>
              </a:rPr>
              <a:t>Egress policies restrict OUTBOUND traffic from selected Pods — same structure as ingress, but with policyTypes: [Egress] and a 'to' block instead of 'from'.</a:t>
            </a:r>
            <a:endParaRPr lang="en-US" sz="1550" dirty="0"/>
          </a:p>
          <a:p>
            <a:pPr marL="342900" indent="-342900">
              <a:spcAft>
                <a:spcPts val="1200"/>
              </a:spcAft>
              <a:buSzPct val="100000"/>
              <a:buChar char="•"/>
            </a:pPr>
            <a:r>
              <a:rPr lang="en-US" sz="1550" dirty="0">
                <a:solidFill>
                  <a:srgbClr val="1E293B"/>
                </a:solidFill>
                <a:latin typeface="Calibri" pitchFamily="34" charset="0"/>
                <a:ea typeface="Calibri" pitchFamily="34" charset="-122"/>
                <a:cs typeface="Calibri" pitchFamily="34" charset="-120"/>
              </a:rPr>
              <a:t>Forgetting to allow DNS egress (UDP/TCP port 53 to kube-system) after applying an egress-restricting policy is one of the single most common exam mistakes — it silently breaks all DNS resolution for the Pod.</a:t>
            </a:r>
            <a:endParaRPr lang="en-US" sz="1550" dirty="0"/>
          </a:p>
          <a:p>
            <a:pPr marL="342900" indent="-342900">
              <a:spcAft>
                <a:spcPts val="1200"/>
              </a:spcAft>
              <a:buSzPct val="100000"/>
              <a:buChar char="•"/>
            </a:pPr>
            <a:r>
              <a:rPr lang="en-US" sz="1550" dirty="0">
                <a:solidFill>
                  <a:srgbClr val="1E293B"/>
                </a:solidFill>
                <a:latin typeface="Calibri" pitchFamily="34" charset="0"/>
                <a:ea typeface="Calibri" pitchFamily="34" charset="-122"/>
                <a:cs typeface="Calibri" pitchFamily="34" charset="-120"/>
              </a:rPr>
              <a:t>A Pod with NO matching NetworkPolicy at all remains fully open in whichever direction(s) no policy addresses it.</a:t>
            </a:r>
            <a:endParaRPr lang="en-US" sz="1550" dirty="0"/>
          </a:p>
          <a:p>
            <a:pPr marL="342900" indent="-342900">
              <a:spcAft>
                <a:spcPts val="1200"/>
              </a:spcAft>
              <a:buSzPct val="100000"/>
              <a:buChar char="•"/>
            </a:pPr>
            <a:r>
              <a:rPr lang="en-US" sz="1550" dirty="0">
                <a:solidFill>
                  <a:srgbClr val="1E293B"/>
                </a:solidFill>
                <a:latin typeface="Calibri" pitchFamily="34" charset="0"/>
                <a:ea typeface="Calibri" pitchFamily="34" charset="-122"/>
                <a:cs typeface="Calibri" pitchFamily="34" charset="-120"/>
              </a:rPr>
              <a:t>policyTypes is explicit: a policy with only an 'ingress' block but no 'policyTypes: [Ingress]' line is still valid (it's inferred), but writing it explicitly is best practice and exam-expected.</a:t>
            </a:r>
            <a:endParaRPr lang="en-US" sz="1550" dirty="0"/>
          </a:p>
        </p:txBody>
      </p:sp>
      <p:sp>
        <p:nvSpPr>
          <p:cNvPr id="8" name="Text 6"/>
          <p:cNvSpPr/>
          <p:nvPr/>
        </p:nvSpPr>
        <p:spPr>
          <a:xfrm>
            <a:off x="457200" y="6446520"/>
            <a:ext cx="6400800" cy="27432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CKA v1.36 · Module 2</a:t>
            </a:r>
            <a:endParaRPr lang="en-US" sz="900" dirty="0"/>
          </a:p>
        </p:txBody>
      </p:sp>
      <p:sp>
        <p:nvSpPr>
          <p:cNvPr id="9" name="Text 7"/>
          <p:cNvSpPr/>
          <p:nvPr/>
        </p:nvSpPr>
        <p:spPr>
          <a:xfrm>
            <a:off x="11247120" y="6446520"/>
            <a:ext cx="4572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31</a:t>
            </a:r>
            <a:endParaRPr lang="en-US" sz="9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65760"/>
            <a:ext cx="9144000" cy="320040"/>
          </a:xfrm>
          <a:prstGeom prst="rect">
            <a:avLst/>
          </a:prstGeom>
          <a:noFill/>
          <a:ln/>
        </p:spPr>
        <p:txBody>
          <a:bodyPr wrap="square" lIns="0" tIns="0" rIns="0" bIns="0" rtlCol="0" anchor="ctr"/>
          <a:lstStyle/>
          <a:p>
            <a:pPr indent="0" marL="0">
              <a:buNone/>
            </a:pPr>
            <a:r>
              <a:rPr lang="en-US" sz="1150" b="1" spc="150" kern="0" dirty="0">
                <a:solidFill>
                  <a:srgbClr val="1C7293"/>
                </a:solidFill>
                <a:latin typeface="Calibri" pitchFamily="34" charset="0"/>
                <a:ea typeface="Calibri" pitchFamily="34" charset="-122"/>
                <a:cs typeface="Calibri" pitchFamily="34" charset="-120"/>
              </a:rPr>
              <a:t>NETWORK POLICIES</a:t>
            </a:r>
            <a:endParaRPr lang="en-US" sz="1150" dirty="0"/>
          </a:p>
        </p:txBody>
      </p:sp>
      <p:sp>
        <p:nvSpPr>
          <p:cNvPr id="3" name="Text 1"/>
          <p:cNvSpPr/>
          <p:nvPr/>
        </p:nvSpPr>
        <p:spPr>
          <a:xfrm>
            <a:off x="640080" y="658368"/>
            <a:ext cx="10881360" cy="548640"/>
          </a:xfrm>
          <a:prstGeom prst="rect">
            <a:avLst/>
          </a:prstGeom>
          <a:noFill/>
          <a:ln/>
        </p:spPr>
        <p:txBody>
          <a:bodyPr wrap="square" lIns="0" tIns="0" rIns="0" bIns="0" rtlCol="0" anchor="ctr"/>
          <a:lstStyle/>
          <a:p>
            <a:pPr indent="0" marL="0">
              <a:buNone/>
            </a:pPr>
            <a:r>
              <a:rPr lang="en-US" sz="2400" b="1" dirty="0">
                <a:solidFill>
                  <a:srgbClr val="21295C"/>
                </a:solidFill>
                <a:latin typeface="Cambria" pitchFamily="34" charset="0"/>
                <a:ea typeface="Cambria" pitchFamily="34" charset="-122"/>
                <a:cs typeface="Cambria" pitchFamily="34" charset="-120"/>
              </a:rPr>
              <a:t>Egress Policy: Don't Forget DNS</a:t>
            </a:r>
            <a:endParaRPr lang="en-US" sz="2400" dirty="0"/>
          </a:p>
        </p:txBody>
      </p:sp>
      <p:sp>
        <p:nvSpPr>
          <p:cNvPr id="4" name="Shape 2"/>
          <p:cNvSpPr/>
          <p:nvPr/>
        </p:nvSpPr>
        <p:spPr>
          <a:xfrm>
            <a:off x="640080" y="1371600"/>
            <a:ext cx="10881360" cy="4078224"/>
          </a:xfrm>
          <a:prstGeom prst="roundRect">
            <a:avLst>
              <a:gd name="adj" fmla="val 1345"/>
            </a:avLst>
          </a:prstGeom>
          <a:solidFill>
            <a:srgbClr val="0B2330"/>
          </a:solidFill>
          <a:ln/>
          <a:effectLst>
            <a:outerShdw sx="100000" sy="100000" kx="0" ky="0" algn="bl" rotWithShape="0" blurRad="88900" dist="25400" dir="2700000">
              <a:srgbClr val="1B2A36">
                <a:alpha val="12000"/>
              </a:srgbClr>
            </a:outerShdw>
          </a:effectLst>
        </p:spPr>
      </p:sp>
      <p:sp>
        <p:nvSpPr>
          <p:cNvPr id="5" name="Text 3"/>
          <p:cNvSpPr/>
          <p:nvPr/>
        </p:nvSpPr>
        <p:spPr>
          <a:xfrm>
            <a:off x="868680" y="1536192"/>
            <a:ext cx="10424160" cy="3749040"/>
          </a:xfrm>
          <a:prstGeom prst="rect">
            <a:avLst/>
          </a:prstGeom>
          <a:noFill/>
          <a:ln/>
        </p:spPr>
        <p:txBody>
          <a:bodyPr wrap="square" lIns="0" tIns="0" rIns="0" bIns="0" rtlCol="0" anchor="t"/>
          <a:lstStyle/>
          <a:p>
            <a:pPr indent="0" marL="0">
              <a:buNone/>
            </a:pPr>
            <a:r>
              <a:rPr lang="en-US" sz="1250" dirty="0">
                <a:solidFill>
                  <a:srgbClr val="CFEFEA"/>
                </a:solidFill>
                <a:latin typeface="Courier New" pitchFamily="34" charset="0"/>
                <a:ea typeface="Courier New" pitchFamily="34" charset="-122"/>
                <a:cs typeface="Courier New" pitchFamily="34" charset="-120"/>
              </a:rPr>
              <a:t>apiVersion: networking.k8s.io/v1</a:t>
            </a:r>
            <a:endParaRPr lang="en-US" sz="1250" dirty="0"/>
          </a:p>
          <a:p>
            <a:pPr indent="0" marL="0">
              <a:buNone/>
            </a:pPr>
            <a:r>
              <a:rPr lang="en-US" sz="1250" dirty="0">
                <a:solidFill>
                  <a:srgbClr val="CFEFEA"/>
                </a:solidFill>
                <a:latin typeface="Courier New" pitchFamily="34" charset="0"/>
                <a:ea typeface="Courier New" pitchFamily="34" charset="-122"/>
                <a:cs typeface="Courier New" pitchFamily="34" charset="-120"/>
              </a:rPr>
              <a:t>kind: NetworkPolicy</a:t>
            </a:r>
            <a:endParaRPr lang="en-US" sz="1250" dirty="0"/>
          </a:p>
          <a:p>
            <a:pPr indent="0" marL="0">
              <a:buNone/>
            </a:pPr>
            <a:r>
              <a:rPr lang="en-US" sz="1250" dirty="0">
                <a:solidFill>
                  <a:srgbClr val="CFEFEA"/>
                </a:solidFill>
                <a:latin typeface="Courier New" pitchFamily="34" charset="0"/>
                <a:ea typeface="Courier New" pitchFamily="34" charset="-122"/>
                <a:cs typeface="Courier New" pitchFamily="34" charset="-120"/>
              </a:rPr>
              <a:t>metadata:</a:t>
            </a:r>
            <a:endParaRPr lang="en-US" sz="1250" dirty="0"/>
          </a:p>
          <a:p>
            <a:pPr indent="0" marL="0">
              <a:buNone/>
            </a:pPr>
            <a:r>
              <a:rPr lang="en-US" sz="1250" dirty="0">
                <a:solidFill>
                  <a:srgbClr val="CFEFEA"/>
                </a:solidFill>
                <a:latin typeface="Courier New" pitchFamily="34" charset="0"/>
                <a:ea typeface="Courier New" pitchFamily="34" charset="-122"/>
                <a:cs typeface="Courier New" pitchFamily="34" charset="-120"/>
              </a:rPr>
              <a:t>  name: restrict-egress</a:t>
            </a:r>
            <a:endParaRPr lang="en-US" sz="1250" dirty="0"/>
          </a:p>
          <a:p>
            <a:pPr indent="0" marL="0">
              <a:buNone/>
            </a:pPr>
            <a:r>
              <a:rPr lang="en-US" sz="1250" dirty="0">
                <a:solidFill>
                  <a:srgbClr val="CFEFEA"/>
                </a:solidFill>
                <a:latin typeface="Courier New" pitchFamily="34" charset="0"/>
                <a:ea typeface="Courier New" pitchFamily="34" charset="-122"/>
                <a:cs typeface="Courier New" pitchFamily="34" charset="-120"/>
              </a:rPr>
              <a:t>spec:</a:t>
            </a:r>
            <a:endParaRPr lang="en-US" sz="1250" dirty="0"/>
          </a:p>
          <a:p>
            <a:pPr indent="0" marL="0">
              <a:buNone/>
            </a:pPr>
            <a:r>
              <a:rPr lang="en-US" sz="1250" dirty="0">
                <a:solidFill>
                  <a:srgbClr val="CFEFEA"/>
                </a:solidFill>
                <a:latin typeface="Courier New" pitchFamily="34" charset="0"/>
                <a:ea typeface="Courier New" pitchFamily="34" charset="-122"/>
                <a:cs typeface="Courier New" pitchFamily="34" charset="-120"/>
              </a:rPr>
              <a:t>  podSelector:</a:t>
            </a:r>
            <a:endParaRPr lang="en-US" sz="1250" dirty="0"/>
          </a:p>
          <a:p>
            <a:pPr indent="0" marL="0">
              <a:buNone/>
            </a:pPr>
            <a:r>
              <a:rPr lang="en-US" sz="1250" dirty="0">
                <a:solidFill>
                  <a:srgbClr val="CFEFEA"/>
                </a:solidFill>
                <a:latin typeface="Courier New" pitchFamily="34" charset="0"/>
                <a:ea typeface="Courier New" pitchFamily="34" charset="-122"/>
                <a:cs typeface="Courier New" pitchFamily="34" charset="-120"/>
              </a:rPr>
              <a:t>    matchLabels: { app: backend }</a:t>
            </a:r>
            <a:endParaRPr lang="en-US" sz="1250" dirty="0"/>
          </a:p>
          <a:p>
            <a:pPr indent="0" marL="0">
              <a:buNone/>
            </a:pPr>
            <a:r>
              <a:rPr lang="en-US" sz="1250" dirty="0">
                <a:solidFill>
                  <a:srgbClr val="CFEFEA"/>
                </a:solidFill>
                <a:latin typeface="Courier New" pitchFamily="34" charset="0"/>
                <a:ea typeface="Courier New" pitchFamily="34" charset="-122"/>
                <a:cs typeface="Courier New" pitchFamily="34" charset="-120"/>
              </a:rPr>
              <a:t>  policyTypes: [Egress]</a:t>
            </a:r>
            <a:endParaRPr lang="en-US" sz="1250" dirty="0"/>
          </a:p>
          <a:p>
            <a:pPr indent="0" marL="0">
              <a:buNone/>
            </a:pPr>
            <a:r>
              <a:rPr lang="en-US" sz="1250" dirty="0">
                <a:solidFill>
                  <a:srgbClr val="CFEFEA"/>
                </a:solidFill>
                <a:latin typeface="Courier New" pitchFamily="34" charset="0"/>
                <a:ea typeface="Courier New" pitchFamily="34" charset="-122"/>
                <a:cs typeface="Courier New" pitchFamily="34" charset="-120"/>
              </a:rPr>
              <a:t>  egress:</a:t>
            </a:r>
            <a:endParaRPr lang="en-US" sz="1250" dirty="0"/>
          </a:p>
          <a:p>
            <a:pPr indent="0" marL="0">
              <a:buNone/>
            </a:pPr>
            <a:r>
              <a:rPr lang="en-US" sz="1250" dirty="0">
                <a:solidFill>
                  <a:srgbClr val="CFEFEA"/>
                </a:solidFill>
                <a:latin typeface="Courier New" pitchFamily="34" charset="0"/>
                <a:ea typeface="Courier New" pitchFamily="34" charset="-122"/>
                <a:cs typeface="Courier New" pitchFamily="34" charset="-120"/>
              </a:rPr>
              <a:t>  - to:</a:t>
            </a:r>
            <a:endParaRPr lang="en-US" sz="1250" dirty="0"/>
          </a:p>
          <a:p>
            <a:pPr indent="0" marL="0">
              <a:buNone/>
            </a:pPr>
            <a:r>
              <a:rPr lang="en-US" sz="1250" dirty="0">
                <a:solidFill>
                  <a:srgbClr val="CFEFEA"/>
                </a:solidFill>
                <a:latin typeface="Courier New" pitchFamily="34" charset="0"/>
                <a:ea typeface="Courier New" pitchFamily="34" charset="-122"/>
                <a:cs typeface="Courier New" pitchFamily="34" charset="-120"/>
              </a:rPr>
              <a:t>    - podSelector: {matchLabels: {app: database}}</a:t>
            </a:r>
            <a:endParaRPr lang="en-US" sz="1250" dirty="0"/>
          </a:p>
          <a:p>
            <a:pPr indent="0" marL="0">
              <a:buNone/>
            </a:pPr>
            <a:r>
              <a:rPr lang="en-US" sz="1250" dirty="0">
                <a:solidFill>
                  <a:srgbClr val="CFEFEA"/>
                </a:solidFill>
                <a:latin typeface="Courier New" pitchFamily="34" charset="0"/>
                <a:ea typeface="Courier New" pitchFamily="34" charset="-122"/>
                <a:cs typeface="Courier New" pitchFamily="34" charset="-120"/>
              </a:rPr>
              <a:t>    ports: [{protocol: TCP, port: 5432}]</a:t>
            </a:r>
            <a:endParaRPr lang="en-US" sz="1250" dirty="0"/>
          </a:p>
          <a:p>
            <a:pPr indent="0" marL="0">
              <a:buNone/>
            </a:pPr>
            <a:r>
              <a:rPr lang="en-US" sz="1250" dirty="0">
                <a:solidFill>
                  <a:srgbClr val="CFEFEA"/>
                </a:solidFill>
                <a:latin typeface="Courier New" pitchFamily="34" charset="0"/>
                <a:ea typeface="Courier New" pitchFamily="34" charset="-122"/>
                <a:cs typeface="Courier New" pitchFamily="34" charset="-120"/>
              </a:rPr>
              <a:t>  - to:                          # REQUIRED or DNS breaks</a:t>
            </a:r>
            <a:endParaRPr lang="en-US" sz="1250" dirty="0"/>
          </a:p>
          <a:p>
            <a:pPr indent="0" marL="0">
              <a:buNone/>
            </a:pPr>
            <a:r>
              <a:rPr lang="en-US" sz="1250" dirty="0">
                <a:solidFill>
                  <a:srgbClr val="CFEFEA"/>
                </a:solidFill>
                <a:latin typeface="Courier New" pitchFamily="34" charset="0"/>
                <a:ea typeface="Courier New" pitchFamily="34" charset="-122"/>
                <a:cs typeface="Courier New" pitchFamily="34" charset="-120"/>
              </a:rPr>
              <a:t>    - namespaceSelector: {}</a:t>
            </a:r>
            <a:endParaRPr lang="en-US" sz="1250" dirty="0"/>
          </a:p>
          <a:p>
            <a:pPr indent="0" marL="0">
              <a:buNone/>
            </a:pPr>
            <a:r>
              <a:rPr lang="en-US" sz="1250" dirty="0">
                <a:solidFill>
                  <a:srgbClr val="CFEFEA"/>
                </a:solidFill>
                <a:latin typeface="Courier New" pitchFamily="34" charset="0"/>
                <a:ea typeface="Courier New" pitchFamily="34" charset="-122"/>
                <a:cs typeface="Courier New" pitchFamily="34" charset="-120"/>
              </a:rPr>
              <a:t>      podSelector: {matchLabels: {k8s-app: kube-dns}}</a:t>
            </a:r>
            <a:endParaRPr lang="en-US" sz="1250" dirty="0"/>
          </a:p>
          <a:p>
            <a:pPr indent="0" marL="0">
              <a:buNone/>
            </a:pPr>
            <a:r>
              <a:rPr lang="en-US" sz="1250" dirty="0">
                <a:solidFill>
                  <a:srgbClr val="CFEFEA"/>
                </a:solidFill>
                <a:latin typeface="Courier New" pitchFamily="34" charset="0"/>
                <a:ea typeface="Courier New" pitchFamily="34" charset="-122"/>
                <a:cs typeface="Courier New" pitchFamily="34" charset="-120"/>
              </a:rPr>
              <a:t>    ports:</a:t>
            </a:r>
            <a:endParaRPr lang="en-US" sz="1250" dirty="0"/>
          </a:p>
          <a:p>
            <a:pPr indent="0" marL="0">
              <a:buNone/>
            </a:pPr>
            <a:r>
              <a:rPr lang="en-US" sz="1250" dirty="0">
                <a:solidFill>
                  <a:srgbClr val="CFEFEA"/>
                </a:solidFill>
                <a:latin typeface="Courier New" pitchFamily="34" charset="0"/>
                <a:ea typeface="Courier New" pitchFamily="34" charset="-122"/>
                <a:cs typeface="Courier New" pitchFamily="34" charset="-120"/>
              </a:rPr>
              <a:t>    - {protocol: UDP, port: 53}</a:t>
            </a:r>
            <a:endParaRPr lang="en-US" sz="1250" dirty="0"/>
          </a:p>
          <a:p>
            <a:pPr indent="0" marL="0">
              <a:buNone/>
            </a:pPr>
            <a:r>
              <a:rPr lang="en-US" sz="1250" dirty="0">
                <a:solidFill>
                  <a:srgbClr val="CFEFEA"/>
                </a:solidFill>
                <a:latin typeface="Courier New" pitchFamily="34" charset="0"/>
                <a:ea typeface="Courier New" pitchFamily="34" charset="-122"/>
                <a:cs typeface="Courier New" pitchFamily="34" charset="-120"/>
              </a:rPr>
              <a:t>    - {protocol: TCP, port: 53}</a:t>
            </a:r>
            <a:endParaRPr lang="en-US" sz="1250" dirty="0"/>
          </a:p>
        </p:txBody>
      </p:sp>
      <p:sp>
        <p:nvSpPr>
          <p:cNvPr id="6" name="Text 4"/>
          <p:cNvSpPr/>
          <p:nvPr/>
        </p:nvSpPr>
        <p:spPr>
          <a:xfrm>
            <a:off x="640080" y="5678424"/>
            <a:ext cx="10881360" cy="722376"/>
          </a:xfrm>
          <a:prstGeom prst="rect">
            <a:avLst/>
          </a:prstGeom>
          <a:noFill/>
          <a:ln/>
        </p:spPr>
        <p:txBody>
          <a:bodyPr wrap="square" lIns="0" tIns="0" rIns="0" bIns="0" rtlCol="0" anchor="t"/>
          <a:lstStyle/>
          <a:p>
            <a:pPr marL="342900" indent="-342900">
              <a:spcAft>
                <a:spcPts val="500"/>
              </a:spcAft>
              <a:buSzPct val="100000"/>
              <a:buChar char="•"/>
            </a:pPr>
            <a:r>
              <a:rPr lang="en-US" sz="1200" dirty="0">
                <a:solidFill>
                  <a:srgbClr val="1E293B"/>
                </a:solidFill>
                <a:latin typeface="Calibri" pitchFamily="34" charset="0"/>
                <a:ea typeface="Calibri" pitchFamily="34" charset="-122"/>
                <a:cs typeface="Calibri" pitchFamily="34" charset="-120"/>
              </a:rPr>
              <a:t>This is a near-verbatim pattern for an exam task that says 'restrict this Pod to only talk to the database, but it must still resolve DNS names.'</a:t>
            </a:r>
            <a:endParaRPr lang="en-US" sz="1200" dirty="0"/>
          </a:p>
        </p:txBody>
      </p:sp>
      <p:sp>
        <p:nvSpPr>
          <p:cNvPr id="7" name="Text 5"/>
          <p:cNvSpPr/>
          <p:nvPr/>
        </p:nvSpPr>
        <p:spPr>
          <a:xfrm>
            <a:off x="457200" y="6446520"/>
            <a:ext cx="6400800" cy="27432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CKA v1.36 · Module 2</a:t>
            </a:r>
            <a:endParaRPr lang="en-US" sz="900" dirty="0"/>
          </a:p>
        </p:txBody>
      </p:sp>
      <p:sp>
        <p:nvSpPr>
          <p:cNvPr id="8" name="Text 6"/>
          <p:cNvSpPr/>
          <p:nvPr/>
        </p:nvSpPr>
        <p:spPr>
          <a:xfrm>
            <a:off x="11247120" y="6446520"/>
            <a:ext cx="4572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32</a:t>
            </a:r>
            <a:endParaRPr lang="en-US" sz="9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21295C"/>
        </a:solidFill>
      </p:bgPr>
    </p:bg>
    <p:spTree>
      <p:nvGrpSpPr>
        <p:cNvPr id="1" name=""/>
        <p:cNvGrpSpPr/>
        <p:nvPr/>
      </p:nvGrpSpPr>
      <p:grpSpPr>
        <a:xfrm>
          <a:off x="0" y="0"/>
          <a:ext cx="0" cy="0"/>
          <a:chOff x="0" y="0"/>
          <a:chExt cx="0" cy="0"/>
        </a:xfrm>
      </p:grpSpPr>
      <p:sp>
        <p:nvSpPr>
          <p:cNvPr id="2" name="Shape 0"/>
          <p:cNvSpPr/>
          <p:nvPr/>
        </p:nvSpPr>
        <p:spPr>
          <a:xfrm>
            <a:off x="8778240" y="3291840"/>
            <a:ext cx="5029200" cy="5029200"/>
          </a:xfrm>
          <a:prstGeom prst="ellipse">
            <a:avLst/>
          </a:prstGeom>
          <a:solidFill>
            <a:srgbClr val="065A82">
              <a:alpha val="40000"/>
            </a:srgbClr>
          </a:solidFill>
          <a:ln/>
        </p:spPr>
      </p:sp>
      <p:sp>
        <p:nvSpPr>
          <p:cNvPr id="3" name="Shape 1"/>
          <p:cNvSpPr/>
          <p:nvPr/>
        </p:nvSpPr>
        <p:spPr>
          <a:xfrm>
            <a:off x="822960" y="1828800"/>
            <a:ext cx="1371600" cy="1371600"/>
          </a:xfrm>
          <a:prstGeom prst="roundRect">
            <a:avLst>
              <a:gd name="adj" fmla="val 12000"/>
            </a:avLst>
          </a:prstGeom>
          <a:solidFill>
            <a:srgbClr val="1C7293"/>
          </a:solidFill>
          <a:ln/>
          <a:effectLst>
            <a:outerShdw sx="100000" sy="100000" kx="0" ky="0" algn="bl" rotWithShape="0" blurRad="88900" dist="25400" dir="2700000">
              <a:srgbClr val="1B2A36">
                <a:alpha val="12000"/>
              </a:srgbClr>
            </a:outerShdw>
          </a:effectLst>
        </p:spPr>
      </p:sp>
      <p:sp>
        <p:nvSpPr>
          <p:cNvPr id="4" name="Text 2"/>
          <p:cNvSpPr/>
          <p:nvPr/>
        </p:nvSpPr>
        <p:spPr>
          <a:xfrm>
            <a:off x="822960" y="1828800"/>
            <a:ext cx="1371600" cy="1371600"/>
          </a:xfrm>
          <a:prstGeom prst="rect">
            <a:avLst/>
          </a:prstGeom>
          <a:noFill/>
          <a:ln/>
        </p:spPr>
        <p:txBody>
          <a:bodyPr wrap="square" lIns="0" tIns="0" rIns="0" bIns="0" rtlCol="0" anchor="ctr"/>
          <a:lstStyle/>
          <a:p>
            <a:pPr algn="ctr" indent="0" marL="0">
              <a:buNone/>
            </a:pPr>
            <a:r>
              <a:rPr lang="en-US" sz="4000" b="1" dirty="0">
                <a:solidFill>
                  <a:srgbClr val="FFFFFF"/>
                </a:solidFill>
                <a:latin typeface="Cambria" pitchFamily="34" charset="0"/>
                <a:ea typeface="Cambria" pitchFamily="34" charset="-122"/>
                <a:cs typeface="Cambria" pitchFamily="34" charset="-120"/>
              </a:rPr>
              <a:t>E</a:t>
            </a:r>
            <a:endParaRPr lang="en-US" sz="4000" dirty="0"/>
          </a:p>
        </p:txBody>
      </p:sp>
      <p:sp>
        <p:nvSpPr>
          <p:cNvPr id="5" name="Text 3"/>
          <p:cNvSpPr/>
          <p:nvPr/>
        </p:nvSpPr>
        <p:spPr>
          <a:xfrm>
            <a:off x="2468880" y="1828800"/>
            <a:ext cx="8961120" cy="100584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ClusterIP, NodePort, LoadBalancer &amp; Endpoints</a:t>
            </a:r>
            <a:endParaRPr lang="en-US" sz="3200" dirty="0"/>
          </a:p>
        </p:txBody>
      </p:sp>
      <p:sp>
        <p:nvSpPr>
          <p:cNvPr id="6" name="Text 4"/>
          <p:cNvSpPr/>
          <p:nvPr/>
        </p:nvSpPr>
        <p:spPr>
          <a:xfrm>
            <a:off x="2468880" y="2788920"/>
            <a:ext cx="8961120" cy="640080"/>
          </a:xfrm>
          <a:prstGeom prst="rect">
            <a:avLst/>
          </a:prstGeom>
          <a:noFill/>
          <a:ln/>
        </p:spPr>
        <p:txBody>
          <a:bodyPr wrap="square" lIns="0" tIns="0" rIns="0" bIns="0" rtlCol="0" anchor="ctr"/>
          <a:lstStyle/>
          <a:p>
            <a:pPr indent="0" marL="0">
              <a:buNone/>
            </a:pPr>
            <a:r>
              <a:rPr lang="en-US" sz="1600" dirty="0">
                <a:solidFill>
                  <a:srgbClr val="C9E4ED"/>
                </a:solidFill>
                <a:latin typeface="Calibri" pitchFamily="34" charset="0"/>
                <a:ea typeface="Calibri" pitchFamily="34" charset="-122"/>
                <a:cs typeface="Calibri" pitchFamily="34" charset="-120"/>
              </a:rPr>
              <a:t>Exposing workloads inside and outside the cluster</a:t>
            </a:r>
            <a:endParaRPr lang="en-US" sz="1600" dirty="0"/>
          </a:p>
        </p:txBody>
      </p:sp>
      <p:sp>
        <p:nvSpPr>
          <p:cNvPr id="7" name="Shape 5"/>
          <p:cNvSpPr/>
          <p:nvPr/>
        </p:nvSpPr>
        <p:spPr>
          <a:xfrm>
            <a:off x="2468880" y="3429000"/>
            <a:ext cx="8961120" cy="548640"/>
          </a:xfrm>
          <a:prstGeom prst="roundRect">
            <a:avLst>
              <a:gd name="adj" fmla="val 16667"/>
            </a:avLst>
          </a:prstGeom>
          <a:solidFill>
            <a:srgbClr val="FFFFFF">
              <a:alpha val="10000"/>
            </a:srgbClr>
          </a:solidFill>
          <a:ln w="9525">
            <a:solidFill>
              <a:srgbClr val="8FD3E8"/>
            </a:solidFill>
            <a:prstDash val="solid"/>
          </a:ln>
        </p:spPr>
      </p:sp>
      <p:sp>
        <p:nvSpPr>
          <p:cNvPr id="8" name="Text 6"/>
          <p:cNvSpPr/>
          <p:nvPr/>
        </p:nvSpPr>
        <p:spPr>
          <a:xfrm>
            <a:off x="2697480" y="3429000"/>
            <a:ext cx="8503920" cy="548640"/>
          </a:xfrm>
          <a:prstGeom prst="rect">
            <a:avLst/>
          </a:prstGeom>
          <a:noFill/>
          <a:ln/>
        </p:spPr>
        <p:txBody>
          <a:bodyPr wrap="square" lIns="0" tIns="0" rIns="0" bIns="0" rtlCol="0" anchor="ctr"/>
          <a:lstStyle/>
          <a:p>
            <a:pPr algn="l" indent="0" marL="0">
              <a:buNone/>
            </a:pPr>
            <a:r>
              <a:rPr lang="en-US" sz="1200" dirty="0">
                <a:solidFill>
                  <a:srgbClr val="DCEFF5"/>
                </a:solidFill>
                <a:latin typeface="Calibri" pitchFamily="34" charset="0"/>
                <a:ea typeface="Calibri" pitchFamily="34" charset="-122"/>
                <a:cs typeface="Calibri" pitchFamily="34" charset="-120"/>
              </a:rPr>
              <a:t>Domain: Services &amp; Networking · Service types and endpoints</a:t>
            </a:r>
            <a:endParaRPr lang="en-US" sz="1200" dirty="0"/>
          </a:p>
        </p:txBody>
      </p:sp>
      <p:sp>
        <p:nvSpPr>
          <p:cNvPr id="9" name="Text 7"/>
          <p:cNvSpPr/>
          <p:nvPr/>
        </p:nvSpPr>
        <p:spPr>
          <a:xfrm>
            <a:off x="457200" y="6446520"/>
            <a:ext cx="6400800" cy="27432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CKA v1.36 · Module 2</a:t>
            </a:r>
            <a:endParaRPr lang="en-US" sz="900" dirty="0"/>
          </a:p>
        </p:txBody>
      </p:sp>
      <p:sp>
        <p:nvSpPr>
          <p:cNvPr id="10" name="Text 8"/>
          <p:cNvSpPr/>
          <p:nvPr/>
        </p:nvSpPr>
        <p:spPr>
          <a:xfrm>
            <a:off x="11247120" y="6446520"/>
            <a:ext cx="4572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33</a:t>
            </a:r>
            <a:endParaRPr lang="en-US" sz="9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65760"/>
            <a:ext cx="9144000" cy="320040"/>
          </a:xfrm>
          <a:prstGeom prst="rect">
            <a:avLst/>
          </a:prstGeom>
          <a:noFill/>
          <a:ln/>
        </p:spPr>
        <p:txBody>
          <a:bodyPr wrap="square" lIns="0" tIns="0" rIns="0" bIns="0" rtlCol="0" anchor="ctr"/>
          <a:lstStyle/>
          <a:p>
            <a:pPr indent="0" marL="0">
              <a:buNone/>
            </a:pPr>
            <a:r>
              <a:rPr lang="en-US" sz="1150" b="1" spc="150" kern="0" dirty="0">
                <a:solidFill>
                  <a:srgbClr val="1C7293"/>
                </a:solidFill>
                <a:latin typeface="Calibri" pitchFamily="34" charset="0"/>
                <a:ea typeface="Calibri" pitchFamily="34" charset="-122"/>
                <a:cs typeface="Calibri" pitchFamily="34" charset="-120"/>
              </a:rPr>
              <a:t>SERVICES</a:t>
            </a:r>
            <a:endParaRPr lang="en-US" sz="1150" dirty="0"/>
          </a:p>
        </p:txBody>
      </p:sp>
      <p:sp>
        <p:nvSpPr>
          <p:cNvPr id="3" name="Text 1"/>
          <p:cNvSpPr/>
          <p:nvPr/>
        </p:nvSpPr>
        <p:spPr>
          <a:xfrm>
            <a:off x="640080" y="658368"/>
            <a:ext cx="10881360" cy="548640"/>
          </a:xfrm>
          <a:prstGeom prst="rect">
            <a:avLst/>
          </a:prstGeom>
          <a:noFill/>
          <a:ln/>
        </p:spPr>
        <p:txBody>
          <a:bodyPr wrap="square" lIns="0" tIns="0" rIns="0" bIns="0" rtlCol="0" anchor="ctr"/>
          <a:lstStyle/>
          <a:p>
            <a:pPr indent="0" marL="0">
              <a:buNone/>
            </a:pPr>
            <a:r>
              <a:rPr lang="en-US" sz="2400" b="1" dirty="0">
                <a:solidFill>
                  <a:srgbClr val="21295C"/>
                </a:solidFill>
                <a:latin typeface="Cambria" pitchFamily="34" charset="0"/>
                <a:ea typeface="Cambria" pitchFamily="34" charset="-122"/>
                <a:cs typeface="Cambria" pitchFamily="34" charset="-120"/>
              </a:rPr>
              <a:t>The Four Service Types</a:t>
            </a:r>
            <a:endParaRPr lang="en-US" sz="2400" dirty="0"/>
          </a:p>
        </p:txBody>
      </p:sp>
      <p:graphicFrame>
        <p:nvGraphicFramePr>
          <p:cNvPr id="35" name="Table 0"/>
          <p:cNvGraphicFramePr>
            <a:graphicFrameLocks noGrp="1"/>
          </p:cNvGraphicFramePr>
          <p:nvPr>
            <p:extLst>
              <p:ext uri="{D42A27DB-BD31-4B8C-83A1-F6EECF244321}">
                <p14:modId xmlns:p14="http://schemas.microsoft.com/office/powerpoint/2010/main" val="1579011935"/>
              </p:ext>
            </p:extLst>
          </p:nvPr>
        </p:nvGraphicFramePr>
        <p:xfrm>
          <a:off x="640080" y="1371600"/>
          <a:ext cx="10881360" cy="914400"/>
        </p:xfrm>
        <a:graphic>
          <a:graphicData uri="http://schemas.openxmlformats.org/drawingml/2006/table">
            <a:tbl>
              <a:tblPr/>
              <a:tblGrid>
                <a:gridCol w="2377440"/>
                <a:gridCol w="4206240"/>
                <a:gridCol w="4297680"/>
              </a:tblGrid>
              <a:tr h="0">
                <a:tc>
                  <a:txBody>
                    <a:bodyPr/>
                    <a:lstStyle/>
                    <a:p>
                      <a:pPr algn="l" indent="0" marL="0">
                        <a:buNone/>
                      </a:pPr>
                      <a:r>
                        <a:rPr lang="en-US" sz="1300" b="1" dirty="0">
                          <a:solidFill>
                            <a:srgbClr val="FFFFFF"/>
                          </a:solidFill>
                        </a:rPr>
                        <a:t>Type</a:t>
                      </a:r>
                      <a:endParaRPr lang="en-US" sz="1300" dirty="0"/>
                    </a:p>
                  </a:txBody>
                  <a:tcPr marL="101600" marR="101600" marT="50800" marB="50800" anchor="ctr">
                    <a:lnL w="9525" cap="flat" cmpd="sng" algn="ctr">
                      <a:solidFill>
                        <a:srgbClr val="D7E3E8"/>
                      </a:solidFill>
                      <a:prstDash val="solid"/>
                      <a:round/>
                      <a:headEnd type="none" w="med" len="med"/>
                      <a:tailEnd type="none" w="med" len="med"/>
                    </a:lnL>
                    <a:lnR w="9525" cap="flat" cmpd="sng" algn="ctr">
                      <a:solidFill>
                        <a:srgbClr val="D7E3E8"/>
                      </a:solidFill>
                      <a:prstDash val="solid"/>
                      <a:round/>
                      <a:headEnd type="none" w="med" len="med"/>
                      <a:tailEnd type="none" w="med" len="med"/>
                    </a:lnR>
                    <a:lnT w="9525" cap="flat" cmpd="sng" algn="ctr">
                      <a:solidFill>
                        <a:srgbClr val="D7E3E8"/>
                      </a:solidFill>
                      <a:prstDash val="solid"/>
                      <a:round/>
                      <a:headEnd type="none" w="med" len="med"/>
                      <a:tailEnd type="none" w="med" len="med"/>
                    </a:lnT>
                    <a:lnB w="9525" cap="flat" cmpd="sng" algn="ctr">
                      <a:solidFill>
                        <a:srgbClr val="D7E3E8"/>
                      </a:solidFill>
                      <a:prstDash val="solid"/>
                      <a:round/>
                      <a:headEnd type="none" w="med" len="med"/>
                      <a:tailEnd type="none" w="med" len="med"/>
                    </a:lnB>
                    <a:solidFill>
                      <a:srgbClr val="065A82"/>
                    </a:solidFill>
                  </a:tcPr>
                </a:tc>
                <a:tc>
                  <a:txBody>
                    <a:bodyPr/>
                    <a:lstStyle/>
                    <a:p>
                      <a:pPr algn="l" indent="0" marL="0">
                        <a:buNone/>
                      </a:pPr>
                      <a:r>
                        <a:rPr lang="en-US" sz="1300" b="1" dirty="0">
                          <a:solidFill>
                            <a:srgbClr val="FFFFFF"/>
                          </a:solidFill>
                        </a:rPr>
                        <a:t>Reachable From</a:t>
                      </a:r>
                      <a:endParaRPr lang="en-US" sz="1300" dirty="0"/>
                    </a:p>
                  </a:txBody>
                  <a:tcPr marL="101600" marR="101600" marT="50800" marB="50800" anchor="ctr">
                    <a:lnL w="9525" cap="flat" cmpd="sng" algn="ctr">
                      <a:solidFill>
                        <a:srgbClr val="D7E3E8"/>
                      </a:solidFill>
                      <a:prstDash val="solid"/>
                      <a:round/>
                      <a:headEnd type="none" w="med" len="med"/>
                      <a:tailEnd type="none" w="med" len="med"/>
                    </a:lnL>
                    <a:lnR w="9525" cap="flat" cmpd="sng" algn="ctr">
                      <a:solidFill>
                        <a:srgbClr val="D7E3E8"/>
                      </a:solidFill>
                      <a:prstDash val="solid"/>
                      <a:round/>
                      <a:headEnd type="none" w="med" len="med"/>
                      <a:tailEnd type="none" w="med" len="med"/>
                    </a:lnR>
                    <a:lnT w="9525" cap="flat" cmpd="sng" algn="ctr">
                      <a:solidFill>
                        <a:srgbClr val="D7E3E8"/>
                      </a:solidFill>
                      <a:prstDash val="solid"/>
                      <a:round/>
                      <a:headEnd type="none" w="med" len="med"/>
                      <a:tailEnd type="none" w="med" len="med"/>
                    </a:lnT>
                    <a:lnB w="9525" cap="flat" cmpd="sng" algn="ctr">
                      <a:solidFill>
                        <a:srgbClr val="D7E3E8"/>
                      </a:solidFill>
                      <a:prstDash val="solid"/>
                      <a:round/>
                      <a:headEnd type="none" w="med" len="med"/>
                      <a:tailEnd type="none" w="med" len="med"/>
                    </a:lnB>
                    <a:solidFill>
                      <a:srgbClr val="065A82"/>
                    </a:solidFill>
                  </a:tcPr>
                </a:tc>
                <a:tc>
                  <a:txBody>
                    <a:bodyPr/>
                    <a:lstStyle/>
                    <a:p>
                      <a:pPr algn="l" indent="0" marL="0">
                        <a:buNone/>
                      </a:pPr>
                      <a:r>
                        <a:rPr lang="en-US" sz="1300" b="1" dirty="0">
                          <a:solidFill>
                            <a:srgbClr val="FFFFFF"/>
                          </a:solidFill>
                        </a:rPr>
                        <a:t>Typical Use</a:t>
                      </a:r>
                      <a:endParaRPr lang="en-US" sz="1300" dirty="0"/>
                    </a:p>
                  </a:txBody>
                  <a:tcPr marL="101600" marR="101600" marT="50800" marB="50800" anchor="ctr">
                    <a:lnL w="9525" cap="flat" cmpd="sng" algn="ctr">
                      <a:solidFill>
                        <a:srgbClr val="D7E3E8"/>
                      </a:solidFill>
                      <a:prstDash val="solid"/>
                      <a:round/>
                      <a:headEnd type="none" w="med" len="med"/>
                      <a:tailEnd type="none" w="med" len="med"/>
                    </a:lnL>
                    <a:lnR w="9525" cap="flat" cmpd="sng" algn="ctr">
                      <a:solidFill>
                        <a:srgbClr val="D7E3E8"/>
                      </a:solidFill>
                      <a:prstDash val="solid"/>
                      <a:round/>
                      <a:headEnd type="none" w="med" len="med"/>
                      <a:tailEnd type="none" w="med" len="med"/>
                    </a:lnR>
                    <a:lnT w="9525" cap="flat" cmpd="sng" algn="ctr">
                      <a:solidFill>
                        <a:srgbClr val="D7E3E8"/>
                      </a:solidFill>
                      <a:prstDash val="solid"/>
                      <a:round/>
                      <a:headEnd type="none" w="med" len="med"/>
                      <a:tailEnd type="none" w="med" len="med"/>
                    </a:lnT>
                    <a:lnB w="9525" cap="flat" cmpd="sng" algn="ctr">
                      <a:solidFill>
                        <a:srgbClr val="D7E3E8"/>
                      </a:solidFill>
                      <a:prstDash val="solid"/>
                      <a:round/>
                      <a:headEnd type="none" w="med" len="med"/>
                      <a:tailEnd type="none" w="med" len="med"/>
                    </a:lnB>
                    <a:solidFill>
                      <a:srgbClr val="065A82"/>
                    </a:solidFill>
                  </a:tcPr>
                </a:tc>
              </a:tr>
              <a:tr h="0">
                <a:tc>
                  <a:txBody>
                    <a:bodyPr/>
                    <a:lstStyle/>
                    <a:p>
                      <a:pPr algn="l" indent="0" marL="0">
                        <a:buNone/>
                      </a:pPr>
                      <a:r>
                        <a:rPr lang="en-US" sz="1250" dirty="0">
                          <a:solidFill>
                            <a:srgbClr val="1E293B"/>
                          </a:solidFill>
                        </a:rPr>
                        <a:t>ClusterIP (default)</a:t>
                      </a:r>
                      <a:endParaRPr lang="en-US" sz="1250" dirty="0"/>
                    </a:p>
                  </a:txBody>
                  <a:tcPr marL="101600" marR="101600" marT="50800" marB="50800" anchor="ctr">
                    <a:lnL w="9525" cap="flat" cmpd="sng" algn="ctr">
                      <a:solidFill>
                        <a:srgbClr val="D7E3E8"/>
                      </a:solidFill>
                      <a:prstDash val="solid"/>
                      <a:round/>
                      <a:headEnd type="none" w="med" len="med"/>
                      <a:tailEnd type="none" w="med" len="med"/>
                    </a:lnL>
                    <a:lnR w="9525" cap="flat" cmpd="sng" algn="ctr">
                      <a:solidFill>
                        <a:srgbClr val="D7E3E8"/>
                      </a:solidFill>
                      <a:prstDash val="solid"/>
                      <a:round/>
                      <a:headEnd type="none" w="med" len="med"/>
                      <a:tailEnd type="none" w="med" len="med"/>
                    </a:lnR>
                    <a:lnT w="9525" cap="flat" cmpd="sng" algn="ctr">
                      <a:solidFill>
                        <a:srgbClr val="D7E3E8"/>
                      </a:solidFill>
                      <a:prstDash val="solid"/>
                      <a:round/>
                      <a:headEnd type="none" w="med" len="med"/>
                      <a:tailEnd type="none" w="med" len="med"/>
                    </a:lnT>
                    <a:lnB w="9525" cap="flat" cmpd="sng" algn="ctr">
                      <a:solidFill>
                        <a:srgbClr val="D7E3E8"/>
                      </a:solidFill>
                      <a:prstDash val="solid"/>
                      <a:round/>
                      <a:headEnd type="none" w="med" len="med"/>
                      <a:tailEnd type="none" w="med" len="med"/>
                    </a:lnB>
                    <a:solidFill>
                      <a:srgbClr val="FFFFFF"/>
                    </a:solidFill>
                  </a:tcPr>
                </a:tc>
                <a:tc>
                  <a:txBody>
                    <a:bodyPr/>
                    <a:lstStyle/>
                    <a:p>
                      <a:pPr algn="l" indent="0" marL="0">
                        <a:buNone/>
                      </a:pPr>
                      <a:r>
                        <a:rPr lang="en-US" sz="1250" dirty="0">
                          <a:solidFill>
                            <a:srgbClr val="1E293B"/>
                          </a:solidFill>
                        </a:rPr>
                        <a:t>Inside the cluster only</a:t>
                      </a:r>
                      <a:endParaRPr lang="en-US" sz="1250" dirty="0"/>
                    </a:p>
                  </a:txBody>
                  <a:tcPr marL="101600" marR="101600" marT="50800" marB="50800" anchor="ctr">
                    <a:lnL w="9525" cap="flat" cmpd="sng" algn="ctr">
                      <a:solidFill>
                        <a:srgbClr val="D7E3E8"/>
                      </a:solidFill>
                      <a:prstDash val="solid"/>
                      <a:round/>
                      <a:headEnd type="none" w="med" len="med"/>
                      <a:tailEnd type="none" w="med" len="med"/>
                    </a:lnL>
                    <a:lnR w="9525" cap="flat" cmpd="sng" algn="ctr">
                      <a:solidFill>
                        <a:srgbClr val="D7E3E8"/>
                      </a:solidFill>
                      <a:prstDash val="solid"/>
                      <a:round/>
                      <a:headEnd type="none" w="med" len="med"/>
                      <a:tailEnd type="none" w="med" len="med"/>
                    </a:lnR>
                    <a:lnT w="9525" cap="flat" cmpd="sng" algn="ctr">
                      <a:solidFill>
                        <a:srgbClr val="D7E3E8"/>
                      </a:solidFill>
                      <a:prstDash val="solid"/>
                      <a:round/>
                      <a:headEnd type="none" w="med" len="med"/>
                      <a:tailEnd type="none" w="med" len="med"/>
                    </a:lnT>
                    <a:lnB w="9525" cap="flat" cmpd="sng" algn="ctr">
                      <a:solidFill>
                        <a:srgbClr val="D7E3E8"/>
                      </a:solidFill>
                      <a:prstDash val="solid"/>
                      <a:round/>
                      <a:headEnd type="none" w="med" len="med"/>
                      <a:tailEnd type="none" w="med" len="med"/>
                    </a:lnB>
                    <a:solidFill>
                      <a:srgbClr val="FFFFFF"/>
                    </a:solidFill>
                  </a:tcPr>
                </a:tc>
                <a:tc>
                  <a:txBody>
                    <a:bodyPr/>
                    <a:lstStyle/>
                    <a:p>
                      <a:pPr algn="l" indent="0" marL="0">
                        <a:buNone/>
                      </a:pPr>
                      <a:r>
                        <a:rPr lang="en-US" sz="1250" dirty="0">
                          <a:solidFill>
                            <a:srgbClr val="1E293B"/>
                          </a:solidFill>
                        </a:rPr>
                        <a:t>Internal service-to-service communication</a:t>
                      </a:r>
                      <a:endParaRPr lang="en-US" sz="1250" dirty="0"/>
                    </a:p>
                  </a:txBody>
                  <a:tcPr marL="101600" marR="101600" marT="50800" marB="50800" anchor="ctr">
                    <a:lnL w="9525" cap="flat" cmpd="sng" algn="ctr">
                      <a:solidFill>
                        <a:srgbClr val="D7E3E8"/>
                      </a:solidFill>
                      <a:prstDash val="solid"/>
                      <a:round/>
                      <a:headEnd type="none" w="med" len="med"/>
                      <a:tailEnd type="none" w="med" len="med"/>
                    </a:lnL>
                    <a:lnR w="9525" cap="flat" cmpd="sng" algn="ctr">
                      <a:solidFill>
                        <a:srgbClr val="D7E3E8"/>
                      </a:solidFill>
                      <a:prstDash val="solid"/>
                      <a:round/>
                      <a:headEnd type="none" w="med" len="med"/>
                      <a:tailEnd type="none" w="med" len="med"/>
                    </a:lnR>
                    <a:lnT w="9525" cap="flat" cmpd="sng" algn="ctr">
                      <a:solidFill>
                        <a:srgbClr val="D7E3E8"/>
                      </a:solidFill>
                      <a:prstDash val="solid"/>
                      <a:round/>
                      <a:headEnd type="none" w="med" len="med"/>
                      <a:tailEnd type="none" w="med" len="med"/>
                    </a:lnT>
                    <a:lnB w="9525" cap="flat" cmpd="sng" algn="ctr">
                      <a:solidFill>
                        <a:srgbClr val="D7E3E8"/>
                      </a:solidFill>
                      <a:prstDash val="solid"/>
                      <a:round/>
                      <a:headEnd type="none" w="med" len="med"/>
                      <a:tailEnd type="none" w="med" len="med"/>
                    </a:lnB>
                    <a:solidFill>
                      <a:srgbClr val="FFFFFF"/>
                    </a:solidFill>
                  </a:tcPr>
                </a:tc>
              </a:tr>
              <a:tr h="0">
                <a:tc>
                  <a:txBody>
                    <a:bodyPr/>
                    <a:lstStyle/>
                    <a:p>
                      <a:pPr algn="l" indent="0" marL="0">
                        <a:buNone/>
                      </a:pPr>
                      <a:r>
                        <a:rPr lang="en-US" sz="1250" dirty="0">
                          <a:solidFill>
                            <a:srgbClr val="1E293B"/>
                          </a:solidFill>
                        </a:rPr>
                        <a:t>NodePort</a:t>
                      </a:r>
                      <a:endParaRPr lang="en-US" sz="1250" dirty="0"/>
                    </a:p>
                  </a:txBody>
                  <a:tcPr marL="101600" marR="101600" marT="50800" marB="50800" anchor="ctr">
                    <a:lnL w="9525" cap="flat" cmpd="sng" algn="ctr">
                      <a:solidFill>
                        <a:srgbClr val="D7E3E8"/>
                      </a:solidFill>
                      <a:prstDash val="solid"/>
                      <a:round/>
                      <a:headEnd type="none" w="med" len="med"/>
                      <a:tailEnd type="none" w="med" len="med"/>
                    </a:lnL>
                    <a:lnR w="9525" cap="flat" cmpd="sng" algn="ctr">
                      <a:solidFill>
                        <a:srgbClr val="D7E3E8"/>
                      </a:solidFill>
                      <a:prstDash val="solid"/>
                      <a:round/>
                      <a:headEnd type="none" w="med" len="med"/>
                      <a:tailEnd type="none" w="med" len="med"/>
                    </a:lnR>
                    <a:lnT w="9525" cap="flat" cmpd="sng" algn="ctr">
                      <a:solidFill>
                        <a:srgbClr val="D7E3E8"/>
                      </a:solidFill>
                      <a:prstDash val="solid"/>
                      <a:round/>
                      <a:headEnd type="none" w="med" len="med"/>
                      <a:tailEnd type="none" w="med" len="med"/>
                    </a:lnT>
                    <a:lnB w="9525" cap="flat" cmpd="sng" algn="ctr">
                      <a:solidFill>
                        <a:srgbClr val="D7E3E8"/>
                      </a:solidFill>
                      <a:prstDash val="solid"/>
                      <a:round/>
                      <a:headEnd type="none" w="med" len="med"/>
                      <a:tailEnd type="none" w="med" len="med"/>
                    </a:lnB>
                    <a:solidFill>
                      <a:srgbClr val="EAF4F8"/>
                    </a:solidFill>
                  </a:tcPr>
                </a:tc>
                <a:tc>
                  <a:txBody>
                    <a:bodyPr/>
                    <a:lstStyle/>
                    <a:p>
                      <a:pPr algn="l" indent="0" marL="0">
                        <a:buNone/>
                      </a:pPr>
                      <a:r>
                        <a:rPr lang="en-US" sz="1250" dirty="0">
                          <a:solidFill>
                            <a:srgbClr val="1E293B"/>
                          </a:solidFill>
                        </a:rPr>
                        <a:t>Outside the cluster via &lt;any-node-IP&gt;:&lt;NodePort&gt;</a:t>
                      </a:r>
                      <a:endParaRPr lang="en-US" sz="1250" dirty="0"/>
                    </a:p>
                  </a:txBody>
                  <a:tcPr marL="101600" marR="101600" marT="50800" marB="50800" anchor="ctr">
                    <a:lnL w="9525" cap="flat" cmpd="sng" algn="ctr">
                      <a:solidFill>
                        <a:srgbClr val="D7E3E8"/>
                      </a:solidFill>
                      <a:prstDash val="solid"/>
                      <a:round/>
                      <a:headEnd type="none" w="med" len="med"/>
                      <a:tailEnd type="none" w="med" len="med"/>
                    </a:lnL>
                    <a:lnR w="9525" cap="flat" cmpd="sng" algn="ctr">
                      <a:solidFill>
                        <a:srgbClr val="D7E3E8"/>
                      </a:solidFill>
                      <a:prstDash val="solid"/>
                      <a:round/>
                      <a:headEnd type="none" w="med" len="med"/>
                      <a:tailEnd type="none" w="med" len="med"/>
                    </a:lnR>
                    <a:lnT w="9525" cap="flat" cmpd="sng" algn="ctr">
                      <a:solidFill>
                        <a:srgbClr val="D7E3E8"/>
                      </a:solidFill>
                      <a:prstDash val="solid"/>
                      <a:round/>
                      <a:headEnd type="none" w="med" len="med"/>
                      <a:tailEnd type="none" w="med" len="med"/>
                    </a:lnT>
                    <a:lnB w="9525" cap="flat" cmpd="sng" algn="ctr">
                      <a:solidFill>
                        <a:srgbClr val="D7E3E8"/>
                      </a:solidFill>
                      <a:prstDash val="solid"/>
                      <a:round/>
                      <a:headEnd type="none" w="med" len="med"/>
                      <a:tailEnd type="none" w="med" len="med"/>
                    </a:lnB>
                    <a:solidFill>
                      <a:srgbClr val="EAF4F8"/>
                    </a:solidFill>
                  </a:tcPr>
                </a:tc>
                <a:tc>
                  <a:txBody>
                    <a:bodyPr/>
                    <a:lstStyle/>
                    <a:p>
                      <a:pPr algn="l" indent="0" marL="0">
                        <a:buNone/>
                      </a:pPr>
                      <a:r>
                        <a:rPr lang="en-US" sz="1250" dirty="0">
                          <a:solidFill>
                            <a:srgbClr val="1E293B"/>
                          </a:solidFill>
                        </a:rPr>
                        <a:t>Simple external access without a cloud load balancer</a:t>
                      </a:r>
                      <a:endParaRPr lang="en-US" sz="1250" dirty="0"/>
                    </a:p>
                  </a:txBody>
                  <a:tcPr marL="101600" marR="101600" marT="50800" marB="50800" anchor="ctr">
                    <a:lnL w="9525" cap="flat" cmpd="sng" algn="ctr">
                      <a:solidFill>
                        <a:srgbClr val="D7E3E8"/>
                      </a:solidFill>
                      <a:prstDash val="solid"/>
                      <a:round/>
                      <a:headEnd type="none" w="med" len="med"/>
                      <a:tailEnd type="none" w="med" len="med"/>
                    </a:lnL>
                    <a:lnR w="9525" cap="flat" cmpd="sng" algn="ctr">
                      <a:solidFill>
                        <a:srgbClr val="D7E3E8"/>
                      </a:solidFill>
                      <a:prstDash val="solid"/>
                      <a:round/>
                      <a:headEnd type="none" w="med" len="med"/>
                      <a:tailEnd type="none" w="med" len="med"/>
                    </a:lnR>
                    <a:lnT w="9525" cap="flat" cmpd="sng" algn="ctr">
                      <a:solidFill>
                        <a:srgbClr val="D7E3E8"/>
                      </a:solidFill>
                      <a:prstDash val="solid"/>
                      <a:round/>
                      <a:headEnd type="none" w="med" len="med"/>
                      <a:tailEnd type="none" w="med" len="med"/>
                    </a:lnT>
                    <a:lnB w="9525" cap="flat" cmpd="sng" algn="ctr">
                      <a:solidFill>
                        <a:srgbClr val="D7E3E8"/>
                      </a:solidFill>
                      <a:prstDash val="solid"/>
                      <a:round/>
                      <a:headEnd type="none" w="med" len="med"/>
                      <a:tailEnd type="none" w="med" len="med"/>
                    </a:lnB>
                    <a:solidFill>
                      <a:srgbClr val="EAF4F8"/>
                    </a:solidFill>
                  </a:tcPr>
                </a:tc>
              </a:tr>
              <a:tr h="0">
                <a:tc>
                  <a:txBody>
                    <a:bodyPr/>
                    <a:lstStyle/>
                    <a:p>
                      <a:pPr algn="l" indent="0" marL="0">
                        <a:buNone/>
                      </a:pPr>
                      <a:r>
                        <a:rPr lang="en-US" sz="1250" dirty="0">
                          <a:solidFill>
                            <a:srgbClr val="1E293B"/>
                          </a:solidFill>
                        </a:rPr>
                        <a:t>LoadBalancer</a:t>
                      </a:r>
                      <a:endParaRPr lang="en-US" sz="1250" dirty="0"/>
                    </a:p>
                  </a:txBody>
                  <a:tcPr marL="101600" marR="101600" marT="50800" marB="50800" anchor="ctr">
                    <a:lnL w="9525" cap="flat" cmpd="sng" algn="ctr">
                      <a:solidFill>
                        <a:srgbClr val="D7E3E8"/>
                      </a:solidFill>
                      <a:prstDash val="solid"/>
                      <a:round/>
                      <a:headEnd type="none" w="med" len="med"/>
                      <a:tailEnd type="none" w="med" len="med"/>
                    </a:lnL>
                    <a:lnR w="9525" cap="flat" cmpd="sng" algn="ctr">
                      <a:solidFill>
                        <a:srgbClr val="D7E3E8"/>
                      </a:solidFill>
                      <a:prstDash val="solid"/>
                      <a:round/>
                      <a:headEnd type="none" w="med" len="med"/>
                      <a:tailEnd type="none" w="med" len="med"/>
                    </a:lnR>
                    <a:lnT w="9525" cap="flat" cmpd="sng" algn="ctr">
                      <a:solidFill>
                        <a:srgbClr val="D7E3E8"/>
                      </a:solidFill>
                      <a:prstDash val="solid"/>
                      <a:round/>
                      <a:headEnd type="none" w="med" len="med"/>
                      <a:tailEnd type="none" w="med" len="med"/>
                    </a:lnT>
                    <a:lnB w="9525" cap="flat" cmpd="sng" algn="ctr">
                      <a:solidFill>
                        <a:srgbClr val="D7E3E8"/>
                      </a:solidFill>
                      <a:prstDash val="solid"/>
                      <a:round/>
                      <a:headEnd type="none" w="med" len="med"/>
                      <a:tailEnd type="none" w="med" len="med"/>
                    </a:lnB>
                    <a:solidFill>
                      <a:srgbClr val="FFFFFF"/>
                    </a:solidFill>
                  </a:tcPr>
                </a:tc>
                <a:tc>
                  <a:txBody>
                    <a:bodyPr/>
                    <a:lstStyle/>
                    <a:p>
                      <a:pPr algn="l" indent="0" marL="0">
                        <a:buNone/>
                      </a:pPr>
                      <a:r>
                        <a:rPr lang="en-US" sz="1250" dirty="0">
                          <a:solidFill>
                            <a:srgbClr val="1E293B"/>
                          </a:solidFill>
                        </a:rPr>
                        <a:t>Outside via a cloud-provisioned external IP</a:t>
                      </a:r>
                      <a:endParaRPr lang="en-US" sz="1250" dirty="0"/>
                    </a:p>
                  </a:txBody>
                  <a:tcPr marL="101600" marR="101600" marT="50800" marB="50800" anchor="ctr">
                    <a:lnL w="9525" cap="flat" cmpd="sng" algn="ctr">
                      <a:solidFill>
                        <a:srgbClr val="D7E3E8"/>
                      </a:solidFill>
                      <a:prstDash val="solid"/>
                      <a:round/>
                      <a:headEnd type="none" w="med" len="med"/>
                      <a:tailEnd type="none" w="med" len="med"/>
                    </a:lnL>
                    <a:lnR w="9525" cap="flat" cmpd="sng" algn="ctr">
                      <a:solidFill>
                        <a:srgbClr val="D7E3E8"/>
                      </a:solidFill>
                      <a:prstDash val="solid"/>
                      <a:round/>
                      <a:headEnd type="none" w="med" len="med"/>
                      <a:tailEnd type="none" w="med" len="med"/>
                    </a:lnR>
                    <a:lnT w="9525" cap="flat" cmpd="sng" algn="ctr">
                      <a:solidFill>
                        <a:srgbClr val="D7E3E8"/>
                      </a:solidFill>
                      <a:prstDash val="solid"/>
                      <a:round/>
                      <a:headEnd type="none" w="med" len="med"/>
                      <a:tailEnd type="none" w="med" len="med"/>
                    </a:lnT>
                    <a:lnB w="9525" cap="flat" cmpd="sng" algn="ctr">
                      <a:solidFill>
                        <a:srgbClr val="D7E3E8"/>
                      </a:solidFill>
                      <a:prstDash val="solid"/>
                      <a:round/>
                      <a:headEnd type="none" w="med" len="med"/>
                      <a:tailEnd type="none" w="med" len="med"/>
                    </a:lnB>
                    <a:solidFill>
                      <a:srgbClr val="FFFFFF"/>
                    </a:solidFill>
                  </a:tcPr>
                </a:tc>
                <a:tc>
                  <a:txBody>
                    <a:bodyPr/>
                    <a:lstStyle/>
                    <a:p>
                      <a:pPr algn="l" indent="0" marL="0">
                        <a:buNone/>
                      </a:pPr>
                      <a:r>
                        <a:rPr lang="en-US" sz="1250" dirty="0">
                          <a:solidFill>
                            <a:srgbClr val="1E293B"/>
                          </a:solidFill>
                        </a:rPr>
                        <a:t>Production external access on a cloud provider</a:t>
                      </a:r>
                      <a:endParaRPr lang="en-US" sz="1250" dirty="0"/>
                    </a:p>
                  </a:txBody>
                  <a:tcPr marL="101600" marR="101600" marT="50800" marB="50800" anchor="ctr">
                    <a:lnL w="9525" cap="flat" cmpd="sng" algn="ctr">
                      <a:solidFill>
                        <a:srgbClr val="D7E3E8"/>
                      </a:solidFill>
                      <a:prstDash val="solid"/>
                      <a:round/>
                      <a:headEnd type="none" w="med" len="med"/>
                      <a:tailEnd type="none" w="med" len="med"/>
                    </a:lnL>
                    <a:lnR w="9525" cap="flat" cmpd="sng" algn="ctr">
                      <a:solidFill>
                        <a:srgbClr val="D7E3E8"/>
                      </a:solidFill>
                      <a:prstDash val="solid"/>
                      <a:round/>
                      <a:headEnd type="none" w="med" len="med"/>
                      <a:tailEnd type="none" w="med" len="med"/>
                    </a:lnR>
                    <a:lnT w="9525" cap="flat" cmpd="sng" algn="ctr">
                      <a:solidFill>
                        <a:srgbClr val="D7E3E8"/>
                      </a:solidFill>
                      <a:prstDash val="solid"/>
                      <a:round/>
                      <a:headEnd type="none" w="med" len="med"/>
                      <a:tailEnd type="none" w="med" len="med"/>
                    </a:lnT>
                    <a:lnB w="9525" cap="flat" cmpd="sng" algn="ctr">
                      <a:solidFill>
                        <a:srgbClr val="D7E3E8"/>
                      </a:solidFill>
                      <a:prstDash val="solid"/>
                      <a:round/>
                      <a:headEnd type="none" w="med" len="med"/>
                      <a:tailEnd type="none" w="med" len="med"/>
                    </a:lnB>
                    <a:solidFill>
                      <a:srgbClr val="FFFFFF"/>
                    </a:solidFill>
                  </a:tcPr>
                </a:tc>
              </a:tr>
              <a:tr h="0">
                <a:tc>
                  <a:txBody>
                    <a:bodyPr/>
                    <a:lstStyle/>
                    <a:p>
                      <a:pPr algn="l" indent="0" marL="0">
                        <a:buNone/>
                      </a:pPr>
                      <a:r>
                        <a:rPr lang="en-US" sz="1250" dirty="0">
                          <a:solidFill>
                            <a:srgbClr val="1E293B"/>
                          </a:solidFill>
                        </a:rPr>
                        <a:t>ExternalName</a:t>
                      </a:r>
                      <a:endParaRPr lang="en-US" sz="1250" dirty="0"/>
                    </a:p>
                  </a:txBody>
                  <a:tcPr marL="101600" marR="101600" marT="50800" marB="50800" anchor="ctr">
                    <a:lnL w="9525" cap="flat" cmpd="sng" algn="ctr">
                      <a:solidFill>
                        <a:srgbClr val="D7E3E8"/>
                      </a:solidFill>
                      <a:prstDash val="solid"/>
                      <a:round/>
                      <a:headEnd type="none" w="med" len="med"/>
                      <a:tailEnd type="none" w="med" len="med"/>
                    </a:lnL>
                    <a:lnR w="9525" cap="flat" cmpd="sng" algn="ctr">
                      <a:solidFill>
                        <a:srgbClr val="D7E3E8"/>
                      </a:solidFill>
                      <a:prstDash val="solid"/>
                      <a:round/>
                      <a:headEnd type="none" w="med" len="med"/>
                      <a:tailEnd type="none" w="med" len="med"/>
                    </a:lnR>
                    <a:lnT w="9525" cap="flat" cmpd="sng" algn="ctr">
                      <a:solidFill>
                        <a:srgbClr val="D7E3E8"/>
                      </a:solidFill>
                      <a:prstDash val="solid"/>
                      <a:round/>
                      <a:headEnd type="none" w="med" len="med"/>
                      <a:tailEnd type="none" w="med" len="med"/>
                    </a:lnT>
                    <a:lnB w="9525" cap="flat" cmpd="sng" algn="ctr">
                      <a:solidFill>
                        <a:srgbClr val="D7E3E8"/>
                      </a:solidFill>
                      <a:prstDash val="solid"/>
                      <a:round/>
                      <a:headEnd type="none" w="med" len="med"/>
                      <a:tailEnd type="none" w="med" len="med"/>
                    </a:lnB>
                    <a:solidFill>
                      <a:srgbClr val="EAF4F8"/>
                    </a:solidFill>
                  </a:tcPr>
                </a:tc>
                <a:tc>
                  <a:txBody>
                    <a:bodyPr/>
                    <a:lstStyle/>
                    <a:p>
                      <a:pPr algn="l" indent="0" marL="0">
                        <a:buNone/>
                      </a:pPr>
                      <a:r>
                        <a:rPr lang="en-US" sz="1250" dirty="0">
                          <a:solidFill>
                            <a:srgbClr val="1E293B"/>
                          </a:solidFill>
                        </a:rPr>
                        <a:t>Internal DNS alias to an external DNS name</a:t>
                      </a:r>
                      <a:endParaRPr lang="en-US" sz="1250" dirty="0"/>
                    </a:p>
                  </a:txBody>
                  <a:tcPr marL="101600" marR="101600" marT="50800" marB="50800" anchor="ctr">
                    <a:lnL w="9525" cap="flat" cmpd="sng" algn="ctr">
                      <a:solidFill>
                        <a:srgbClr val="D7E3E8"/>
                      </a:solidFill>
                      <a:prstDash val="solid"/>
                      <a:round/>
                      <a:headEnd type="none" w="med" len="med"/>
                      <a:tailEnd type="none" w="med" len="med"/>
                    </a:lnL>
                    <a:lnR w="9525" cap="flat" cmpd="sng" algn="ctr">
                      <a:solidFill>
                        <a:srgbClr val="D7E3E8"/>
                      </a:solidFill>
                      <a:prstDash val="solid"/>
                      <a:round/>
                      <a:headEnd type="none" w="med" len="med"/>
                      <a:tailEnd type="none" w="med" len="med"/>
                    </a:lnR>
                    <a:lnT w="9525" cap="flat" cmpd="sng" algn="ctr">
                      <a:solidFill>
                        <a:srgbClr val="D7E3E8"/>
                      </a:solidFill>
                      <a:prstDash val="solid"/>
                      <a:round/>
                      <a:headEnd type="none" w="med" len="med"/>
                      <a:tailEnd type="none" w="med" len="med"/>
                    </a:lnT>
                    <a:lnB w="9525" cap="flat" cmpd="sng" algn="ctr">
                      <a:solidFill>
                        <a:srgbClr val="D7E3E8"/>
                      </a:solidFill>
                      <a:prstDash val="solid"/>
                      <a:round/>
                      <a:headEnd type="none" w="med" len="med"/>
                      <a:tailEnd type="none" w="med" len="med"/>
                    </a:lnB>
                    <a:solidFill>
                      <a:srgbClr val="EAF4F8"/>
                    </a:solidFill>
                  </a:tcPr>
                </a:tc>
                <a:tc>
                  <a:txBody>
                    <a:bodyPr/>
                    <a:lstStyle/>
                    <a:p>
                      <a:pPr algn="l" indent="0" marL="0">
                        <a:buNone/>
                      </a:pPr>
                      <a:r>
                        <a:rPr lang="en-US" sz="1250" dirty="0">
                          <a:solidFill>
                            <a:srgbClr val="1E293B"/>
                          </a:solidFill>
                        </a:rPr>
                        <a:t>Pointing a Service name at an external system, e.g. a managed DB</a:t>
                      </a:r>
                      <a:endParaRPr lang="en-US" sz="1250" dirty="0"/>
                    </a:p>
                  </a:txBody>
                  <a:tcPr marL="101600" marR="101600" marT="50800" marB="50800" anchor="ctr">
                    <a:lnL w="9525" cap="flat" cmpd="sng" algn="ctr">
                      <a:solidFill>
                        <a:srgbClr val="D7E3E8"/>
                      </a:solidFill>
                      <a:prstDash val="solid"/>
                      <a:round/>
                      <a:headEnd type="none" w="med" len="med"/>
                      <a:tailEnd type="none" w="med" len="med"/>
                    </a:lnL>
                    <a:lnR w="9525" cap="flat" cmpd="sng" algn="ctr">
                      <a:solidFill>
                        <a:srgbClr val="D7E3E8"/>
                      </a:solidFill>
                      <a:prstDash val="solid"/>
                      <a:round/>
                      <a:headEnd type="none" w="med" len="med"/>
                      <a:tailEnd type="none" w="med" len="med"/>
                    </a:lnR>
                    <a:lnT w="9525" cap="flat" cmpd="sng" algn="ctr">
                      <a:solidFill>
                        <a:srgbClr val="D7E3E8"/>
                      </a:solidFill>
                      <a:prstDash val="solid"/>
                      <a:round/>
                      <a:headEnd type="none" w="med" len="med"/>
                      <a:tailEnd type="none" w="med" len="med"/>
                    </a:lnT>
                    <a:lnB w="9525" cap="flat" cmpd="sng" algn="ctr">
                      <a:solidFill>
                        <a:srgbClr val="D7E3E8"/>
                      </a:solidFill>
                      <a:prstDash val="solid"/>
                      <a:round/>
                      <a:headEnd type="none" w="med" len="med"/>
                      <a:tailEnd type="none" w="med" len="med"/>
                    </a:lnB>
                    <a:solidFill>
                      <a:srgbClr val="EAF4F8"/>
                    </a:solidFill>
                  </a:tcPr>
                </a:tc>
              </a:tr>
            </a:tbl>
          </a:graphicData>
        </a:graphic>
      </p:graphicFrame>
      <p:sp>
        <p:nvSpPr>
          <p:cNvPr id="5" name="Text 2"/>
          <p:cNvSpPr/>
          <p:nvPr/>
        </p:nvSpPr>
        <p:spPr>
          <a:xfrm>
            <a:off x="457200" y="6446520"/>
            <a:ext cx="6400800" cy="27432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CKA v1.36 · Module 2</a:t>
            </a:r>
            <a:endParaRPr lang="en-US" sz="900" dirty="0"/>
          </a:p>
        </p:txBody>
      </p:sp>
      <p:sp>
        <p:nvSpPr>
          <p:cNvPr id="6" name="Text 3"/>
          <p:cNvSpPr/>
          <p:nvPr/>
        </p:nvSpPr>
        <p:spPr>
          <a:xfrm>
            <a:off x="11247120" y="6446520"/>
            <a:ext cx="4572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34</a:t>
            </a:r>
            <a:endParaRPr lang="en-US" sz="9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65760"/>
            <a:ext cx="9144000" cy="320040"/>
          </a:xfrm>
          <a:prstGeom prst="rect">
            <a:avLst/>
          </a:prstGeom>
          <a:noFill/>
          <a:ln/>
        </p:spPr>
        <p:txBody>
          <a:bodyPr wrap="square" lIns="0" tIns="0" rIns="0" bIns="0" rtlCol="0" anchor="ctr"/>
          <a:lstStyle/>
          <a:p>
            <a:pPr indent="0" marL="0">
              <a:buNone/>
            </a:pPr>
            <a:r>
              <a:rPr lang="en-US" sz="1150" b="1" spc="150" kern="0" dirty="0">
                <a:solidFill>
                  <a:srgbClr val="1C7293"/>
                </a:solidFill>
                <a:latin typeface="Calibri" pitchFamily="34" charset="0"/>
                <a:ea typeface="Calibri" pitchFamily="34" charset="-122"/>
                <a:cs typeface="Calibri" pitchFamily="34" charset="-120"/>
              </a:rPr>
              <a:t>SERVICES</a:t>
            </a:r>
            <a:endParaRPr lang="en-US" sz="1150" dirty="0"/>
          </a:p>
        </p:txBody>
      </p:sp>
      <p:sp>
        <p:nvSpPr>
          <p:cNvPr id="3" name="Text 1"/>
          <p:cNvSpPr/>
          <p:nvPr/>
        </p:nvSpPr>
        <p:spPr>
          <a:xfrm>
            <a:off x="640080" y="658368"/>
            <a:ext cx="10881360" cy="548640"/>
          </a:xfrm>
          <a:prstGeom prst="rect">
            <a:avLst/>
          </a:prstGeom>
          <a:noFill/>
          <a:ln/>
        </p:spPr>
        <p:txBody>
          <a:bodyPr wrap="square" lIns="0" tIns="0" rIns="0" bIns="0" rtlCol="0" anchor="ctr"/>
          <a:lstStyle/>
          <a:p>
            <a:pPr indent="0" marL="0">
              <a:buNone/>
            </a:pPr>
            <a:r>
              <a:rPr lang="en-US" sz="2400" b="1" dirty="0">
                <a:solidFill>
                  <a:srgbClr val="21295C"/>
                </a:solidFill>
                <a:latin typeface="Cambria" pitchFamily="34" charset="0"/>
                <a:ea typeface="Cambria" pitchFamily="34" charset="-122"/>
                <a:cs typeface="Cambria" pitchFamily="34" charset="-120"/>
              </a:rPr>
              <a:t>ClusterIP — The Default, Internal-Only Service</a:t>
            </a:r>
            <a:endParaRPr lang="en-US" sz="2400" dirty="0"/>
          </a:p>
        </p:txBody>
      </p:sp>
      <p:sp>
        <p:nvSpPr>
          <p:cNvPr id="4" name="Shape 2"/>
          <p:cNvSpPr/>
          <p:nvPr/>
        </p:nvSpPr>
        <p:spPr>
          <a:xfrm>
            <a:off x="640080" y="1371600"/>
            <a:ext cx="10881360" cy="3776472"/>
          </a:xfrm>
          <a:prstGeom prst="roundRect">
            <a:avLst>
              <a:gd name="adj" fmla="val 1453"/>
            </a:avLst>
          </a:prstGeom>
          <a:solidFill>
            <a:srgbClr val="0B2330"/>
          </a:solidFill>
          <a:ln/>
          <a:effectLst>
            <a:outerShdw sx="100000" sy="100000" kx="0" ky="0" algn="bl" rotWithShape="0" blurRad="88900" dist="25400" dir="2700000">
              <a:srgbClr val="1B2A36">
                <a:alpha val="12000"/>
              </a:srgbClr>
            </a:outerShdw>
          </a:effectLst>
        </p:spPr>
      </p:sp>
      <p:sp>
        <p:nvSpPr>
          <p:cNvPr id="5" name="Text 3"/>
          <p:cNvSpPr/>
          <p:nvPr/>
        </p:nvSpPr>
        <p:spPr>
          <a:xfrm>
            <a:off x="868680" y="1536192"/>
            <a:ext cx="10424160" cy="3447288"/>
          </a:xfrm>
          <a:prstGeom prst="rect">
            <a:avLst/>
          </a:prstGeom>
          <a:noFill/>
          <a:ln/>
        </p:spPr>
        <p:txBody>
          <a:bodyPr wrap="square" lIns="0" tIns="0" rIns="0" bIns="0" rtlCol="0" anchor="t"/>
          <a:lstStyle/>
          <a:p>
            <a:pPr indent="0" marL="0">
              <a:buNone/>
            </a:pPr>
            <a:r>
              <a:rPr lang="en-US" sz="1350" dirty="0">
                <a:solidFill>
                  <a:srgbClr val="CFEFEA"/>
                </a:solidFill>
                <a:latin typeface="Courier New" pitchFamily="34" charset="0"/>
                <a:ea typeface="Courier New" pitchFamily="34" charset="-122"/>
                <a:cs typeface="Courier New" pitchFamily="34" charset="-120"/>
              </a:rPr>
              <a:t>apiVersion: v1</a:t>
            </a:r>
            <a:endParaRPr lang="en-US" sz="1350" dirty="0"/>
          </a:p>
          <a:p>
            <a:pPr indent="0" marL="0">
              <a:buNone/>
            </a:pPr>
            <a:r>
              <a:rPr lang="en-US" sz="1350" dirty="0">
                <a:solidFill>
                  <a:srgbClr val="CFEFEA"/>
                </a:solidFill>
                <a:latin typeface="Courier New" pitchFamily="34" charset="0"/>
                <a:ea typeface="Courier New" pitchFamily="34" charset="-122"/>
                <a:cs typeface="Courier New" pitchFamily="34" charset="-120"/>
              </a:rPr>
              <a:t>kind: Service</a:t>
            </a:r>
            <a:endParaRPr lang="en-US" sz="1350" dirty="0"/>
          </a:p>
          <a:p>
            <a:pPr indent="0" marL="0">
              <a:buNone/>
            </a:pPr>
            <a:r>
              <a:rPr lang="en-US" sz="1350" dirty="0">
                <a:solidFill>
                  <a:srgbClr val="CFEFEA"/>
                </a:solidFill>
                <a:latin typeface="Courier New" pitchFamily="34" charset="0"/>
                <a:ea typeface="Courier New" pitchFamily="34" charset="-122"/>
                <a:cs typeface="Courier New" pitchFamily="34" charset="-120"/>
              </a:rPr>
              <a:t>metadata:</a:t>
            </a:r>
            <a:endParaRPr lang="en-US" sz="1350" dirty="0"/>
          </a:p>
          <a:p>
            <a:pPr indent="0" marL="0">
              <a:buNone/>
            </a:pPr>
            <a:r>
              <a:rPr lang="en-US" sz="1350" dirty="0">
                <a:solidFill>
                  <a:srgbClr val="CFEFEA"/>
                </a:solidFill>
                <a:latin typeface="Courier New" pitchFamily="34" charset="0"/>
                <a:ea typeface="Courier New" pitchFamily="34" charset="-122"/>
                <a:cs typeface="Courier New" pitchFamily="34" charset="-120"/>
              </a:rPr>
              <a:t>  name: backend-svc</a:t>
            </a:r>
            <a:endParaRPr lang="en-US" sz="1350" dirty="0"/>
          </a:p>
          <a:p>
            <a:pPr indent="0" marL="0">
              <a:buNone/>
            </a:pPr>
            <a:r>
              <a:rPr lang="en-US" sz="1350" dirty="0">
                <a:solidFill>
                  <a:srgbClr val="CFEFEA"/>
                </a:solidFill>
                <a:latin typeface="Courier New" pitchFamily="34" charset="0"/>
                <a:ea typeface="Courier New" pitchFamily="34" charset="-122"/>
                <a:cs typeface="Courier New" pitchFamily="34" charset="-120"/>
              </a:rPr>
              <a:t>spec:</a:t>
            </a:r>
            <a:endParaRPr lang="en-US" sz="1350" dirty="0"/>
          </a:p>
          <a:p>
            <a:pPr indent="0" marL="0">
              <a:buNone/>
            </a:pPr>
            <a:r>
              <a:rPr lang="en-US" sz="1350" dirty="0">
                <a:solidFill>
                  <a:srgbClr val="CFEFEA"/>
                </a:solidFill>
                <a:latin typeface="Courier New" pitchFamily="34" charset="0"/>
                <a:ea typeface="Courier New" pitchFamily="34" charset="-122"/>
                <a:cs typeface="Courier New" pitchFamily="34" charset="-120"/>
              </a:rPr>
              <a:t>  type: ClusterIP        # default; can be omitted</a:t>
            </a:r>
            <a:endParaRPr lang="en-US" sz="1350" dirty="0"/>
          </a:p>
          <a:p>
            <a:pPr indent="0" marL="0">
              <a:buNone/>
            </a:pPr>
            <a:r>
              <a:rPr lang="en-US" sz="1350" dirty="0">
                <a:solidFill>
                  <a:srgbClr val="CFEFEA"/>
                </a:solidFill>
                <a:latin typeface="Courier New" pitchFamily="34" charset="0"/>
                <a:ea typeface="Courier New" pitchFamily="34" charset="-122"/>
                <a:cs typeface="Courier New" pitchFamily="34" charset="-120"/>
              </a:rPr>
              <a:t>  selector:</a:t>
            </a:r>
            <a:endParaRPr lang="en-US" sz="1350" dirty="0"/>
          </a:p>
          <a:p>
            <a:pPr indent="0" marL="0">
              <a:buNone/>
            </a:pPr>
            <a:r>
              <a:rPr lang="en-US" sz="1350" dirty="0">
                <a:solidFill>
                  <a:srgbClr val="CFEFEA"/>
                </a:solidFill>
                <a:latin typeface="Courier New" pitchFamily="34" charset="0"/>
                <a:ea typeface="Courier New" pitchFamily="34" charset="-122"/>
                <a:cs typeface="Courier New" pitchFamily="34" charset="-120"/>
              </a:rPr>
              <a:t>    app: backend</a:t>
            </a:r>
            <a:endParaRPr lang="en-US" sz="1350" dirty="0"/>
          </a:p>
          <a:p>
            <a:pPr indent="0" marL="0">
              <a:buNone/>
            </a:pPr>
            <a:r>
              <a:rPr lang="en-US" sz="1350" dirty="0">
                <a:solidFill>
                  <a:srgbClr val="CFEFEA"/>
                </a:solidFill>
                <a:latin typeface="Courier New" pitchFamily="34" charset="0"/>
                <a:ea typeface="Courier New" pitchFamily="34" charset="-122"/>
                <a:cs typeface="Courier New" pitchFamily="34" charset="-120"/>
              </a:rPr>
              <a:t>  ports:</a:t>
            </a:r>
            <a:endParaRPr lang="en-US" sz="1350" dirty="0"/>
          </a:p>
          <a:p>
            <a:pPr indent="0" marL="0">
              <a:buNone/>
            </a:pPr>
            <a:r>
              <a:rPr lang="en-US" sz="1350" dirty="0">
                <a:solidFill>
                  <a:srgbClr val="CFEFEA"/>
                </a:solidFill>
                <a:latin typeface="Courier New" pitchFamily="34" charset="0"/>
                <a:ea typeface="Courier New" pitchFamily="34" charset="-122"/>
                <a:cs typeface="Courier New" pitchFamily="34" charset="-120"/>
              </a:rPr>
              <a:t>  - port: 80              # the Service's own port</a:t>
            </a:r>
            <a:endParaRPr lang="en-US" sz="1350" dirty="0"/>
          </a:p>
          <a:p>
            <a:pPr indent="0" marL="0">
              <a:buNone/>
            </a:pPr>
            <a:r>
              <a:rPr lang="en-US" sz="1350" dirty="0">
                <a:solidFill>
                  <a:srgbClr val="CFEFEA"/>
                </a:solidFill>
                <a:latin typeface="Courier New" pitchFamily="34" charset="0"/>
                <a:ea typeface="Courier New" pitchFamily="34" charset="-122"/>
                <a:cs typeface="Courier New" pitchFamily="34" charset="-120"/>
              </a:rPr>
              <a:t>    targetPort: 8080       # the container's port</a:t>
            </a:r>
            <a:endParaRPr lang="en-US" sz="1350" dirty="0"/>
          </a:p>
        </p:txBody>
      </p:sp>
      <p:sp>
        <p:nvSpPr>
          <p:cNvPr id="6" name="Text 4"/>
          <p:cNvSpPr/>
          <p:nvPr/>
        </p:nvSpPr>
        <p:spPr>
          <a:xfrm>
            <a:off x="640080" y="5376672"/>
            <a:ext cx="10881360" cy="1024128"/>
          </a:xfrm>
          <a:prstGeom prst="rect">
            <a:avLst/>
          </a:prstGeom>
          <a:noFill/>
          <a:ln/>
        </p:spPr>
        <p:txBody>
          <a:bodyPr wrap="square" lIns="0" tIns="0" rIns="0" bIns="0" rtlCol="0" anchor="t"/>
          <a:lstStyle/>
          <a:p>
            <a:pPr marL="342900" indent="-342900">
              <a:spcAft>
                <a:spcPts val="500"/>
              </a:spcAft>
              <a:buSzPct val="100000"/>
              <a:buChar char="•"/>
            </a:pPr>
            <a:r>
              <a:rPr lang="en-US" sz="1200" dirty="0">
                <a:solidFill>
                  <a:srgbClr val="1E293B"/>
                </a:solidFill>
                <a:latin typeface="Calibri" pitchFamily="34" charset="0"/>
                <a:ea typeface="Calibri" pitchFamily="34" charset="-122"/>
                <a:cs typeface="Calibri" pitchFamily="34" charset="-120"/>
              </a:rPr>
              <a:t>port is what clients connect to; targetPort is what the container actually listens on — these are often different, and confusing them is a common exam mistake.</a:t>
            </a:r>
            <a:endParaRPr lang="en-US" sz="1200" dirty="0"/>
          </a:p>
          <a:p>
            <a:pPr marL="342900" indent="-342900">
              <a:spcAft>
                <a:spcPts val="500"/>
              </a:spcAft>
              <a:buSzPct val="100000"/>
              <a:buChar char="•"/>
            </a:pPr>
            <a:r>
              <a:rPr lang="en-US" sz="1200" dirty="0">
                <a:solidFill>
                  <a:srgbClr val="1E293B"/>
                </a:solidFill>
                <a:latin typeface="Calibri" pitchFamily="34" charset="0"/>
                <a:ea typeface="Calibri" pitchFamily="34" charset="-122"/>
                <a:cs typeface="Calibri" pitchFamily="34" charset="-120"/>
              </a:rPr>
              <a:t>kubectl expose deployment backend --port=80 --target-port=8080 generates this imperatively.</a:t>
            </a:r>
            <a:endParaRPr lang="en-US" sz="1200" dirty="0"/>
          </a:p>
        </p:txBody>
      </p:sp>
      <p:sp>
        <p:nvSpPr>
          <p:cNvPr id="7" name="Text 5"/>
          <p:cNvSpPr/>
          <p:nvPr/>
        </p:nvSpPr>
        <p:spPr>
          <a:xfrm>
            <a:off x="457200" y="6446520"/>
            <a:ext cx="6400800" cy="27432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CKA v1.36 · Module 2</a:t>
            </a:r>
            <a:endParaRPr lang="en-US" sz="900" dirty="0"/>
          </a:p>
        </p:txBody>
      </p:sp>
      <p:sp>
        <p:nvSpPr>
          <p:cNvPr id="8" name="Text 6"/>
          <p:cNvSpPr/>
          <p:nvPr/>
        </p:nvSpPr>
        <p:spPr>
          <a:xfrm>
            <a:off x="11247120" y="6446520"/>
            <a:ext cx="4572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35</a:t>
            </a:r>
            <a:endParaRPr lang="en-US" sz="9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65760"/>
            <a:ext cx="9144000" cy="320040"/>
          </a:xfrm>
          <a:prstGeom prst="rect">
            <a:avLst/>
          </a:prstGeom>
          <a:noFill/>
          <a:ln/>
        </p:spPr>
        <p:txBody>
          <a:bodyPr wrap="square" lIns="0" tIns="0" rIns="0" bIns="0" rtlCol="0" anchor="ctr"/>
          <a:lstStyle/>
          <a:p>
            <a:pPr indent="0" marL="0">
              <a:buNone/>
            </a:pPr>
            <a:r>
              <a:rPr lang="en-US" sz="1150" b="1" spc="150" kern="0" dirty="0">
                <a:solidFill>
                  <a:srgbClr val="1C7293"/>
                </a:solidFill>
                <a:latin typeface="Calibri" pitchFamily="34" charset="0"/>
                <a:ea typeface="Calibri" pitchFamily="34" charset="-122"/>
                <a:cs typeface="Calibri" pitchFamily="34" charset="-120"/>
              </a:rPr>
              <a:t>SERVICES</a:t>
            </a:r>
            <a:endParaRPr lang="en-US" sz="1150" dirty="0"/>
          </a:p>
        </p:txBody>
      </p:sp>
      <p:sp>
        <p:nvSpPr>
          <p:cNvPr id="3" name="Text 1"/>
          <p:cNvSpPr/>
          <p:nvPr/>
        </p:nvSpPr>
        <p:spPr>
          <a:xfrm>
            <a:off x="640080" y="658368"/>
            <a:ext cx="10881360" cy="548640"/>
          </a:xfrm>
          <a:prstGeom prst="rect">
            <a:avLst/>
          </a:prstGeom>
          <a:noFill/>
          <a:ln/>
        </p:spPr>
        <p:txBody>
          <a:bodyPr wrap="square" lIns="0" tIns="0" rIns="0" bIns="0" rtlCol="0" anchor="ctr"/>
          <a:lstStyle/>
          <a:p>
            <a:pPr indent="0" marL="0">
              <a:buNone/>
            </a:pPr>
            <a:r>
              <a:rPr lang="en-US" sz="2400" b="1" dirty="0">
                <a:solidFill>
                  <a:srgbClr val="21295C"/>
                </a:solidFill>
                <a:latin typeface="Cambria" pitchFamily="34" charset="0"/>
                <a:ea typeface="Cambria" pitchFamily="34" charset="-122"/>
                <a:cs typeface="Cambria" pitchFamily="34" charset="-120"/>
              </a:rPr>
              <a:t>NodePort — Exposing via Every Node's IP</a:t>
            </a:r>
            <a:endParaRPr lang="en-US" sz="2400" dirty="0"/>
          </a:p>
        </p:txBody>
      </p:sp>
      <p:sp>
        <p:nvSpPr>
          <p:cNvPr id="4" name="Shape 2"/>
          <p:cNvSpPr/>
          <p:nvPr/>
        </p:nvSpPr>
        <p:spPr>
          <a:xfrm>
            <a:off x="640080" y="1371600"/>
            <a:ext cx="10881360" cy="3529584"/>
          </a:xfrm>
          <a:prstGeom prst="roundRect">
            <a:avLst>
              <a:gd name="adj" fmla="val 1554"/>
            </a:avLst>
          </a:prstGeom>
          <a:solidFill>
            <a:srgbClr val="0B2330"/>
          </a:solidFill>
          <a:ln/>
          <a:effectLst>
            <a:outerShdw sx="100000" sy="100000" kx="0" ky="0" algn="bl" rotWithShape="0" blurRad="88900" dist="25400" dir="2700000">
              <a:srgbClr val="1B2A36">
                <a:alpha val="12000"/>
              </a:srgbClr>
            </a:outerShdw>
          </a:effectLst>
        </p:spPr>
      </p:sp>
      <p:sp>
        <p:nvSpPr>
          <p:cNvPr id="5" name="Text 3"/>
          <p:cNvSpPr/>
          <p:nvPr/>
        </p:nvSpPr>
        <p:spPr>
          <a:xfrm>
            <a:off x="868680" y="1536192"/>
            <a:ext cx="10424160" cy="3200400"/>
          </a:xfrm>
          <a:prstGeom prst="rect">
            <a:avLst/>
          </a:prstGeom>
          <a:noFill/>
          <a:ln/>
        </p:spPr>
        <p:txBody>
          <a:bodyPr wrap="square" lIns="0" tIns="0" rIns="0" bIns="0" rtlCol="0" anchor="t"/>
          <a:lstStyle/>
          <a:p>
            <a:pPr indent="0" marL="0">
              <a:buNone/>
            </a:pPr>
            <a:r>
              <a:rPr lang="en-US" sz="1350" dirty="0">
                <a:solidFill>
                  <a:srgbClr val="CFEFEA"/>
                </a:solidFill>
                <a:latin typeface="Courier New" pitchFamily="34" charset="0"/>
                <a:ea typeface="Courier New" pitchFamily="34" charset="-122"/>
                <a:cs typeface="Courier New" pitchFamily="34" charset="-120"/>
              </a:rPr>
              <a:t>apiVersion: v1</a:t>
            </a:r>
            <a:endParaRPr lang="en-US" sz="1350" dirty="0"/>
          </a:p>
          <a:p>
            <a:pPr indent="0" marL="0">
              <a:buNone/>
            </a:pPr>
            <a:r>
              <a:rPr lang="en-US" sz="1350" dirty="0">
                <a:solidFill>
                  <a:srgbClr val="CFEFEA"/>
                </a:solidFill>
                <a:latin typeface="Courier New" pitchFamily="34" charset="0"/>
                <a:ea typeface="Courier New" pitchFamily="34" charset="-122"/>
                <a:cs typeface="Courier New" pitchFamily="34" charset="-120"/>
              </a:rPr>
              <a:t>kind: Service</a:t>
            </a:r>
            <a:endParaRPr lang="en-US" sz="1350" dirty="0"/>
          </a:p>
          <a:p>
            <a:pPr indent="0" marL="0">
              <a:buNone/>
            </a:pPr>
            <a:r>
              <a:rPr lang="en-US" sz="1350" dirty="0">
                <a:solidFill>
                  <a:srgbClr val="CFEFEA"/>
                </a:solidFill>
                <a:latin typeface="Courier New" pitchFamily="34" charset="0"/>
                <a:ea typeface="Courier New" pitchFamily="34" charset="-122"/>
                <a:cs typeface="Courier New" pitchFamily="34" charset="-120"/>
              </a:rPr>
              <a:t>metadata:</a:t>
            </a:r>
            <a:endParaRPr lang="en-US" sz="1350" dirty="0"/>
          </a:p>
          <a:p>
            <a:pPr indent="0" marL="0">
              <a:buNone/>
            </a:pPr>
            <a:r>
              <a:rPr lang="en-US" sz="1350" dirty="0">
                <a:solidFill>
                  <a:srgbClr val="CFEFEA"/>
                </a:solidFill>
                <a:latin typeface="Courier New" pitchFamily="34" charset="0"/>
                <a:ea typeface="Courier New" pitchFamily="34" charset="-122"/>
                <a:cs typeface="Courier New" pitchFamily="34" charset="-120"/>
              </a:rPr>
              <a:t>  name: web-nodeport</a:t>
            </a:r>
            <a:endParaRPr lang="en-US" sz="1350" dirty="0"/>
          </a:p>
          <a:p>
            <a:pPr indent="0" marL="0">
              <a:buNone/>
            </a:pPr>
            <a:r>
              <a:rPr lang="en-US" sz="1350" dirty="0">
                <a:solidFill>
                  <a:srgbClr val="CFEFEA"/>
                </a:solidFill>
                <a:latin typeface="Courier New" pitchFamily="34" charset="0"/>
                <a:ea typeface="Courier New" pitchFamily="34" charset="-122"/>
                <a:cs typeface="Courier New" pitchFamily="34" charset="-120"/>
              </a:rPr>
              <a:t>spec:</a:t>
            </a:r>
            <a:endParaRPr lang="en-US" sz="1350" dirty="0"/>
          </a:p>
          <a:p>
            <a:pPr indent="0" marL="0">
              <a:buNone/>
            </a:pPr>
            <a:r>
              <a:rPr lang="en-US" sz="1350" dirty="0">
                <a:solidFill>
                  <a:srgbClr val="CFEFEA"/>
                </a:solidFill>
                <a:latin typeface="Courier New" pitchFamily="34" charset="0"/>
                <a:ea typeface="Courier New" pitchFamily="34" charset="-122"/>
                <a:cs typeface="Courier New" pitchFamily="34" charset="-120"/>
              </a:rPr>
              <a:t>  type: NodePort</a:t>
            </a:r>
            <a:endParaRPr lang="en-US" sz="1350" dirty="0"/>
          </a:p>
          <a:p>
            <a:pPr indent="0" marL="0">
              <a:buNone/>
            </a:pPr>
            <a:r>
              <a:rPr lang="en-US" sz="1350" dirty="0">
                <a:solidFill>
                  <a:srgbClr val="CFEFEA"/>
                </a:solidFill>
                <a:latin typeface="Courier New" pitchFamily="34" charset="0"/>
                <a:ea typeface="Courier New" pitchFamily="34" charset="-122"/>
                <a:cs typeface="Courier New" pitchFamily="34" charset="-120"/>
              </a:rPr>
              <a:t>  selector:</a:t>
            </a:r>
            <a:endParaRPr lang="en-US" sz="1350" dirty="0"/>
          </a:p>
          <a:p>
            <a:pPr indent="0" marL="0">
              <a:buNone/>
            </a:pPr>
            <a:r>
              <a:rPr lang="en-US" sz="1350" dirty="0">
                <a:solidFill>
                  <a:srgbClr val="CFEFEA"/>
                </a:solidFill>
                <a:latin typeface="Courier New" pitchFamily="34" charset="0"/>
                <a:ea typeface="Courier New" pitchFamily="34" charset="-122"/>
                <a:cs typeface="Courier New" pitchFamily="34" charset="-120"/>
              </a:rPr>
              <a:t>    app: web-app</a:t>
            </a:r>
            <a:endParaRPr lang="en-US" sz="1350" dirty="0"/>
          </a:p>
          <a:p>
            <a:pPr indent="0" marL="0">
              <a:buNone/>
            </a:pPr>
            <a:r>
              <a:rPr lang="en-US" sz="1350" dirty="0">
                <a:solidFill>
                  <a:srgbClr val="CFEFEA"/>
                </a:solidFill>
                <a:latin typeface="Courier New" pitchFamily="34" charset="0"/>
                <a:ea typeface="Courier New" pitchFamily="34" charset="-122"/>
                <a:cs typeface="Courier New" pitchFamily="34" charset="-120"/>
              </a:rPr>
              <a:t>  ports:</a:t>
            </a:r>
            <a:endParaRPr lang="en-US" sz="1350" dirty="0"/>
          </a:p>
          <a:p>
            <a:pPr indent="0" marL="0">
              <a:buNone/>
            </a:pPr>
            <a:r>
              <a:rPr lang="en-US" sz="1350" dirty="0">
                <a:solidFill>
                  <a:srgbClr val="CFEFEA"/>
                </a:solidFill>
                <a:latin typeface="Courier New" pitchFamily="34" charset="0"/>
                <a:ea typeface="Courier New" pitchFamily="34" charset="-122"/>
                <a:cs typeface="Courier New" pitchFamily="34" charset="-120"/>
              </a:rPr>
              <a:t>  - port: 80</a:t>
            </a:r>
            <a:endParaRPr lang="en-US" sz="1350" dirty="0"/>
          </a:p>
          <a:p>
            <a:pPr indent="0" marL="0">
              <a:buNone/>
            </a:pPr>
            <a:r>
              <a:rPr lang="en-US" sz="1350" dirty="0">
                <a:solidFill>
                  <a:srgbClr val="CFEFEA"/>
                </a:solidFill>
                <a:latin typeface="Courier New" pitchFamily="34" charset="0"/>
                <a:ea typeface="Courier New" pitchFamily="34" charset="-122"/>
                <a:cs typeface="Courier New" pitchFamily="34" charset="-120"/>
              </a:rPr>
              <a:t>    targetPort: 8080</a:t>
            </a:r>
            <a:endParaRPr lang="en-US" sz="1350" dirty="0"/>
          </a:p>
          <a:p>
            <a:pPr indent="0" marL="0">
              <a:buNone/>
            </a:pPr>
            <a:r>
              <a:rPr lang="en-US" sz="1350" dirty="0">
                <a:solidFill>
                  <a:srgbClr val="CFEFEA"/>
                </a:solidFill>
                <a:latin typeface="Courier New" pitchFamily="34" charset="0"/>
                <a:ea typeface="Courier New" pitchFamily="34" charset="-122"/>
                <a:cs typeface="Courier New" pitchFamily="34" charset="-120"/>
              </a:rPr>
              <a:t>    nodePort: 30080        # optional; auto-assigned from 30000-32767 if omitted</a:t>
            </a:r>
            <a:endParaRPr lang="en-US" sz="1350" dirty="0"/>
          </a:p>
        </p:txBody>
      </p:sp>
      <p:sp>
        <p:nvSpPr>
          <p:cNvPr id="6" name="Text 4"/>
          <p:cNvSpPr/>
          <p:nvPr/>
        </p:nvSpPr>
        <p:spPr>
          <a:xfrm>
            <a:off x="640080" y="5129784"/>
            <a:ext cx="10881360" cy="1271016"/>
          </a:xfrm>
          <a:prstGeom prst="rect">
            <a:avLst/>
          </a:prstGeom>
          <a:noFill/>
          <a:ln/>
        </p:spPr>
        <p:txBody>
          <a:bodyPr wrap="square" lIns="0" tIns="0" rIns="0" bIns="0" rtlCol="0" anchor="t"/>
          <a:lstStyle/>
          <a:p>
            <a:pPr marL="342900" indent="-342900">
              <a:spcAft>
                <a:spcPts val="500"/>
              </a:spcAft>
              <a:buSzPct val="100000"/>
              <a:buChar char="•"/>
            </a:pPr>
            <a:r>
              <a:rPr lang="en-US" sz="1200" dirty="0">
                <a:solidFill>
                  <a:srgbClr val="1E293B"/>
                </a:solidFill>
                <a:latin typeface="Calibri" pitchFamily="34" charset="0"/>
                <a:ea typeface="Calibri" pitchFamily="34" charset="-122"/>
                <a:cs typeface="Calibri" pitchFamily="34" charset="-120"/>
              </a:rPr>
              <a:t>The Service is reachable at http://&lt;ANY-node-IP&gt;:30080, regardless of which node actually runs the backing Pod — kube-proxy routes it internally.</a:t>
            </a:r>
            <a:endParaRPr lang="en-US" sz="1200" dirty="0"/>
          </a:p>
          <a:p>
            <a:pPr marL="342900" indent="-342900">
              <a:spcAft>
                <a:spcPts val="500"/>
              </a:spcAft>
              <a:buSzPct val="100000"/>
              <a:buChar char="•"/>
            </a:pPr>
            <a:r>
              <a:rPr lang="en-US" sz="1200" dirty="0">
                <a:solidFill>
                  <a:srgbClr val="1E293B"/>
                </a:solidFill>
                <a:latin typeface="Calibri" pitchFamily="34" charset="0"/>
                <a:ea typeface="Calibri" pitchFamily="34" charset="-122"/>
                <a:cs typeface="Calibri" pitchFamily="34" charset="-120"/>
              </a:rPr>
              <a:t>If nodePort is omitted, Kubernetes auto-assigns one from the 30000-32767 range; specify it explicitly only when the exam task requires a specific port.</a:t>
            </a:r>
            <a:endParaRPr lang="en-US" sz="1200" dirty="0"/>
          </a:p>
        </p:txBody>
      </p:sp>
      <p:sp>
        <p:nvSpPr>
          <p:cNvPr id="7" name="Text 5"/>
          <p:cNvSpPr/>
          <p:nvPr/>
        </p:nvSpPr>
        <p:spPr>
          <a:xfrm>
            <a:off x="457200" y="6446520"/>
            <a:ext cx="6400800" cy="27432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CKA v1.36 · Module 2</a:t>
            </a:r>
            <a:endParaRPr lang="en-US" sz="900" dirty="0"/>
          </a:p>
        </p:txBody>
      </p:sp>
      <p:sp>
        <p:nvSpPr>
          <p:cNvPr id="8" name="Text 6"/>
          <p:cNvSpPr/>
          <p:nvPr/>
        </p:nvSpPr>
        <p:spPr>
          <a:xfrm>
            <a:off x="11247120" y="6446520"/>
            <a:ext cx="4572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36</a:t>
            </a:r>
            <a:endParaRPr lang="en-US" sz="9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65760"/>
            <a:ext cx="9144000" cy="320040"/>
          </a:xfrm>
          <a:prstGeom prst="rect">
            <a:avLst/>
          </a:prstGeom>
          <a:noFill/>
          <a:ln/>
        </p:spPr>
        <p:txBody>
          <a:bodyPr wrap="square" lIns="0" tIns="0" rIns="0" bIns="0" rtlCol="0" anchor="ctr"/>
          <a:lstStyle/>
          <a:p>
            <a:pPr indent="0" marL="0">
              <a:buNone/>
            </a:pPr>
            <a:r>
              <a:rPr lang="en-US" sz="1150" b="1" spc="150" kern="0" dirty="0">
                <a:solidFill>
                  <a:srgbClr val="1C7293"/>
                </a:solidFill>
                <a:latin typeface="Calibri" pitchFamily="34" charset="0"/>
                <a:ea typeface="Calibri" pitchFamily="34" charset="-122"/>
                <a:cs typeface="Calibri" pitchFamily="34" charset="-120"/>
              </a:rPr>
              <a:t>SERVICES</a:t>
            </a:r>
            <a:endParaRPr lang="en-US" sz="1150" dirty="0"/>
          </a:p>
        </p:txBody>
      </p:sp>
      <p:sp>
        <p:nvSpPr>
          <p:cNvPr id="3" name="Text 1"/>
          <p:cNvSpPr/>
          <p:nvPr/>
        </p:nvSpPr>
        <p:spPr>
          <a:xfrm>
            <a:off x="640080" y="658368"/>
            <a:ext cx="10881360" cy="548640"/>
          </a:xfrm>
          <a:prstGeom prst="rect">
            <a:avLst/>
          </a:prstGeom>
          <a:noFill/>
          <a:ln/>
        </p:spPr>
        <p:txBody>
          <a:bodyPr wrap="square" lIns="0" tIns="0" rIns="0" bIns="0" rtlCol="0" anchor="ctr"/>
          <a:lstStyle/>
          <a:p>
            <a:pPr indent="0" marL="0">
              <a:buNone/>
            </a:pPr>
            <a:r>
              <a:rPr lang="en-US" sz="2400" b="1" dirty="0">
                <a:solidFill>
                  <a:srgbClr val="21295C"/>
                </a:solidFill>
                <a:latin typeface="Cambria" pitchFamily="34" charset="0"/>
                <a:ea typeface="Cambria" pitchFamily="34" charset="-122"/>
                <a:cs typeface="Cambria" pitchFamily="34" charset="-120"/>
              </a:rPr>
              <a:t>LoadBalancer — Cloud-Provisioned External Access</a:t>
            </a:r>
            <a:endParaRPr lang="en-US" sz="2400" dirty="0"/>
          </a:p>
        </p:txBody>
      </p:sp>
      <p:sp>
        <p:nvSpPr>
          <p:cNvPr id="4" name="Shape 2"/>
          <p:cNvSpPr/>
          <p:nvPr/>
        </p:nvSpPr>
        <p:spPr>
          <a:xfrm>
            <a:off x="640080" y="1371600"/>
            <a:ext cx="10881360" cy="3529584"/>
          </a:xfrm>
          <a:prstGeom prst="roundRect">
            <a:avLst>
              <a:gd name="adj" fmla="val 1554"/>
            </a:avLst>
          </a:prstGeom>
          <a:solidFill>
            <a:srgbClr val="0B2330"/>
          </a:solidFill>
          <a:ln/>
          <a:effectLst>
            <a:outerShdw sx="100000" sy="100000" kx="0" ky="0" algn="bl" rotWithShape="0" blurRad="88900" dist="25400" dir="2700000">
              <a:srgbClr val="1B2A36">
                <a:alpha val="12000"/>
              </a:srgbClr>
            </a:outerShdw>
          </a:effectLst>
        </p:spPr>
      </p:sp>
      <p:sp>
        <p:nvSpPr>
          <p:cNvPr id="5" name="Text 3"/>
          <p:cNvSpPr/>
          <p:nvPr/>
        </p:nvSpPr>
        <p:spPr>
          <a:xfrm>
            <a:off x="868680" y="1536192"/>
            <a:ext cx="10424160" cy="3200400"/>
          </a:xfrm>
          <a:prstGeom prst="rect">
            <a:avLst/>
          </a:prstGeom>
          <a:noFill/>
          <a:ln/>
        </p:spPr>
        <p:txBody>
          <a:bodyPr wrap="square" lIns="0" tIns="0" rIns="0" bIns="0" rtlCol="0" anchor="t"/>
          <a:lstStyle/>
          <a:p>
            <a:pPr indent="0" marL="0">
              <a:buNone/>
            </a:pPr>
            <a:r>
              <a:rPr lang="en-US" sz="1350" dirty="0">
                <a:solidFill>
                  <a:srgbClr val="CFEFEA"/>
                </a:solidFill>
                <a:latin typeface="Courier New" pitchFamily="34" charset="0"/>
                <a:ea typeface="Courier New" pitchFamily="34" charset="-122"/>
                <a:cs typeface="Courier New" pitchFamily="34" charset="-120"/>
              </a:rPr>
              <a:t>apiVersion: v1</a:t>
            </a:r>
            <a:endParaRPr lang="en-US" sz="1350" dirty="0"/>
          </a:p>
          <a:p>
            <a:pPr indent="0" marL="0">
              <a:buNone/>
            </a:pPr>
            <a:r>
              <a:rPr lang="en-US" sz="1350" dirty="0">
                <a:solidFill>
                  <a:srgbClr val="CFEFEA"/>
                </a:solidFill>
                <a:latin typeface="Courier New" pitchFamily="34" charset="0"/>
                <a:ea typeface="Courier New" pitchFamily="34" charset="-122"/>
                <a:cs typeface="Courier New" pitchFamily="34" charset="-120"/>
              </a:rPr>
              <a:t>kind: Service</a:t>
            </a:r>
            <a:endParaRPr lang="en-US" sz="1350" dirty="0"/>
          </a:p>
          <a:p>
            <a:pPr indent="0" marL="0">
              <a:buNone/>
            </a:pPr>
            <a:r>
              <a:rPr lang="en-US" sz="1350" dirty="0">
                <a:solidFill>
                  <a:srgbClr val="CFEFEA"/>
                </a:solidFill>
                <a:latin typeface="Courier New" pitchFamily="34" charset="0"/>
                <a:ea typeface="Courier New" pitchFamily="34" charset="-122"/>
                <a:cs typeface="Courier New" pitchFamily="34" charset="-120"/>
              </a:rPr>
              <a:t>metadata:</a:t>
            </a:r>
            <a:endParaRPr lang="en-US" sz="1350" dirty="0"/>
          </a:p>
          <a:p>
            <a:pPr indent="0" marL="0">
              <a:buNone/>
            </a:pPr>
            <a:r>
              <a:rPr lang="en-US" sz="1350" dirty="0">
                <a:solidFill>
                  <a:srgbClr val="CFEFEA"/>
                </a:solidFill>
                <a:latin typeface="Courier New" pitchFamily="34" charset="0"/>
                <a:ea typeface="Courier New" pitchFamily="34" charset="-122"/>
                <a:cs typeface="Courier New" pitchFamily="34" charset="-120"/>
              </a:rPr>
              <a:t>  name: web-lb</a:t>
            </a:r>
            <a:endParaRPr lang="en-US" sz="1350" dirty="0"/>
          </a:p>
          <a:p>
            <a:pPr indent="0" marL="0">
              <a:buNone/>
            </a:pPr>
            <a:r>
              <a:rPr lang="en-US" sz="1350" dirty="0">
                <a:solidFill>
                  <a:srgbClr val="CFEFEA"/>
                </a:solidFill>
                <a:latin typeface="Courier New" pitchFamily="34" charset="0"/>
                <a:ea typeface="Courier New" pitchFamily="34" charset="-122"/>
                <a:cs typeface="Courier New" pitchFamily="34" charset="-120"/>
              </a:rPr>
              <a:t>spec:</a:t>
            </a:r>
            <a:endParaRPr lang="en-US" sz="1350" dirty="0"/>
          </a:p>
          <a:p>
            <a:pPr indent="0" marL="0">
              <a:buNone/>
            </a:pPr>
            <a:r>
              <a:rPr lang="en-US" sz="1350" dirty="0">
                <a:solidFill>
                  <a:srgbClr val="CFEFEA"/>
                </a:solidFill>
                <a:latin typeface="Courier New" pitchFamily="34" charset="0"/>
                <a:ea typeface="Courier New" pitchFamily="34" charset="-122"/>
                <a:cs typeface="Courier New" pitchFamily="34" charset="-120"/>
              </a:rPr>
              <a:t>  type: LoadBalancer</a:t>
            </a:r>
            <a:endParaRPr lang="en-US" sz="1350" dirty="0"/>
          </a:p>
          <a:p>
            <a:pPr indent="0" marL="0">
              <a:buNone/>
            </a:pPr>
            <a:r>
              <a:rPr lang="en-US" sz="1350" dirty="0">
                <a:solidFill>
                  <a:srgbClr val="CFEFEA"/>
                </a:solidFill>
                <a:latin typeface="Courier New" pitchFamily="34" charset="0"/>
                <a:ea typeface="Courier New" pitchFamily="34" charset="-122"/>
                <a:cs typeface="Courier New" pitchFamily="34" charset="-120"/>
              </a:rPr>
              <a:t>  selector:</a:t>
            </a:r>
            <a:endParaRPr lang="en-US" sz="1350" dirty="0"/>
          </a:p>
          <a:p>
            <a:pPr indent="0" marL="0">
              <a:buNone/>
            </a:pPr>
            <a:r>
              <a:rPr lang="en-US" sz="1350" dirty="0">
                <a:solidFill>
                  <a:srgbClr val="CFEFEA"/>
                </a:solidFill>
                <a:latin typeface="Courier New" pitchFamily="34" charset="0"/>
                <a:ea typeface="Courier New" pitchFamily="34" charset="-122"/>
                <a:cs typeface="Courier New" pitchFamily="34" charset="-120"/>
              </a:rPr>
              <a:t>    app: web-app</a:t>
            </a:r>
            <a:endParaRPr lang="en-US" sz="1350" dirty="0"/>
          </a:p>
          <a:p>
            <a:pPr indent="0" marL="0">
              <a:buNone/>
            </a:pPr>
            <a:r>
              <a:rPr lang="en-US" sz="1350" dirty="0">
                <a:solidFill>
                  <a:srgbClr val="CFEFEA"/>
                </a:solidFill>
                <a:latin typeface="Courier New" pitchFamily="34" charset="0"/>
                <a:ea typeface="Courier New" pitchFamily="34" charset="-122"/>
                <a:cs typeface="Courier New" pitchFamily="34" charset="-120"/>
              </a:rPr>
              <a:t>  ports:</a:t>
            </a:r>
            <a:endParaRPr lang="en-US" sz="1350" dirty="0"/>
          </a:p>
          <a:p>
            <a:pPr indent="0" marL="0">
              <a:buNone/>
            </a:pPr>
            <a:r>
              <a:rPr lang="en-US" sz="1350" dirty="0">
                <a:solidFill>
                  <a:srgbClr val="CFEFEA"/>
                </a:solidFill>
                <a:latin typeface="Courier New" pitchFamily="34" charset="0"/>
                <a:ea typeface="Courier New" pitchFamily="34" charset="-122"/>
                <a:cs typeface="Courier New" pitchFamily="34" charset="-120"/>
              </a:rPr>
              <a:t>  - port: 80</a:t>
            </a:r>
            <a:endParaRPr lang="en-US" sz="1350" dirty="0"/>
          </a:p>
          <a:p>
            <a:pPr indent="0" marL="0">
              <a:buNone/>
            </a:pPr>
            <a:r>
              <a:rPr lang="en-US" sz="1350" dirty="0">
                <a:solidFill>
                  <a:srgbClr val="CFEFEA"/>
                </a:solidFill>
                <a:latin typeface="Courier New" pitchFamily="34" charset="0"/>
                <a:ea typeface="Courier New" pitchFamily="34" charset="-122"/>
                <a:cs typeface="Courier New" pitchFamily="34" charset="-120"/>
              </a:rPr>
              <a:t>    targetPort: 8080</a:t>
            </a:r>
            <a:endParaRPr lang="en-US" sz="1350" dirty="0"/>
          </a:p>
        </p:txBody>
      </p:sp>
      <p:sp>
        <p:nvSpPr>
          <p:cNvPr id="6" name="Text 4"/>
          <p:cNvSpPr/>
          <p:nvPr/>
        </p:nvSpPr>
        <p:spPr>
          <a:xfrm>
            <a:off x="640080" y="5129784"/>
            <a:ext cx="10881360" cy="1271016"/>
          </a:xfrm>
          <a:prstGeom prst="rect">
            <a:avLst/>
          </a:prstGeom>
          <a:noFill/>
          <a:ln/>
        </p:spPr>
        <p:txBody>
          <a:bodyPr wrap="square" lIns="0" tIns="0" rIns="0" bIns="0" rtlCol="0" anchor="t"/>
          <a:lstStyle/>
          <a:p>
            <a:pPr marL="342900" indent="-342900">
              <a:spcAft>
                <a:spcPts val="500"/>
              </a:spcAft>
              <a:buSzPct val="100000"/>
              <a:buChar char="•"/>
            </a:pPr>
            <a:r>
              <a:rPr lang="en-US" sz="1200" dirty="0">
                <a:solidFill>
                  <a:srgbClr val="1E293B"/>
                </a:solidFill>
                <a:latin typeface="Calibri" pitchFamily="34" charset="0"/>
                <a:ea typeface="Calibri" pitchFamily="34" charset="-122"/>
                <a:cs typeface="Calibri" pitchFamily="34" charset="-120"/>
              </a:rPr>
              <a:t>A LoadBalancer Service is really a NodePort Service PLUS a cloud-provider-provisioned external load balancer pointed at the node ports — it builds on NodePort, not separate from it.</a:t>
            </a:r>
            <a:endParaRPr lang="en-US" sz="1200" dirty="0"/>
          </a:p>
          <a:p>
            <a:pPr marL="342900" indent="-342900">
              <a:spcAft>
                <a:spcPts val="500"/>
              </a:spcAft>
              <a:buSzPct val="100000"/>
              <a:buChar char="•"/>
            </a:pPr>
            <a:r>
              <a:rPr lang="en-US" sz="1200" dirty="0">
                <a:solidFill>
                  <a:srgbClr val="1E293B"/>
                </a:solidFill>
                <a:latin typeface="Calibri" pitchFamily="34" charset="0"/>
                <a:ea typeface="Calibri" pitchFamily="34" charset="-122"/>
                <a:cs typeface="Calibri" pitchFamily="34" charset="-120"/>
              </a:rPr>
              <a:t>On bare-metal or local clusters with no cloud integration (e.g. kubeadm labs), EXTERNAL-IP stays &lt;pending&gt; forever unless something like MetalLB is installed — this is expected, not a bug, in a lab environment.</a:t>
            </a:r>
            <a:endParaRPr lang="en-US" sz="1200" dirty="0"/>
          </a:p>
        </p:txBody>
      </p:sp>
      <p:sp>
        <p:nvSpPr>
          <p:cNvPr id="7" name="Text 5"/>
          <p:cNvSpPr/>
          <p:nvPr/>
        </p:nvSpPr>
        <p:spPr>
          <a:xfrm>
            <a:off x="457200" y="6446520"/>
            <a:ext cx="6400800" cy="27432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CKA v1.36 · Module 2</a:t>
            </a:r>
            <a:endParaRPr lang="en-US" sz="900" dirty="0"/>
          </a:p>
        </p:txBody>
      </p:sp>
      <p:sp>
        <p:nvSpPr>
          <p:cNvPr id="8" name="Text 6"/>
          <p:cNvSpPr/>
          <p:nvPr/>
        </p:nvSpPr>
        <p:spPr>
          <a:xfrm>
            <a:off x="11247120" y="6446520"/>
            <a:ext cx="4572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37</a:t>
            </a:r>
            <a:endParaRPr lang="en-US" sz="9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65760"/>
            <a:ext cx="9144000" cy="320040"/>
          </a:xfrm>
          <a:prstGeom prst="rect">
            <a:avLst/>
          </a:prstGeom>
          <a:noFill/>
          <a:ln/>
        </p:spPr>
        <p:txBody>
          <a:bodyPr wrap="square" lIns="0" tIns="0" rIns="0" bIns="0" rtlCol="0" anchor="ctr"/>
          <a:lstStyle/>
          <a:p>
            <a:pPr indent="0" marL="0">
              <a:buNone/>
            </a:pPr>
            <a:r>
              <a:rPr lang="en-US" sz="1150" b="1" spc="150" kern="0" dirty="0">
                <a:solidFill>
                  <a:srgbClr val="1C7293"/>
                </a:solidFill>
                <a:latin typeface="Calibri" pitchFamily="34" charset="0"/>
                <a:ea typeface="Calibri" pitchFamily="34" charset="-122"/>
                <a:cs typeface="Calibri" pitchFamily="34" charset="-120"/>
              </a:rPr>
              <a:t>SERVICES</a:t>
            </a:r>
            <a:endParaRPr lang="en-US" sz="1150" dirty="0"/>
          </a:p>
        </p:txBody>
      </p:sp>
      <p:sp>
        <p:nvSpPr>
          <p:cNvPr id="3" name="Text 1"/>
          <p:cNvSpPr/>
          <p:nvPr/>
        </p:nvSpPr>
        <p:spPr>
          <a:xfrm>
            <a:off x="640080" y="658368"/>
            <a:ext cx="10881360" cy="685800"/>
          </a:xfrm>
          <a:prstGeom prst="rect">
            <a:avLst/>
          </a:prstGeom>
          <a:noFill/>
          <a:ln/>
        </p:spPr>
        <p:txBody>
          <a:bodyPr wrap="square" lIns="0" tIns="0" rIns="0" bIns="0" rtlCol="0" anchor="ctr"/>
          <a:lstStyle/>
          <a:p>
            <a:pPr indent="0" marL="0">
              <a:buNone/>
            </a:pPr>
            <a:r>
              <a:rPr lang="en-US" sz="2600" b="1" dirty="0">
                <a:solidFill>
                  <a:srgbClr val="21295C"/>
                </a:solidFill>
                <a:latin typeface="Cambria" pitchFamily="34" charset="0"/>
                <a:ea typeface="Cambria" pitchFamily="34" charset="-122"/>
                <a:cs typeface="Cambria" pitchFamily="34" charset="-120"/>
              </a:rPr>
              <a:t>Endpoints &amp; EndpointSlices</a:t>
            </a:r>
            <a:endParaRPr lang="en-US" sz="2600" dirty="0"/>
          </a:p>
        </p:txBody>
      </p:sp>
      <p:sp>
        <p:nvSpPr>
          <p:cNvPr id="4" name="Shape 2"/>
          <p:cNvSpPr/>
          <p:nvPr/>
        </p:nvSpPr>
        <p:spPr>
          <a:xfrm>
            <a:off x="640080" y="1371600"/>
            <a:ext cx="10881360" cy="0"/>
          </a:xfrm>
          <a:prstGeom prst="line">
            <a:avLst/>
          </a:prstGeom>
          <a:noFill/>
          <a:ln w="12700">
            <a:solidFill>
              <a:srgbClr val="D7E3E8"/>
            </a:solidFill>
            <a:prstDash val="solid"/>
          </a:ln>
        </p:spPr>
      </p:sp>
      <p:sp>
        <p:nvSpPr>
          <p:cNvPr id="5" name="Shape 3"/>
          <p:cNvSpPr/>
          <p:nvPr/>
        </p:nvSpPr>
        <p:spPr>
          <a:xfrm>
            <a:off x="11109960" y="411480"/>
            <a:ext cx="502920" cy="502920"/>
          </a:xfrm>
          <a:prstGeom prst="ellipse">
            <a:avLst/>
          </a:prstGeom>
          <a:solidFill>
            <a:srgbClr val="EAF4F8"/>
          </a:solidFill>
          <a:ln w="15875">
            <a:solidFill>
              <a:srgbClr val="1C7293"/>
            </a:solidFill>
            <a:prstDash val="solid"/>
          </a:ln>
        </p:spPr>
      </p:sp>
      <p:sp>
        <p:nvSpPr>
          <p:cNvPr id="6" name="Text 4"/>
          <p:cNvSpPr/>
          <p:nvPr/>
        </p:nvSpPr>
        <p:spPr>
          <a:xfrm>
            <a:off x="11109960" y="411480"/>
            <a:ext cx="502920" cy="502920"/>
          </a:xfrm>
          <a:prstGeom prst="rect">
            <a:avLst/>
          </a:prstGeom>
          <a:noFill/>
          <a:ln/>
        </p:spPr>
        <p:txBody>
          <a:bodyPr wrap="square" lIns="0" tIns="0" rIns="0" bIns="0" rtlCol="0" anchor="ctr"/>
          <a:lstStyle/>
          <a:p>
            <a:pPr algn="ctr" indent="0" marL="0">
              <a:buNone/>
            </a:pPr>
            <a:r>
              <a:rPr lang="en-US" sz="1600" b="1" dirty="0">
                <a:solidFill>
                  <a:srgbClr val="1C7293"/>
                </a:solidFill>
                <a:latin typeface="Calibri" pitchFamily="34" charset="0"/>
                <a:ea typeface="Calibri" pitchFamily="34" charset="-122"/>
                <a:cs typeface="Calibri" pitchFamily="34" charset="-120"/>
              </a:rPr>
              <a:t>9</a:t>
            </a:r>
            <a:endParaRPr lang="en-US" sz="1600" dirty="0"/>
          </a:p>
        </p:txBody>
      </p:sp>
      <p:sp>
        <p:nvSpPr>
          <p:cNvPr id="7" name="Text 5"/>
          <p:cNvSpPr/>
          <p:nvPr/>
        </p:nvSpPr>
        <p:spPr>
          <a:xfrm>
            <a:off x="640080" y="1600200"/>
            <a:ext cx="10881360" cy="4572000"/>
          </a:xfrm>
          <a:prstGeom prst="rect">
            <a:avLst/>
          </a:prstGeom>
          <a:noFill/>
          <a:ln/>
        </p:spPr>
        <p:txBody>
          <a:bodyPr wrap="square" lIns="0" tIns="0" rIns="0" bIns="0" rtlCol="0" anchor="t"/>
          <a:lstStyle/>
          <a:p>
            <a:pPr marL="342900" indent="-342900">
              <a:spcAft>
                <a:spcPts val="1200"/>
              </a:spcAft>
              <a:buSzPct val="100000"/>
              <a:buChar char="•"/>
            </a:pPr>
            <a:r>
              <a:rPr lang="en-US" sz="1550" dirty="0">
                <a:solidFill>
                  <a:srgbClr val="1E293B"/>
                </a:solidFill>
                <a:latin typeface="Calibri" pitchFamily="34" charset="0"/>
                <a:ea typeface="Calibri" pitchFamily="34" charset="-122"/>
                <a:cs typeface="Calibri" pitchFamily="34" charset="-120"/>
              </a:rPr>
              <a:t>Every Service with a selector automatically gets a matching Endpoints object (and, in modern clusters, EndpointSlice objects) listing the IPs of all currently-healthy, selector-matching Pods.</a:t>
            </a:r>
            <a:endParaRPr lang="en-US" sz="1550" dirty="0"/>
          </a:p>
          <a:p>
            <a:pPr marL="342900" indent="-342900">
              <a:spcAft>
                <a:spcPts val="1200"/>
              </a:spcAft>
              <a:buSzPct val="100000"/>
              <a:buChar char="•"/>
            </a:pPr>
            <a:r>
              <a:rPr lang="en-US" sz="1550" dirty="0">
                <a:solidFill>
                  <a:srgbClr val="1E293B"/>
                </a:solidFill>
                <a:latin typeface="Calibri" pitchFamily="34" charset="0"/>
                <a:ea typeface="Calibri" pitchFamily="34" charset="-122"/>
                <a:cs typeface="Calibri" pitchFamily="34" charset="-120"/>
              </a:rPr>
              <a:t>kubectl get endpoints &lt;service&gt; is the single fastest diagnostic command for 'is this Service actually pointing at anything.'</a:t>
            </a:r>
            <a:endParaRPr lang="en-US" sz="1550" dirty="0"/>
          </a:p>
          <a:p>
            <a:pPr marL="342900" indent="-342900">
              <a:spcAft>
                <a:spcPts val="1200"/>
              </a:spcAft>
              <a:buSzPct val="100000"/>
              <a:buChar char="•"/>
            </a:pPr>
            <a:r>
              <a:rPr lang="en-US" sz="1550" dirty="0">
                <a:solidFill>
                  <a:srgbClr val="1E293B"/>
                </a:solidFill>
                <a:latin typeface="Calibri" pitchFamily="34" charset="0"/>
                <a:ea typeface="Calibri" pitchFamily="34" charset="-122"/>
                <a:cs typeface="Calibri" pitchFamily="34" charset="-120"/>
              </a:rPr>
              <a:t>A Pod only appears in Endpoints once it passes its readiness probe — this is the exact mechanism tying probes to traffic routing covered in Module 1.</a:t>
            </a:r>
            <a:endParaRPr lang="en-US" sz="1550" dirty="0"/>
          </a:p>
          <a:p>
            <a:pPr marL="342900" indent="-342900">
              <a:spcAft>
                <a:spcPts val="1200"/>
              </a:spcAft>
              <a:buSzPct val="100000"/>
              <a:buChar char="•"/>
            </a:pPr>
            <a:r>
              <a:rPr lang="en-US" sz="1550" dirty="0">
                <a:solidFill>
                  <a:srgbClr val="1E293B"/>
                </a:solidFill>
                <a:latin typeface="Calibri" pitchFamily="34" charset="0"/>
                <a:ea typeface="Calibri" pitchFamily="34" charset="-122"/>
                <a:cs typeface="Calibri" pitchFamily="34" charset="-120"/>
              </a:rPr>
              <a:t>Services WITHOUT a selector do not get automatic Endpoints — you create and manage an Endpoints object manually, typically to point a Service at an external IP outside the cluster.</a:t>
            </a:r>
            <a:endParaRPr lang="en-US" sz="1550" dirty="0"/>
          </a:p>
        </p:txBody>
      </p:sp>
      <p:sp>
        <p:nvSpPr>
          <p:cNvPr id="8" name="Text 6"/>
          <p:cNvSpPr/>
          <p:nvPr/>
        </p:nvSpPr>
        <p:spPr>
          <a:xfrm>
            <a:off x="457200" y="6446520"/>
            <a:ext cx="6400800" cy="27432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CKA v1.36 · Module 2</a:t>
            </a:r>
            <a:endParaRPr lang="en-US" sz="900" dirty="0"/>
          </a:p>
        </p:txBody>
      </p:sp>
      <p:sp>
        <p:nvSpPr>
          <p:cNvPr id="9" name="Text 7"/>
          <p:cNvSpPr/>
          <p:nvPr/>
        </p:nvSpPr>
        <p:spPr>
          <a:xfrm>
            <a:off x="11247120" y="6446520"/>
            <a:ext cx="4572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38</a:t>
            </a:r>
            <a:endParaRPr lang="en-US" sz="9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365760"/>
            <a:ext cx="2468880" cy="384048"/>
          </a:xfrm>
          <a:prstGeom prst="roundRect">
            <a:avLst>
              <a:gd name="adj" fmla="val 50000"/>
            </a:avLst>
          </a:prstGeom>
          <a:solidFill>
            <a:srgbClr val="21295C"/>
          </a:solidFill>
          <a:ln/>
        </p:spPr>
      </p:sp>
      <p:sp>
        <p:nvSpPr>
          <p:cNvPr id="3" name="Text 1"/>
          <p:cNvSpPr/>
          <p:nvPr/>
        </p:nvSpPr>
        <p:spPr>
          <a:xfrm>
            <a:off x="640080" y="365760"/>
            <a:ext cx="2468880" cy="384048"/>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EXAM PATTERN 7</a:t>
            </a:r>
            <a:endParaRPr lang="en-US" sz="1150" dirty="0"/>
          </a:p>
        </p:txBody>
      </p:sp>
      <p:sp>
        <p:nvSpPr>
          <p:cNvPr id="4" name="Text 2"/>
          <p:cNvSpPr/>
          <p:nvPr/>
        </p:nvSpPr>
        <p:spPr>
          <a:xfrm>
            <a:off x="3246120" y="365760"/>
            <a:ext cx="8229600" cy="384048"/>
          </a:xfrm>
          <a:prstGeom prst="rect">
            <a:avLst/>
          </a:prstGeom>
          <a:noFill/>
          <a:ln/>
        </p:spPr>
        <p:txBody>
          <a:bodyPr wrap="square" lIns="0" tIns="0" rIns="0" bIns="0" rtlCol="0" anchor="ctr"/>
          <a:lstStyle/>
          <a:p>
            <a:pPr indent="0" marL="0">
              <a:buNone/>
            </a:pPr>
            <a:r>
              <a:rPr lang="en-US" sz="1100" b="1" spc="120" kern="0" dirty="0">
                <a:solidFill>
                  <a:srgbClr val="1C7293"/>
                </a:solidFill>
                <a:latin typeface="Calibri" pitchFamily="34" charset="0"/>
                <a:ea typeface="Calibri" pitchFamily="34" charset="-122"/>
                <a:cs typeface="Calibri" pitchFamily="34" charset="-120"/>
              </a:rPr>
              <a:t>SERVICES</a:t>
            </a:r>
            <a:endParaRPr lang="en-US" sz="1100" dirty="0"/>
          </a:p>
        </p:txBody>
      </p:sp>
      <p:sp>
        <p:nvSpPr>
          <p:cNvPr id="5" name="Text 3"/>
          <p:cNvSpPr/>
          <p:nvPr/>
        </p:nvSpPr>
        <p:spPr>
          <a:xfrm>
            <a:off x="640080" y="841248"/>
            <a:ext cx="10881360" cy="502920"/>
          </a:xfrm>
          <a:prstGeom prst="rect">
            <a:avLst/>
          </a:prstGeom>
          <a:noFill/>
          <a:ln/>
        </p:spPr>
        <p:txBody>
          <a:bodyPr wrap="square" lIns="0" tIns="0" rIns="0" bIns="0" rtlCol="0" anchor="ctr"/>
          <a:lstStyle/>
          <a:p>
            <a:pPr indent="0" marL="0">
              <a:buNone/>
            </a:pPr>
            <a:r>
              <a:rPr lang="en-US" sz="2100" b="1" dirty="0">
                <a:solidFill>
                  <a:srgbClr val="21295C"/>
                </a:solidFill>
                <a:latin typeface="Cambria" pitchFamily="34" charset="0"/>
                <a:ea typeface="Cambria" pitchFamily="34" charset="-122"/>
                <a:cs typeface="Cambria" pitchFamily="34" charset="-120"/>
              </a:rPr>
              <a:t>NodePort Service Unreachable From Outside</a:t>
            </a:r>
            <a:endParaRPr lang="en-US" sz="2100" dirty="0"/>
          </a:p>
        </p:txBody>
      </p:sp>
      <p:sp>
        <p:nvSpPr>
          <p:cNvPr id="6" name="Shape 4"/>
          <p:cNvSpPr/>
          <p:nvPr/>
        </p:nvSpPr>
        <p:spPr>
          <a:xfrm>
            <a:off x="640080" y="1463040"/>
            <a:ext cx="10881360" cy="960120"/>
          </a:xfrm>
          <a:prstGeom prst="roundRect">
            <a:avLst>
              <a:gd name="adj" fmla="val 5714"/>
            </a:avLst>
          </a:prstGeom>
          <a:solidFill>
            <a:srgbClr val="EAF4F8"/>
          </a:solidFill>
          <a:ln/>
        </p:spPr>
      </p:sp>
      <p:sp>
        <p:nvSpPr>
          <p:cNvPr id="7" name="Text 5"/>
          <p:cNvSpPr/>
          <p:nvPr/>
        </p:nvSpPr>
        <p:spPr>
          <a:xfrm>
            <a:off x="868680" y="1554480"/>
            <a:ext cx="2743200" cy="274320"/>
          </a:xfrm>
          <a:prstGeom prst="rect">
            <a:avLst/>
          </a:prstGeom>
          <a:noFill/>
          <a:ln/>
        </p:spPr>
        <p:txBody>
          <a:bodyPr wrap="square" lIns="0" tIns="0" rIns="0" bIns="0" rtlCol="0" anchor="ctr"/>
          <a:lstStyle/>
          <a:p>
            <a:pPr indent="0" marL="0">
              <a:buNone/>
            </a:pPr>
            <a:r>
              <a:rPr lang="en-US" sz="1050" b="1" spc="100" kern="0" dirty="0">
                <a:solidFill>
                  <a:srgbClr val="1C7293"/>
                </a:solidFill>
                <a:latin typeface="Calibri" pitchFamily="34" charset="0"/>
                <a:ea typeface="Calibri" pitchFamily="34" charset="-122"/>
                <a:cs typeface="Calibri" pitchFamily="34" charset="-120"/>
              </a:rPr>
              <a:t>SYMPTOM / SCENARIO</a:t>
            </a:r>
            <a:endParaRPr lang="en-US" sz="1050" dirty="0"/>
          </a:p>
        </p:txBody>
      </p:sp>
      <p:sp>
        <p:nvSpPr>
          <p:cNvPr id="8" name="Text 6"/>
          <p:cNvSpPr/>
          <p:nvPr/>
        </p:nvSpPr>
        <p:spPr>
          <a:xfrm>
            <a:off x="868680" y="1810512"/>
            <a:ext cx="10424160" cy="548640"/>
          </a:xfrm>
          <a:prstGeom prst="rect">
            <a:avLst/>
          </a:prstGeom>
          <a:noFill/>
          <a:ln/>
        </p:spPr>
        <p:txBody>
          <a:bodyPr wrap="square" lIns="0" tIns="0" rIns="0" bIns="0" rtlCol="0" anchor="t"/>
          <a:lstStyle/>
          <a:p>
            <a:pPr indent="0" marL="0">
              <a:buNone/>
            </a:pPr>
            <a:r>
              <a:rPr lang="en-US" sz="1300" dirty="0">
                <a:solidFill>
                  <a:srgbClr val="1E293B"/>
                </a:solidFill>
                <a:latin typeface="Calibri" pitchFamily="34" charset="0"/>
                <a:ea typeface="Calibri" pitchFamily="34" charset="-122"/>
                <a:cs typeface="Calibri" pitchFamily="34" charset="-120"/>
              </a:rPr>
              <a:t>kubectl get svc shows a NodePort Service correctly assigned, but curl http://&lt;node-ip&gt;:&lt;nodeport&gt; from outside the cluster times out or is refused.</a:t>
            </a:r>
            <a:endParaRPr lang="en-US" sz="1300" dirty="0"/>
          </a:p>
        </p:txBody>
      </p:sp>
      <p:sp>
        <p:nvSpPr>
          <p:cNvPr id="9" name="Shape 7"/>
          <p:cNvSpPr/>
          <p:nvPr/>
        </p:nvSpPr>
        <p:spPr>
          <a:xfrm>
            <a:off x="640080" y="2587752"/>
            <a:ext cx="10881360" cy="914400"/>
          </a:xfrm>
          <a:prstGeom prst="roundRect">
            <a:avLst>
              <a:gd name="adj" fmla="val 6000"/>
            </a:avLst>
          </a:prstGeom>
          <a:solidFill>
            <a:srgbClr val="FBF3E3"/>
          </a:solidFill>
          <a:ln/>
        </p:spPr>
      </p:sp>
      <p:sp>
        <p:nvSpPr>
          <p:cNvPr id="10" name="Text 8"/>
          <p:cNvSpPr/>
          <p:nvPr/>
        </p:nvSpPr>
        <p:spPr>
          <a:xfrm>
            <a:off x="868680" y="2679192"/>
            <a:ext cx="2743200" cy="274320"/>
          </a:xfrm>
          <a:prstGeom prst="rect">
            <a:avLst/>
          </a:prstGeom>
          <a:noFill/>
          <a:ln/>
        </p:spPr>
        <p:txBody>
          <a:bodyPr wrap="square" lIns="0" tIns="0" rIns="0" bIns="0" rtlCol="0" anchor="ctr"/>
          <a:lstStyle/>
          <a:p>
            <a:pPr indent="0" marL="0">
              <a:buNone/>
            </a:pPr>
            <a:r>
              <a:rPr lang="en-US" sz="1050" b="1" spc="100" kern="0" dirty="0">
                <a:solidFill>
                  <a:srgbClr val="B7791F"/>
                </a:solidFill>
                <a:latin typeface="Calibri" pitchFamily="34" charset="0"/>
                <a:ea typeface="Calibri" pitchFamily="34" charset="-122"/>
                <a:cs typeface="Calibri" pitchFamily="34" charset="-120"/>
              </a:rPr>
              <a:t>ROOT CAUSE</a:t>
            </a:r>
            <a:endParaRPr lang="en-US" sz="1050" dirty="0"/>
          </a:p>
        </p:txBody>
      </p:sp>
      <p:sp>
        <p:nvSpPr>
          <p:cNvPr id="11" name="Text 9"/>
          <p:cNvSpPr/>
          <p:nvPr/>
        </p:nvSpPr>
        <p:spPr>
          <a:xfrm>
            <a:off x="868680" y="2935224"/>
            <a:ext cx="10424160" cy="502920"/>
          </a:xfrm>
          <a:prstGeom prst="rect">
            <a:avLst/>
          </a:prstGeom>
          <a:noFill/>
          <a:ln/>
        </p:spPr>
        <p:txBody>
          <a:bodyPr wrap="square" lIns="0" tIns="0" rIns="0" bIns="0" rtlCol="0" anchor="t"/>
          <a:lstStyle/>
          <a:p>
            <a:pPr indent="0" marL="0">
              <a:buNone/>
            </a:pPr>
            <a:r>
              <a:rPr lang="en-US" sz="1300" dirty="0">
                <a:solidFill>
                  <a:srgbClr val="1E293B"/>
                </a:solidFill>
                <a:latin typeface="Calibri" pitchFamily="34" charset="0"/>
                <a:ea typeface="Calibri" pitchFamily="34" charset="-122"/>
                <a:cs typeface="Calibri" pitchFamily="34" charset="-120"/>
              </a:rPr>
              <a:t>Most commonly: an external firewall/security group is blocking the NodePort range (30000-32767). Less commonly: the Service's selector doesn't match any Pod, or you're targeting a node that genuinely has no route to the Pod's network.</a:t>
            </a:r>
            <a:endParaRPr lang="en-US" sz="1300" dirty="0"/>
          </a:p>
        </p:txBody>
      </p:sp>
      <p:sp>
        <p:nvSpPr>
          <p:cNvPr id="12" name="Shape 10"/>
          <p:cNvSpPr/>
          <p:nvPr/>
        </p:nvSpPr>
        <p:spPr>
          <a:xfrm>
            <a:off x="640080" y="3666744"/>
            <a:ext cx="10881360" cy="1417320"/>
          </a:xfrm>
          <a:prstGeom prst="roundRect">
            <a:avLst>
              <a:gd name="adj" fmla="val 3871"/>
            </a:avLst>
          </a:prstGeom>
          <a:solidFill>
            <a:srgbClr val="E7F5EC"/>
          </a:solidFill>
          <a:ln/>
        </p:spPr>
      </p:sp>
      <p:sp>
        <p:nvSpPr>
          <p:cNvPr id="13" name="Text 11"/>
          <p:cNvSpPr/>
          <p:nvPr/>
        </p:nvSpPr>
        <p:spPr>
          <a:xfrm>
            <a:off x="868680" y="3758184"/>
            <a:ext cx="2743200" cy="274320"/>
          </a:xfrm>
          <a:prstGeom prst="rect">
            <a:avLst/>
          </a:prstGeom>
          <a:noFill/>
          <a:ln/>
        </p:spPr>
        <p:txBody>
          <a:bodyPr wrap="square" lIns="0" tIns="0" rIns="0" bIns="0" rtlCol="0" anchor="ctr"/>
          <a:lstStyle/>
          <a:p>
            <a:pPr indent="0" marL="0">
              <a:buNone/>
            </a:pPr>
            <a:r>
              <a:rPr lang="en-US" sz="1050" b="1" spc="100" kern="0" dirty="0">
                <a:solidFill>
                  <a:srgbClr val="15803D"/>
                </a:solidFill>
                <a:latin typeface="Calibri" pitchFamily="34" charset="0"/>
                <a:ea typeface="Calibri" pitchFamily="34" charset="-122"/>
                <a:cs typeface="Calibri" pitchFamily="34" charset="-120"/>
              </a:rPr>
              <a:t>THE FIX</a:t>
            </a:r>
            <a:endParaRPr lang="en-US" sz="1050" dirty="0"/>
          </a:p>
        </p:txBody>
      </p:sp>
      <p:sp>
        <p:nvSpPr>
          <p:cNvPr id="14" name="Text 12"/>
          <p:cNvSpPr/>
          <p:nvPr/>
        </p:nvSpPr>
        <p:spPr>
          <a:xfrm>
            <a:off x="868680" y="4014216"/>
            <a:ext cx="10424160" cy="365760"/>
          </a:xfrm>
          <a:prstGeom prst="rect">
            <a:avLst/>
          </a:prstGeom>
          <a:noFill/>
          <a:ln/>
        </p:spPr>
        <p:txBody>
          <a:bodyPr wrap="square" lIns="0" tIns="0" rIns="0" bIns="0" rtlCol="0" anchor="t"/>
          <a:lstStyle/>
          <a:p>
            <a:pPr indent="0" marL="0">
              <a:buNone/>
            </a:pPr>
            <a:r>
              <a:rPr lang="en-US" sz="1300" dirty="0">
                <a:solidFill>
                  <a:srgbClr val="1E293B"/>
                </a:solidFill>
                <a:latin typeface="Calibri" pitchFamily="34" charset="0"/>
                <a:ea typeface="Calibri" pitchFamily="34" charset="-122"/>
                <a:cs typeface="Calibri" pitchFamily="34" charset="-120"/>
              </a:rPr>
              <a:t>Confirm Endpoints are populated first, then check firewall rules for the NodePort range, then re-test directly from a node itself to isolate cluster-internal vs. external network issues.</a:t>
            </a:r>
            <a:endParaRPr lang="en-US" sz="1300" dirty="0"/>
          </a:p>
        </p:txBody>
      </p:sp>
      <p:sp>
        <p:nvSpPr>
          <p:cNvPr id="15" name="Shape 13"/>
          <p:cNvSpPr/>
          <p:nvPr/>
        </p:nvSpPr>
        <p:spPr>
          <a:xfrm>
            <a:off x="868680" y="4379976"/>
            <a:ext cx="10424160" cy="594360"/>
          </a:xfrm>
          <a:prstGeom prst="roundRect">
            <a:avLst>
              <a:gd name="adj" fmla="val 7692"/>
            </a:avLst>
          </a:prstGeom>
          <a:solidFill>
            <a:srgbClr val="0B2330"/>
          </a:solidFill>
          <a:ln/>
        </p:spPr>
      </p:sp>
      <p:sp>
        <p:nvSpPr>
          <p:cNvPr id="16" name="Text 14"/>
          <p:cNvSpPr/>
          <p:nvPr/>
        </p:nvSpPr>
        <p:spPr>
          <a:xfrm>
            <a:off x="1005840" y="4453128"/>
            <a:ext cx="10149840" cy="457200"/>
          </a:xfrm>
          <a:prstGeom prst="rect">
            <a:avLst/>
          </a:prstGeom>
          <a:noFill/>
          <a:ln/>
        </p:spPr>
        <p:txBody>
          <a:bodyPr wrap="square" lIns="0" tIns="0" rIns="0" bIns="0" rtlCol="0" anchor="t"/>
          <a:lstStyle/>
          <a:p>
            <a:pPr indent="0" marL="0">
              <a:buNone/>
            </a:pPr>
            <a:r>
              <a:rPr lang="en-US" sz="1200" dirty="0">
                <a:solidFill>
                  <a:srgbClr val="CFEFEA"/>
                </a:solidFill>
                <a:latin typeface="Courier New" pitchFamily="34" charset="0"/>
                <a:ea typeface="Courier New" pitchFamily="34" charset="-122"/>
                <a:cs typeface="Courier New" pitchFamily="34" charset="-120"/>
              </a:rPr>
              <a:t>kubectl get endpoints &lt;service&gt;</a:t>
            </a:r>
            <a:endParaRPr lang="en-US" sz="1200" dirty="0"/>
          </a:p>
          <a:p>
            <a:pPr indent="0" marL="0">
              <a:buNone/>
            </a:pPr>
            <a:r>
              <a:rPr lang="en-US" sz="1200" dirty="0">
                <a:solidFill>
                  <a:srgbClr val="CFEFEA"/>
                </a:solidFill>
                <a:latin typeface="Courier New" pitchFamily="34" charset="0"/>
                <a:ea typeface="Courier New" pitchFamily="34" charset="-122"/>
                <a:cs typeface="Courier New" pitchFamily="34" charset="-120"/>
              </a:rPr>
              <a:t>curl http://localhost:&lt;nodeport&gt;   # run FROM the node itself</a:t>
            </a:r>
            <a:endParaRPr lang="en-US" sz="1200" dirty="0"/>
          </a:p>
        </p:txBody>
      </p:sp>
      <p:sp>
        <p:nvSpPr>
          <p:cNvPr id="17" name="Text 15"/>
          <p:cNvSpPr/>
          <p:nvPr/>
        </p:nvSpPr>
        <p:spPr>
          <a:xfrm>
            <a:off x="457200" y="6446520"/>
            <a:ext cx="6400800" cy="27432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CKA v1.36 · Module 2</a:t>
            </a:r>
            <a:endParaRPr lang="en-US" sz="900" dirty="0"/>
          </a:p>
        </p:txBody>
      </p:sp>
      <p:sp>
        <p:nvSpPr>
          <p:cNvPr id="18" name="Text 16"/>
          <p:cNvSpPr/>
          <p:nvPr/>
        </p:nvSpPr>
        <p:spPr>
          <a:xfrm>
            <a:off x="11247120" y="6446520"/>
            <a:ext cx="4572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39</a:t>
            </a:r>
            <a:endParaRPr lang="en-US" sz="9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65760"/>
            <a:ext cx="9144000" cy="320040"/>
          </a:xfrm>
          <a:prstGeom prst="rect">
            <a:avLst/>
          </a:prstGeom>
          <a:noFill/>
          <a:ln/>
        </p:spPr>
        <p:txBody>
          <a:bodyPr wrap="square" lIns="0" tIns="0" rIns="0" bIns="0" rtlCol="0" anchor="ctr"/>
          <a:lstStyle/>
          <a:p>
            <a:pPr indent="0" marL="0">
              <a:buNone/>
            </a:pPr>
            <a:r>
              <a:rPr lang="en-US" sz="1150" b="1" spc="150" kern="0" dirty="0">
                <a:solidFill>
                  <a:srgbClr val="1C7293"/>
                </a:solidFill>
                <a:latin typeface="Calibri" pitchFamily="34" charset="0"/>
                <a:ea typeface="Calibri" pitchFamily="34" charset="-122"/>
                <a:cs typeface="Calibri" pitchFamily="34" charset="-120"/>
              </a:rPr>
              <a:t>SERVICES</a:t>
            </a:r>
            <a:endParaRPr lang="en-US" sz="1150" dirty="0"/>
          </a:p>
        </p:txBody>
      </p:sp>
      <p:sp>
        <p:nvSpPr>
          <p:cNvPr id="3" name="Text 1"/>
          <p:cNvSpPr/>
          <p:nvPr/>
        </p:nvSpPr>
        <p:spPr>
          <a:xfrm>
            <a:off x="640080" y="658368"/>
            <a:ext cx="10881360" cy="685800"/>
          </a:xfrm>
          <a:prstGeom prst="rect">
            <a:avLst/>
          </a:prstGeom>
          <a:noFill/>
          <a:ln/>
        </p:spPr>
        <p:txBody>
          <a:bodyPr wrap="square" lIns="0" tIns="0" rIns="0" bIns="0" rtlCol="0" anchor="ctr"/>
          <a:lstStyle/>
          <a:p>
            <a:pPr indent="0" marL="0">
              <a:buNone/>
            </a:pPr>
            <a:r>
              <a:rPr lang="en-US" sz="2600" b="1" dirty="0">
                <a:solidFill>
                  <a:srgbClr val="21295C"/>
                </a:solidFill>
                <a:latin typeface="Cambria" pitchFamily="34" charset="0"/>
                <a:ea typeface="Cambria" pitchFamily="34" charset="-122"/>
                <a:cs typeface="Cambria" pitchFamily="34" charset="-120"/>
              </a:rPr>
              <a:t>Services — Quick Decision Guide</a:t>
            </a:r>
            <a:endParaRPr lang="en-US" sz="2600" dirty="0"/>
          </a:p>
        </p:txBody>
      </p:sp>
      <p:sp>
        <p:nvSpPr>
          <p:cNvPr id="4" name="Shape 2"/>
          <p:cNvSpPr/>
          <p:nvPr/>
        </p:nvSpPr>
        <p:spPr>
          <a:xfrm>
            <a:off x="640080" y="1371600"/>
            <a:ext cx="10881360" cy="0"/>
          </a:xfrm>
          <a:prstGeom prst="line">
            <a:avLst/>
          </a:prstGeom>
          <a:noFill/>
          <a:ln w="12700">
            <a:solidFill>
              <a:srgbClr val="D7E3E8"/>
            </a:solidFill>
            <a:prstDash val="solid"/>
          </a:ln>
        </p:spPr>
      </p:sp>
      <p:sp>
        <p:nvSpPr>
          <p:cNvPr id="5" name="Shape 3"/>
          <p:cNvSpPr/>
          <p:nvPr/>
        </p:nvSpPr>
        <p:spPr>
          <a:xfrm>
            <a:off x="11109960" y="411480"/>
            <a:ext cx="502920" cy="502920"/>
          </a:xfrm>
          <a:prstGeom prst="ellipse">
            <a:avLst/>
          </a:prstGeom>
          <a:solidFill>
            <a:srgbClr val="EAF4F8"/>
          </a:solidFill>
          <a:ln w="15875">
            <a:solidFill>
              <a:srgbClr val="1C7293"/>
            </a:solidFill>
            <a:prstDash val="solid"/>
          </a:ln>
        </p:spPr>
      </p:sp>
      <p:sp>
        <p:nvSpPr>
          <p:cNvPr id="6" name="Text 4"/>
          <p:cNvSpPr/>
          <p:nvPr/>
        </p:nvSpPr>
        <p:spPr>
          <a:xfrm>
            <a:off x="11109960" y="411480"/>
            <a:ext cx="502920" cy="502920"/>
          </a:xfrm>
          <a:prstGeom prst="rect">
            <a:avLst/>
          </a:prstGeom>
          <a:noFill/>
          <a:ln/>
        </p:spPr>
        <p:txBody>
          <a:bodyPr wrap="square" lIns="0" tIns="0" rIns="0" bIns="0" rtlCol="0" anchor="ctr"/>
          <a:lstStyle/>
          <a:p>
            <a:pPr algn="ctr" indent="0" marL="0">
              <a:buNone/>
            </a:pPr>
            <a:r>
              <a:rPr lang="en-US" sz="1600" b="1" dirty="0">
                <a:solidFill>
                  <a:srgbClr val="1C7293"/>
                </a:solidFill>
                <a:latin typeface="Calibri" pitchFamily="34" charset="0"/>
                <a:ea typeface="Calibri" pitchFamily="34" charset="-122"/>
                <a:cs typeface="Calibri" pitchFamily="34" charset="-120"/>
              </a:rPr>
              <a:t>✓</a:t>
            </a:r>
            <a:endParaRPr lang="en-US" sz="1600" dirty="0"/>
          </a:p>
        </p:txBody>
      </p:sp>
      <p:sp>
        <p:nvSpPr>
          <p:cNvPr id="7" name="Text 5"/>
          <p:cNvSpPr/>
          <p:nvPr/>
        </p:nvSpPr>
        <p:spPr>
          <a:xfrm>
            <a:off x="640080" y="1600200"/>
            <a:ext cx="10881360" cy="4572000"/>
          </a:xfrm>
          <a:prstGeom prst="rect">
            <a:avLst/>
          </a:prstGeom>
          <a:noFill/>
          <a:ln/>
        </p:spPr>
        <p:txBody>
          <a:bodyPr wrap="square" lIns="0" tIns="0" rIns="0" bIns="0" rtlCol="0" anchor="t"/>
          <a:lstStyle/>
          <a:p>
            <a:pPr marL="342900" indent="-342900">
              <a:spcAft>
                <a:spcPts val="1200"/>
              </a:spcAft>
              <a:buSzPct val="100000"/>
              <a:buChar char="•"/>
            </a:pPr>
            <a:r>
              <a:rPr lang="en-US" sz="1550" dirty="0">
                <a:solidFill>
                  <a:srgbClr val="1E293B"/>
                </a:solidFill>
                <a:latin typeface="Calibri" pitchFamily="34" charset="0"/>
                <a:ea typeface="Calibri" pitchFamily="34" charset="-122"/>
                <a:cs typeface="Calibri" pitchFamily="34" charset="-120"/>
              </a:rPr>
              <a:t>Need internal-only communication between workloads → ClusterIP (the default — don't overthink it).</a:t>
            </a:r>
            <a:endParaRPr lang="en-US" sz="1550" dirty="0"/>
          </a:p>
          <a:p>
            <a:pPr marL="342900" indent="-342900">
              <a:spcAft>
                <a:spcPts val="1200"/>
              </a:spcAft>
              <a:buSzPct val="100000"/>
              <a:buChar char="•"/>
            </a:pPr>
            <a:r>
              <a:rPr lang="en-US" sz="1550" dirty="0">
                <a:solidFill>
                  <a:srgbClr val="1E293B"/>
                </a:solidFill>
                <a:latin typeface="Calibri" pitchFamily="34" charset="0"/>
                <a:ea typeface="Calibri" pitchFamily="34" charset="-122"/>
                <a:cs typeface="Calibri" pitchFamily="34" charset="-120"/>
              </a:rPr>
              <a:t>Need quick external access without a cloud provider, e.g. a bare-metal lab → NodePort.</a:t>
            </a:r>
            <a:endParaRPr lang="en-US" sz="1550" dirty="0"/>
          </a:p>
          <a:p>
            <a:pPr marL="342900" indent="-342900">
              <a:spcAft>
                <a:spcPts val="1200"/>
              </a:spcAft>
              <a:buSzPct val="100000"/>
              <a:buChar char="•"/>
            </a:pPr>
            <a:r>
              <a:rPr lang="en-US" sz="1550" dirty="0">
                <a:solidFill>
                  <a:srgbClr val="1E293B"/>
                </a:solidFill>
                <a:latin typeface="Calibri" pitchFamily="34" charset="0"/>
                <a:ea typeface="Calibri" pitchFamily="34" charset="-122"/>
                <a:cs typeface="Calibri" pitchFamily="34" charset="-120"/>
              </a:rPr>
              <a:t>Need production-grade external access on a cloud platform → LoadBalancer.</a:t>
            </a:r>
            <a:endParaRPr lang="en-US" sz="1550" dirty="0"/>
          </a:p>
          <a:p>
            <a:pPr marL="342900" indent="-342900">
              <a:spcAft>
                <a:spcPts val="1200"/>
              </a:spcAft>
              <a:buSzPct val="100000"/>
              <a:buChar char="•"/>
            </a:pPr>
            <a:r>
              <a:rPr lang="en-US" sz="1550" dirty="0">
                <a:solidFill>
                  <a:srgbClr val="1E293B"/>
                </a:solidFill>
                <a:latin typeface="Calibri" pitchFamily="34" charset="0"/>
                <a:ea typeface="Calibri" pitchFamily="34" charset="-122"/>
                <a:cs typeface="Calibri" pitchFamily="34" charset="-120"/>
              </a:rPr>
              <a:t>Need to alias a Service name to an external DNS-resolvable system → ExternalName.</a:t>
            </a:r>
            <a:endParaRPr lang="en-US" sz="1550" dirty="0"/>
          </a:p>
          <a:p>
            <a:pPr marL="342900" indent="-342900">
              <a:spcAft>
                <a:spcPts val="1200"/>
              </a:spcAft>
              <a:buSzPct val="100000"/>
              <a:buChar char="•"/>
            </a:pPr>
            <a:r>
              <a:rPr lang="en-US" sz="1550" dirty="0">
                <a:solidFill>
                  <a:srgbClr val="1E293B"/>
                </a:solidFill>
                <a:latin typeface="Calibri" pitchFamily="34" charset="0"/>
                <a:ea typeface="Calibri" pitchFamily="34" charset="-122"/>
                <a:cs typeface="Calibri" pitchFamily="34" charset="-120"/>
              </a:rPr>
              <a:t>Need HTTP-layer routing (paths, hosts, TLS termination) rather than just L4 exposure → neither of the above alone — use Ingress or Gateway API on top of a ClusterIP Service.</a:t>
            </a:r>
            <a:endParaRPr lang="en-US" sz="1550" dirty="0"/>
          </a:p>
        </p:txBody>
      </p:sp>
      <p:sp>
        <p:nvSpPr>
          <p:cNvPr id="8" name="Text 6"/>
          <p:cNvSpPr/>
          <p:nvPr/>
        </p:nvSpPr>
        <p:spPr>
          <a:xfrm>
            <a:off x="457200" y="6446520"/>
            <a:ext cx="6400800" cy="27432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CKA v1.36 · Module 2</a:t>
            </a:r>
            <a:endParaRPr lang="en-US" sz="900" dirty="0"/>
          </a:p>
        </p:txBody>
      </p:sp>
      <p:sp>
        <p:nvSpPr>
          <p:cNvPr id="9" name="Text 7"/>
          <p:cNvSpPr/>
          <p:nvPr/>
        </p:nvSpPr>
        <p:spPr>
          <a:xfrm>
            <a:off x="11247120" y="6446520"/>
            <a:ext cx="4572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40</a:t>
            </a:r>
            <a:endParaRPr lang="en-US" sz="9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21295C"/>
        </a:solidFill>
      </p:bgPr>
    </p:bg>
    <p:spTree>
      <p:nvGrpSpPr>
        <p:cNvPr id="1" name=""/>
        <p:cNvGrpSpPr/>
        <p:nvPr/>
      </p:nvGrpSpPr>
      <p:grpSpPr>
        <a:xfrm>
          <a:off x="0" y="0"/>
          <a:ext cx="0" cy="0"/>
          <a:chOff x="0" y="0"/>
          <a:chExt cx="0" cy="0"/>
        </a:xfrm>
      </p:grpSpPr>
      <p:sp>
        <p:nvSpPr>
          <p:cNvPr id="2" name="Shape 0"/>
          <p:cNvSpPr/>
          <p:nvPr/>
        </p:nvSpPr>
        <p:spPr>
          <a:xfrm>
            <a:off x="8778240" y="3291840"/>
            <a:ext cx="5029200" cy="5029200"/>
          </a:xfrm>
          <a:prstGeom prst="ellipse">
            <a:avLst/>
          </a:prstGeom>
          <a:solidFill>
            <a:srgbClr val="065A82">
              <a:alpha val="40000"/>
            </a:srgbClr>
          </a:solidFill>
          <a:ln/>
        </p:spPr>
      </p:sp>
      <p:sp>
        <p:nvSpPr>
          <p:cNvPr id="3" name="Shape 1"/>
          <p:cNvSpPr/>
          <p:nvPr/>
        </p:nvSpPr>
        <p:spPr>
          <a:xfrm>
            <a:off x="822960" y="1828800"/>
            <a:ext cx="1371600" cy="1371600"/>
          </a:xfrm>
          <a:prstGeom prst="roundRect">
            <a:avLst>
              <a:gd name="adj" fmla="val 12000"/>
            </a:avLst>
          </a:prstGeom>
          <a:solidFill>
            <a:srgbClr val="1C7293"/>
          </a:solidFill>
          <a:ln/>
          <a:effectLst>
            <a:outerShdw sx="100000" sy="100000" kx="0" ky="0" algn="bl" rotWithShape="0" blurRad="88900" dist="25400" dir="2700000">
              <a:srgbClr val="1B2A36">
                <a:alpha val="12000"/>
              </a:srgbClr>
            </a:outerShdw>
          </a:effectLst>
        </p:spPr>
      </p:sp>
      <p:sp>
        <p:nvSpPr>
          <p:cNvPr id="4" name="Text 2"/>
          <p:cNvSpPr/>
          <p:nvPr/>
        </p:nvSpPr>
        <p:spPr>
          <a:xfrm>
            <a:off x="822960" y="1828800"/>
            <a:ext cx="1371600" cy="1371600"/>
          </a:xfrm>
          <a:prstGeom prst="rect">
            <a:avLst/>
          </a:prstGeom>
          <a:noFill/>
          <a:ln/>
        </p:spPr>
        <p:txBody>
          <a:bodyPr wrap="square" lIns="0" tIns="0" rIns="0" bIns="0" rtlCol="0" anchor="ctr"/>
          <a:lstStyle/>
          <a:p>
            <a:pPr algn="ctr" indent="0" marL="0">
              <a:buNone/>
            </a:pPr>
            <a:r>
              <a:rPr lang="en-US" sz="4000" b="1" dirty="0">
                <a:solidFill>
                  <a:srgbClr val="FFFFFF"/>
                </a:solidFill>
                <a:latin typeface="Cambria" pitchFamily="34" charset="0"/>
                <a:ea typeface="Cambria" pitchFamily="34" charset="-122"/>
                <a:cs typeface="Cambria" pitchFamily="34" charset="-120"/>
              </a:rPr>
              <a:t>F</a:t>
            </a:r>
            <a:endParaRPr lang="en-US" sz="4000" dirty="0"/>
          </a:p>
        </p:txBody>
      </p:sp>
      <p:sp>
        <p:nvSpPr>
          <p:cNvPr id="5" name="Text 3"/>
          <p:cNvSpPr/>
          <p:nvPr/>
        </p:nvSpPr>
        <p:spPr>
          <a:xfrm>
            <a:off x="2468880" y="1828800"/>
            <a:ext cx="8961120" cy="100584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Use the Gateway API to Manage Ingress Traffic</a:t>
            </a:r>
            <a:endParaRPr lang="en-US" sz="3200" dirty="0"/>
          </a:p>
        </p:txBody>
      </p:sp>
      <p:sp>
        <p:nvSpPr>
          <p:cNvPr id="6" name="Text 4"/>
          <p:cNvSpPr/>
          <p:nvPr/>
        </p:nvSpPr>
        <p:spPr>
          <a:xfrm>
            <a:off x="2468880" y="2788920"/>
            <a:ext cx="8961120" cy="640080"/>
          </a:xfrm>
          <a:prstGeom prst="rect">
            <a:avLst/>
          </a:prstGeom>
          <a:noFill/>
          <a:ln/>
        </p:spPr>
        <p:txBody>
          <a:bodyPr wrap="square" lIns="0" tIns="0" rIns="0" bIns="0" rtlCol="0" anchor="ctr"/>
          <a:lstStyle/>
          <a:p>
            <a:pPr indent="0" marL="0">
              <a:buNone/>
            </a:pPr>
            <a:r>
              <a:rPr lang="en-US" sz="1600" dirty="0">
                <a:solidFill>
                  <a:srgbClr val="C9E4ED"/>
                </a:solidFill>
                <a:latin typeface="Calibri" pitchFamily="34" charset="0"/>
                <a:ea typeface="Calibri" pitchFamily="34" charset="-122"/>
                <a:cs typeface="Calibri" pitchFamily="34" charset="-120"/>
              </a:rPr>
              <a:t>The modern, role-oriented successor to Ingress</a:t>
            </a:r>
            <a:endParaRPr lang="en-US" sz="1600" dirty="0"/>
          </a:p>
        </p:txBody>
      </p:sp>
      <p:sp>
        <p:nvSpPr>
          <p:cNvPr id="7" name="Shape 5"/>
          <p:cNvSpPr/>
          <p:nvPr/>
        </p:nvSpPr>
        <p:spPr>
          <a:xfrm>
            <a:off x="2468880" y="3429000"/>
            <a:ext cx="8961120" cy="548640"/>
          </a:xfrm>
          <a:prstGeom prst="roundRect">
            <a:avLst>
              <a:gd name="adj" fmla="val 16667"/>
            </a:avLst>
          </a:prstGeom>
          <a:solidFill>
            <a:srgbClr val="FFFFFF">
              <a:alpha val="10000"/>
            </a:srgbClr>
          </a:solidFill>
          <a:ln w="9525">
            <a:solidFill>
              <a:srgbClr val="8FD3E8"/>
            </a:solidFill>
            <a:prstDash val="solid"/>
          </a:ln>
        </p:spPr>
      </p:sp>
      <p:sp>
        <p:nvSpPr>
          <p:cNvPr id="8" name="Text 6"/>
          <p:cNvSpPr/>
          <p:nvPr/>
        </p:nvSpPr>
        <p:spPr>
          <a:xfrm>
            <a:off x="2697480" y="3429000"/>
            <a:ext cx="8503920" cy="548640"/>
          </a:xfrm>
          <a:prstGeom prst="rect">
            <a:avLst/>
          </a:prstGeom>
          <a:noFill/>
          <a:ln/>
        </p:spPr>
        <p:txBody>
          <a:bodyPr wrap="square" lIns="0" tIns="0" rIns="0" bIns="0" rtlCol="0" anchor="ctr"/>
          <a:lstStyle/>
          <a:p>
            <a:pPr algn="l" indent="0" marL="0">
              <a:buNone/>
            </a:pPr>
            <a:r>
              <a:rPr lang="en-US" sz="1200" dirty="0">
                <a:solidFill>
                  <a:srgbClr val="DCEFF5"/>
                </a:solidFill>
                <a:latin typeface="Calibri" pitchFamily="34" charset="0"/>
                <a:ea typeface="Calibri" pitchFamily="34" charset="-122"/>
                <a:cs typeface="Calibri" pitchFamily="34" charset="-120"/>
              </a:rPr>
              <a:t>Domain: Services &amp; Networking · Gateway API</a:t>
            </a:r>
            <a:endParaRPr lang="en-US" sz="1200" dirty="0"/>
          </a:p>
        </p:txBody>
      </p:sp>
      <p:sp>
        <p:nvSpPr>
          <p:cNvPr id="9" name="Text 7"/>
          <p:cNvSpPr/>
          <p:nvPr/>
        </p:nvSpPr>
        <p:spPr>
          <a:xfrm>
            <a:off x="457200" y="6446520"/>
            <a:ext cx="6400800" cy="27432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CKA v1.36 · Module 2</a:t>
            </a:r>
            <a:endParaRPr lang="en-US" sz="900" dirty="0"/>
          </a:p>
        </p:txBody>
      </p:sp>
      <p:sp>
        <p:nvSpPr>
          <p:cNvPr id="10" name="Text 8"/>
          <p:cNvSpPr/>
          <p:nvPr/>
        </p:nvSpPr>
        <p:spPr>
          <a:xfrm>
            <a:off x="11247120" y="6446520"/>
            <a:ext cx="4572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41</a:t>
            </a:r>
            <a:endParaRPr lang="en-US" sz="9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65760"/>
            <a:ext cx="9144000" cy="320040"/>
          </a:xfrm>
          <a:prstGeom prst="rect">
            <a:avLst/>
          </a:prstGeom>
          <a:noFill/>
          <a:ln/>
        </p:spPr>
        <p:txBody>
          <a:bodyPr wrap="square" lIns="0" tIns="0" rIns="0" bIns="0" rtlCol="0" anchor="ctr"/>
          <a:lstStyle/>
          <a:p>
            <a:pPr indent="0" marL="0">
              <a:buNone/>
            </a:pPr>
            <a:r>
              <a:rPr lang="en-US" sz="1150" b="1" spc="150" kern="0" dirty="0">
                <a:solidFill>
                  <a:srgbClr val="1C7293"/>
                </a:solidFill>
                <a:latin typeface="Calibri" pitchFamily="34" charset="0"/>
                <a:ea typeface="Calibri" pitchFamily="34" charset="-122"/>
                <a:cs typeface="Calibri" pitchFamily="34" charset="-120"/>
              </a:rPr>
              <a:t>GATEWAY API</a:t>
            </a:r>
            <a:endParaRPr lang="en-US" sz="1150" dirty="0"/>
          </a:p>
        </p:txBody>
      </p:sp>
      <p:sp>
        <p:nvSpPr>
          <p:cNvPr id="3" name="Text 1"/>
          <p:cNvSpPr/>
          <p:nvPr/>
        </p:nvSpPr>
        <p:spPr>
          <a:xfrm>
            <a:off x="640080" y="658368"/>
            <a:ext cx="10881360" cy="685800"/>
          </a:xfrm>
          <a:prstGeom prst="rect">
            <a:avLst/>
          </a:prstGeom>
          <a:noFill/>
          <a:ln/>
        </p:spPr>
        <p:txBody>
          <a:bodyPr wrap="square" lIns="0" tIns="0" rIns="0" bIns="0" rtlCol="0" anchor="ctr"/>
          <a:lstStyle/>
          <a:p>
            <a:pPr indent="0" marL="0">
              <a:buNone/>
            </a:pPr>
            <a:r>
              <a:rPr lang="en-US" sz="2600" b="1" dirty="0">
                <a:solidFill>
                  <a:srgbClr val="21295C"/>
                </a:solidFill>
                <a:latin typeface="Cambria" pitchFamily="34" charset="0"/>
                <a:ea typeface="Cambria" pitchFamily="34" charset="-122"/>
                <a:cs typeface="Cambria" pitchFamily="34" charset="-120"/>
              </a:rPr>
              <a:t>Why Gateway API Exists</a:t>
            </a:r>
            <a:endParaRPr lang="en-US" sz="2600" dirty="0"/>
          </a:p>
        </p:txBody>
      </p:sp>
      <p:sp>
        <p:nvSpPr>
          <p:cNvPr id="4" name="Shape 2"/>
          <p:cNvSpPr/>
          <p:nvPr/>
        </p:nvSpPr>
        <p:spPr>
          <a:xfrm>
            <a:off x="640080" y="1371600"/>
            <a:ext cx="10881360" cy="0"/>
          </a:xfrm>
          <a:prstGeom prst="line">
            <a:avLst/>
          </a:prstGeom>
          <a:noFill/>
          <a:ln w="12700">
            <a:solidFill>
              <a:srgbClr val="D7E3E8"/>
            </a:solidFill>
            <a:prstDash val="solid"/>
          </a:ln>
        </p:spPr>
      </p:sp>
      <p:sp>
        <p:nvSpPr>
          <p:cNvPr id="5" name="Shape 3"/>
          <p:cNvSpPr/>
          <p:nvPr/>
        </p:nvSpPr>
        <p:spPr>
          <a:xfrm>
            <a:off x="11109960" y="411480"/>
            <a:ext cx="502920" cy="502920"/>
          </a:xfrm>
          <a:prstGeom prst="ellipse">
            <a:avLst/>
          </a:prstGeom>
          <a:solidFill>
            <a:srgbClr val="EAF4F8"/>
          </a:solidFill>
          <a:ln w="15875">
            <a:solidFill>
              <a:srgbClr val="1C7293"/>
            </a:solidFill>
            <a:prstDash val="solid"/>
          </a:ln>
        </p:spPr>
      </p:sp>
      <p:sp>
        <p:nvSpPr>
          <p:cNvPr id="6" name="Text 4"/>
          <p:cNvSpPr/>
          <p:nvPr/>
        </p:nvSpPr>
        <p:spPr>
          <a:xfrm>
            <a:off x="11109960" y="411480"/>
            <a:ext cx="502920" cy="502920"/>
          </a:xfrm>
          <a:prstGeom prst="rect">
            <a:avLst/>
          </a:prstGeom>
          <a:noFill/>
          <a:ln/>
        </p:spPr>
        <p:txBody>
          <a:bodyPr wrap="square" lIns="0" tIns="0" rIns="0" bIns="0" rtlCol="0" anchor="ctr"/>
          <a:lstStyle/>
          <a:p>
            <a:pPr algn="ctr" indent="0" marL="0">
              <a:buNone/>
            </a:pPr>
            <a:r>
              <a:rPr lang="en-US" sz="1600" b="1" dirty="0">
                <a:solidFill>
                  <a:srgbClr val="1C7293"/>
                </a:solidFill>
                <a:latin typeface="Calibri" pitchFamily="34" charset="0"/>
                <a:ea typeface="Calibri" pitchFamily="34" charset="-122"/>
                <a:cs typeface="Calibri" pitchFamily="34" charset="-120"/>
              </a:rPr>
              <a:t>10</a:t>
            </a:r>
            <a:endParaRPr lang="en-US" sz="1600" dirty="0"/>
          </a:p>
        </p:txBody>
      </p:sp>
      <p:sp>
        <p:nvSpPr>
          <p:cNvPr id="7" name="Text 5"/>
          <p:cNvSpPr/>
          <p:nvPr/>
        </p:nvSpPr>
        <p:spPr>
          <a:xfrm>
            <a:off x="640080" y="1600200"/>
            <a:ext cx="10881360" cy="4572000"/>
          </a:xfrm>
          <a:prstGeom prst="rect">
            <a:avLst/>
          </a:prstGeom>
          <a:noFill/>
          <a:ln/>
        </p:spPr>
        <p:txBody>
          <a:bodyPr wrap="square" lIns="0" tIns="0" rIns="0" bIns="0" rtlCol="0" anchor="t"/>
          <a:lstStyle/>
          <a:p>
            <a:pPr marL="342900" indent="-342900">
              <a:spcAft>
                <a:spcPts val="1200"/>
              </a:spcAft>
              <a:buSzPct val="100000"/>
              <a:buChar char="•"/>
            </a:pPr>
            <a:r>
              <a:rPr lang="en-US" sz="1550" dirty="0">
                <a:solidFill>
                  <a:srgbClr val="1E293B"/>
                </a:solidFill>
                <a:latin typeface="Calibri" pitchFamily="34" charset="0"/>
                <a:ea typeface="Calibri" pitchFamily="34" charset="-122"/>
                <a:cs typeface="Calibri" pitchFamily="34" charset="-120"/>
              </a:rPr>
              <a:t>The original Ingress resource is intentionally minimal — anything beyond basic host/path routing required vendor-specific annotations, which aren't portable between Ingress controllers.</a:t>
            </a:r>
            <a:endParaRPr lang="en-US" sz="1550" dirty="0"/>
          </a:p>
          <a:p>
            <a:pPr marL="342900" indent="-342900">
              <a:spcAft>
                <a:spcPts val="1200"/>
              </a:spcAft>
              <a:buSzPct val="100000"/>
              <a:buChar char="•"/>
            </a:pPr>
            <a:r>
              <a:rPr lang="en-US" sz="1550" dirty="0">
                <a:solidFill>
                  <a:srgbClr val="1E293B"/>
                </a:solidFill>
                <a:latin typeface="Calibri" pitchFamily="34" charset="0"/>
                <a:ea typeface="Calibri" pitchFamily="34" charset="-122"/>
                <a:cs typeface="Calibri" pitchFamily="34" charset="-120"/>
              </a:rPr>
              <a:t>Gateway API is a separate, more expressive set of CRDs (GatewayClass, Gateway, HTTPRoute, and others) designed to be portable and role-oriented.</a:t>
            </a:r>
            <a:endParaRPr lang="en-US" sz="1550" dirty="0"/>
          </a:p>
          <a:p>
            <a:pPr marL="342900" indent="-342900">
              <a:spcAft>
                <a:spcPts val="1200"/>
              </a:spcAft>
              <a:buSzPct val="100000"/>
              <a:buChar char="•"/>
            </a:pPr>
            <a:r>
              <a:rPr lang="en-US" sz="1550" dirty="0">
                <a:solidFill>
                  <a:srgbClr val="1E293B"/>
                </a:solidFill>
                <a:latin typeface="Calibri" pitchFamily="34" charset="0"/>
                <a:ea typeface="Calibri" pitchFamily="34" charset="-122"/>
                <a:cs typeface="Calibri" pitchFamily="34" charset="-120"/>
              </a:rPr>
              <a:t>Role separation is a deliberate design goal: infrastructure teams manage GatewayClass/Gateway (the 'how traffic enters the cluster'); application teams manage HTTPRoute (the 'where traffic goes') independently.</a:t>
            </a:r>
            <a:endParaRPr lang="en-US" sz="1550" dirty="0"/>
          </a:p>
          <a:p>
            <a:pPr marL="342900" indent="-342900">
              <a:spcAft>
                <a:spcPts val="1200"/>
              </a:spcAft>
              <a:buSzPct val="100000"/>
              <a:buChar char="•"/>
            </a:pPr>
            <a:r>
              <a:rPr lang="en-US" sz="1550" dirty="0">
                <a:solidFill>
                  <a:srgbClr val="1E293B"/>
                </a:solidFill>
                <a:latin typeface="Calibri" pitchFamily="34" charset="0"/>
                <a:ea typeface="Calibri" pitchFamily="34" charset="-122"/>
                <a:cs typeface="Calibri" pitchFamily="34" charset="-120"/>
              </a:rPr>
              <a:t>Gateway API is delivered as CRDs, not a built-in API — it must be installed before use, and requires a compatible controller (e.g. Cilium, Envoy Gateway, Istio, many cloud-managed options).</a:t>
            </a:r>
            <a:endParaRPr lang="en-US" sz="1550" dirty="0"/>
          </a:p>
        </p:txBody>
      </p:sp>
      <p:sp>
        <p:nvSpPr>
          <p:cNvPr id="8" name="Text 6"/>
          <p:cNvSpPr/>
          <p:nvPr/>
        </p:nvSpPr>
        <p:spPr>
          <a:xfrm>
            <a:off x="457200" y="6446520"/>
            <a:ext cx="6400800" cy="27432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CKA v1.36 · Module 2</a:t>
            </a:r>
            <a:endParaRPr lang="en-US" sz="900" dirty="0"/>
          </a:p>
        </p:txBody>
      </p:sp>
      <p:sp>
        <p:nvSpPr>
          <p:cNvPr id="9" name="Text 7"/>
          <p:cNvSpPr/>
          <p:nvPr/>
        </p:nvSpPr>
        <p:spPr>
          <a:xfrm>
            <a:off x="11247120" y="6446520"/>
            <a:ext cx="4572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42</a:t>
            </a:r>
            <a:endParaRPr lang="en-US" sz="9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65760"/>
            <a:ext cx="9144000" cy="320040"/>
          </a:xfrm>
          <a:prstGeom prst="rect">
            <a:avLst/>
          </a:prstGeom>
          <a:noFill/>
          <a:ln/>
        </p:spPr>
        <p:txBody>
          <a:bodyPr wrap="square" lIns="0" tIns="0" rIns="0" bIns="0" rtlCol="0" anchor="ctr"/>
          <a:lstStyle/>
          <a:p>
            <a:pPr indent="0" marL="0">
              <a:buNone/>
            </a:pPr>
            <a:r>
              <a:rPr lang="en-US" sz="1150" b="1" spc="150" kern="0" dirty="0">
                <a:solidFill>
                  <a:srgbClr val="1C7293"/>
                </a:solidFill>
                <a:latin typeface="Calibri" pitchFamily="34" charset="0"/>
                <a:ea typeface="Calibri" pitchFamily="34" charset="-122"/>
                <a:cs typeface="Calibri" pitchFamily="34" charset="-120"/>
              </a:rPr>
              <a:t>GATEWAY API</a:t>
            </a:r>
            <a:endParaRPr lang="en-US" sz="1150" dirty="0"/>
          </a:p>
        </p:txBody>
      </p:sp>
      <p:sp>
        <p:nvSpPr>
          <p:cNvPr id="3" name="Text 1"/>
          <p:cNvSpPr/>
          <p:nvPr/>
        </p:nvSpPr>
        <p:spPr>
          <a:xfrm>
            <a:off x="640080" y="658368"/>
            <a:ext cx="10881360" cy="548640"/>
          </a:xfrm>
          <a:prstGeom prst="rect">
            <a:avLst/>
          </a:prstGeom>
          <a:noFill/>
          <a:ln/>
        </p:spPr>
        <p:txBody>
          <a:bodyPr wrap="square" lIns="0" tIns="0" rIns="0" bIns="0" rtlCol="0" anchor="ctr"/>
          <a:lstStyle/>
          <a:p>
            <a:pPr indent="0" marL="0">
              <a:buNone/>
            </a:pPr>
            <a:r>
              <a:rPr lang="en-US" sz="2400" b="1" dirty="0">
                <a:solidFill>
                  <a:srgbClr val="21295C"/>
                </a:solidFill>
                <a:latin typeface="Cambria" pitchFamily="34" charset="0"/>
                <a:ea typeface="Cambria" pitchFamily="34" charset="-122"/>
                <a:cs typeface="Cambria" pitchFamily="34" charset="-120"/>
              </a:rPr>
              <a:t>The Three Core Gateway API Resources</a:t>
            </a:r>
            <a:endParaRPr lang="en-US" sz="2400" dirty="0"/>
          </a:p>
        </p:txBody>
      </p:sp>
      <p:graphicFrame>
        <p:nvGraphicFramePr>
          <p:cNvPr id="44" name="Table 0"/>
          <p:cNvGraphicFramePr>
            <a:graphicFrameLocks noGrp="1"/>
          </p:cNvGraphicFramePr>
          <p:nvPr>
            <p:extLst>
              <p:ext uri="{D42A27DB-BD31-4B8C-83A1-F6EECF244321}">
                <p14:modId xmlns:p14="http://schemas.microsoft.com/office/powerpoint/2010/main" val="1579011935"/>
              </p:ext>
            </p:extLst>
          </p:nvPr>
        </p:nvGraphicFramePr>
        <p:xfrm>
          <a:off x="640080" y="1371600"/>
          <a:ext cx="10881360" cy="914400"/>
        </p:xfrm>
        <a:graphic>
          <a:graphicData uri="http://schemas.openxmlformats.org/drawingml/2006/table">
            <a:tbl>
              <a:tblPr/>
              <a:tblGrid>
                <a:gridCol w="2377440"/>
                <a:gridCol w="2560320"/>
                <a:gridCol w="5943600"/>
              </a:tblGrid>
              <a:tr h="0">
                <a:tc>
                  <a:txBody>
                    <a:bodyPr/>
                    <a:lstStyle/>
                    <a:p>
                      <a:pPr algn="l" indent="0" marL="0">
                        <a:buNone/>
                      </a:pPr>
                      <a:r>
                        <a:rPr lang="en-US" sz="1300" b="1" dirty="0">
                          <a:solidFill>
                            <a:srgbClr val="FFFFFF"/>
                          </a:solidFill>
                        </a:rPr>
                        <a:t>Resource</a:t>
                      </a:r>
                      <a:endParaRPr lang="en-US" sz="1300" dirty="0"/>
                    </a:p>
                  </a:txBody>
                  <a:tcPr marL="101600" marR="101600" marT="50800" marB="50800" anchor="ctr">
                    <a:lnL w="9525" cap="flat" cmpd="sng" algn="ctr">
                      <a:solidFill>
                        <a:srgbClr val="D7E3E8"/>
                      </a:solidFill>
                      <a:prstDash val="solid"/>
                      <a:round/>
                      <a:headEnd type="none" w="med" len="med"/>
                      <a:tailEnd type="none" w="med" len="med"/>
                    </a:lnL>
                    <a:lnR w="9525" cap="flat" cmpd="sng" algn="ctr">
                      <a:solidFill>
                        <a:srgbClr val="D7E3E8"/>
                      </a:solidFill>
                      <a:prstDash val="solid"/>
                      <a:round/>
                      <a:headEnd type="none" w="med" len="med"/>
                      <a:tailEnd type="none" w="med" len="med"/>
                    </a:lnR>
                    <a:lnT w="9525" cap="flat" cmpd="sng" algn="ctr">
                      <a:solidFill>
                        <a:srgbClr val="D7E3E8"/>
                      </a:solidFill>
                      <a:prstDash val="solid"/>
                      <a:round/>
                      <a:headEnd type="none" w="med" len="med"/>
                      <a:tailEnd type="none" w="med" len="med"/>
                    </a:lnT>
                    <a:lnB w="9525" cap="flat" cmpd="sng" algn="ctr">
                      <a:solidFill>
                        <a:srgbClr val="D7E3E8"/>
                      </a:solidFill>
                      <a:prstDash val="solid"/>
                      <a:round/>
                      <a:headEnd type="none" w="med" len="med"/>
                      <a:tailEnd type="none" w="med" len="med"/>
                    </a:lnB>
                    <a:solidFill>
                      <a:srgbClr val="065A82"/>
                    </a:solidFill>
                  </a:tcPr>
                </a:tc>
                <a:tc>
                  <a:txBody>
                    <a:bodyPr/>
                    <a:lstStyle/>
                    <a:p>
                      <a:pPr algn="l" indent="0" marL="0">
                        <a:buNone/>
                      </a:pPr>
                      <a:r>
                        <a:rPr lang="en-US" sz="1300" b="1" dirty="0">
                          <a:solidFill>
                            <a:srgbClr val="FFFFFF"/>
                          </a:solidFill>
                        </a:rPr>
                        <a:t>Owned By</a:t>
                      </a:r>
                      <a:endParaRPr lang="en-US" sz="1300" dirty="0"/>
                    </a:p>
                  </a:txBody>
                  <a:tcPr marL="101600" marR="101600" marT="50800" marB="50800" anchor="ctr">
                    <a:lnL w="9525" cap="flat" cmpd="sng" algn="ctr">
                      <a:solidFill>
                        <a:srgbClr val="D7E3E8"/>
                      </a:solidFill>
                      <a:prstDash val="solid"/>
                      <a:round/>
                      <a:headEnd type="none" w="med" len="med"/>
                      <a:tailEnd type="none" w="med" len="med"/>
                    </a:lnL>
                    <a:lnR w="9525" cap="flat" cmpd="sng" algn="ctr">
                      <a:solidFill>
                        <a:srgbClr val="D7E3E8"/>
                      </a:solidFill>
                      <a:prstDash val="solid"/>
                      <a:round/>
                      <a:headEnd type="none" w="med" len="med"/>
                      <a:tailEnd type="none" w="med" len="med"/>
                    </a:lnR>
                    <a:lnT w="9525" cap="flat" cmpd="sng" algn="ctr">
                      <a:solidFill>
                        <a:srgbClr val="D7E3E8"/>
                      </a:solidFill>
                      <a:prstDash val="solid"/>
                      <a:round/>
                      <a:headEnd type="none" w="med" len="med"/>
                      <a:tailEnd type="none" w="med" len="med"/>
                    </a:lnT>
                    <a:lnB w="9525" cap="flat" cmpd="sng" algn="ctr">
                      <a:solidFill>
                        <a:srgbClr val="D7E3E8"/>
                      </a:solidFill>
                      <a:prstDash val="solid"/>
                      <a:round/>
                      <a:headEnd type="none" w="med" len="med"/>
                      <a:tailEnd type="none" w="med" len="med"/>
                    </a:lnB>
                    <a:solidFill>
                      <a:srgbClr val="065A82"/>
                    </a:solidFill>
                  </a:tcPr>
                </a:tc>
                <a:tc>
                  <a:txBody>
                    <a:bodyPr/>
                    <a:lstStyle/>
                    <a:p>
                      <a:pPr algn="l" indent="0" marL="0">
                        <a:buNone/>
                      </a:pPr>
                      <a:r>
                        <a:rPr lang="en-US" sz="1300" b="1" dirty="0">
                          <a:solidFill>
                            <a:srgbClr val="FFFFFF"/>
                          </a:solidFill>
                        </a:rPr>
                        <a:t>Purpose</a:t>
                      </a:r>
                      <a:endParaRPr lang="en-US" sz="1300" dirty="0"/>
                    </a:p>
                  </a:txBody>
                  <a:tcPr marL="101600" marR="101600" marT="50800" marB="50800" anchor="ctr">
                    <a:lnL w="9525" cap="flat" cmpd="sng" algn="ctr">
                      <a:solidFill>
                        <a:srgbClr val="D7E3E8"/>
                      </a:solidFill>
                      <a:prstDash val="solid"/>
                      <a:round/>
                      <a:headEnd type="none" w="med" len="med"/>
                      <a:tailEnd type="none" w="med" len="med"/>
                    </a:lnL>
                    <a:lnR w="9525" cap="flat" cmpd="sng" algn="ctr">
                      <a:solidFill>
                        <a:srgbClr val="D7E3E8"/>
                      </a:solidFill>
                      <a:prstDash val="solid"/>
                      <a:round/>
                      <a:headEnd type="none" w="med" len="med"/>
                      <a:tailEnd type="none" w="med" len="med"/>
                    </a:lnR>
                    <a:lnT w="9525" cap="flat" cmpd="sng" algn="ctr">
                      <a:solidFill>
                        <a:srgbClr val="D7E3E8"/>
                      </a:solidFill>
                      <a:prstDash val="solid"/>
                      <a:round/>
                      <a:headEnd type="none" w="med" len="med"/>
                      <a:tailEnd type="none" w="med" len="med"/>
                    </a:lnT>
                    <a:lnB w="9525" cap="flat" cmpd="sng" algn="ctr">
                      <a:solidFill>
                        <a:srgbClr val="D7E3E8"/>
                      </a:solidFill>
                      <a:prstDash val="solid"/>
                      <a:round/>
                      <a:headEnd type="none" w="med" len="med"/>
                      <a:tailEnd type="none" w="med" len="med"/>
                    </a:lnB>
                    <a:solidFill>
                      <a:srgbClr val="065A82"/>
                    </a:solidFill>
                  </a:tcPr>
                </a:tc>
              </a:tr>
              <a:tr h="0">
                <a:tc>
                  <a:txBody>
                    <a:bodyPr/>
                    <a:lstStyle/>
                    <a:p>
                      <a:pPr algn="l" indent="0" marL="0">
                        <a:buNone/>
                      </a:pPr>
                      <a:r>
                        <a:rPr lang="en-US" sz="1250" dirty="0">
                          <a:solidFill>
                            <a:srgbClr val="1E293B"/>
                          </a:solidFill>
                        </a:rPr>
                        <a:t>GatewayClass</a:t>
                      </a:r>
                      <a:endParaRPr lang="en-US" sz="1250" dirty="0"/>
                    </a:p>
                  </a:txBody>
                  <a:tcPr marL="101600" marR="101600" marT="50800" marB="50800" anchor="ctr">
                    <a:lnL w="9525" cap="flat" cmpd="sng" algn="ctr">
                      <a:solidFill>
                        <a:srgbClr val="D7E3E8"/>
                      </a:solidFill>
                      <a:prstDash val="solid"/>
                      <a:round/>
                      <a:headEnd type="none" w="med" len="med"/>
                      <a:tailEnd type="none" w="med" len="med"/>
                    </a:lnL>
                    <a:lnR w="9525" cap="flat" cmpd="sng" algn="ctr">
                      <a:solidFill>
                        <a:srgbClr val="D7E3E8"/>
                      </a:solidFill>
                      <a:prstDash val="solid"/>
                      <a:round/>
                      <a:headEnd type="none" w="med" len="med"/>
                      <a:tailEnd type="none" w="med" len="med"/>
                    </a:lnR>
                    <a:lnT w="9525" cap="flat" cmpd="sng" algn="ctr">
                      <a:solidFill>
                        <a:srgbClr val="D7E3E8"/>
                      </a:solidFill>
                      <a:prstDash val="solid"/>
                      <a:round/>
                      <a:headEnd type="none" w="med" len="med"/>
                      <a:tailEnd type="none" w="med" len="med"/>
                    </a:lnT>
                    <a:lnB w="9525" cap="flat" cmpd="sng" algn="ctr">
                      <a:solidFill>
                        <a:srgbClr val="D7E3E8"/>
                      </a:solidFill>
                      <a:prstDash val="solid"/>
                      <a:round/>
                      <a:headEnd type="none" w="med" len="med"/>
                      <a:tailEnd type="none" w="med" len="med"/>
                    </a:lnB>
                    <a:solidFill>
                      <a:srgbClr val="FFFFFF"/>
                    </a:solidFill>
                  </a:tcPr>
                </a:tc>
                <a:tc>
                  <a:txBody>
                    <a:bodyPr/>
                    <a:lstStyle/>
                    <a:p>
                      <a:pPr algn="l" indent="0" marL="0">
                        <a:buNone/>
                      </a:pPr>
                      <a:r>
                        <a:rPr lang="en-US" sz="1250" dirty="0">
                          <a:solidFill>
                            <a:srgbClr val="1E293B"/>
                          </a:solidFill>
                        </a:rPr>
                        <a:t>Cluster/infra admin</a:t>
                      </a:r>
                      <a:endParaRPr lang="en-US" sz="1250" dirty="0"/>
                    </a:p>
                  </a:txBody>
                  <a:tcPr marL="101600" marR="101600" marT="50800" marB="50800" anchor="ctr">
                    <a:lnL w="9525" cap="flat" cmpd="sng" algn="ctr">
                      <a:solidFill>
                        <a:srgbClr val="D7E3E8"/>
                      </a:solidFill>
                      <a:prstDash val="solid"/>
                      <a:round/>
                      <a:headEnd type="none" w="med" len="med"/>
                      <a:tailEnd type="none" w="med" len="med"/>
                    </a:lnL>
                    <a:lnR w="9525" cap="flat" cmpd="sng" algn="ctr">
                      <a:solidFill>
                        <a:srgbClr val="D7E3E8"/>
                      </a:solidFill>
                      <a:prstDash val="solid"/>
                      <a:round/>
                      <a:headEnd type="none" w="med" len="med"/>
                      <a:tailEnd type="none" w="med" len="med"/>
                    </a:lnR>
                    <a:lnT w="9525" cap="flat" cmpd="sng" algn="ctr">
                      <a:solidFill>
                        <a:srgbClr val="D7E3E8"/>
                      </a:solidFill>
                      <a:prstDash val="solid"/>
                      <a:round/>
                      <a:headEnd type="none" w="med" len="med"/>
                      <a:tailEnd type="none" w="med" len="med"/>
                    </a:lnT>
                    <a:lnB w="9525" cap="flat" cmpd="sng" algn="ctr">
                      <a:solidFill>
                        <a:srgbClr val="D7E3E8"/>
                      </a:solidFill>
                      <a:prstDash val="solid"/>
                      <a:round/>
                      <a:headEnd type="none" w="med" len="med"/>
                      <a:tailEnd type="none" w="med" len="med"/>
                    </a:lnB>
                    <a:solidFill>
                      <a:srgbClr val="FFFFFF"/>
                    </a:solidFill>
                  </a:tcPr>
                </a:tc>
                <a:tc>
                  <a:txBody>
                    <a:bodyPr/>
                    <a:lstStyle/>
                    <a:p>
                      <a:pPr algn="l" indent="0" marL="0">
                        <a:buNone/>
                      </a:pPr>
                      <a:r>
                        <a:rPr lang="en-US" sz="1250" dirty="0">
                          <a:solidFill>
                            <a:srgbClr val="1E293B"/>
                          </a:solidFill>
                        </a:rPr>
                        <a:t>Defines a class of load balancer implementation (cluster-scoped, like StorageClass)</a:t>
                      </a:r>
                      <a:endParaRPr lang="en-US" sz="1250" dirty="0"/>
                    </a:p>
                  </a:txBody>
                  <a:tcPr marL="101600" marR="101600" marT="50800" marB="50800" anchor="ctr">
                    <a:lnL w="9525" cap="flat" cmpd="sng" algn="ctr">
                      <a:solidFill>
                        <a:srgbClr val="D7E3E8"/>
                      </a:solidFill>
                      <a:prstDash val="solid"/>
                      <a:round/>
                      <a:headEnd type="none" w="med" len="med"/>
                      <a:tailEnd type="none" w="med" len="med"/>
                    </a:lnL>
                    <a:lnR w="9525" cap="flat" cmpd="sng" algn="ctr">
                      <a:solidFill>
                        <a:srgbClr val="D7E3E8"/>
                      </a:solidFill>
                      <a:prstDash val="solid"/>
                      <a:round/>
                      <a:headEnd type="none" w="med" len="med"/>
                      <a:tailEnd type="none" w="med" len="med"/>
                    </a:lnR>
                    <a:lnT w="9525" cap="flat" cmpd="sng" algn="ctr">
                      <a:solidFill>
                        <a:srgbClr val="D7E3E8"/>
                      </a:solidFill>
                      <a:prstDash val="solid"/>
                      <a:round/>
                      <a:headEnd type="none" w="med" len="med"/>
                      <a:tailEnd type="none" w="med" len="med"/>
                    </a:lnT>
                    <a:lnB w="9525" cap="flat" cmpd="sng" algn="ctr">
                      <a:solidFill>
                        <a:srgbClr val="D7E3E8"/>
                      </a:solidFill>
                      <a:prstDash val="solid"/>
                      <a:round/>
                      <a:headEnd type="none" w="med" len="med"/>
                      <a:tailEnd type="none" w="med" len="med"/>
                    </a:lnB>
                    <a:solidFill>
                      <a:srgbClr val="FFFFFF"/>
                    </a:solidFill>
                  </a:tcPr>
                </a:tc>
              </a:tr>
              <a:tr h="0">
                <a:tc>
                  <a:txBody>
                    <a:bodyPr/>
                    <a:lstStyle/>
                    <a:p>
                      <a:pPr algn="l" indent="0" marL="0">
                        <a:buNone/>
                      </a:pPr>
                      <a:r>
                        <a:rPr lang="en-US" sz="1250" dirty="0">
                          <a:solidFill>
                            <a:srgbClr val="1E293B"/>
                          </a:solidFill>
                        </a:rPr>
                        <a:t>Gateway</a:t>
                      </a:r>
                      <a:endParaRPr lang="en-US" sz="1250" dirty="0"/>
                    </a:p>
                  </a:txBody>
                  <a:tcPr marL="101600" marR="101600" marT="50800" marB="50800" anchor="ctr">
                    <a:lnL w="9525" cap="flat" cmpd="sng" algn="ctr">
                      <a:solidFill>
                        <a:srgbClr val="D7E3E8"/>
                      </a:solidFill>
                      <a:prstDash val="solid"/>
                      <a:round/>
                      <a:headEnd type="none" w="med" len="med"/>
                      <a:tailEnd type="none" w="med" len="med"/>
                    </a:lnL>
                    <a:lnR w="9525" cap="flat" cmpd="sng" algn="ctr">
                      <a:solidFill>
                        <a:srgbClr val="D7E3E8"/>
                      </a:solidFill>
                      <a:prstDash val="solid"/>
                      <a:round/>
                      <a:headEnd type="none" w="med" len="med"/>
                      <a:tailEnd type="none" w="med" len="med"/>
                    </a:lnR>
                    <a:lnT w="9525" cap="flat" cmpd="sng" algn="ctr">
                      <a:solidFill>
                        <a:srgbClr val="D7E3E8"/>
                      </a:solidFill>
                      <a:prstDash val="solid"/>
                      <a:round/>
                      <a:headEnd type="none" w="med" len="med"/>
                      <a:tailEnd type="none" w="med" len="med"/>
                    </a:lnT>
                    <a:lnB w="9525" cap="flat" cmpd="sng" algn="ctr">
                      <a:solidFill>
                        <a:srgbClr val="D7E3E8"/>
                      </a:solidFill>
                      <a:prstDash val="solid"/>
                      <a:round/>
                      <a:headEnd type="none" w="med" len="med"/>
                      <a:tailEnd type="none" w="med" len="med"/>
                    </a:lnB>
                    <a:solidFill>
                      <a:srgbClr val="EAF4F8"/>
                    </a:solidFill>
                  </a:tcPr>
                </a:tc>
                <a:tc>
                  <a:txBody>
                    <a:bodyPr/>
                    <a:lstStyle/>
                    <a:p>
                      <a:pPr algn="l" indent="0" marL="0">
                        <a:buNone/>
                      </a:pPr>
                      <a:r>
                        <a:rPr lang="en-US" sz="1250" dirty="0">
                          <a:solidFill>
                            <a:srgbClr val="1E293B"/>
                          </a:solidFill>
                        </a:rPr>
                        <a:t>Infra/platform team</a:t>
                      </a:r>
                      <a:endParaRPr lang="en-US" sz="1250" dirty="0"/>
                    </a:p>
                  </a:txBody>
                  <a:tcPr marL="101600" marR="101600" marT="50800" marB="50800" anchor="ctr">
                    <a:lnL w="9525" cap="flat" cmpd="sng" algn="ctr">
                      <a:solidFill>
                        <a:srgbClr val="D7E3E8"/>
                      </a:solidFill>
                      <a:prstDash val="solid"/>
                      <a:round/>
                      <a:headEnd type="none" w="med" len="med"/>
                      <a:tailEnd type="none" w="med" len="med"/>
                    </a:lnL>
                    <a:lnR w="9525" cap="flat" cmpd="sng" algn="ctr">
                      <a:solidFill>
                        <a:srgbClr val="D7E3E8"/>
                      </a:solidFill>
                      <a:prstDash val="solid"/>
                      <a:round/>
                      <a:headEnd type="none" w="med" len="med"/>
                      <a:tailEnd type="none" w="med" len="med"/>
                    </a:lnR>
                    <a:lnT w="9525" cap="flat" cmpd="sng" algn="ctr">
                      <a:solidFill>
                        <a:srgbClr val="D7E3E8"/>
                      </a:solidFill>
                      <a:prstDash val="solid"/>
                      <a:round/>
                      <a:headEnd type="none" w="med" len="med"/>
                      <a:tailEnd type="none" w="med" len="med"/>
                    </a:lnT>
                    <a:lnB w="9525" cap="flat" cmpd="sng" algn="ctr">
                      <a:solidFill>
                        <a:srgbClr val="D7E3E8"/>
                      </a:solidFill>
                      <a:prstDash val="solid"/>
                      <a:round/>
                      <a:headEnd type="none" w="med" len="med"/>
                      <a:tailEnd type="none" w="med" len="med"/>
                    </a:lnB>
                    <a:solidFill>
                      <a:srgbClr val="EAF4F8"/>
                    </a:solidFill>
                  </a:tcPr>
                </a:tc>
                <a:tc>
                  <a:txBody>
                    <a:bodyPr/>
                    <a:lstStyle/>
                    <a:p>
                      <a:pPr algn="l" indent="0" marL="0">
                        <a:buNone/>
                      </a:pPr>
                      <a:r>
                        <a:rPr lang="en-US" sz="1250" dirty="0">
                          <a:solidFill>
                            <a:srgbClr val="1E293B"/>
                          </a:solidFill>
                        </a:rPr>
                        <a:t>An actual listener — binds to an IP/port, references a GatewayClass, terminates TLS</a:t>
                      </a:r>
                      <a:endParaRPr lang="en-US" sz="1250" dirty="0"/>
                    </a:p>
                  </a:txBody>
                  <a:tcPr marL="101600" marR="101600" marT="50800" marB="50800" anchor="ctr">
                    <a:lnL w="9525" cap="flat" cmpd="sng" algn="ctr">
                      <a:solidFill>
                        <a:srgbClr val="D7E3E8"/>
                      </a:solidFill>
                      <a:prstDash val="solid"/>
                      <a:round/>
                      <a:headEnd type="none" w="med" len="med"/>
                      <a:tailEnd type="none" w="med" len="med"/>
                    </a:lnL>
                    <a:lnR w="9525" cap="flat" cmpd="sng" algn="ctr">
                      <a:solidFill>
                        <a:srgbClr val="D7E3E8"/>
                      </a:solidFill>
                      <a:prstDash val="solid"/>
                      <a:round/>
                      <a:headEnd type="none" w="med" len="med"/>
                      <a:tailEnd type="none" w="med" len="med"/>
                    </a:lnR>
                    <a:lnT w="9525" cap="flat" cmpd="sng" algn="ctr">
                      <a:solidFill>
                        <a:srgbClr val="D7E3E8"/>
                      </a:solidFill>
                      <a:prstDash val="solid"/>
                      <a:round/>
                      <a:headEnd type="none" w="med" len="med"/>
                      <a:tailEnd type="none" w="med" len="med"/>
                    </a:lnT>
                    <a:lnB w="9525" cap="flat" cmpd="sng" algn="ctr">
                      <a:solidFill>
                        <a:srgbClr val="D7E3E8"/>
                      </a:solidFill>
                      <a:prstDash val="solid"/>
                      <a:round/>
                      <a:headEnd type="none" w="med" len="med"/>
                      <a:tailEnd type="none" w="med" len="med"/>
                    </a:lnB>
                    <a:solidFill>
                      <a:srgbClr val="EAF4F8"/>
                    </a:solidFill>
                  </a:tcPr>
                </a:tc>
              </a:tr>
              <a:tr h="0">
                <a:tc>
                  <a:txBody>
                    <a:bodyPr/>
                    <a:lstStyle/>
                    <a:p>
                      <a:pPr algn="l" indent="0" marL="0">
                        <a:buNone/>
                      </a:pPr>
                      <a:r>
                        <a:rPr lang="en-US" sz="1250" dirty="0">
                          <a:solidFill>
                            <a:srgbClr val="1E293B"/>
                          </a:solidFill>
                        </a:rPr>
                        <a:t>HTTPRoute</a:t>
                      </a:r>
                      <a:endParaRPr lang="en-US" sz="1250" dirty="0"/>
                    </a:p>
                  </a:txBody>
                  <a:tcPr marL="101600" marR="101600" marT="50800" marB="50800" anchor="ctr">
                    <a:lnL w="9525" cap="flat" cmpd="sng" algn="ctr">
                      <a:solidFill>
                        <a:srgbClr val="D7E3E8"/>
                      </a:solidFill>
                      <a:prstDash val="solid"/>
                      <a:round/>
                      <a:headEnd type="none" w="med" len="med"/>
                      <a:tailEnd type="none" w="med" len="med"/>
                    </a:lnL>
                    <a:lnR w="9525" cap="flat" cmpd="sng" algn="ctr">
                      <a:solidFill>
                        <a:srgbClr val="D7E3E8"/>
                      </a:solidFill>
                      <a:prstDash val="solid"/>
                      <a:round/>
                      <a:headEnd type="none" w="med" len="med"/>
                      <a:tailEnd type="none" w="med" len="med"/>
                    </a:lnR>
                    <a:lnT w="9525" cap="flat" cmpd="sng" algn="ctr">
                      <a:solidFill>
                        <a:srgbClr val="D7E3E8"/>
                      </a:solidFill>
                      <a:prstDash val="solid"/>
                      <a:round/>
                      <a:headEnd type="none" w="med" len="med"/>
                      <a:tailEnd type="none" w="med" len="med"/>
                    </a:lnT>
                    <a:lnB w="9525" cap="flat" cmpd="sng" algn="ctr">
                      <a:solidFill>
                        <a:srgbClr val="D7E3E8"/>
                      </a:solidFill>
                      <a:prstDash val="solid"/>
                      <a:round/>
                      <a:headEnd type="none" w="med" len="med"/>
                      <a:tailEnd type="none" w="med" len="med"/>
                    </a:lnB>
                    <a:solidFill>
                      <a:srgbClr val="FFFFFF"/>
                    </a:solidFill>
                  </a:tcPr>
                </a:tc>
                <a:tc>
                  <a:txBody>
                    <a:bodyPr/>
                    <a:lstStyle/>
                    <a:p>
                      <a:pPr algn="l" indent="0" marL="0">
                        <a:buNone/>
                      </a:pPr>
                      <a:r>
                        <a:rPr lang="en-US" sz="1250" dirty="0">
                          <a:solidFill>
                            <a:srgbClr val="1E293B"/>
                          </a:solidFill>
                        </a:rPr>
                        <a:t>Application team</a:t>
                      </a:r>
                      <a:endParaRPr lang="en-US" sz="1250" dirty="0"/>
                    </a:p>
                  </a:txBody>
                  <a:tcPr marL="101600" marR="101600" marT="50800" marB="50800" anchor="ctr">
                    <a:lnL w="9525" cap="flat" cmpd="sng" algn="ctr">
                      <a:solidFill>
                        <a:srgbClr val="D7E3E8"/>
                      </a:solidFill>
                      <a:prstDash val="solid"/>
                      <a:round/>
                      <a:headEnd type="none" w="med" len="med"/>
                      <a:tailEnd type="none" w="med" len="med"/>
                    </a:lnL>
                    <a:lnR w="9525" cap="flat" cmpd="sng" algn="ctr">
                      <a:solidFill>
                        <a:srgbClr val="D7E3E8"/>
                      </a:solidFill>
                      <a:prstDash val="solid"/>
                      <a:round/>
                      <a:headEnd type="none" w="med" len="med"/>
                      <a:tailEnd type="none" w="med" len="med"/>
                    </a:lnR>
                    <a:lnT w="9525" cap="flat" cmpd="sng" algn="ctr">
                      <a:solidFill>
                        <a:srgbClr val="D7E3E8"/>
                      </a:solidFill>
                      <a:prstDash val="solid"/>
                      <a:round/>
                      <a:headEnd type="none" w="med" len="med"/>
                      <a:tailEnd type="none" w="med" len="med"/>
                    </a:lnT>
                    <a:lnB w="9525" cap="flat" cmpd="sng" algn="ctr">
                      <a:solidFill>
                        <a:srgbClr val="D7E3E8"/>
                      </a:solidFill>
                      <a:prstDash val="solid"/>
                      <a:round/>
                      <a:headEnd type="none" w="med" len="med"/>
                      <a:tailEnd type="none" w="med" len="med"/>
                    </a:lnB>
                    <a:solidFill>
                      <a:srgbClr val="FFFFFF"/>
                    </a:solidFill>
                  </a:tcPr>
                </a:tc>
                <a:tc>
                  <a:txBody>
                    <a:bodyPr/>
                    <a:lstStyle/>
                    <a:p>
                      <a:pPr algn="l" indent="0" marL="0">
                        <a:buNone/>
                      </a:pPr>
                      <a:r>
                        <a:rPr lang="en-US" sz="1250" dirty="0">
                          <a:solidFill>
                            <a:srgbClr val="1E293B"/>
                          </a:solidFill>
                        </a:rPr>
                        <a:t>Routes traffic from a Gateway to backend Services, by host/path/header rules</a:t>
                      </a:r>
                      <a:endParaRPr lang="en-US" sz="1250" dirty="0"/>
                    </a:p>
                  </a:txBody>
                  <a:tcPr marL="101600" marR="101600" marT="50800" marB="50800" anchor="ctr">
                    <a:lnL w="9525" cap="flat" cmpd="sng" algn="ctr">
                      <a:solidFill>
                        <a:srgbClr val="D7E3E8"/>
                      </a:solidFill>
                      <a:prstDash val="solid"/>
                      <a:round/>
                      <a:headEnd type="none" w="med" len="med"/>
                      <a:tailEnd type="none" w="med" len="med"/>
                    </a:lnL>
                    <a:lnR w="9525" cap="flat" cmpd="sng" algn="ctr">
                      <a:solidFill>
                        <a:srgbClr val="D7E3E8"/>
                      </a:solidFill>
                      <a:prstDash val="solid"/>
                      <a:round/>
                      <a:headEnd type="none" w="med" len="med"/>
                      <a:tailEnd type="none" w="med" len="med"/>
                    </a:lnR>
                    <a:lnT w="9525" cap="flat" cmpd="sng" algn="ctr">
                      <a:solidFill>
                        <a:srgbClr val="D7E3E8"/>
                      </a:solidFill>
                      <a:prstDash val="solid"/>
                      <a:round/>
                      <a:headEnd type="none" w="med" len="med"/>
                      <a:tailEnd type="none" w="med" len="med"/>
                    </a:lnT>
                    <a:lnB w="9525" cap="flat" cmpd="sng" algn="ctr">
                      <a:solidFill>
                        <a:srgbClr val="D7E3E8"/>
                      </a:solidFill>
                      <a:prstDash val="solid"/>
                      <a:round/>
                      <a:headEnd type="none" w="med" len="med"/>
                      <a:tailEnd type="none" w="med" len="med"/>
                    </a:lnB>
                    <a:solidFill>
                      <a:srgbClr val="FFFFFF"/>
                    </a:solidFill>
                  </a:tcPr>
                </a:tc>
              </a:tr>
            </a:tbl>
          </a:graphicData>
        </a:graphic>
      </p:graphicFrame>
      <p:sp>
        <p:nvSpPr>
          <p:cNvPr id="5" name="Text 2"/>
          <p:cNvSpPr/>
          <p:nvPr/>
        </p:nvSpPr>
        <p:spPr>
          <a:xfrm>
            <a:off x="457200" y="6446520"/>
            <a:ext cx="6400800" cy="27432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CKA v1.36 · Module 2</a:t>
            </a:r>
            <a:endParaRPr lang="en-US" sz="900" dirty="0"/>
          </a:p>
        </p:txBody>
      </p:sp>
      <p:sp>
        <p:nvSpPr>
          <p:cNvPr id="6" name="Text 3"/>
          <p:cNvSpPr/>
          <p:nvPr/>
        </p:nvSpPr>
        <p:spPr>
          <a:xfrm>
            <a:off x="11247120" y="6446520"/>
            <a:ext cx="4572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43</a:t>
            </a:r>
            <a:endParaRPr lang="en-US" sz="9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65760"/>
            <a:ext cx="9144000" cy="320040"/>
          </a:xfrm>
          <a:prstGeom prst="rect">
            <a:avLst/>
          </a:prstGeom>
          <a:noFill/>
          <a:ln/>
        </p:spPr>
        <p:txBody>
          <a:bodyPr wrap="square" lIns="0" tIns="0" rIns="0" bIns="0" rtlCol="0" anchor="ctr"/>
          <a:lstStyle/>
          <a:p>
            <a:pPr indent="0" marL="0">
              <a:buNone/>
            </a:pPr>
            <a:r>
              <a:rPr lang="en-US" sz="1150" b="1" spc="150" kern="0" dirty="0">
                <a:solidFill>
                  <a:srgbClr val="1C7293"/>
                </a:solidFill>
                <a:latin typeface="Calibri" pitchFamily="34" charset="0"/>
                <a:ea typeface="Calibri" pitchFamily="34" charset="-122"/>
                <a:cs typeface="Calibri" pitchFamily="34" charset="-120"/>
              </a:rPr>
              <a:t>GATEWAY API</a:t>
            </a:r>
            <a:endParaRPr lang="en-US" sz="1150" dirty="0"/>
          </a:p>
        </p:txBody>
      </p:sp>
      <p:sp>
        <p:nvSpPr>
          <p:cNvPr id="3" name="Text 1"/>
          <p:cNvSpPr/>
          <p:nvPr/>
        </p:nvSpPr>
        <p:spPr>
          <a:xfrm>
            <a:off x="640080" y="658368"/>
            <a:ext cx="10881360" cy="548640"/>
          </a:xfrm>
          <a:prstGeom prst="rect">
            <a:avLst/>
          </a:prstGeom>
          <a:noFill/>
          <a:ln/>
        </p:spPr>
        <p:txBody>
          <a:bodyPr wrap="square" lIns="0" tIns="0" rIns="0" bIns="0" rtlCol="0" anchor="ctr"/>
          <a:lstStyle/>
          <a:p>
            <a:pPr indent="0" marL="0">
              <a:buNone/>
            </a:pPr>
            <a:r>
              <a:rPr lang="en-US" sz="2400" b="1" dirty="0">
                <a:solidFill>
                  <a:srgbClr val="21295C"/>
                </a:solidFill>
                <a:latin typeface="Cambria" pitchFamily="34" charset="0"/>
                <a:ea typeface="Cambria" pitchFamily="34" charset="-122"/>
                <a:cs typeface="Cambria" pitchFamily="34" charset="-120"/>
              </a:rPr>
              <a:t>A Minimal Gateway + HTTPRoute</a:t>
            </a:r>
            <a:endParaRPr lang="en-US" sz="2400" dirty="0"/>
          </a:p>
        </p:txBody>
      </p:sp>
      <p:sp>
        <p:nvSpPr>
          <p:cNvPr id="4" name="Shape 2"/>
          <p:cNvSpPr/>
          <p:nvPr/>
        </p:nvSpPr>
        <p:spPr>
          <a:xfrm>
            <a:off x="640080" y="1371600"/>
            <a:ext cx="10881360" cy="4023360"/>
          </a:xfrm>
          <a:prstGeom prst="roundRect">
            <a:avLst>
              <a:gd name="adj" fmla="val 1364"/>
            </a:avLst>
          </a:prstGeom>
          <a:solidFill>
            <a:srgbClr val="0B2330"/>
          </a:solidFill>
          <a:ln/>
          <a:effectLst>
            <a:outerShdw sx="100000" sy="100000" kx="0" ky="0" algn="bl" rotWithShape="0" blurRad="88900" dist="25400" dir="2700000">
              <a:srgbClr val="1B2A36">
                <a:alpha val="12000"/>
              </a:srgbClr>
            </a:outerShdw>
          </a:effectLst>
        </p:spPr>
      </p:sp>
      <p:sp>
        <p:nvSpPr>
          <p:cNvPr id="5" name="Text 3"/>
          <p:cNvSpPr/>
          <p:nvPr/>
        </p:nvSpPr>
        <p:spPr>
          <a:xfrm>
            <a:off x="868680" y="1536192"/>
            <a:ext cx="10424160" cy="3694176"/>
          </a:xfrm>
          <a:prstGeom prst="rect">
            <a:avLst/>
          </a:prstGeom>
          <a:noFill/>
          <a:ln/>
        </p:spPr>
        <p:txBody>
          <a:bodyPr wrap="square" lIns="0" tIns="0" rIns="0" bIns="0" rtlCol="0" anchor="t"/>
          <a:lstStyle/>
          <a:p>
            <a:pPr indent="0" marL="0">
              <a:buNone/>
            </a:pPr>
            <a:r>
              <a:rPr lang="en-US" sz="1050" dirty="0">
                <a:solidFill>
                  <a:srgbClr val="CFEFEA"/>
                </a:solidFill>
                <a:latin typeface="Courier New" pitchFamily="34" charset="0"/>
                <a:ea typeface="Courier New" pitchFamily="34" charset="-122"/>
                <a:cs typeface="Courier New" pitchFamily="34" charset="-120"/>
              </a:rPr>
              <a:t>apiVersion: gateway.networking.k8s.io/v1</a:t>
            </a:r>
            <a:endParaRPr lang="en-US" sz="1050" dirty="0"/>
          </a:p>
          <a:p>
            <a:pPr indent="0" marL="0">
              <a:buNone/>
            </a:pPr>
            <a:r>
              <a:rPr lang="en-US" sz="1050" dirty="0">
                <a:solidFill>
                  <a:srgbClr val="CFEFEA"/>
                </a:solidFill>
                <a:latin typeface="Courier New" pitchFamily="34" charset="0"/>
                <a:ea typeface="Courier New" pitchFamily="34" charset="-122"/>
                <a:cs typeface="Courier New" pitchFamily="34" charset="-120"/>
              </a:rPr>
              <a:t>kind: Gateway</a:t>
            </a:r>
            <a:endParaRPr lang="en-US" sz="1050" dirty="0"/>
          </a:p>
          <a:p>
            <a:pPr indent="0" marL="0">
              <a:buNone/>
            </a:pPr>
            <a:r>
              <a:rPr lang="en-US" sz="1050" dirty="0">
                <a:solidFill>
                  <a:srgbClr val="CFEFEA"/>
                </a:solidFill>
                <a:latin typeface="Courier New" pitchFamily="34" charset="0"/>
                <a:ea typeface="Courier New" pitchFamily="34" charset="-122"/>
                <a:cs typeface="Courier New" pitchFamily="34" charset="-120"/>
              </a:rPr>
              <a:t>metadata: { name: web-gateway }</a:t>
            </a:r>
            <a:endParaRPr lang="en-US" sz="1050" dirty="0"/>
          </a:p>
          <a:p>
            <a:pPr indent="0" marL="0">
              <a:buNone/>
            </a:pPr>
            <a:r>
              <a:rPr lang="en-US" sz="1050" dirty="0">
                <a:solidFill>
                  <a:srgbClr val="CFEFEA"/>
                </a:solidFill>
                <a:latin typeface="Courier New" pitchFamily="34" charset="0"/>
                <a:ea typeface="Courier New" pitchFamily="34" charset="-122"/>
                <a:cs typeface="Courier New" pitchFamily="34" charset="-120"/>
              </a:rPr>
              <a:t>spec:</a:t>
            </a:r>
            <a:endParaRPr lang="en-US" sz="1050" dirty="0"/>
          </a:p>
          <a:p>
            <a:pPr indent="0" marL="0">
              <a:buNone/>
            </a:pPr>
            <a:r>
              <a:rPr lang="en-US" sz="1050" dirty="0">
                <a:solidFill>
                  <a:srgbClr val="CFEFEA"/>
                </a:solidFill>
                <a:latin typeface="Courier New" pitchFamily="34" charset="0"/>
                <a:ea typeface="Courier New" pitchFamily="34" charset="-122"/>
                <a:cs typeface="Courier New" pitchFamily="34" charset="-120"/>
              </a:rPr>
              <a:t>  gatewayClassName: nginx</a:t>
            </a:r>
            <a:endParaRPr lang="en-US" sz="1050" dirty="0"/>
          </a:p>
          <a:p>
            <a:pPr indent="0" marL="0">
              <a:buNone/>
            </a:pPr>
            <a:r>
              <a:rPr lang="en-US" sz="1050" dirty="0">
                <a:solidFill>
                  <a:srgbClr val="CFEFEA"/>
                </a:solidFill>
                <a:latin typeface="Courier New" pitchFamily="34" charset="0"/>
                <a:ea typeface="Courier New" pitchFamily="34" charset="-122"/>
                <a:cs typeface="Courier New" pitchFamily="34" charset="-120"/>
              </a:rPr>
              <a:t>  listeners:</a:t>
            </a:r>
            <a:endParaRPr lang="en-US" sz="1050" dirty="0"/>
          </a:p>
          <a:p>
            <a:pPr indent="0" marL="0">
              <a:buNone/>
            </a:pPr>
            <a:r>
              <a:rPr lang="en-US" sz="1050" dirty="0">
                <a:solidFill>
                  <a:srgbClr val="CFEFEA"/>
                </a:solidFill>
                <a:latin typeface="Courier New" pitchFamily="34" charset="0"/>
                <a:ea typeface="Courier New" pitchFamily="34" charset="-122"/>
                <a:cs typeface="Courier New" pitchFamily="34" charset="-120"/>
              </a:rPr>
              <a:t>  - name: http</a:t>
            </a:r>
            <a:endParaRPr lang="en-US" sz="1050" dirty="0"/>
          </a:p>
          <a:p>
            <a:pPr indent="0" marL="0">
              <a:buNone/>
            </a:pPr>
            <a:r>
              <a:rPr lang="en-US" sz="1050" dirty="0">
                <a:solidFill>
                  <a:srgbClr val="CFEFEA"/>
                </a:solidFill>
                <a:latin typeface="Courier New" pitchFamily="34" charset="0"/>
                <a:ea typeface="Courier New" pitchFamily="34" charset="-122"/>
                <a:cs typeface="Courier New" pitchFamily="34" charset="-120"/>
              </a:rPr>
              <a:t>    port: 80</a:t>
            </a:r>
            <a:endParaRPr lang="en-US" sz="1050" dirty="0"/>
          </a:p>
          <a:p>
            <a:pPr indent="0" marL="0">
              <a:buNone/>
            </a:pPr>
            <a:r>
              <a:rPr lang="en-US" sz="1050" dirty="0">
                <a:solidFill>
                  <a:srgbClr val="CFEFEA"/>
                </a:solidFill>
                <a:latin typeface="Courier New" pitchFamily="34" charset="0"/>
                <a:ea typeface="Courier New" pitchFamily="34" charset="-122"/>
                <a:cs typeface="Courier New" pitchFamily="34" charset="-120"/>
              </a:rPr>
              <a:t>    protocol: HTTP</a:t>
            </a:r>
            <a:endParaRPr lang="en-US" sz="1050" dirty="0"/>
          </a:p>
          <a:p>
            <a:pPr indent="0" marL="0">
              <a:buNone/>
            </a:pPr>
            <a:r>
              <a:rPr lang="en-US" sz="1050" dirty="0">
                <a:solidFill>
                  <a:srgbClr val="CFEFEA"/>
                </a:solidFill>
                <a:latin typeface="Courier New" pitchFamily="34" charset="0"/>
                <a:ea typeface="Courier New" pitchFamily="34" charset="-122"/>
                <a:cs typeface="Courier New" pitchFamily="34" charset="-120"/>
              </a:rPr>
              <a:t>---</a:t>
            </a:r>
            <a:endParaRPr lang="en-US" sz="1050" dirty="0"/>
          </a:p>
          <a:p>
            <a:pPr indent="0" marL="0">
              <a:buNone/>
            </a:pPr>
            <a:r>
              <a:rPr lang="en-US" sz="1050" dirty="0">
                <a:solidFill>
                  <a:srgbClr val="CFEFEA"/>
                </a:solidFill>
                <a:latin typeface="Courier New" pitchFamily="34" charset="0"/>
                <a:ea typeface="Courier New" pitchFamily="34" charset="-122"/>
                <a:cs typeface="Courier New" pitchFamily="34" charset="-120"/>
              </a:rPr>
              <a:t>apiVersion: gateway.networking.k8s.io/v1</a:t>
            </a:r>
            <a:endParaRPr lang="en-US" sz="1050" dirty="0"/>
          </a:p>
          <a:p>
            <a:pPr indent="0" marL="0">
              <a:buNone/>
            </a:pPr>
            <a:r>
              <a:rPr lang="en-US" sz="1050" dirty="0">
                <a:solidFill>
                  <a:srgbClr val="CFEFEA"/>
                </a:solidFill>
                <a:latin typeface="Courier New" pitchFamily="34" charset="0"/>
                <a:ea typeface="Courier New" pitchFamily="34" charset="-122"/>
                <a:cs typeface="Courier New" pitchFamily="34" charset="-120"/>
              </a:rPr>
              <a:t>kind: HTTPRoute</a:t>
            </a:r>
            <a:endParaRPr lang="en-US" sz="1050" dirty="0"/>
          </a:p>
          <a:p>
            <a:pPr indent="0" marL="0">
              <a:buNone/>
            </a:pPr>
            <a:r>
              <a:rPr lang="en-US" sz="1050" dirty="0">
                <a:solidFill>
                  <a:srgbClr val="CFEFEA"/>
                </a:solidFill>
                <a:latin typeface="Courier New" pitchFamily="34" charset="0"/>
                <a:ea typeface="Courier New" pitchFamily="34" charset="-122"/>
                <a:cs typeface="Courier New" pitchFamily="34" charset="-120"/>
              </a:rPr>
              <a:t>metadata: { name: web-route }</a:t>
            </a:r>
            <a:endParaRPr lang="en-US" sz="1050" dirty="0"/>
          </a:p>
          <a:p>
            <a:pPr indent="0" marL="0">
              <a:buNone/>
            </a:pPr>
            <a:r>
              <a:rPr lang="en-US" sz="1050" dirty="0">
                <a:solidFill>
                  <a:srgbClr val="CFEFEA"/>
                </a:solidFill>
                <a:latin typeface="Courier New" pitchFamily="34" charset="0"/>
                <a:ea typeface="Courier New" pitchFamily="34" charset="-122"/>
                <a:cs typeface="Courier New" pitchFamily="34" charset="-120"/>
              </a:rPr>
              <a:t>spec:</a:t>
            </a:r>
            <a:endParaRPr lang="en-US" sz="1050" dirty="0"/>
          </a:p>
          <a:p>
            <a:pPr indent="0" marL="0">
              <a:buNone/>
            </a:pPr>
            <a:r>
              <a:rPr lang="en-US" sz="1050" dirty="0">
                <a:solidFill>
                  <a:srgbClr val="CFEFEA"/>
                </a:solidFill>
                <a:latin typeface="Courier New" pitchFamily="34" charset="0"/>
                <a:ea typeface="Courier New" pitchFamily="34" charset="-122"/>
                <a:cs typeface="Courier New" pitchFamily="34" charset="-120"/>
              </a:rPr>
              <a:t>  parentRefs:</a:t>
            </a:r>
            <a:endParaRPr lang="en-US" sz="1050" dirty="0"/>
          </a:p>
          <a:p>
            <a:pPr indent="0" marL="0">
              <a:buNone/>
            </a:pPr>
            <a:r>
              <a:rPr lang="en-US" sz="1050" dirty="0">
                <a:solidFill>
                  <a:srgbClr val="CFEFEA"/>
                </a:solidFill>
                <a:latin typeface="Courier New" pitchFamily="34" charset="0"/>
                <a:ea typeface="Courier New" pitchFamily="34" charset="-122"/>
                <a:cs typeface="Courier New" pitchFamily="34" charset="-120"/>
              </a:rPr>
              <a:t>  - name: web-gateway</a:t>
            </a:r>
            <a:endParaRPr lang="en-US" sz="1050" dirty="0"/>
          </a:p>
          <a:p>
            <a:pPr indent="0" marL="0">
              <a:buNone/>
            </a:pPr>
            <a:r>
              <a:rPr lang="en-US" sz="1050" dirty="0">
                <a:solidFill>
                  <a:srgbClr val="CFEFEA"/>
                </a:solidFill>
                <a:latin typeface="Courier New" pitchFamily="34" charset="0"/>
                <a:ea typeface="Courier New" pitchFamily="34" charset="-122"/>
                <a:cs typeface="Courier New" pitchFamily="34" charset="-120"/>
              </a:rPr>
              <a:t>  rules:</a:t>
            </a:r>
            <a:endParaRPr lang="en-US" sz="1050" dirty="0"/>
          </a:p>
          <a:p>
            <a:pPr indent="0" marL="0">
              <a:buNone/>
            </a:pPr>
            <a:r>
              <a:rPr lang="en-US" sz="1050" dirty="0">
                <a:solidFill>
                  <a:srgbClr val="CFEFEA"/>
                </a:solidFill>
                <a:latin typeface="Courier New" pitchFamily="34" charset="0"/>
                <a:ea typeface="Courier New" pitchFamily="34" charset="-122"/>
                <a:cs typeface="Courier New" pitchFamily="34" charset="-120"/>
              </a:rPr>
              <a:t>  - matches:</a:t>
            </a:r>
            <a:endParaRPr lang="en-US" sz="1050" dirty="0"/>
          </a:p>
          <a:p>
            <a:pPr indent="0" marL="0">
              <a:buNone/>
            </a:pPr>
            <a:r>
              <a:rPr lang="en-US" sz="1050" dirty="0">
                <a:solidFill>
                  <a:srgbClr val="CFEFEA"/>
                </a:solidFill>
                <a:latin typeface="Courier New" pitchFamily="34" charset="0"/>
                <a:ea typeface="Courier New" pitchFamily="34" charset="-122"/>
                <a:cs typeface="Courier New" pitchFamily="34" charset="-120"/>
              </a:rPr>
              <a:t>    - path: { type: PathPrefix, value: /app }</a:t>
            </a:r>
            <a:endParaRPr lang="en-US" sz="1050" dirty="0"/>
          </a:p>
          <a:p>
            <a:pPr indent="0" marL="0">
              <a:buNone/>
            </a:pPr>
            <a:r>
              <a:rPr lang="en-US" sz="1050" dirty="0">
                <a:solidFill>
                  <a:srgbClr val="CFEFEA"/>
                </a:solidFill>
                <a:latin typeface="Courier New" pitchFamily="34" charset="0"/>
                <a:ea typeface="Courier New" pitchFamily="34" charset="-122"/>
                <a:cs typeface="Courier New" pitchFamily="34" charset="-120"/>
              </a:rPr>
              <a:t>    backendRefs:</a:t>
            </a:r>
            <a:endParaRPr lang="en-US" sz="1050" dirty="0"/>
          </a:p>
          <a:p>
            <a:pPr indent="0" marL="0">
              <a:buNone/>
            </a:pPr>
            <a:r>
              <a:rPr lang="en-US" sz="1050" dirty="0">
                <a:solidFill>
                  <a:srgbClr val="CFEFEA"/>
                </a:solidFill>
                <a:latin typeface="Courier New" pitchFamily="34" charset="0"/>
                <a:ea typeface="Courier New" pitchFamily="34" charset="-122"/>
                <a:cs typeface="Courier New" pitchFamily="34" charset="-120"/>
              </a:rPr>
              <a:t>    - name: web-app-svc</a:t>
            </a:r>
            <a:endParaRPr lang="en-US" sz="1050" dirty="0"/>
          </a:p>
          <a:p>
            <a:pPr indent="0" marL="0">
              <a:buNone/>
            </a:pPr>
            <a:r>
              <a:rPr lang="en-US" sz="1050" dirty="0">
                <a:solidFill>
                  <a:srgbClr val="CFEFEA"/>
                </a:solidFill>
                <a:latin typeface="Courier New" pitchFamily="34" charset="0"/>
                <a:ea typeface="Courier New" pitchFamily="34" charset="-122"/>
                <a:cs typeface="Courier New" pitchFamily="34" charset="-120"/>
              </a:rPr>
              <a:t>      port: 80</a:t>
            </a:r>
            <a:endParaRPr lang="en-US" sz="1050" dirty="0"/>
          </a:p>
        </p:txBody>
      </p:sp>
      <p:sp>
        <p:nvSpPr>
          <p:cNvPr id="6" name="Text 4"/>
          <p:cNvSpPr/>
          <p:nvPr/>
        </p:nvSpPr>
        <p:spPr>
          <a:xfrm>
            <a:off x="640080" y="5623560"/>
            <a:ext cx="10881360" cy="777240"/>
          </a:xfrm>
          <a:prstGeom prst="rect">
            <a:avLst/>
          </a:prstGeom>
          <a:noFill/>
          <a:ln/>
        </p:spPr>
        <p:txBody>
          <a:bodyPr wrap="square" lIns="0" tIns="0" rIns="0" bIns="0" rtlCol="0" anchor="t"/>
          <a:lstStyle/>
          <a:p>
            <a:pPr marL="342900" indent="-342900">
              <a:spcAft>
                <a:spcPts val="500"/>
              </a:spcAft>
              <a:buSzPct val="100000"/>
              <a:buChar char="•"/>
            </a:pPr>
            <a:r>
              <a:rPr lang="en-US" sz="1200" dirty="0">
                <a:solidFill>
                  <a:srgbClr val="1E293B"/>
                </a:solidFill>
                <a:latin typeface="Calibri" pitchFamily="34" charset="0"/>
                <a:ea typeface="Calibri" pitchFamily="34" charset="-122"/>
                <a:cs typeface="Calibri" pitchFamily="34" charset="-120"/>
              </a:rPr>
              <a:t>parentRefs is how an HTTPRoute attaches itself to a Gateway — this is the key relationship the exam tests understanding of.</a:t>
            </a:r>
            <a:endParaRPr lang="en-US" sz="1200" dirty="0"/>
          </a:p>
          <a:p>
            <a:pPr marL="342900" indent="-342900">
              <a:spcAft>
                <a:spcPts val="500"/>
              </a:spcAft>
              <a:buSzPct val="100000"/>
              <a:buChar char="•"/>
            </a:pPr>
            <a:r>
              <a:rPr lang="en-US" sz="1200" dirty="0">
                <a:solidFill>
                  <a:srgbClr val="1E293B"/>
                </a:solidFill>
                <a:latin typeface="Calibri" pitchFamily="34" charset="0"/>
                <a:ea typeface="Calibri" pitchFamily="34" charset="-122"/>
                <a:cs typeface="Calibri" pitchFamily="34" charset="-120"/>
              </a:rPr>
              <a:t>backendRefs points at a normal ClusterIP Service — Gateway API sits on TOP of Services, it doesn't replace them.</a:t>
            </a:r>
            <a:endParaRPr lang="en-US" sz="1200" dirty="0"/>
          </a:p>
        </p:txBody>
      </p:sp>
      <p:sp>
        <p:nvSpPr>
          <p:cNvPr id="7" name="Text 5"/>
          <p:cNvSpPr/>
          <p:nvPr/>
        </p:nvSpPr>
        <p:spPr>
          <a:xfrm>
            <a:off x="457200" y="6446520"/>
            <a:ext cx="6400800" cy="27432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CKA v1.36 · Module 2</a:t>
            </a:r>
            <a:endParaRPr lang="en-US" sz="900" dirty="0"/>
          </a:p>
        </p:txBody>
      </p:sp>
      <p:sp>
        <p:nvSpPr>
          <p:cNvPr id="8" name="Text 6"/>
          <p:cNvSpPr/>
          <p:nvPr/>
        </p:nvSpPr>
        <p:spPr>
          <a:xfrm>
            <a:off x="11247120" y="6446520"/>
            <a:ext cx="4572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44</a:t>
            </a:r>
            <a:endParaRPr lang="en-US" sz="9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65760"/>
            <a:ext cx="9144000" cy="320040"/>
          </a:xfrm>
          <a:prstGeom prst="rect">
            <a:avLst/>
          </a:prstGeom>
          <a:noFill/>
          <a:ln/>
        </p:spPr>
        <p:txBody>
          <a:bodyPr wrap="square" lIns="0" tIns="0" rIns="0" bIns="0" rtlCol="0" anchor="ctr"/>
          <a:lstStyle/>
          <a:p>
            <a:pPr indent="0" marL="0">
              <a:buNone/>
            </a:pPr>
            <a:r>
              <a:rPr lang="en-US" sz="1150" b="1" spc="150" kern="0" dirty="0">
                <a:solidFill>
                  <a:srgbClr val="1C7293"/>
                </a:solidFill>
                <a:latin typeface="Calibri" pitchFamily="34" charset="0"/>
                <a:ea typeface="Calibri" pitchFamily="34" charset="-122"/>
                <a:cs typeface="Calibri" pitchFamily="34" charset="-120"/>
              </a:rPr>
              <a:t>GATEWAY API</a:t>
            </a:r>
            <a:endParaRPr lang="en-US" sz="1150" dirty="0"/>
          </a:p>
        </p:txBody>
      </p:sp>
      <p:sp>
        <p:nvSpPr>
          <p:cNvPr id="3" name="Text 1"/>
          <p:cNvSpPr/>
          <p:nvPr/>
        </p:nvSpPr>
        <p:spPr>
          <a:xfrm>
            <a:off x="640080" y="658368"/>
            <a:ext cx="10881360" cy="685800"/>
          </a:xfrm>
          <a:prstGeom prst="rect">
            <a:avLst/>
          </a:prstGeom>
          <a:noFill/>
          <a:ln/>
        </p:spPr>
        <p:txBody>
          <a:bodyPr wrap="square" lIns="0" tIns="0" rIns="0" bIns="0" rtlCol="0" anchor="ctr"/>
          <a:lstStyle/>
          <a:p>
            <a:pPr indent="0" marL="0">
              <a:buNone/>
            </a:pPr>
            <a:r>
              <a:rPr lang="en-US" sz="2600" b="1" dirty="0">
                <a:solidFill>
                  <a:srgbClr val="21295C"/>
                </a:solidFill>
                <a:latin typeface="Cambria" pitchFamily="34" charset="0"/>
                <a:ea typeface="Cambria" pitchFamily="34" charset="-122"/>
                <a:cs typeface="Cambria" pitchFamily="34" charset="-120"/>
              </a:rPr>
              <a:t>Weighted Traffic Splitting with HTTPRoute</a:t>
            </a:r>
            <a:endParaRPr lang="en-US" sz="2600" dirty="0"/>
          </a:p>
        </p:txBody>
      </p:sp>
      <p:sp>
        <p:nvSpPr>
          <p:cNvPr id="4" name="Shape 2"/>
          <p:cNvSpPr/>
          <p:nvPr/>
        </p:nvSpPr>
        <p:spPr>
          <a:xfrm>
            <a:off x="640080" y="1371600"/>
            <a:ext cx="10881360" cy="0"/>
          </a:xfrm>
          <a:prstGeom prst="line">
            <a:avLst/>
          </a:prstGeom>
          <a:noFill/>
          <a:ln w="12700">
            <a:solidFill>
              <a:srgbClr val="D7E3E8"/>
            </a:solidFill>
            <a:prstDash val="solid"/>
          </a:ln>
        </p:spPr>
      </p:sp>
      <p:sp>
        <p:nvSpPr>
          <p:cNvPr id="5" name="Shape 3"/>
          <p:cNvSpPr/>
          <p:nvPr/>
        </p:nvSpPr>
        <p:spPr>
          <a:xfrm>
            <a:off x="11109960" y="411480"/>
            <a:ext cx="502920" cy="502920"/>
          </a:xfrm>
          <a:prstGeom prst="ellipse">
            <a:avLst/>
          </a:prstGeom>
          <a:solidFill>
            <a:srgbClr val="EAF4F8"/>
          </a:solidFill>
          <a:ln w="15875">
            <a:solidFill>
              <a:srgbClr val="1C7293"/>
            </a:solidFill>
            <a:prstDash val="solid"/>
          </a:ln>
        </p:spPr>
      </p:sp>
      <p:sp>
        <p:nvSpPr>
          <p:cNvPr id="6" name="Text 4"/>
          <p:cNvSpPr/>
          <p:nvPr/>
        </p:nvSpPr>
        <p:spPr>
          <a:xfrm>
            <a:off x="11109960" y="411480"/>
            <a:ext cx="502920" cy="502920"/>
          </a:xfrm>
          <a:prstGeom prst="rect">
            <a:avLst/>
          </a:prstGeom>
          <a:noFill/>
          <a:ln/>
        </p:spPr>
        <p:txBody>
          <a:bodyPr wrap="square" lIns="0" tIns="0" rIns="0" bIns="0" rtlCol="0" anchor="ctr"/>
          <a:lstStyle/>
          <a:p>
            <a:pPr algn="ctr" indent="0" marL="0">
              <a:buNone/>
            </a:pPr>
            <a:r>
              <a:rPr lang="en-US" sz="1600" b="1" dirty="0">
                <a:solidFill>
                  <a:srgbClr val="1C7293"/>
                </a:solidFill>
                <a:latin typeface="Calibri" pitchFamily="34" charset="0"/>
                <a:ea typeface="Calibri" pitchFamily="34" charset="-122"/>
                <a:cs typeface="Calibri" pitchFamily="34" charset="-120"/>
              </a:rPr>
              <a:t>11</a:t>
            </a:r>
            <a:endParaRPr lang="en-US" sz="1600" dirty="0"/>
          </a:p>
        </p:txBody>
      </p:sp>
      <p:sp>
        <p:nvSpPr>
          <p:cNvPr id="7" name="Text 5"/>
          <p:cNvSpPr/>
          <p:nvPr/>
        </p:nvSpPr>
        <p:spPr>
          <a:xfrm>
            <a:off x="640080" y="1600200"/>
            <a:ext cx="10881360" cy="4572000"/>
          </a:xfrm>
          <a:prstGeom prst="rect">
            <a:avLst/>
          </a:prstGeom>
          <a:noFill/>
          <a:ln/>
        </p:spPr>
        <p:txBody>
          <a:bodyPr wrap="square" lIns="0" tIns="0" rIns="0" bIns="0" rtlCol="0" anchor="t"/>
          <a:lstStyle/>
          <a:p>
            <a:pPr marL="342900" indent="-342900">
              <a:spcAft>
                <a:spcPts val="1200"/>
              </a:spcAft>
              <a:buSzPct val="100000"/>
              <a:buChar char="•"/>
            </a:pPr>
            <a:r>
              <a:rPr lang="en-US" sz="1550" dirty="0">
                <a:solidFill>
                  <a:srgbClr val="1E293B"/>
                </a:solidFill>
                <a:latin typeface="Calibri" pitchFamily="34" charset="0"/>
                <a:ea typeface="Calibri" pitchFamily="34" charset="-122"/>
                <a:cs typeface="Calibri" pitchFamily="34" charset="-120"/>
              </a:rPr>
              <a:t>Unlike replica-ratio canary deployments, HTTPRoute backendRefs support an explicit 'weight' field for PRECISE traffic-percentage splitting, independent of how many replicas each version has.</a:t>
            </a:r>
            <a:endParaRPr lang="en-US" sz="1550" dirty="0"/>
          </a:p>
          <a:p>
            <a:pPr marL="342900" indent="-342900">
              <a:spcAft>
                <a:spcPts val="1200"/>
              </a:spcAft>
              <a:buSzPct val="100000"/>
              <a:buChar char="•"/>
            </a:pPr>
            <a:r>
              <a:rPr lang="en-US" sz="1550" dirty="0">
                <a:solidFill>
                  <a:srgbClr val="1E293B"/>
                </a:solidFill>
                <a:latin typeface="Calibri" pitchFamily="34" charset="0"/>
                <a:ea typeface="Calibri" pitchFamily="34" charset="-122"/>
                <a:cs typeface="Calibri" pitchFamily="34" charset="-120"/>
              </a:rPr>
              <a:t>rules[].backendRefs can list multiple Services, each with its own weight — Kubernetes computes the relative proportion automatically.</a:t>
            </a:r>
            <a:endParaRPr lang="en-US" sz="1550" dirty="0"/>
          </a:p>
          <a:p>
            <a:pPr marL="342900" indent="-342900">
              <a:spcAft>
                <a:spcPts val="1200"/>
              </a:spcAft>
              <a:buSzPct val="100000"/>
              <a:buChar char="•"/>
            </a:pPr>
            <a:r>
              <a:rPr lang="en-US" sz="1550" dirty="0">
                <a:solidFill>
                  <a:srgbClr val="1E293B"/>
                </a:solidFill>
                <a:latin typeface="Calibri" pitchFamily="34" charset="0"/>
                <a:ea typeface="Calibri" pitchFamily="34" charset="-122"/>
                <a:cs typeface="Calibri" pitchFamily="34" charset="-120"/>
              </a:rPr>
              <a:t>This is the exam-correct answer whenever a question asks for an EXACT percentage split (e.g. 'route exactly 10% of traffic to v2') rather than an approximate, replica-based split.</a:t>
            </a:r>
            <a:endParaRPr lang="en-US" sz="1550" dirty="0"/>
          </a:p>
          <a:p>
            <a:pPr marL="342900" indent="-342900">
              <a:spcAft>
                <a:spcPts val="1200"/>
              </a:spcAft>
              <a:buSzPct val="100000"/>
              <a:buChar char="•"/>
            </a:pPr>
            <a:r>
              <a:rPr lang="en-US" sz="1550" dirty="0">
                <a:solidFill>
                  <a:srgbClr val="1E293B"/>
                </a:solidFill>
                <a:latin typeface="Calibri" pitchFamily="34" charset="0"/>
                <a:ea typeface="Calibri" pitchFamily="34" charset="-122"/>
                <a:cs typeface="Calibri" pitchFamily="34" charset="-120"/>
              </a:rPr>
              <a:t>Weighted routing operates at the HTTP layer, so it requires Gateway API (or Ingress controller-specific annotations) — it cannot be done with a plain Service alone.</a:t>
            </a:r>
            <a:endParaRPr lang="en-US" sz="1550" dirty="0"/>
          </a:p>
        </p:txBody>
      </p:sp>
      <p:sp>
        <p:nvSpPr>
          <p:cNvPr id="8" name="Text 6"/>
          <p:cNvSpPr/>
          <p:nvPr/>
        </p:nvSpPr>
        <p:spPr>
          <a:xfrm>
            <a:off x="457200" y="6446520"/>
            <a:ext cx="6400800" cy="27432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CKA v1.36 · Module 2</a:t>
            </a:r>
            <a:endParaRPr lang="en-US" sz="900" dirty="0"/>
          </a:p>
        </p:txBody>
      </p:sp>
      <p:sp>
        <p:nvSpPr>
          <p:cNvPr id="9" name="Text 7"/>
          <p:cNvSpPr/>
          <p:nvPr/>
        </p:nvSpPr>
        <p:spPr>
          <a:xfrm>
            <a:off x="11247120" y="6446520"/>
            <a:ext cx="4572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45</a:t>
            </a:r>
            <a:endParaRPr lang="en-US" sz="9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65760"/>
            <a:ext cx="9144000" cy="320040"/>
          </a:xfrm>
          <a:prstGeom prst="rect">
            <a:avLst/>
          </a:prstGeom>
          <a:noFill/>
          <a:ln/>
        </p:spPr>
        <p:txBody>
          <a:bodyPr wrap="square" lIns="0" tIns="0" rIns="0" bIns="0" rtlCol="0" anchor="ctr"/>
          <a:lstStyle/>
          <a:p>
            <a:pPr indent="0" marL="0">
              <a:buNone/>
            </a:pPr>
            <a:r>
              <a:rPr lang="en-US" sz="1150" b="1" spc="150" kern="0" dirty="0">
                <a:solidFill>
                  <a:srgbClr val="1C7293"/>
                </a:solidFill>
                <a:latin typeface="Calibri" pitchFamily="34" charset="0"/>
                <a:ea typeface="Calibri" pitchFamily="34" charset="-122"/>
                <a:cs typeface="Calibri" pitchFamily="34" charset="-120"/>
              </a:rPr>
              <a:t>GATEWAY API</a:t>
            </a:r>
            <a:endParaRPr lang="en-US" sz="1150" dirty="0"/>
          </a:p>
        </p:txBody>
      </p:sp>
      <p:sp>
        <p:nvSpPr>
          <p:cNvPr id="3" name="Text 1"/>
          <p:cNvSpPr/>
          <p:nvPr/>
        </p:nvSpPr>
        <p:spPr>
          <a:xfrm>
            <a:off x="640080" y="658368"/>
            <a:ext cx="10881360" cy="548640"/>
          </a:xfrm>
          <a:prstGeom prst="rect">
            <a:avLst/>
          </a:prstGeom>
          <a:noFill/>
          <a:ln/>
        </p:spPr>
        <p:txBody>
          <a:bodyPr wrap="square" lIns="0" tIns="0" rIns="0" bIns="0" rtlCol="0" anchor="ctr"/>
          <a:lstStyle/>
          <a:p>
            <a:pPr indent="0" marL="0">
              <a:buNone/>
            </a:pPr>
            <a:r>
              <a:rPr lang="en-US" sz="2400" b="1" dirty="0">
                <a:solidFill>
                  <a:srgbClr val="21295C"/>
                </a:solidFill>
                <a:latin typeface="Cambria" pitchFamily="34" charset="0"/>
                <a:ea typeface="Cambria" pitchFamily="34" charset="-122"/>
                <a:cs typeface="Cambria" pitchFamily="34" charset="-120"/>
              </a:rPr>
              <a:t>HTTPRoute Weighted Canary Split</a:t>
            </a:r>
            <a:endParaRPr lang="en-US" sz="2400" dirty="0"/>
          </a:p>
        </p:txBody>
      </p:sp>
      <p:sp>
        <p:nvSpPr>
          <p:cNvPr id="4" name="Shape 2"/>
          <p:cNvSpPr/>
          <p:nvPr/>
        </p:nvSpPr>
        <p:spPr>
          <a:xfrm>
            <a:off x="640080" y="1371600"/>
            <a:ext cx="10881360" cy="4078224"/>
          </a:xfrm>
          <a:prstGeom prst="roundRect">
            <a:avLst>
              <a:gd name="adj" fmla="val 1345"/>
            </a:avLst>
          </a:prstGeom>
          <a:solidFill>
            <a:srgbClr val="0B2330"/>
          </a:solidFill>
          <a:ln/>
          <a:effectLst>
            <a:outerShdw sx="100000" sy="100000" kx="0" ky="0" algn="bl" rotWithShape="0" blurRad="88900" dist="25400" dir="2700000">
              <a:srgbClr val="1B2A36">
                <a:alpha val="12000"/>
              </a:srgbClr>
            </a:outerShdw>
          </a:effectLst>
        </p:spPr>
      </p:sp>
      <p:sp>
        <p:nvSpPr>
          <p:cNvPr id="5" name="Text 3"/>
          <p:cNvSpPr/>
          <p:nvPr/>
        </p:nvSpPr>
        <p:spPr>
          <a:xfrm>
            <a:off x="868680" y="1536192"/>
            <a:ext cx="10424160" cy="3749040"/>
          </a:xfrm>
          <a:prstGeom prst="rect">
            <a:avLst/>
          </a:prstGeom>
          <a:noFill/>
          <a:ln/>
        </p:spPr>
        <p:txBody>
          <a:bodyPr wrap="square" lIns="0" tIns="0" rIns="0" bIns="0" rtlCol="0" anchor="t"/>
          <a:lstStyle/>
          <a:p>
            <a:pPr indent="0" marL="0">
              <a:buNone/>
            </a:pPr>
            <a:r>
              <a:rPr lang="en-US" sz="1350" dirty="0">
                <a:solidFill>
                  <a:srgbClr val="CFEFEA"/>
                </a:solidFill>
                <a:latin typeface="Courier New" pitchFamily="34" charset="0"/>
                <a:ea typeface="Courier New" pitchFamily="34" charset="-122"/>
                <a:cs typeface="Courier New" pitchFamily="34" charset="-120"/>
              </a:rPr>
              <a:t>apiVersion: gateway.networking.k8s.io/v1</a:t>
            </a:r>
            <a:endParaRPr lang="en-US" sz="1350" dirty="0"/>
          </a:p>
          <a:p>
            <a:pPr indent="0" marL="0">
              <a:buNone/>
            </a:pPr>
            <a:r>
              <a:rPr lang="en-US" sz="1350" dirty="0">
                <a:solidFill>
                  <a:srgbClr val="CFEFEA"/>
                </a:solidFill>
                <a:latin typeface="Courier New" pitchFamily="34" charset="0"/>
                <a:ea typeface="Courier New" pitchFamily="34" charset="-122"/>
                <a:cs typeface="Courier New" pitchFamily="34" charset="-120"/>
              </a:rPr>
              <a:t>kind: HTTPRoute</a:t>
            </a:r>
            <a:endParaRPr lang="en-US" sz="1350" dirty="0"/>
          </a:p>
          <a:p>
            <a:pPr indent="0" marL="0">
              <a:buNone/>
            </a:pPr>
            <a:r>
              <a:rPr lang="en-US" sz="1350" dirty="0">
                <a:solidFill>
                  <a:srgbClr val="CFEFEA"/>
                </a:solidFill>
                <a:latin typeface="Courier New" pitchFamily="34" charset="0"/>
                <a:ea typeface="Courier New" pitchFamily="34" charset="-122"/>
                <a:cs typeface="Courier New" pitchFamily="34" charset="-120"/>
              </a:rPr>
              <a:t>metadata: { name: web-route }</a:t>
            </a:r>
            <a:endParaRPr lang="en-US" sz="1350" dirty="0"/>
          </a:p>
          <a:p>
            <a:pPr indent="0" marL="0">
              <a:buNone/>
            </a:pPr>
            <a:r>
              <a:rPr lang="en-US" sz="1350" dirty="0">
                <a:solidFill>
                  <a:srgbClr val="CFEFEA"/>
                </a:solidFill>
                <a:latin typeface="Courier New" pitchFamily="34" charset="0"/>
                <a:ea typeface="Courier New" pitchFamily="34" charset="-122"/>
                <a:cs typeface="Courier New" pitchFamily="34" charset="-120"/>
              </a:rPr>
              <a:t>spec:</a:t>
            </a:r>
            <a:endParaRPr lang="en-US" sz="1350" dirty="0"/>
          </a:p>
          <a:p>
            <a:pPr indent="0" marL="0">
              <a:buNone/>
            </a:pPr>
            <a:r>
              <a:rPr lang="en-US" sz="1350" dirty="0">
                <a:solidFill>
                  <a:srgbClr val="CFEFEA"/>
                </a:solidFill>
                <a:latin typeface="Courier New" pitchFamily="34" charset="0"/>
                <a:ea typeface="Courier New" pitchFamily="34" charset="-122"/>
                <a:cs typeface="Courier New" pitchFamily="34" charset="-120"/>
              </a:rPr>
              <a:t>  parentRefs:</a:t>
            </a:r>
            <a:endParaRPr lang="en-US" sz="1350" dirty="0"/>
          </a:p>
          <a:p>
            <a:pPr indent="0" marL="0">
              <a:buNone/>
            </a:pPr>
            <a:r>
              <a:rPr lang="en-US" sz="1350" dirty="0">
                <a:solidFill>
                  <a:srgbClr val="CFEFEA"/>
                </a:solidFill>
                <a:latin typeface="Courier New" pitchFamily="34" charset="0"/>
                <a:ea typeface="Courier New" pitchFamily="34" charset="-122"/>
                <a:cs typeface="Courier New" pitchFamily="34" charset="-120"/>
              </a:rPr>
              <a:t>  - name: web-gateway</a:t>
            </a:r>
            <a:endParaRPr lang="en-US" sz="1350" dirty="0"/>
          </a:p>
          <a:p>
            <a:pPr indent="0" marL="0">
              <a:buNone/>
            </a:pPr>
            <a:r>
              <a:rPr lang="en-US" sz="1350" dirty="0">
                <a:solidFill>
                  <a:srgbClr val="CFEFEA"/>
                </a:solidFill>
                <a:latin typeface="Courier New" pitchFamily="34" charset="0"/>
                <a:ea typeface="Courier New" pitchFamily="34" charset="-122"/>
                <a:cs typeface="Courier New" pitchFamily="34" charset="-120"/>
              </a:rPr>
              <a:t>  rules:</a:t>
            </a:r>
            <a:endParaRPr lang="en-US" sz="1350" dirty="0"/>
          </a:p>
          <a:p>
            <a:pPr indent="0" marL="0">
              <a:buNone/>
            </a:pPr>
            <a:r>
              <a:rPr lang="en-US" sz="1350" dirty="0">
                <a:solidFill>
                  <a:srgbClr val="CFEFEA"/>
                </a:solidFill>
                <a:latin typeface="Courier New" pitchFamily="34" charset="0"/>
                <a:ea typeface="Courier New" pitchFamily="34" charset="-122"/>
                <a:cs typeface="Courier New" pitchFamily="34" charset="-120"/>
              </a:rPr>
              <a:t>  - backendRefs:</a:t>
            </a:r>
            <a:endParaRPr lang="en-US" sz="1350" dirty="0"/>
          </a:p>
          <a:p>
            <a:pPr indent="0" marL="0">
              <a:buNone/>
            </a:pPr>
            <a:r>
              <a:rPr lang="en-US" sz="1350" dirty="0">
                <a:solidFill>
                  <a:srgbClr val="CFEFEA"/>
                </a:solidFill>
                <a:latin typeface="Courier New" pitchFamily="34" charset="0"/>
                <a:ea typeface="Courier New" pitchFamily="34" charset="-122"/>
                <a:cs typeface="Courier New" pitchFamily="34" charset="-120"/>
              </a:rPr>
              <a:t>    - name: web-app-stable</a:t>
            </a:r>
            <a:endParaRPr lang="en-US" sz="1350" dirty="0"/>
          </a:p>
          <a:p>
            <a:pPr indent="0" marL="0">
              <a:buNone/>
            </a:pPr>
            <a:r>
              <a:rPr lang="en-US" sz="1350" dirty="0">
                <a:solidFill>
                  <a:srgbClr val="CFEFEA"/>
                </a:solidFill>
                <a:latin typeface="Courier New" pitchFamily="34" charset="0"/>
                <a:ea typeface="Courier New" pitchFamily="34" charset="-122"/>
                <a:cs typeface="Courier New" pitchFamily="34" charset="-120"/>
              </a:rPr>
              <a:t>      port: 80</a:t>
            </a:r>
            <a:endParaRPr lang="en-US" sz="1350" dirty="0"/>
          </a:p>
          <a:p>
            <a:pPr indent="0" marL="0">
              <a:buNone/>
            </a:pPr>
            <a:r>
              <a:rPr lang="en-US" sz="1350" dirty="0">
                <a:solidFill>
                  <a:srgbClr val="CFEFEA"/>
                </a:solidFill>
                <a:latin typeface="Courier New" pitchFamily="34" charset="0"/>
                <a:ea typeface="Courier New" pitchFamily="34" charset="-122"/>
                <a:cs typeface="Courier New" pitchFamily="34" charset="-120"/>
              </a:rPr>
              <a:t>      weight: 90</a:t>
            </a:r>
            <a:endParaRPr lang="en-US" sz="1350" dirty="0"/>
          </a:p>
          <a:p>
            <a:pPr indent="0" marL="0">
              <a:buNone/>
            </a:pPr>
            <a:r>
              <a:rPr lang="en-US" sz="1350" dirty="0">
                <a:solidFill>
                  <a:srgbClr val="CFEFEA"/>
                </a:solidFill>
                <a:latin typeface="Courier New" pitchFamily="34" charset="0"/>
                <a:ea typeface="Courier New" pitchFamily="34" charset="-122"/>
                <a:cs typeface="Courier New" pitchFamily="34" charset="-120"/>
              </a:rPr>
              <a:t>    - name: web-app-canary</a:t>
            </a:r>
            <a:endParaRPr lang="en-US" sz="1350" dirty="0"/>
          </a:p>
          <a:p>
            <a:pPr indent="0" marL="0">
              <a:buNone/>
            </a:pPr>
            <a:r>
              <a:rPr lang="en-US" sz="1350" dirty="0">
                <a:solidFill>
                  <a:srgbClr val="CFEFEA"/>
                </a:solidFill>
                <a:latin typeface="Courier New" pitchFamily="34" charset="0"/>
                <a:ea typeface="Courier New" pitchFamily="34" charset="-122"/>
                <a:cs typeface="Courier New" pitchFamily="34" charset="-120"/>
              </a:rPr>
              <a:t>      port: 80</a:t>
            </a:r>
            <a:endParaRPr lang="en-US" sz="1350" dirty="0"/>
          </a:p>
          <a:p>
            <a:pPr indent="0" marL="0">
              <a:buNone/>
            </a:pPr>
            <a:r>
              <a:rPr lang="en-US" sz="1350" dirty="0">
                <a:solidFill>
                  <a:srgbClr val="CFEFEA"/>
                </a:solidFill>
                <a:latin typeface="Courier New" pitchFamily="34" charset="0"/>
                <a:ea typeface="Courier New" pitchFamily="34" charset="-122"/>
                <a:cs typeface="Courier New" pitchFamily="34" charset="-120"/>
              </a:rPr>
              <a:t>      weight: 10</a:t>
            </a:r>
            <a:endParaRPr lang="en-US" sz="1350" dirty="0"/>
          </a:p>
        </p:txBody>
      </p:sp>
      <p:sp>
        <p:nvSpPr>
          <p:cNvPr id="6" name="Text 4"/>
          <p:cNvSpPr/>
          <p:nvPr/>
        </p:nvSpPr>
        <p:spPr>
          <a:xfrm>
            <a:off x="640080" y="5678424"/>
            <a:ext cx="10881360" cy="722376"/>
          </a:xfrm>
          <a:prstGeom prst="rect">
            <a:avLst/>
          </a:prstGeom>
          <a:noFill/>
          <a:ln/>
        </p:spPr>
        <p:txBody>
          <a:bodyPr wrap="square" lIns="0" tIns="0" rIns="0" bIns="0" rtlCol="0" anchor="t"/>
          <a:lstStyle/>
          <a:p>
            <a:pPr marL="342900" indent="-342900">
              <a:spcAft>
                <a:spcPts val="500"/>
              </a:spcAft>
              <a:buSzPct val="100000"/>
              <a:buChar char="•"/>
            </a:pPr>
            <a:r>
              <a:rPr lang="en-US" sz="1200" dirty="0">
                <a:solidFill>
                  <a:srgbClr val="1E293B"/>
                </a:solidFill>
                <a:latin typeface="Calibri" pitchFamily="34" charset="0"/>
                <a:ea typeface="Calibri" pitchFamily="34" charset="-122"/>
                <a:cs typeface="Calibri" pitchFamily="34" charset="-120"/>
              </a:rPr>
              <a:t>This sends exactly 90%/10% of traffic regardless of how many Pods back each Service — a precision that replica-count-based canary cannot guarantee.</a:t>
            </a:r>
            <a:endParaRPr lang="en-US" sz="1200" dirty="0"/>
          </a:p>
        </p:txBody>
      </p:sp>
      <p:sp>
        <p:nvSpPr>
          <p:cNvPr id="7" name="Text 5"/>
          <p:cNvSpPr/>
          <p:nvPr/>
        </p:nvSpPr>
        <p:spPr>
          <a:xfrm>
            <a:off x="457200" y="6446520"/>
            <a:ext cx="6400800" cy="27432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CKA v1.36 · Module 2</a:t>
            </a:r>
            <a:endParaRPr lang="en-US" sz="900" dirty="0"/>
          </a:p>
        </p:txBody>
      </p:sp>
      <p:sp>
        <p:nvSpPr>
          <p:cNvPr id="8" name="Text 6"/>
          <p:cNvSpPr/>
          <p:nvPr/>
        </p:nvSpPr>
        <p:spPr>
          <a:xfrm>
            <a:off x="11247120" y="6446520"/>
            <a:ext cx="4572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46</a:t>
            </a:r>
            <a:endParaRPr lang="en-US" sz="9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21295C"/>
        </a:solidFill>
      </p:bgPr>
    </p:bg>
    <p:spTree>
      <p:nvGrpSpPr>
        <p:cNvPr id="1" name=""/>
        <p:cNvGrpSpPr/>
        <p:nvPr/>
      </p:nvGrpSpPr>
      <p:grpSpPr>
        <a:xfrm>
          <a:off x="0" y="0"/>
          <a:ext cx="0" cy="0"/>
          <a:chOff x="0" y="0"/>
          <a:chExt cx="0" cy="0"/>
        </a:xfrm>
      </p:grpSpPr>
      <p:sp>
        <p:nvSpPr>
          <p:cNvPr id="2" name="Shape 0"/>
          <p:cNvSpPr/>
          <p:nvPr/>
        </p:nvSpPr>
        <p:spPr>
          <a:xfrm>
            <a:off x="8778240" y="3291840"/>
            <a:ext cx="5029200" cy="5029200"/>
          </a:xfrm>
          <a:prstGeom prst="ellipse">
            <a:avLst/>
          </a:prstGeom>
          <a:solidFill>
            <a:srgbClr val="065A82">
              <a:alpha val="40000"/>
            </a:srgbClr>
          </a:solidFill>
          <a:ln/>
        </p:spPr>
      </p:sp>
      <p:sp>
        <p:nvSpPr>
          <p:cNvPr id="3" name="Shape 1"/>
          <p:cNvSpPr/>
          <p:nvPr/>
        </p:nvSpPr>
        <p:spPr>
          <a:xfrm>
            <a:off x="822960" y="1828800"/>
            <a:ext cx="1371600" cy="1371600"/>
          </a:xfrm>
          <a:prstGeom prst="roundRect">
            <a:avLst>
              <a:gd name="adj" fmla="val 12000"/>
            </a:avLst>
          </a:prstGeom>
          <a:solidFill>
            <a:srgbClr val="1C7293"/>
          </a:solidFill>
          <a:ln/>
          <a:effectLst>
            <a:outerShdw sx="100000" sy="100000" kx="0" ky="0" algn="bl" rotWithShape="0" blurRad="88900" dist="25400" dir="2700000">
              <a:srgbClr val="1B2A36">
                <a:alpha val="12000"/>
              </a:srgbClr>
            </a:outerShdw>
          </a:effectLst>
        </p:spPr>
      </p:sp>
      <p:sp>
        <p:nvSpPr>
          <p:cNvPr id="4" name="Text 2"/>
          <p:cNvSpPr/>
          <p:nvPr/>
        </p:nvSpPr>
        <p:spPr>
          <a:xfrm>
            <a:off x="822960" y="1828800"/>
            <a:ext cx="1371600" cy="1371600"/>
          </a:xfrm>
          <a:prstGeom prst="rect">
            <a:avLst/>
          </a:prstGeom>
          <a:noFill/>
          <a:ln/>
        </p:spPr>
        <p:txBody>
          <a:bodyPr wrap="square" lIns="0" tIns="0" rIns="0" bIns="0" rtlCol="0" anchor="ctr"/>
          <a:lstStyle/>
          <a:p>
            <a:pPr algn="ctr" indent="0" marL="0">
              <a:buNone/>
            </a:pPr>
            <a:r>
              <a:rPr lang="en-US" sz="4000" b="1" dirty="0">
                <a:solidFill>
                  <a:srgbClr val="FFFFFF"/>
                </a:solidFill>
                <a:latin typeface="Cambria" pitchFamily="34" charset="0"/>
                <a:ea typeface="Cambria" pitchFamily="34" charset="-122"/>
                <a:cs typeface="Cambria" pitchFamily="34" charset="-120"/>
              </a:rPr>
              <a:t>G</a:t>
            </a:r>
            <a:endParaRPr lang="en-US" sz="4000" dirty="0"/>
          </a:p>
        </p:txBody>
      </p:sp>
      <p:sp>
        <p:nvSpPr>
          <p:cNvPr id="5" name="Text 3"/>
          <p:cNvSpPr/>
          <p:nvPr/>
        </p:nvSpPr>
        <p:spPr>
          <a:xfrm>
            <a:off x="2468880" y="1828800"/>
            <a:ext cx="8961120" cy="100584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Ingress Controllers &amp; Ingress Resources</a:t>
            </a:r>
            <a:endParaRPr lang="en-US" sz="3200" dirty="0"/>
          </a:p>
        </p:txBody>
      </p:sp>
      <p:sp>
        <p:nvSpPr>
          <p:cNvPr id="6" name="Text 4"/>
          <p:cNvSpPr/>
          <p:nvPr/>
        </p:nvSpPr>
        <p:spPr>
          <a:xfrm>
            <a:off x="2468880" y="2788920"/>
            <a:ext cx="8961120" cy="640080"/>
          </a:xfrm>
          <a:prstGeom prst="rect">
            <a:avLst/>
          </a:prstGeom>
          <a:noFill/>
          <a:ln/>
        </p:spPr>
        <p:txBody>
          <a:bodyPr wrap="square" lIns="0" tIns="0" rIns="0" bIns="0" rtlCol="0" anchor="ctr"/>
          <a:lstStyle/>
          <a:p>
            <a:pPr indent="0" marL="0">
              <a:buNone/>
            </a:pPr>
            <a:r>
              <a:rPr lang="en-US" sz="1600" dirty="0">
                <a:solidFill>
                  <a:srgbClr val="C9E4ED"/>
                </a:solidFill>
                <a:latin typeface="Calibri" pitchFamily="34" charset="0"/>
                <a:ea typeface="Calibri" pitchFamily="34" charset="-122"/>
                <a:cs typeface="Calibri" pitchFamily="34" charset="-120"/>
              </a:rPr>
              <a:t>The classic HTTP routing layer</a:t>
            </a:r>
            <a:endParaRPr lang="en-US" sz="1600" dirty="0"/>
          </a:p>
        </p:txBody>
      </p:sp>
      <p:sp>
        <p:nvSpPr>
          <p:cNvPr id="7" name="Shape 5"/>
          <p:cNvSpPr/>
          <p:nvPr/>
        </p:nvSpPr>
        <p:spPr>
          <a:xfrm>
            <a:off x="2468880" y="3429000"/>
            <a:ext cx="8961120" cy="548640"/>
          </a:xfrm>
          <a:prstGeom prst="roundRect">
            <a:avLst>
              <a:gd name="adj" fmla="val 16667"/>
            </a:avLst>
          </a:prstGeom>
          <a:solidFill>
            <a:srgbClr val="FFFFFF">
              <a:alpha val="10000"/>
            </a:srgbClr>
          </a:solidFill>
          <a:ln w="9525">
            <a:solidFill>
              <a:srgbClr val="8FD3E8"/>
            </a:solidFill>
            <a:prstDash val="solid"/>
          </a:ln>
        </p:spPr>
      </p:sp>
      <p:sp>
        <p:nvSpPr>
          <p:cNvPr id="8" name="Text 6"/>
          <p:cNvSpPr/>
          <p:nvPr/>
        </p:nvSpPr>
        <p:spPr>
          <a:xfrm>
            <a:off x="2697480" y="3429000"/>
            <a:ext cx="8503920" cy="548640"/>
          </a:xfrm>
          <a:prstGeom prst="rect">
            <a:avLst/>
          </a:prstGeom>
          <a:noFill/>
          <a:ln/>
        </p:spPr>
        <p:txBody>
          <a:bodyPr wrap="square" lIns="0" tIns="0" rIns="0" bIns="0" rtlCol="0" anchor="ctr"/>
          <a:lstStyle/>
          <a:p>
            <a:pPr algn="l" indent="0" marL="0">
              <a:buNone/>
            </a:pPr>
            <a:r>
              <a:rPr lang="en-US" sz="1200" dirty="0">
                <a:solidFill>
                  <a:srgbClr val="DCEFF5"/>
                </a:solidFill>
                <a:latin typeface="Calibri" pitchFamily="34" charset="0"/>
                <a:ea typeface="Calibri" pitchFamily="34" charset="-122"/>
                <a:cs typeface="Calibri" pitchFamily="34" charset="-120"/>
              </a:rPr>
              <a:t>Domain: Services &amp; Networking · Ingress</a:t>
            </a:r>
            <a:endParaRPr lang="en-US" sz="1200" dirty="0"/>
          </a:p>
        </p:txBody>
      </p:sp>
      <p:sp>
        <p:nvSpPr>
          <p:cNvPr id="9" name="Text 7"/>
          <p:cNvSpPr/>
          <p:nvPr/>
        </p:nvSpPr>
        <p:spPr>
          <a:xfrm>
            <a:off x="457200" y="6446520"/>
            <a:ext cx="6400800" cy="27432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CKA v1.36 · Module 2</a:t>
            </a:r>
            <a:endParaRPr lang="en-US" sz="900" dirty="0"/>
          </a:p>
        </p:txBody>
      </p:sp>
      <p:sp>
        <p:nvSpPr>
          <p:cNvPr id="10" name="Text 8"/>
          <p:cNvSpPr/>
          <p:nvPr/>
        </p:nvSpPr>
        <p:spPr>
          <a:xfrm>
            <a:off x="11247120" y="6446520"/>
            <a:ext cx="4572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47</a:t>
            </a:r>
            <a:endParaRPr lang="en-US" sz="9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65760"/>
            <a:ext cx="9144000" cy="320040"/>
          </a:xfrm>
          <a:prstGeom prst="rect">
            <a:avLst/>
          </a:prstGeom>
          <a:noFill/>
          <a:ln/>
        </p:spPr>
        <p:txBody>
          <a:bodyPr wrap="square" lIns="0" tIns="0" rIns="0" bIns="0" rtlCol="0" anchor="ctr"/>
          <a:lstStyle/>
          <a:p>
            <a:pPr indent="0" marL="0">
              <a:buNone/>
            </a:pPr>
            <a:r>
              <a:rPr lang="en-US" sz="1150" b="1" spc="150" kern="0" dirty="0">
                <a:solidFill>
                  <a:srgbClr val="1C7293"/>
                </a:solidFill>
                <a:latin typeface="Calibri" pitchFamily="34" charset="0"/>
                <a:ea typeface="Calibri" pitchFamily="34" charset="-122"/>
                <a:cs typeface="Calibri" pitchFamily="34" charset="-120"/>
              </a:rPr>
              <a:t>INGRESS</a:t>
            </a:r>
            <a:endParaRPr lang="en-US" sz="1150" dirty="0"/>
          </a:p>
        </p:txBody>
      </p:sp>
      <p:sp>
        <p:nvSpPr>
          <p:cNvPr id="3" name="Text 1"/>
          <p:cNvSpPr/>
          <p:nvPr/>
        </p:nvSpPr>
        <p:spPr>
          <a:xfrm>
            <a:off x="640080" y="658368"/>
            <a:ext cx="10881360" cy="685800"/>
          </a:xfrm>
          <a:prstGeom prst="rect">
            <a:avLst/>
          </a:prstGeom>
          <a:noFill/>
          <a:ln/>
        </p:spPr>
        <p:txBody>
          <a:bodyPr wrap="square" lIns="0" tIns="0" rIns="0" bIns="0" rtlCol="0" anchor="ctr"/>
          <a:lstStyle/>
          <a:p>
            <a:pPr indent="0" marL="0">
              <a:buNone/>
            </a:pPr>
            <a:r>
              <a:rPr lang="en-US" sz="2600" b="1" dirty="0">
                <a:solidFill>
                  <a:srgbClr val="21295C"/>
                </a:solidFill>
                <a:latin typeface="Cambria" pitchFamily="34" charset="0"/>
                <a:ea typeface="Cambria" pitchFamily="34" charset="-122"/>
                <a:cs typeface="Cambria" pitchFamily="34" charset="-120"/>
              </a:rPr>
              <a:t>Ingress Resource vs. Ingress Controller</a:t>
            </a:r>
            <a:endParaRPr lang="en-US" sz="2600" dirty="0"/>
          </a:p>
        </p:txBody>
      </p:sp>
      <p:sp>
        <p:nvSpPr>
          <p:cNvPr id="4" name="Shape 2"/>
          <p:cNvSpPr/>
          <p:nvPr/>
        </p:nvSpPr>
        <p:spPr>
          <a:xfrm>
            <a:off x="640080" y="1371600"/>
            <a:ext cx="10881360" cy="0"/>
          </a:xfrm>
          <a:prstGeom prst="line">
            <a:avLst/>
          </a:prstGeom>
          <a:noFill/>
          <a:ln w="12700">
            <a:solidFill>
              <a:srgbClr val="D7E3E8"/>
            </a:solidFill>
            <a:prstDash val="solid"/>
          </a:ln>
        </p:spPr>
      </p:sp>
      <p:sp>
        <p:nvSpPr>
          <p:cNvPr id="5" name="Shape 3"/>
          <p:cNvSpPr/>
          <p:nvPr/>
        </p:nvSpPr>
        <p:spPr>
          <a:xfrm>
            <a:off x="11109960" y="411480"/>
            <a:ext cx="502920" cy="502920"/>
          </a:xfrm>
          <a:prstGeom prst="ellipse">
            <a:avLst/>
          </a:prstGeom>
          <a:solidFill>
            <a:srgbClr val="EAF4F8"/>
          </a:solidFill>
          <a:ln w="15875">
            <a:solidFill>
              <a:srgbClr val="1C7293"/>
            </a:solidFill>
            <a:prstDash val="solid"/>
          </a:ln>
        </p:spPr>
      </p:sp>
      <p:sp>
        <p:nvSpPr>
          <p:cNvPr id="6" name="Text 4"/>
          <p:cNvSpPr/>
          <p:nvPr/>
        </p:nvSpPr>
        <p:spPr>
          <a:xfrm>
            <a:off x="11109960" y="411480"/>
            <a:ext cx="502920" cy="502920"/>
          </a:xfrm>
          <a:prstGeom prst="rect">
            <a:avLst/>
          </a:prstGeom>
          <a:noFill/>
          <a:ln/>
        </p:spPr>
        <p:txBody>
          <a:bodyPr wrap="square" lIns="0" tIns="0" rIns="0" bIns="0" rtlCol="0" anchor="ctr"/>
          <a:lstStyle/>
          <a:p>
            <a:pPr algn="ctr" indent="0" marL="0">
              <a:buNone/>
            </a:pPr>
            <a:r>
              <a:rPr lang="en-US" sz="1600" b="1" dirty="0">
                <a:solidFill>
                  <a:srgbClr val="1C7293"/>
                </a:solidFill>
                <a:latin typeface="Calibri" pitchFamily="34" charset="0"/>
                <a:ea typeface="Calibri" pitchFamily="34" charset="-122"/>
                <a:cs typeface="Calibri" pitchFamily="34" charset="-120"/>
              </a:rPr>
              <a:t>12</a:t>
            </a:r>
            <a:endParaRPr lang="en-US" sz="1600" dirty="0"/>
          </a:p>
        </p:txBody>
      </p:sp>
      <p:sp>
        <p:nvSpPr>
          <p:cNvPr id="7" name="Text 5"/>
          <p:cNvSpPr/>
          <p:nvPr/>
        </p:nvSpPr>
        <p:spPr>
          <a:xfrm>
            <a:off x="640080" y="1600200"/>
            <a:ext cx="10881360" cy="4572000"/>
          </a:xfrm>
          <a:prstGeom prst="rect">
            <a:avLst/>
          </a:prstGeom>
          <a:noFill/>
          <a:ln/>
        </p:spPr>
        <p:txBody>
          <a:bodyPr wrap="square" lIns="0" tIns="0" rIns="0" bIns="0" rtlCol="0" anchor="t"/>
          <a:lstStyle/>
          <a:p>
            <a:pPr marL="342900" indent="-342900">
              <a:spcAft>
                <a:spcPts val="1200"/>
              </a:spcAft>
              <a:buSzPct val="100000"/>
              <a:buChar char="•"/>
            </a:pPr>
            <a:r>
              <a:rPr lang="en-US" sz="1550" dirty="0">
                <a:solidFill>
                  <a:srgbClr val="1E293B"/>
                </a:solidFill>
                <a:latin typeface="Calibri" pitchFamily="34" charset="0"/>
                <a:ea typeface="Calibri" pitchFamily="34" charset="-122"/>
                <a:cs typeface="Calibri" pitchFamily="34" charset="-120"/>
              </a:rPr>
              <a:t>An Ingress resource is just a declarative routing RULE — it does nothing by itself.</a:t>
            </a:r>
            <a:endParaRPr lang="en-US" sz="1550" dirty="0"/>
          </a:p>
          <a:p>
            <a:pPr marL="342900" indent="-342900">
              <a:spcAft>
                <a:spcPts val="1200"/>
              </a:spcAft>
              <a:buSzPct val="100000"/>
              <a:buChar char="•"/>
            </a:pPr>
            <a:r>
              <a:rPr lang="en-US" sz="1550" dirty="0">
                <a:solidFill>
                  <a:srgbClr val="1E293B"/>
                </a:solidFill>
                <a:latin typeface="Calibri" pitchFamily="34" charset="0"/>
                <a:ea typeface="Calibri" pitchFamily="34" charset="-122"/>
                <a:cs typeface="Calibri" pitchFamily="34" charset="-120"/>
              </a:rPr>
              <a:t>An Ingress CONTROLLER is the actual software (e.g. ingress-nginx, Traefik, HAProxy) that watches Ingress objects and configures a real proxy/load balancer to implement them.</a:t>
            </a:r>
            <a:endParaRPr lang="en-US" sz="1550" dirty="0"/>
          </a:p>
          <a:p>
            <a:pPr marL="342900" indent="-342900">
              <a:spcAft>
                <a:spcPts val="1200"/>
              </a:spcAft>
              <a:buSzPct val="100000"/>
              <a:buChar char="•"/>
            </a:pPr>
            <a:r>
              <a:rPr lang="en-US" sz="1550" dirty="0">
                <a:solidFill>
                  <a:srgbClr val="1E293B"/>
                </a:solidFill>
                <a:latin typeface="Calibri" pitchFamily="34" charset="0"/>
                <a:ea typeface="Calibri" pitchFamily="34" charset="-122"/>
                <a:cs typeface="Calibri" pitchFamily="34" charset="-120"/>
              </a:rPr>
              <a:t>Kubernetes ships NO Ingress controller by default — creating an Ingress object with no controller installed results in it being silently inert (no errors, just no effect).</a:t>
            </a:r>
            <a:endParaRPr lang="en-US" sz="1550" dirty="0"/>
          </a:p>
          <a:p>
            <a:pPr marL="342900" indent="-342900">
              <a:spcAft>
                <a:spcPts val="1200"/>
              </a:spcAft>
              <a:buSzPct val="100000"/>
              <a:buChar char="•"/>
            </a:pPr>
            <a:r>
              <a:rPr lang="en-US" sz="1550" dirty="0">
                <a:solidFill>
                  <a:srgbClr val="1E293B"/>
                </a:solidFill>
                <a:latin typeface="Calibri" pitchFamily="34" charset="0"/>
                <a:ea typeface="Calibri" pitchFamily="34" charset="-122"/>
                <a:cs typeface="Calibri" pitchFamily="34" charset="-120"/>
              </a:rPr>
              <a:t>Exam trap: a question gives you a perfectly correct Ingress YAML and asks why traffic isn't routing — the answer is frequently 'no Ingress controller is installed,' not a YAML mistake.</a:t>
            </a:r>
            <a:endParaRPr lang="en-US" sz="1550" dirty="0"/>
          </a:p>
        </p:txBody>
      </p:sp>
      <p:sp>
        <p:nvSpPr>
          <p:cNvPr id="8" name="Text 6"/>
          <p:cNvSpPr/>
          <p:nvPr/>
        </p:nvSpPr>
        <p:spPr>
          <a:xfrm>
            <a:off x="457200" y="6446520"/>
            <a:ext cx="6400800" cy="27432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CKA v1.36 · Module 2</a:t>
            </a:r>
            <a:endParaRPr lang="en-US" sz="900" dirty="0"/>
          </a:p>
        </p:txBody>
      </p:sp>
      <p:sp>
        <p:nvSpPr>
          <p:cNvPr id="9" name="Text 7"/>
          <p:cNvSpPr/>
          <p:nvPr/>
        </p:nvSpPr>
        <p:spPr>
          <a:xfrm>
            <a:off x="11247120" y="6446520"/>
            <a:ext cx="4572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48</a:t>
            </a:r>
            <a:endParaRPr lang="en-US" sz="9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65760"/>
            <a:ext cx="9144000" cy="320040"/>
          </a:xfrm>
          <a:prstGeom prst="rect">
            <a:avLst/>
          </a:prstGeom>
          <a:noFill/>
          <a:ln/>
        </p:spPr>
        <p:txBody>
          <a:bodyPr wrap="square" lIns="0" tIns="0" rIns="0" bIns="0" rtlCol="0" anchor="ctr"/>
          <a:lstStyle/>
          <a:p>
            <a:pPr indent="0" marL="0">
              <a:buNone/>
            </a:pPr>
            <a:r>
              <a:rPr lang="en-US" sz="1150" b="1" spc="150" kern="0" dirty="0">
                <a:solidFill>
                  <a:srgbClr val="1C7293"/>
                </a:solidFill>
                <a:latin typeface="Calibri" pitchFamily="34" charset="0"/>
                <a:ea typeface="Calibri" pitchFamily="34" charset="-122"/>
                <a:cs typeface="Calibri" pitchFamily="34" charset="-120"/>
              </a:rPr>
              <a:t>INGRESS</a:t>
            </a:r>
            <a:endParaRPr lang="en-US" sz="1150" dirty="0"/>
          </a:p>
        </p:txBody>
      </p:sp>
      <p:sp>
        <p:nvSpPr>
          <p:cNvPr id="3" name="Text 1"/>
          <p:cNvSpPr/>
          <p:nvPr/>
        </p:nvSpPr>
        <p:spPr>
          <a:xfrm>
            <a:off x="640080" y="658368"/>
            <a:ext cx="10881360" cy="548640"/>
          </a:xfrm>
          <a:prstGeom prst="rect">
            <a:avLst/>
          </a:prstGeom>
          <a:noFill/>
          <a:ln/>
        </p:spPr>
        <p:txBody>
          <a:bodyPr wrap="square" lIns="0" tIns="0" rIns="0" bIns="0" rtlCol="0" anchor="ctr"/>
          <a:lstStyle/>
          <a:p>
            <a:pPr indent="0" marL="0">
              <a:buNone/>
            </a:pPr>
            <a:r>
              <a:rPr lang="en-US" sz="2400" b="1" dirty="0">
                <a:solidFill>
                  <a:srgbClr val="21295C"/>
                </a:solidFill>
                <a:latin typeface="Cambria" pitchFamily="34" charset="0"/>
                <a:ea typeface="Cambria" pitchFamily="34" charset="-122"/>
                <a:cs typeface="Cambria" pitchFamily="34" charset="-120"/>
              </a:rPr>
              <a:t>A Standard Ingress Resource</a:t>
            </a:r>
            <a:endParaRPr lang="en-US" sz="2400" dirty="0"/>
          </a:p>
        </p:txBody>
      </p:sp>
      <p:sp>
        <p:nvSpPr>
          <p:cNvPr id="4" name="Shape 2"/>
          <p:cNvSpPr/>
          <p:nvPr/>
        </p:nvSpPr>
        <p:spPr>
          <a:xfrm>
            <a:off x="640080" y="1371600"/>
            <a:ext cx="10881360" cy="3776472"/>
          </a:xfrm>
          <a:prstGeom prst="roundRect">
            <a:avLst>
              <a:gd name="adj" fmla="val 1453"/>
            </a:avLst>
          </a:prstGeom>
          <a:solidFill>
            <a:srgbClr val="0B2330"/>
          </a:solidFill>
          <a:ln/>
          <a:effectLst>
            <a:outerShdw sx="100000" sy="100000" kx="0" ky="0" algn="bl" rotWithShape="0" blurRad="88900" dist="25400" dir="2700000">
              <a:srgbClr val="1B2A36">
                <a:alpha val="12000"/>
              </a:srgbClr>
            </a:outerShdw>
          </a:effectLst>
        </p:spPr>
      </p:sp>
      <p:sp>
        <p:nvSpPr>
          <p:cNvPr id="5" name="Text 3"/>
          <p:cNvSpPr/>
          <p:nvPr/>
        </p:nvSpPr>
        <p:spPr>
          <a:xfrm>
            <a:off x="868680" y="1536192"/>
            <a:ext cx="10424160" cy="3447288"/>
          </a:xfrm>
          <a:prstGeom prst="rect">
            <a:avLst/>
          </a:prstGeom>
          <a:noFill/>
          <a:ln/>
        </p:spPr>
        <p:txBody>
          <a:bodyPr wrap="square" lIns="0" tIns="0" rIns="0" bIns="0" rtlCol="0" anchor="t"/>
          <a:lstStyle/>
          <a:p>
            <a:pPr indent="0" marL="0">
              <a:buNone/>
            </a:pPr>
            <a:r>
              <a:rPr lang="en-US" sz="1150" dirty="0">
                <a:solidFill>
                  <a:srgbClr val="CFEFEA"/>
                </a:solidFill>
                <a:latin typeface="Courier New" pitchFamily="34" charset="0"/>
                <a:ea typeface="Courier New" pitchFamily="34" charset="-122"/>
                <a:cs typeface="Courier New" pitchFamily="34" charset="-120"/>
              </a:rPr>
              <a:t>apiVersion: networking.k8s.io/v1</a:t>
            </a:r>
            <a:endParaRPr lang="en-US" sz="1150" dirty="0"/>
          </a:p>
          <a:p>
            <a:pPr indent="0" marL="0">
              <a:buNone/>
            </a:pPr>
            <a:r>
              <a:rPr lang="en-US" sz="1150" dirty="0">
                <a:solidFill>
                  <a:srgbClr val="CFEFEA"/>
                </a:solidFill>
                <a:latin typeface="Courier New" pitchFamily="34" charset="0"/>
                <a:ea typeface="Courier New" pitchFamily="34" charset="-122"/>
                <a:cs typeface="Courier New" pitchFamily="34" charset="-120"/>
              </a:rPr>
              <a:t>kind: Ingress</a:t>
            </a:r>
            <a:endParaRPr lang="en-US" sz="1150" dirty="0"/>
          </a:p>
          <a:p>
            <a:pPr indent="0" marL="0">
              <a:buNone/>
            </a:pPr>
            <a:r>
              <a:rPr lang="en-US" sz="1150" dirty="0">
                <a:solidFill>
                  <a:srgbClr val="CFEFEA"/>
                </a:solidFill>
                <a:latin typeface="Courier New" pitchFamily="34" charset="0"/>
                <a:ea typeface="Courier New" pitchFamily="34" charset="-122"/>
                <a:cs typeface="Courier New" pitchFamily="34" charset="-120"/>
              </a:rPr>
              <a:t>metadata:</a:t>
            </a:r>
            <a:endParaRPr lang="en-US" sz="1150" dirty="0"/>
          </a:p>
          <a:p>
            <a:pPr indent="0" marL="0">
              <a:buNone/>
            </a:pPr>
            <a:r>
              <a:rPr lang="en-US" sz="1150" dirty="0">
                <a:solidFill>
                  <a:srgbClr val="CFEFEA"/>
                </a:solidFill>
                <a:latin typeface="Courier New" pitchFamily="34" charset="0"/>
                <a:ea typeface="Courier New" pitchFamily="34" charset="-122"/>
                <a:cs typeface="Courier New" pitchFamily="34" charset="-120"/>
              </a:rPr>
              <a:t>  name: web-ingress</a:t>
            </a:r>
            <a:endParaRPr lang="en-US" sz="1150" dirty="0"/>
          </a:p>
          <a:p>
            <a:pPr indent="0" marL="0">
              <a:buNone/>
            </a:pPr>
            <a:r>
              <a:rPr lang="en-US" sz="1150" dirty="0">
                <a:solidFill>
                  <a:srgbClr val="CFEFEA"/>
                </a:solidFill>
                <a:latin typeface="Courier New" pitchFamily="34" charset="0"/>
                <a:ea typeface="Courier New" pitchFamily="34" charset="-122"/>
                <a:cs typeface="Courier New" pitchFamily="34" charset="-120"/>
              </a:rPr>
              <a:t>  annotations:</a:t>
            </a:r>
            <a:endParaRPr lang="en-US" sz="1150" dirty="0"/>
          </a:p>
          <a:p>
            <a:pPr indent="0" marL="0">
              <a:buNone/>
            </a:pPr>
            <a:r>
              <a:rPr lang="en-US" sz="1150" dirty="0">
                <a:solidFill>
                  <a:srgbClr val="CFEFEA"/>
                </a:solidFill>
                <a:latin typeface="Courier New" pitchFamily="34" charset="0"/>
                <a:ea typeface="Courier New" pitchFamily="34" charset="-122"/>
                <a:cs typeface="Courier New" pitchFamily="34" charset="-120"/>
              </a:rPr>
              <a:t>    nginx.ingress.kubernetes.io/rewrite-target: /</a:t>
            </a:r>
            <a:endParaRPr lang="en-US" sz="1150" dirty="0"/>
          </a:p>
          <a:p>
            <a:pPr indent="0" marL="0">
              <a:buNone/>
            </a:pPr>
            <a:r>
              <a:rPr lang="en-US" sz="1150" dirty="0">
                <a:solidFill>
                  <a:srgbClr val="CFEFEA"/>
                </a:solidFill>
                <a:latin typeface="Courier New" pitchFamily="34" charset="0"/>
                <a:ea typeface="Courier New" pitchFamily="34" charset="-122"/>
                <a:cs typeface="Courier New" pitchFamily="34" charset="-120"/>
              </a:rPr>
              <a:t>spec:</a:t>
            </a:r>
            <a:endParaRPr lang="en-US" sz="1150" dirty="0"/>
          </a:p>
          <a:p>
            <a:pPr indent="0" marL="0">
              <a:buNone/>
            </a:pPr>
            <a:r>
              <a:rPr lang="en-US" sz="1150" dirty="0">
                <a:solidFill>
                  <a:srgbClr val="CFEFEA"/>
                </a:solidFill>
                <a:latin typeface="Courier New" pitchFamily="34" charset="0"/>
                <a:ea typeface="Courier New" pitchFamily="34" charset="-122"/>
                <a:cs typeface="Courier New" pitchFamily="34" charset="-120"/>
              </a:rPr>
              <a:t>  ingressClassName: nginx</a:t>
            </a:r>
            <a:endParaRPr lang="en-US" sz="1150" dirty="0"/>
          </a:p>
          <a:p>
            <a:pPr indent="0" marL="0">
              <a:buNone/>
            </a:pPr>
            <a:r>
              <a:rPr lang="en-US" sz="1150" dirty="0">
                <a:solidFill>
                  <a:srgbClr val="CFEFEA"/>
                </a:solidFill>
                <a:latin typeface="Courier New" pitchFamily="34" charset="0"/>
                <a:ea typeface="Courier New" pitchFamily="34" charset="-122"/>
                <a:cs typeface="Courier New" pitchFamily="34" charset="-120"/>
              </a:rPr>
              <a:t>  rules:</a:t>
            </a:r>
            <a:endParaRPr lang="en-US" sz="1150" dirty="0"/>
          </a:p>
          <a:p>
            <a:pPr indent="0" marL="0">
              <a:buNone/>
            </a:pPr>
            <a:r>
              <a:rPr lang="en-US" sz="1150" dirty="0">
                <a:solidFill>
                  <a:srgbClr val="CFEFEA"/>
                </a:solidFill>
                <a:latin typeface="Courier New" pitchFamily="34" charset="0"/>
                <a:ea typeface="Courier New" pitchFamily="34" charset="-122"/>
                <a:cs typeface="Courier New" pitchFamily="34" charset="-120"/>
              </a:rPr>
              <a:t>  - host: app.example.com</a:t>
            </a:r>
            <a:endParaRPr lang="en-US" sz="1150" dirty="0"/>
          </a:p>
          <a:p>
            <a:pPr indent="0" marL="0">
              <a:buNone/>
            </a:pPr>
            <a:r>
              <a:rPr lang="en-US" sz="1150" dirty="0">
                <a:solidFill>
                  <a:srgbClr val="CFEFEA"/>
                </a:solidFill>
                <a:latin typeface="Courier New" pitchFamily="34" charset="0"/>
                <a:ea typeface="Courier New" pitchFamily="34" charset="-122"/>
                <a:cs typeface="Courier New" pitchFamily="34" charset="-120"/>
              </a:rPr>
              <a:t>    http:</a:t>
            </a:r>
            <a:endParaRPr lang="en-US" sz="1150" dirty="0"/>
          </a:p>
          <a:p>
            <a:pPr indent="0" marL="0">
              <a:buNone/>
            </a:pPr>
            <a:r>
              <a:rPr lang="en-US" sz="1150" dirty="0">
                <a:solidFill>
                  <a:srgbClr val="CFEFEA"/>
                </a:solidFill>
                <a:latin typeface="Courier New" pitchFamily="34" charset="0"/>
                <a:ea typeface="Courier New" pitchFamily="34" charset="-122"/>
                <a:cs typeface="Courier New" pitchFamily="34" charset="-120"/>
              </a:rPr>
              <a:t>      paths:</a:t>
            </a:r>
            <a:endParaRPr lang="en-US" sz="1150" dirty="0"/>
          </a:p>
          <a:p>
            <a:pPr indent="0" marL="0">
              <a:buNone/>
            </a:pPr>
            <a:r>
              <a:rPr lang="en-US" sz="1150" dirty="0">
                <a:solidFill>
                  <a:srgbClr val="CFEFEA"/>
                </a:solidFill>
                <a:latin typeface="Courier New" pitchFamily="34" charset="0"/>
                <a:ea typeface="Courier New" pitchFamily="34" charset="-122"/>
                <a:cs typeface="Courier New" pitchFamily="34" charset="-120"/>
              </a:rPr>
              <a:t>      - path: /</a:t>
            </a:r>
            <a:endParaRPr lang="en-US" sz="1150" dirty="0"/>
          </a:p>
          <a:p>
            <a:pPr indent="0" marL="0">
              <a:buNone/>
            </a:pPr>
            <a:r>
              <a:rPr lang="en-US" sz="1150" dirty="0">
                <a:solidFill>
                  <a:srgbClr val="CFEFEA"/>
                </a:solidFill>
                <a:latin typeface="Courier New" pitchFamily="34" charset="0"/>
                <a:ea typeface="Courier New" pitchFamily="34" charset="-122"/>
                <a:cs typeface="Courier New" pitchFamily="34" charset="-120"/>
              </a:rPr>
              <a:t>        pathType: Prefix</a:t>
            </a:r>
            <a:endParaRPr lang="en-US" sz="1150" dirty="0"/>
          </a:p>
          <a:p>
            <a:pPr indent="0" marL="0">
              <a:buNone/>
            </a:pPr>
            <a:r>
              <a:rPr lang="en-US" sz="1150" dirty="0">
                <a:solidFill>
                  <a:srgbClr val="CFEFEA"/>
                </a:solidFill>
                <a:latin typeface="Courier New" pitchFamily="34" charset="0"/>
                <a:ea typeface="Courier New" pitchFamily="34" charset="-122"/>
                <a:cs typeface="Courier New" pitchFamily="34" charset="-120"/>
              </a:rPr>
              <a:t>        backend:</a:t>
            </a:r>
            <a:endParaRPr lang="en-US" sz="1150" dirty="0"/>
          </a:p>
          <a:p>
            <a:pPr indent="0" marL="0">
              <a:buNone/>
            </a:pPr>
            <a:r>
              <a:rPr lang="en-US" sz="1150" dirty="0">
                <a:solidFill>
                  <a:srgbClr val="CFEFEA"/>
                </a:solidFill>
                <a:latin typeface="Courier New" pitchFamily="34" charset="0"/>
                <a:ea typeface="Courier New" pitchFamily="34" charset="-122"/>
                <a:cs typeface="Courier New" pitchFamily="34" charset="-120"/>
              </a:rPr>
              <a:t>          service:</a:t>
            </a:r>
            <a:endParaRPr lang="en-US" sz="1150" dirty="0"/>
          </a:p>
          <a:p>
            <a:pPr indent="0" marL="0">
              <a:buNone/>
            </a:pPr>
            <a:r>
              <a:rPr lang="en-US" sz="1150" dirty="0">
                <a:solidFill>
                  <a:srgbClr val="CFEFEA"/>
                </a:solidFill>
                <a:latin typeface="Courier New" pitchFamily="34" charset="0"/>
                <a:ea typeface="Courier New" pitchFamily="34" charset="-122"/>
                <a:cs typeface="Courier New" pitchFamily="34" charset="-120"/>
              </a:rPr>
              <a:t>            name: web-app-svc</a:t>
            </a:r>
            <a:endParaRPr lang="en-US" sz="1150" dirty="0"/>
          </a:p>
          <a:p>
            <a:pPr indent="0" marL="0">
              <a:buNone/>
            </a:pPr>
            <a:r>
              <a:rPr lang="en-US" sz="1150" dirty="0">
                <a:solidFill>
                  <a:srgbClr val="CFEFEA"/>
                </a:solidFill>
                <a:latin typeface="Courier New" pitchFamily="34" charset="0"/>
                <a:ea typeface="Courier New" pitchFamily="34" charset="-122"/>
                <a:cs typeface="Courier New" pitchFamily="34" charset="-120"/>
              </a:rPr>
              <a:t>            port:</a:t>
            </a:r>
            <a:endParaRPr lang="en-US" sz="1150" dirty="0"/>
          </a:p>
          <a:p>
            <a:pPr indent="0" marL="0">
              <a:buNone/>
            </a:pPr>
            <a:r>
              <a:rPr lang="en-US" sz="1150" dirty="0">
                <a:solidFill>
                  <a:srgbClr val="CFEFEA"/>
                </a:solidFill>
                <a:latin typeface="Courier New" pitchFamily="34" charset="0"/>
                <a:ea typeface="Courier New" pitchFamily="34" charset="-122"/>
                <a:cs typeface="Courier New" pitchFamily="34" charset="-120"/>
              </a:rPr>
              <a:t>              number: 80</a:t>
            </a:r>
            <a:endParaRPr lang="en-US" sz="1150" dirty="0"/>
          </a:p>
        </p:txBody>
      </p:sp>
      <p:sp>
        <p:nvSpPr>
          <p:cNvPr id="6" name="Text 4"/>
          <p:cNvSpPr/>
          <p:nvPr/>
        </p:nvSpPr>
        <p:spPr>
          <a:xfrm>
            <a:off x="640080" y="5376672"/>
            <a:ext cx="10881360" cy="1024128"/>
          </a:xfrm>
          <a:prstGeom prst="rect">
            <a:avLst/>
          </a:prstGeom>
          <a:noFill/>
          <a:ln/>
        </p:spPr>
        <p:txBody>
          <a:bodyPr wrap="square" lIns="0" tIns="0" rIns="0" bIns="0" rtlCol="0" anchor="t"/>
          <a:lstStyle/>
          <a:p>
            <a:pPr marL="342900" indent="-342900">
              <a:spcAft>
                <a:spcPts val="500"/>
              </a:spcAft>
              <a:buSzPct val="100000"/>
              <a:buChar char="•"/>
            </a:pPr>
            <a:r>
              <a:rPr lang="en-US" sz="1200" dirty="0">
                <a:solidFill>
                  <a:srgbClr val="1E293B"/>
                </a:solidFill>
                <a:latin typeface="Calibri" pitchFamily="34" charset="0"/>
                <a:ea typeface="Calibri" pitchFamily="34" charset="-122"/>
                <a:cs typeface="Calibri" pitchFamily="34" charset="-120"/>
              </a:rPr>
              <a:t>ingressClassName tells Kubernetes WHICH installed Ingress controller should handle this object — required when more than one controller is present in a cluster.</a:t>
            </a:r>
            <a:endParaRPr lang="en-US" sz="1200" dirty="0"/>
          </a:p>
          <a:p>
            <a:pPr marL="342900" indent="-342900">
              <a:spcAft>
                <a:spcPts val="500"/>
              </a:spcAft>
              <a:buSzPct val="100000"/>
              <a:buChar char="•"/>
            </a:pPr>
            <a:r>
              <a:rPr lang="en-US" sz="1200" dirty="0">
                <a:solidFill>
                  <a:srgbClr val="1E293B"/>
                </a:solidFill>
                <a:latin typeface="Calibri" pitchFamily="34" charset="0"/>
                <a:ea typeface="Calibri" pitchFamily="34" charset="-122"/>
                <a:cs typeface="Calibri" pitchFamily="34" charset="-120"/>
              </a:rPr>
              <a:t>pathType: Prefix vs Exact vs ImplementationSpecific changes path-matching semantics — a frequently tested distinction.</a:t>
            </a:r>
            <a:endParaRPr lang="en-US" sz="1200" dirty="0"/>
          </a:p>
        </p:txBody>
      </p:sp>
      <p:sp>
        <p:nvSpPr>
          <p:cNvPr id="7" name="Text 5"/>
          <p:cNvSpPr/>
          <p:nvPr/>
        </p:nvSpPr>
        <p:spPr>
          <a:xfrm>
            <a:off x="457200" y="6446520"/>
            <a:ext cx="6400800" cy="27432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CKA v1.36 · Module 2</a:t>
            </a:r>
            <a:endParaRPr lang="en-US" sz="900" dirty="0"/>
          </a:p>
        </p:txBody>
      </p:sp>
      <p:sp>
        <p:nvSpPr>
          <p:cNvPr id="8" name="Text 6"/>
          <p:cNvSpPr/>
          <p:nvPr/>
        </p:nvSpPr>
        <p:spPr>
          <a:xfrm>
            <a:off x="11247120" y="6446520"/>
            <a:ext cx="4572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49</a:t>
            </a:r>
            <a:endParaRPr lang="en-US" sz="9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65760"/>
            <a:ext cx="9144000" cy="320040"/>
          </a:xfrm>
          <a:prstGeom prst="rect">
            <a:avLst/>
          </a:prstGeom>
          <a:noFill/>
          <a:ln/>
        </p:spPr>
        <p:txBody>
          <a:bodyPr wrap="square" lIns="0" tIns="0" rIns="0" bIns="0" rtlCol="0" anchor="ctr"/>
          <a:lstStyle/>
          <a:p>
            <a:pPr indent="0" marL="0">
              <a:buNone/>
            </a:pPr>
            <a:r>
              <a:rPr lang="en-US" sz="1150" b="1" spc="150" kern="0" dirty="0">
                <a:solidFill>
                  <a:srgbClr val="1C7293"/>
                </a:solidFill>
                <a:latin typeface="Calibri" pitchFamily="34" charset="0"/>
                <a:ea typeface="Calibri" pitchFamily="34" charset="-122"/>
                <a:cs typeface="Calibri" pitchFamily="34" charset="-120"/>
              </a:rPr>
              <a:t>INGRESS</a:t>
            </a:r>
            <a:endParaRPr lang="en-US" sz="1150" dirty="0"/>
          </a:p>
        </p:txBody>
      </p:sp>
      <p:sp>
        <p:nvSpPr>
          <p:cNvPr id="3" name="Text 1"/>
          <p:cNvSpPr/>
          <p:nvPr/>
        </p:nvSpPr>
        <p:spPr>
          <a:xfrm>
            <a:off x="640080" y="658368"/>
            <a:ext cx="10881360" cy="685800"/>
          </a:xfrm>
          <a:prstGeom prst="rect">
            <a:avLst/>
          </a:prstGeom>
          <a:noFill/>
          <a:ln/>
        </p:spPr>
        <p:txBody>
          <a:bodyPr wrap="square" lIns="0" tIns="0" rIns="0" bIns="0" rtlCol="0" anchor="ctr"/>
          <a:lstStyle/>
          <a:p>
            <a:pPr indent="0" marL="0">
              <a:buNone/>
            </a:pPr>
            <a:r>
              <a:rPr lang="en-US" sz="2600" b="1" dirty="0">
                <a:solidFill>
                  <a:srgbClr val="21295C"/>
                </a:solidFill>
                <a:latin typeface="Cambria" pitchFamily="34" charset="0"/>
                <a:ea typeface="Cambria" pitchFamily="34" charset="-122"/>
                <a:cs typeface="Cambria" pitchFamily="34" charset="-120"/>
              </a:rPr>
              <a:t>pathType Semantics — A Frequent Exam Distinction</a:t>
            </a:r>
            <a:endParaRPr lang="en-US" sz="2600" dirty="0"/>
          </a:p>
        </p:txBody>
      </p:sp>
      <p:sp>
        <p:nvSpPr>
          <p:cNvPr id="4" name="Shape 2"/>
          <p:cNvSpPr/>
          <p:nvPr/>
        </p:nvSpPr>
        <p:spPr>
          <a:xfrm>
            <a:off x="640080" y="1371600"/>
            <a:ext cx="10881360" cy="0"/>
          </a:xfrm>
          <a:prstGeom prst="line">
            <a:avLst/>
          </a:prstGeom>
          <a:noFill/>
          <a:ln w="12700">
            <a:solidFill>
              <a:srgbClr val="D7E3E8"/>
            </a:solidFill>
            <a:prstDash val="solid"/>
          </a:ln>
        </p:spPr>
      </p:sp>
      <p:sp>
        <p:nvSpPr>
          <p:cNvPr id="5" name="Shape 3"/>
          <p:cNvSpPr/>
          <p:nvPr/>
        </p:nvSpPr>
        <p:spPr>
          <a:xfrm>
            <a:off x="11109960" y="411480"/>
            <a:ext cx="502920" cy="502920"/>
          </a:xfrm>
          <a:prstGeom prst="ellipse">
            <a:avLst/>
          </a:prstGeom>
          <a:solidFill>
            <a:srgbClr val="EAF4F8"/>
          </a:solidFill>
          <a:ln w="15875">
            <a:solidFill>
              <a:srgbClr val="1C7293"/>
            </a:solidFill>
            <a:prstDash val="solid"/>
          </a:ln>
        </p:spPr>
      </p:sp>
      <p:sp>
        <p:nvSpPr>
          <p:cNvPr id="6" name="Text 4"/>
          <p:cNvSpPr/>
          <p:nvPr/>
        </p:nvSpPr>
        <p:spPr>
          <a:xfrm>
            <a:off x="11109960" y="411480"/>
            <a:ext cx="502920" cy="502920"/>
          </a:xfrm>
          <a:prstGeom prst="rect">
            <a:avLst/>
          </a:prstGeom>
          <a:noFill/>
          <a:ln/>
        </p:spPr>
        <p:txBody>
          <a:bodyPr wrap="square" lIns="0" tIns="0" rIns="0" bIns="0" rtlCol="0" anchor="ctr"/>
          <a:lstStyle/>
          <a:p>
            <a:pPr algn="ctr" indent="0" marL="0">
              <a:buNone/>
            </a:pPr>
            <a:r>
              <a:rPr lang="en-US" sz="1600" b="1" dirty="0">
                <a:solidFill>
                  <a:srgbClr val="1C7293"/>
                </a:solidFill>
                <a:latin typeface="Calibri" pitchFamily="34" charset="0"/>
                <a:ea typeface="Calibri" pitchFamily="34" charset="-122"/>
                <a:cs typeface="Calibri" pitchFamily="34" charset="-120"/>
              </a:rPr>
              <a:t>13</a:t>
            </a:r>
            <a:endParaRPr lang="en-US" sz="1600" dirty="0"/>
          </a:p>
        </p:txBody>
      </p:sp>
      <p:sp>
        <p:nvSpPr>
          <p:cNvPr id="7" name="Text 5"/>
          <p:cNvSpPr/>
          <p:nvPr/>
        </p:nvSpPr>
        <p:spPr>
          <a:xfrm>
            <a:off x="640080" y="1600200"/>
            <a:ext cx="5212080" cy="365760"/>
          </a:xfrm>
          <a:prstGeom prst="rect">
            <a:avLst/>
          </a:prstGeom>
          <a:noFill/>
          <a:ln/>
        </p:spPr>
        <p:txBody>
          <a:bodyPr wrap="square" lIns="0" tIns="0" rIns="0" bIns="0" rtlCol="0" anchor="ctr"/>
          <a:lstStyle/>
          <a:p>
            <a:pPr indent="0" marL="0">
              <a:buNone/>
            </a:pPr>
            <a:r>
              <a:rPr lang="en-US" sz="1450" b="1" dirty="0">
                <a:solidFill>
                  <a:srgbClr val="065A82"/>
                </a:solidFill>
                <a:latin typeface="Calibri" pitchFamily="34" charset="0"/>
                <a:ea typeface="Calibri" pitchFamily="34" charset="-122"/>
                <a:cs typeface="Calibri" pitchFamily="34" charset="-120"/>
              </a:rPr>
              <a:t>Prefix</a:t>
            </a:r>
            <a:endParaRPr lang="en-US" sz="1450" dirty="0"/>
          </a:p>
        </p:txBody>
      </p:sp>
      <p:sp>
        <p:nvSpPr>
          <p:cNvPr id="8" name="Text 6"/>
          <p:cNvSpPr/>
          <p:nvPr/>
        </p:nvSpPr>
        <p:spPr>
          <a:xfrm>
            <a:off x="640080" y="2011680"/>
            <a:ext cx="5212080" cy="3931920"/>
          </a:xfrm>
          <a:prstGeom prst="rect">
            <a:avLst/>
          </a:prstGeom>
          <a:noFill/>
          <a:ln/>
        </p:spPr>
        <p:txBody>
          <a:bodyPr wrap="square" lIns="0" tIns="0" rIns="0" bIns="0" rtlCol="0" anchor="t"/>
          <a:lstStyle/>
          <a:p>
            <a:pPr marL="342900" indent="-342900">
              <a:spcAft>
                <a:spcPts val="1000"/>
              </a:spcAft>
              <a:buSzPct val="100000"/>
              <a:buChar char="•"/>
            </a:pPr>
            <a:r>
              <a:rPr lang="en-US" sz="1400" dirty="0">
                <a:solidFill>
                  <a:srgbClr val="1E293B"/>
                </a:solidFill>
                <a:latin typeface="Calibri" pitchFamily="34" charset="0"/>
                <a:ea typeface="Calibri" pitchFamily="34" charset="-122"/>
                <a:cs typeface="Calibri" pitchFamily="34" charset="-120"/>
              </a:rPr>
              <a:t>Matches based on a URL path segment prefix</a:t>
            </a:r>
            <a:endParaRPr lang="en-US" sz="1400" dirty="0"/>
          </a:p>
          <a:p>
            <a:pPr marL="342900" indent="-342900">
              <a:spcAft>
                <a:spcPts val="1000"/>
              </a:spcAft>
              <a:buSzPct val="100000"/>
              <a:buChar char="•"/>
            </a:pPr>
            <a:r>
              <a:rPr lang="en-US" sz="1400" dirty="0">
                <a:solidFill>
                  <a:srgbClr val="1E293B"/>
                </a:solidFill>
                <a:latin typeface="Calibri" pitchFamily="34" charset="0"/>
                <a:ea typeface="Calibri" pitchFamily="34" charset="-122"/>
                <a:cs typeface="Calibri" pitchFamily="34" charset="-120"/>
              </a:rPr>
              <a:t>/app matches /app, /app/, /app/foo</a:t>
            </a:r>
            <a:endParaRPr lang="en-US" sz="1400" dirty="0"/>
          </a:p>
          <a:p>
            <a:pPr marL="342900" indent="-342900">
              <a:spcAft>
                <a:spcPts val="1000"/>
              </a:spcAft>
              <a:buSzPct val="100000"/>
              <a:buChar char="•"/>
            </a:pPr>
            <a:r>
              <a:rPr lang="en-US" sz="1400" dirty="0">
                <a:solidFill>
                  <a:srgbClr val="1E293B"/>
                </a:solidFill>
                <a:latin typeface="Calibri" pitchFamily="34" charset="0"/>
                <a:ea typeface="Calibri" pitchFamily="34" charset="-122"/>
                <a:cs typeface="Calibri" pitchFamily="34" charset="-120"/>
              </a:rPr>
              <a:t>Most commonly used pathType</a:t>
            </a:r>
            <a:endParaRPr lang="en-US" sz="1400" dirty="0"/>
          </a:p>
        </p:txBody>
      </p:sp>
      <p:sp>
        <p:nvSpPr>
          <p:cNvPr id="9" name="Text 7"/>
          <p:cNvSpPr/>
          <p:nvPr/>
        </p:nvSpPr>
        <p:spPr>
          <a:xfrm>
            <a:off x="6309360" y="1600200"/>
            <a:ext cx="5212080" cy="365760"/>
          </a:xfrm>
          <a:prstGeom prst="rect">
            <a:avLst/>
          </a:prstGeom>
          <a:noFill/>
          <a:ln/>
        </p:spPr>
        <p:txBody>
          <a:bodyPr wrap="square" lIns="0" tIns="0" rIns="0" bIns="0" rtlCol="0" anchor="ctr"/>
          <a:lstStyle/>
          <a:p>
            <a:pPr indent="0" marL="0">
              <a:buNone/>
            </a:pPr>
            <a:r>
              <a:rPr lang="en-US" sz="1450" b="1" dirty="0">
                <a:solidFill>
                  <a:srgbClr val="065A82"/>
                </a:solidFill>
                <a:latin typeface="Calibri" pitchFamily="34" charset="0"/>
                <a:ea typeface="Calibri" pitchFamily="34" charset="-122"/>
                <a:cs typeface="Calibri" pitchFamily="34" charset="-120"/>
              </a:rPr>
              <a:t>Exact / ImplementationSpecific</a:t>
            </a:r>
            <a:endParaRPr lang="en-US" sz="1450" dirty="0"/>
          </a:p>
        </p:txBody>
      </p:sp>
      <p:sp>
        <p:nvSpPr>
          <p:cNvPr id="10" name="Text 8"/>
          <p:cNvSpPr/>
          <p:nvPr/>
        </p:nvSpPr>
        <p:spPr>
          <a:xfrm>
            <a:off x="6309360" y="2011680"/>
            <a:ext cx="5212080" cy="3931920"/>
          </a:xfrm>
          <a:prstGeom prst="rect">
            <a:avLst/>
          </a:prstGeom>
          <a:noFill/>
          <a:ln/>
        </p:spPr>
        <p:txBody>
          <a:bodyPr wrap="square" lIns="0" tIns="0" rIns="0" bIns="0" rtlCol="0" anchor="t"/>
          <a:lstStyle/>
          <a:p>
            <a:pPr marL="342900" indent="-342900">
              <a:spcAft>
                <a:spcPts val="1000"/>
              </a:spcAft>
              <a:buSzPct val="100000"/>
              <a:buChar char="•"/>
            </a:pPr>
            <a:r>
              <a:rPr lang="en-US" sz="1400" dirty="0">
                <a:solidFill>
                  <a:srgbClr val="1E293B"/>
                </a:solidFill>
                <a:latin typeface="Calibri" pitchFamily="34" charset="0"/>
                <a:ea typeface="Calibri" pitchFamily="34" charset="-122"/>
                <a:cs typeface="Calibri" pitchFamily="34" charset="-120"/>
              </a:rPr>
              <a:t>Exact — must match the path EXACTLY, case-sensitive, no sub-paths</a:t>
            </a:r>
            <a:endParaRPr lang="en-US" sz="1400" dirty="0"/>
          </a:p>
          <a:p>
            <a:pPr marL="342900" indent="-342900">
              <a:spcAft>
                <a:spcPts val="1000"/>
              </a:spcAft>
              <a:buSzPct val="100000"/>
              <a:buChar char="•"/>
            </a:pPr>
            <a:r>
              <a:rPr lang="en-US" sz="1400" dirty="0">
                <a:solidFill>
                  <a:srgbClr val="1E293B"/>
                </a:solidFill>
                <a:latin typeface="Calibri" pitchFamily="34" charset="0"/>
                <a:ea typeface="Calibri" pitchFamily="34" charset="-122"/>
                <a:cs typeface="Calibri" pitchFamily="34" charset="-120"/>
              </a:rPr>
              <a:t>ImplementationSpecific — matching behavior depends entirely on the Ingress controller in use</a:t>
            </a:r>
            <a:endParaRPr lang="en-US" sz="1400" dirty="0"/>
          </a:p>
          <a:p>
            <a:pPr marL="342900" indent="-342900">
              <a:spcAft>
                <a:spcPts val="1000"/>
              </a:spcAft>
              <a:buSzPct val="100000"/>
              <a:buChar char="•"/>
            </a:pPr>
            <a:r>
              <a:rPr lang="en-US" sz="1400" dirty="0">
                <a:solidFill>
                  <a:srgbClr val="1E293B"/>
                </a:solidFill>
                <a:latin typeface="Calibri" pitchFamily="34" charset="0"/>
                <a:ea typeface="Calibri" pitchFamily="34" charset="-122"/>
                <a:cs typeface="Calibri" pitchFamily="34" charset="-120"/>
              </a:rPr>
              <a:t>Always confirm controller-specific behavior before relying on ImplementationSpecific</a:t>
            </a:r>
            <a:endParaRPr lang="en-US" sz="1400" dirty="0"/>
          </a:p>
        </p:txBody>
      </p:sp>
      <p:sp>
        <p:nvSpPr>
          <p:cNvPr id="11" name="Text 9"/>
          <p:cNvSpPr/>
          <p:nvPr/>
        </p:nvSpPr>
        <p:spPr>
          <a:xfrm>
            <a:off x="457200" y="6446520"/>
            <a:ext cx="6400800" cy="27432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CKA v1.36 · Module 2</a:t>
            </a:r>
            <a:endParaRPr lang="en-US" sz="900" dirty="0"/>
          </a:p>
        </p:txBody>
      </p:sp>
      <p:sp>
        <p:nvSpPr>
          <p:cNvPr id="12" name="Text 10"/>
          <p:cNvSpPr/>
          <p:nvPr/>
        </p:nvSpPr>
        <p:spPr>
          <a:xfrm>
            <a:off x="11247120" y="6446520"/>
            <a:ext cx="4572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50</a:t>
            </a:r>
            <a:endParaRPr lang="en-US" sz="9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65760"/>
            <a:ext cx="9144000" cy="320040"/>
          </a:xfrm>
          <a:prstGeom prst="rect">
            <a:avLst/>
          </a:prstGeom>
          <a:noFill/>
          <a:ln/>
        </p:spPr>
        <p:txBody>
          <a:bodyPr wrap="square" lIns="0" tIns="0" rIns="0" bIns="0" rtlCol="0" anchor="ctr"/>
          <a:lstStyle/>
          <a:p>
            <a:pPr indent="0" marL="0">
              <a:buNone/>
            </a:pPr>
            <a:r>
              <a:rPr lang="en-US" sz="1150" b="1" spc="150" kern="0" dirty="0">
                <a:solidFill>
                  <a:srgbClr val="1C7293"/>
                </a:solidFill>
                <a:latin typeface="Calibri" pitchFamily="34" charset="0"/>
                <a:ea typeface="Calibri" pitchFamily="34" charset="-122"/>
                <a:cs typeface="Calibri" pitchFamily="34" charset="-120"/>
              </a:rPr>
              <a:t>INGRESS</a:t>
            </a:r>
            <a:endParaRPr lang="en-US" sz="1150" dirty="0"/>
          </a:p>
        </p:txBody>
      </p:sp>
      <p:sp>
        <p:nvSpPr>
          <p:cNvPr id="3" name="Text 1"/>
          <p:cNvSpPr/>
          <p:nvPr/>
        </p:nvSpPr>
        <p:spPr>
          <a:xfrm>
            <a:off x="640080" y="658368"/>
            <a:ext cx="10881360" cy="548640"/>
          </a:xfrm>
          <a:prstGeom prst="rect">
            <a:avLst/>
          </a:prstGeom>
          <a:noFill/>
          <a:ln/>
        </p:spPr>
        <p:txBody>
          <a:bodyPr wrap="square" lIns="0" tIns="0" rIns="0" bIns="0" rtlCol="0" anchor="ctr"/>
          <a:lstStyle/>
          <a:p>
            <a:pPr indent="0" marL="0">
              <a:buNone/>
            </a:pPr>
            <a:r>
              <a:rPr lang="en-US" sz="2400" b="1" dirty="0">
                <a:solidFill>
                  <a:srgbClr val="21295C"/>
                </a:solidFill>
                <a:latin typeface="Cambria" pitchFamily="34" charset="0"/>
                <a:ea typeface="Cambria" pitchFamily="34" charset="-122"/>
                <a:cs typeface="Cambria" pitchFamily="34" charset="-120"/>
              </a:rPr>
              <a:t>TLS Termination at the Ingress</a:t>
            </a:r>
            <a:endParaRPr lang="en-US" sz="2400" dirty="0"/>
          </a:p>
        </p:txBody>
      </p:sp>
      <p:sp>
        <p:nvSpPr>
          <p:cNvPr id="4" name="Shape 2"/>
          <p:cNvSpPr/>
          <p:nvPr/>
        </p:nvSpPr>
        <p:spPr>
          <a:xfrm>
            <a:off x="640080" y="1371600"/>
            <a:ext cx="10881360" cy="3529584"/>
          </a:xfrm>
          <a:prstGeom prst="roundRect">
            <a:avLst>
              <a:gd name="adj" fmla="val 1554"/>
            </a:avLst>
          </a:prstGeom>
          <a:solidFill>
            <a:srgbClr val="0B2330"/>
          </a:solidFill>
          <a:ln/>
          <a:effectLst>
            <a:outerShdw sx="100000" sy="100000" kx="0" ky="0" algn="bl" rotWithShape="0" blurRad="88900" dist="25400" dir="2700000">
              <a:srgbClr val="1B2A36">
                <a:alpha val="12000"/>
              </a:srgbClr>
            </a:outerShdw>
          </a:effectLst>
        </p:spPr>
      </p:sp>
      <p:sp>
        <p:nvSpPr>
          <p:cNvPr id="5" name="Text 3"/>
          <p:cNvSpPr/>
          <p:nvPr/>
        </p:nvSpPr>
        <p:spPr>
          <a:xfrm>
            <a:off x="868680" y="1536192"/>
            <a:ext cx="10424160" cy="3200400"/>
          </a:xfrm>
          <a:prstGeom prst="rect">
            <a:avLst/>
          </a:prstGeom>
          <a:noFill/>
          <a:ln/>
        </p:spPr>
        <p:txBody>
          <a:bodyPr wrap="square" lIns="0" tIns="0" rIns="0" bIns="0" rtlCol="0" anchor="t"/>
          <a:lstStyle/>
          <a:p>
            <a:pPr indent="0" marL="0">
              <a:buNone/>
            </a:pPr>
            <a:r>
              <a:rPr lang="en-US" sz="1350" dirty="0">
                <a:solidFill>
                  <a:srgbClr val="CFEFEA"/>
                </a:solidFill>
                <a:latin typeface="Courier New" pitchFamily="34" charset="0"/>
                <a:ea typeface="Courier New" pitchFamily="34" charset="-122"/>
                <a:cs typeface="Courier New" pitchFamily="34" charset="-120"/>
              </a:rPr>
              <a:t>apiVersion: networking.k8s.io/v1</a:t>
            </a:r>
            <a:endParaRPr lang="en-US" sz="1350" dirty="0"/>
          </a:p>
          <a:p>
            <a:pPr indent="0" marL="0">
              <a:buNone/>
            </a:pPr>
            <a:r>
              <a:rPr lang="en-US" sz="1350" dirty="0">
                <a:solidFill>
                  <a:srgbClr val="CFEFEA"/>
                </a:solidFill>
                <a:latin typeface="Courier New" pitchFamily="34" charset="0"/>
                <a:ea typeface="Courier New" pitchFamily="34" charset="-122"/>
                <a:cs typeface="Courier New" pitchFamily="34" charset="-120"/>
              </a:rPr>
              <a:t>kind: Ingress</a:t>
            </a:r>
            <a:endParaRPr lang="en-US" sz="1350" dirty="0"/>
          </a:p>
          <a:p>
            <a:pPr indent="0" marL="0">
              <a:buNone/>
            </a:pPr>
            <a:r>
              <a:rPr lang="en-US" sz="1350" dirty="0">
                <a:solidFill>
                  <a:srgbClr val="CFEFEA"/>
                </a:solidFill>
                <a:latin typeface="Courier New" pitchFamily="34" charset="0"/>
                <a:ea typeface="Courier New" pitchFamily="34" charset="-122"/>
                <a:cs typeface="Courier New" pitchFamily="34" charset="-120"/>
              </a:rPr>
              <a:t>metadata: { name: secure-ingress }</a:t>
            </a:r>
            <a:endParaRPr lang="en-US" sz="1350" dirty="0"/>
          </a:p>
          <a:p>
            <a:pPr indent="0" marL="0">
              <a:buNone/>
            </a:pPr>
            <a:r>
              <a:rPr lang="en-US" sz="1350" dirty="0">
                <a:solidFill>
                  <a:srgbClr val="CFEFEA"/>
                </a:solidFill>
                <a:latin typeface="Courier New" pitchFamily="34" charset="0"/>
                <a:ea typeface="Courier New" pitchFamily="34" charset="-122"/>
                <a:cs typeface="Courier New" pitchFamily="34" charset="-120"/>
              </a:rPr>
              <a:t>spec:</a:t>
            </a:r>
            <a:endParaRPr lang="en-US" sz="1350" dirty="0"/>
          </a:p>
          <a:p>
            <a:pPr indent="0" marL="0">
              <a:buNone/>
            </a:pPr>
            <a:r>
              <a:rPr lang="en-US" sz="1350" dirty="0">
                <a:solidFill>
                  <a:srgbClr val="CFEFEA"/>
                </a:solidFill>
                <a:latin typeface="Courier New" pitchFamily="34" charset="0"/>
                <a:ea typeface="Courier New" pitchFamily="34" charset="-122"/>
                <a:cs typeface="Courier New" pitchFamily="34" charset="-120"/>
              </a:rPr>
              <a:t>  ingressClassName: nginx</a:t>
            </a:r>
            <a:endParaRPr lang="en-US" sz="1350" dirty="0"/>
          </a:p>
          <a:p>
            <a:pPr indent="0" marL="0">
              <a:buNone/>
            </a:pPr>
            <a:r>
              <a:rPr lang="en-US" sz="1350" dirty="0">
                <a:solidFill>
                  <a:srgbClr val="CFEFEA"/>
                </a:solidFill>
                <a:latin typeface="Courier New" pitchFamily="34" charset="0"/>
                <a:ea typeface="Courier New" pitchFamily="34" charset="-122"/>
                <a:cs typeface="Courier New" pitchFamily="34" charset="-120"/>
              </a:rPr>
              <a:t>  tls:</a:t>
            </a:r>
            <a:endParaRPr lang="en-US" sz="1350" dirty="0"/>
          </a:p>
          <a:p>
            <a:pPr indent="0" marL="0">
              <a:buNone/>
            </a:pPr>
            <a:r>
              <a:rPr lang="en-US" sz="1350" dirty="0">
                <a:solidFill>
                  <a:srgbClr val="CFEFEA"/>
                </a:solidFill>
                <a:latin typeface="Courier New" pitchFamily="34" charset="0"/>
                <a:ea typeface="Courier New" pitchFamily="34" charset="-122"/>
                <a:cs typeface="Courier New" pitchFamily="34" charset="-120"/>
              </a:rPr>
              <a:t>  - hosts: [app.example.com]</a:t>
            </a:r>
            <a:endParaRPr lang="en-US" sz="1350" dirty="0"/>
          </a:p>
          <a:p>
            <a:pPr indent="0" marL="0">
              <a:buNone/>
            </a:pPr>
            <a:r>
              <a:rPr lang="en-US" sz="1350" dirty="0">
                <a:solidFill>
                  <a:srgbClr val="CFEFEA"/>
                </a:solidFill>
                <a:latin typeface="Courier New" pitchFamily="34" charset="0"/>
                <a:ea typeface="Courier New" pitchFamily="34" charset="-122"/>
                <a:cs typeface="Courier New" pitchFamily="34" charset="-120"/>
              </a:rPr>
              <a:t>    secretName: app-tls-cert     # a kubernetes.io/tls Secret</a:t>
            </a:r>
            <a:endParaRPr lang="en-US" sz="1350" dirty="0"/>
          </a:p>
          <a:p>
            <a:pPr indent="0" marL="0">
              <a:buNone/>
            </a:pPr>
            <a:r>
              <a:rPr lang="en-US" sz="1350" dirty="0">
                <a:solidFill>
                  <a:srgbClr val="CFEFEA"/>
                </a:solidFill>
                <a:latin typeface="Courier New" pitchFamily="34" charset="0"/>
                <a:ea typeface="Courier New" pitchFamily="34" charset="-122"/>
                <a:cs typeface="Courier New" pitchFamily="34" charset="-120"/>
              </a:rPr>
              <a:t>  rules:</a:t>
            </a:r>
            <a:endParaRPr lang="en-US" sz="1350" dirty="0"/>
          </a:p>
          <a:p>
            <a:pPr indent="0" marL="0">
              <a:buNone/>
            </a:pPr>
            <a:r>
              <a:rPr lang="en-US" sz="1350" dirty="0">
                <a:solidFill>
                  <a:srgbClr val="CFEFEA"/>
                </a:solidFill>
                <a:latin typeface="Courier New" pitchFamily="34" charset="0"/>
                <a:ea typeface="Courier New" pitchFamily="34" charset="-122"/>
                <a:cs typeface="Courier New" pitchFamily="34" charset="-120"/>
              </a:rPr>
              <a:t>  - host: app.example.com</a:t>
            </a:r>
            <a:endParaRPr lang="en-US" sz="1350" dirty="0"/>
          </a:p>
          <a:p>
            <a:pPr indent="0" marL="0">
              <a:buNone/>
            </a:pPr>
            <a:r>
              <a:rPr lang="en-US" sz="1350" dirty="0">
                <a:solidFill>
                  <a:srgbClr val="CFEFEA"/>
                </a:solidFill>
                <a:latin typeface="Courier New" pitchFamily="34" charset="0"/>
                <a:ea typeface="Courier New" pitchFamily="34" charset="-122"/>
                <a:cs typeface="Courier New" pitchFamily="34" charset="-120"/>
              </a:rPr>
              <a:t>    http:</a:t>
            </a:r>
            <a:endParaRPr lang="en-US" sz="1350" dirty="0"/>
          </a:p>
          <a:p>
            <a:pPr indent="0" marL="0">
              <a:buNone/>
            </a:pPr>
            <a:r>
              <a:rPr lang="en-US" sz="1350" dirty="0">
                <a:solidFill>
                  <a:srgbClr val="CFEFEA"/>
                </a:solidFill>
                <a:latin typeface="Courier New" pitchFamily="34" charset="0"/>
                <a:ea typeface="Courier New" pitchFamily="34" charset="-122"/>
                <a:cs typeface="Courier New" pitchFamily="34" charset="-120"/>
              </a:rPr>
              <a:t>      paths:</a:t>
            </a:r>
            <a:endParaRPr lang="en-US" sz="1350" dirty="0"/>
          </a:p>
          <a:p>
            <a:pPr indent="0" marL="0">
              <a:buNone/>
            </a:pPr>
            <a:r>
              <a:rPr lang="en-US" sz="1350" dirty="0">
                <a:solidFill>
                  <a:srgbClr val="CFEFEA"/>
                </a:solidFill>
                <a:latin typeface="Courier New" pitchFamily="34" charset="0"/>
                <a:ea typeface="Courier New" pitchFamily="34" charset="-122"/>
                <a:cs typeface="Courier New" pitchFamily="34" charset="-120"/>
              </a:rPr>
              <a:t>      - path: /</a:t>
            </a:r>
            <a:endParaRPr lang="en-US" sz="1350" dirty="0"/>
          </a:p>
          <a:p>
            <a:pPr indent="0" marL="0">
              <a:buNone/>
            </a:pPr>
            <a:r>
              <a:rPr lang="en-US" sz="1350" dirty="0">
                <a:solidFill>
                  <a:srgbClr val="CFEFEA"/>
                </a:solidFill>
                <a:latin typeface="Courier New" pitchFamily="34" charset="0"/>
                <a:ea typeface="Courier New" pitchFamily="34" charset="-122"/>
                <a:cs typeface="Courier New" pitchFamily="34" charset="-120"/>
              </a:rPr>
              <a:t>        pathType: Prefix</a:t>
            </a:r>
            <a:endParaRPr lang="en-US" sz="1350" dirty="0"/>
          </a:p>
          <a:p>
            <a:pPr indent="0" marL="0">
              <a:buNone/>
            </a:pPr>
            <a:r>
              <a:rPr lang="en-US" sz="1350" dirty="0">
                <a:solidFill>
                  <a:srgbClr val="CFEFEA"/>
                </a:solidFill>
                <a:latin typeface="Courier New" pitchFamily="34" charset="0"/>
                <a:ea typeface="Courier New" pitchFamily="34" charset="-122"/>
                <a:cs typeface="Courier New" pitchFamily="34" charset="-120"/>
              </a:rPr>
              <a:t>        backend: { service: { name: web-app-svc, port: { number: 80 } } }</a:t>
            </a:r>
            <a:endParaRPr lang="en-US" sz="1350" dirty="0"/>
          </a:p>
        </p:txBody>
      </p:sp>
      <p:sp>
        <p:nvSpPr>
          <p:cNvPr id="6" name="Text 4"/>
          <p:cNvSpPr/>
          <p:nvPr/>
        </p:nvSpPr>
        <p:spPr>
          <a:xfrm>
            <a:off x="640080" y="5129784"/>
            <a:ext cx="10881360" cy="1271016"/>
          </a:xfrm>
          <a:prstGeom prst="rect">
            <a:avLst/>
          </a:prstGeom>
          <a:noFill/>
          <a:ln/>
        </p:spPr>
        <p:txBody>
          <a:bodyPr wrap="square" lIns="0" tIns="0" rIns="0" bIns="0" rtlCol="0" anchor="t"/>
          <a:lstStyle/>
          <a:p>
            <a:pPr marL="342900" indent="-342900">
              <a:spcAft>
                <a:spcPts val="500"/>
              </a:spcAft>
              <a:buSzPct val="100000"/>
              <a:buChar char="•"/>
            </a:pPr>
            <a:r>
              <a:rPr lang="en-US" sz="1200" dirty="0">
                <a:solidFill>
                  <a:srgbClr val="1E293B"/>
                </a:solidFill>
                <a:latin typeface="Calibri" pitchFamily="34" charset="0"/>
                <a:ea typeface="Calibri" pitchFamily="34" charset="-122"/>
                <a:cs typeface="Calibri" pitchFamily="34" charset="-120"/>
              </a:rPr>
              <a:t>secretName must reference a Secret of type kubernetes.io/tls containing tls.crt and tls.key — same Secret type covered in Module 1.</a:t>
            </a:r>
            <a:endParaRPr lang="en-US" sz="1200" dirty="0"/>
          </a:p>
          <a:p>
            <a:pPr marL="342900" indent="-342900">
              <a:spcAft>
                <a:spcPts val="500"/>
              </a:spcAft>
              <a:buSzPct val="100000"/>
              <a:buChar char="•"/>
            </a:pPr>
            <a:r>
              <a:rPr lang="en-US" sz="1200" dirty="0">
                <a:solidFill>
                  <a:srgbClr val="1E293B"/>
                </a:solidFill>
                <a:latin typeface="Calibri" pitchFamily="34" charset="0"/>
                <a:ea typeface="Calibri" pitchFamily="34" charset="-122"/>
                <a:cs typeface="Calibri" pitchFamily="34" charset="-120"/>
              </a:rPr>
              <a:t>The Ingress controller handles TLS termination; backend traffic to the Service is typically plain HTTP unless the controller is configured for end-to-end TLS.</a:t>
            </a:r>
            <a:endParaRPr lang="en-US" sz="1200" dirty="0"/>
          </a:p>
        </p:txBody>
      </p:sp>
      <p:sp>
        <p:nvSpPr>
          <p:cNvPr id="7" name="Text 5"/>
          <p:cNvSpPr/>
          <p:nvPr/>
        </p:nvSpPr>
        <p:spPr>
          <a:xfrm>
            <a:off x="457200" y="6446520"/>
            <a:ext cx="6400800" cy="27432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CKA v1.36 · Module 2</a:t>
            </a:r>
            <a:endParaRPr lang="en-US" sz="900" dirty="0"/>
          </a:p>
        </p:txBody>
      </p:sp>
      <p:sp>
        <p:nvSpPr>
          <p:cNvPr id="8" name="Text 6"/>
          <p:cNvSpPr/>
          <p:nvPr/>
        </p:nvSpPr>
        <p:spPr>
          <a:xfrm>
            <a:off x="11247120" y="6446520"/>
            <a:ext cx="4572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51</a:t>
            </a:r>
            <a:endParaRPr lang="en-US" sz="90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365760"/>
            <a:ext cx="2468880" cy="384048"/>
          </a:xfrm>
          <a:prstGeom prst="roundRect">
            <a:avLst>
              <a:gd name="adj" fmla="val 50000"/>
            </a:avLst>
          </a:prstGeom>
          <a:solidFill>
            <a:srgbClr val="21295C"/>
          </a:solidFill>
          <a:ln/>
        </p:spPr>
      </p:sp>
      <p:sp>
        <p:nvSpPr>
          <p:cNvPr id="3" name="Text 1"/>
          <p:cNvSpPr/>
          <p:nvPr/>
        </p:nvSpPr>
        <p:spPr>
          <a:xfrm>
            <a:off x="640080" y="365760"/>
            <a:ext cx="2468880" cy="384048"/>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EXAM PATTERN 8</a:t>
            </a:r>
            <a:endParaRPr lang="en-US" sz="1150" dirty="0"/>
          </a:p>
        </p:txBody>
      </p:sp>
      <p:sp>
        <p:nvSpPr>
          <p:cNvPr id="4" name="Text 2"/>
          <p:cNvSpPr/>
          <p:nvPr/>
        </p:nvSpPr>
        <p:spPr>
          <a:xfrm>
            <a:off x="3246120" y="365760"/>
            <a:ext cx="8229600" cy="384048"/>
          </a:xfrm>
          <a:prstGeom prst="rect">
            <a:avLst/>
          </a:prstGeom>
          <a:noFill/>
          <a:ln/>
        </p:spPr>
        <p:txBody>
          <a:bodyPr wrap="square" lIns="0" tIns="0" rIns="0" bIns="0" rtlCol="0" anchor="ctr"/>
          <a:lstStyle/>
          <a:p>
            <a:pPr indent="0" marL="0">
              <a:buNone/>
            </a:pPr>
            <a:r>
              <a:rPr lang="en-US" sz="1100" b="1" spc="120" kern="0" dirty="0">
                <a:solidFill>
                  <a:srgbClr val="1C7293"/>
                </a:solidFill>
                <a:latin typeface="Calibri" pitchFamily="34" charset="0"/>
                <a:ea typeface="Calibri" pitchFamily="34" charset="-122"/>
                <a:cs typeface="Calibri" pitchFamily="34" charset="-120"/>
              </a:rPr>
              <a:t>INGRESS</a:t>
            </a:r>
            <a:endParaRPr lang="en-US" sz="1100" dirty="0"/>
          </a:p>
        </p:txBody>
      </p:sp>
      <p:sp>
        <p:nvSpPr>
          <p:cNvPr id="5" name="Text 3"/>
          <p:cNvSpPr/>
          <p:nvPr/>
        </p:nvSpPr>
        <p:spPr>
          <a:xfrm>
            <a:off x="640080" y="841248"/>
            <a:ext cx="10881360" cy="502920"/>
          </a:xfrm>
          <a:prstGeom prst="rect">
            <a:avLst/>
          </a:prstGeom>
          <a:noFill/>
          <a:ln/>
        </p:spPr>
        <p:txBody>
          <a:bodyPr wrap="square" lIns="0" tIns="0" rIns="0" bIns="0" rtlCol="0" anchor="ctr"/>
          <a:lstStyle/>
          <a:p>
            <a:pPr indent="0" marL="0">
              <a:buNone/>
            </a:pPr>
            <a:r>
              <a:rPr lang="en-US" sz="2100" b="1" dirty="0">
                <a:solidFill>
                  <a:srgbClr val="21295C"/>
                </a:solidFill>
                <a:latin typeface="Cambria" pitchFamily="34" charset="0"/>
                <a:ea typeface="Cambria" pitchFamily="34" charset="-122"/>
                <a:cs typeface="Cambria" pitchFamily="34" charset="-120"/>
              </a:rPr>
              <a:t>Ingress Returns a 404 or Default Backend Page</a:t>
            </a:r>
            <a:endParaRPr lang="en-US" sz="2100" dirty="0"/>
          </a:p>
        </p:txBody>
      </p:sp>
      <p:sp>
        <p:nvSpPr>
          <p:cNvPr id="6" name="Shape 4"/>
          <p:cNvSpPr/>
          <p:nvPr/>
        </p:nvSpPr>
        <p:spPr>
          <a:xfrm>
            <a:off x="640080" y="1463040"/>
            <a:ext cx="10881360" cy="960120"/>
          </a:xfrm>
          <a:prstGeom prst="roundRect">
            <a:avLst>
              <a:gd name="adj" fmla="val 5714"/>
            </a:avLst>
          </a:prstGeom>
          <a:solidFill>
            <a:srgbClr val="EAF4F8"/>
          </a:solidFill>
          <a:ln/>
        </p:spPr>
      </p:sp>
      <p:sp>
        <p:nvSpPr>
          <p:cNvPr id="7" name="Text 5"/>
          <p:cNvSpPr/>
          <p:nvPr/>
        </p:nvSpPr>
        <p:spPr>
          <a:xfrm>
            <a:off x="868680" y="1554480"/>
            <a:ext cx="2743200" cy="274320"/>
          </a:xfrm>
          <a:prstGeom prst="rect">
            <a:avLst/>
          </a:prstGeom>
          <a:noFill/>
          <a:ln/>
        </p:spPr>
        <p:txBody>
          <a:bodyPr wrap="square" lIns="0" tIns="0" rIns="0" bIns="0" rtlCol="0" anchor="ctr"/>
          <a:lstStyle/>
          <a:p>
            <a:pPr indent="0" marL="0">
              <a:buNone/>
            </a:pPr>
            <a:r>
              <a:rPr lang="en-US" sz="1050" b="1" spc="100" kern="0" dirty="0">
                <a:solidFill>
                  <a:srgbClr val="1C7293"/>
                </a:solidFill>
                <a:latin typeface="Calibri" pitchFamily="34" charset="0"/>
                <a:ea typeface="Calibri" pitchFamily="34" charset="-122"/>
                <a:cs typeface="Calibri" pitchFamily="34" charset="-120"/>
              </a:rPr>
              <a:t>SYMPTOM / SCENARIO</a:t>
            </a:r>
            <a:endParaRPr lang="en-US" sz="1050" dirty="0"/>
          </a:p>
        </p:txBody>
      </p:sp>
      <p:sp>
        <p:nvSpPr>
          <p:cNvPr id="8" name="Text 6"/>
          <p:cNvSpPr/>
          <p:nvPr/>
        </p:nvSpPr>
        <p:spPr>
          <a:xfrm>
            <a:off x="868680" y="1810512"/>
            <a:ext cx="10424160" cy="548640"/>
          </a:xfrm>
          <a:prstGeom prst="rect">
            <a:avLst/>
          </a:prstGeom>
          <a:noFill/>
          <a:ln/>
        </p:spPr>
        <p:txBody>
          <a:bodyPr wrap="square" lIns="0" tIns="0" rIns="0" bIns="0" rtlCol="0" anchor="t"/>
          <a:lstStyle/>
          <a:p>
            <a:pPr indent="0" marL="0">
              <a:buNone/>
            </a:pPr>
            <a:r>
              <a:rPr lang="en-US" sz="1300" dirty="0">
                <a:solidFill>
                  <a:srgbClr val="1E293B"/>
                </a:solidFill>
                <a:latin typeface="Calibri" pitchFamily="34" charset="0"/>
                <a:ea typeface="Calibri" pitchFamily="34" charset="-122"/>
                <a:cs typeface="Calibri" pitchFamily="34" charset="-120"/>
              </a:rPr>
              <a:t>The Ingress object applies successfully with no errors, but every request returns the controller's generic 404 page instead of routing to the application.</a:t>
            </a:r>
            <a:endParaRPr lang="en-US" sz="1300" dirty="0"/>
          </a:p>
        </p:txBody>
      </p:sp>
      <p:sp>
        <p:nvSpPr>
          <p:cNvPr id="9" name="Shape 7"/>
          <p:cNvSpPr/>
          <p:nvPr/>
        </p:nvSpPr>
        <p:spPr>
          <a:xfrm>
            <a:off x="640080" y="2587752"/>
            <a:ext cx="10881360" cy="914400"/>
          </a:xfrm>
          <a:prstGeom prst="roundRect">
            <a:avLst>
              <a:gd name="adj" fmla="val 6000"/>
            </a:avLst>
          </a:prstGeom>
          <a:solidFill>
            <a:srgbClr val="FBF3E3"/>
          </a:solidFill>
          <a:ln/>
        </p:spPr>
      </p:sp>
      <p:sp>
        <p:nvSpPr>
          <p:cNvPr id="10" name="Text 8"/>
          <p:cNvSpPr/>
          <p:nvPr/>
        </p:nvSpPr>
        <p:spPr>
          <a:xfrm>
            <a:off x="868680" y="2679192"/>
            <a:ext cx="2743200" cy="274320"/>
          </a:xfrm>
          <a:prstGeom prst="rect">
            <a:avLst/>
          </a:prstGeom>
          <a:noFill/>
          <a:ln/>
        </p:spPr>
        <p:txBody>
          <a:bodyPr wrap="square" lIns="0" tIns="0" rIns="0" bIns="0" rtlCol="0" anchor="ctr"/>
          <a:lstStyle/>
          <a:p>
            <a:pPr indent="0" marL="0">
              <a:buNone/>
            </a:pPr>
            <a:r>
              <a:rPr lang="en-US" sz="1050" b="1" spc="100" kern="0" dirty="0">
                <a:solidFill>
                  <a:srgbClr val="B7791F"/>
                </a:solidFill>
                <a:latin typeface="Calibri" pitchFamily="34" charset="0"/>
                <a:ea typeface="Calibri" pitchFamily="34" charset="-122"/>
                <a:cs typeface="Calibri" pitchFamily="34" charset="-120"/>
              </a:rPr>
              <a:t>ROOT CAUSE</a:t>
            </a:r>
            <a:endParaRPr lang="en-US" sz="1050" dirty="0"/>
          </a:p>
        </p:txBody>
      </p:sp>
      <p:sp>
        <p:nvSpPr>
          <p:cNvPr id="11" name="Text 9"/>
          <p:cNvSpPr/>
          <p:nvPr/>
        </p:nvSpPr>
        <p:spPr>
          <a:xfrm>
            <a:off x="868680" y="2935224"/>
            <a:ext cx="10424160" cy="502920"/>
          </a:xfrm>
          <a:prstGeom prst="rect">
            <a:avLst/>
          </a:prstGeom>
          <a:noFill/>
          <a:ln/>
        </p:spPr>
        <p:txBody>
          <a:bodyPr wrap="square" lIns="0" tIns="0" rIns="0" bIns="0" rtlCol="0" anchor="t"/>
          <a:lstStyle/>
          <a:p>
            <a:pPr indent="0" marL="0">
              <a:buNone/>
            </a:pPr>
            <a:r>
              <a:rPr lang="en-US" sz="1300" dirty="0">
                <a:solidFill>
                  <a:srgbClr val="1E293B"/>
                </a:solidFill>
                <a:latin typeface="Calibri" pitchFamily="34" charset="0"/>
                <a:ea typeface="Calibri" pitchFamily="34" charset="-122"/>
                <a:cs typeface="Calibri" pitchFamily="34" charset="-120"/>
              </a:rPr>
              <a:t>Most often a path/pathType mismatch (e.g. pathType: Exact on a path the client isn't hitting exactly), or the backend Service name/port in the Ingress doesn't match the real Service.</a:t>
            </a:r>
            <a:endParaRPr lang="en-US" sz="1300" dirty="0"/>
          </a:p>
        </p:txBody>
      </p:sp>
      <p:sp>
        <p:nvSpPr>
          <p:cNvPr id="12" name="Shape 10"/>
          <p:cNvSpPr/>
          <p:nvPr/>
        </p:nvSpPr>
        <p:spPr>
          <a:xfrm>
            <a:off x="640080" y="3666744"/>
            <a:ext cx="10881360" cy="1417320"/>
          </a:xfrm>
          <a:prstGeom prst="roundRect">
            <a:avLst>
              <a:gd name="adj" fmla="val 3871"/>
            </a:avLst>
          </a:prstGeom>
          <a:solidFill>
            <a:srgbClr val="E7F5EC"/>
          </a:solidFill>
          <a:ln/>
        </p:spPr>
      </p:sp>
      <p:sp>
        <p:nvSpPr>
          <p:cNvPr id="13" name="Text 11"/>
          <p:cNvSpPr/>
          <p:nvPr/>
        </p:nvSpPr>
        <p:spPr>
          <a:xfrm>
            <a:off x="868680" y="3758184"/>
            <a:ext cx="2743200" cy="274320"/>
          </a:xfrm>
          <a:prstGeom prst="rect">
            <a:avLst/>
          </a:prstGeom>
          <a:noFill/>
          <a:ln/>
        </p:spPr>
        <p:txBody>
          <a:bodyPr wrap="square" lIns="0" tIns="0" rIns="0" bIns="0" rtlCol="0" anchor="ctr"/>
          <a:lstStyle/>
          <a:p>
            <a:pPr indent="0" marL="0">
              <a:buNone/>
            </a:pPr>
            <a:r>
              <a:rPr lang="en-US" sz="1050" b="1" spc="100" kern="0" dirty="0">
                <a:solidFill>
                  <a:srgbClr val="15803D"/>
                </a:solidFill>
                <a:latin typeface="Calibri" pitchFamily="34" charset="0"/>
                <a:ea typeface="Calibri" pitchFamily="34" charset="-122"/>
                <a:cs typeface="Calibri" pitchFamily="34" charset="-120"/>
              </a:rPr>
              <a:t>THE FIX</a:t>
            </a:r>
            <a:endParaRPr lang="en-US" sz="1050" dirty="0"/>
          </a:p>
        </p:txBody>
      </p:sp>
      <p:sp>
        <p:nvSpPr>
          <p:cNvPr id="14" name="Text 12"/>
          <p:cNvSpPr/>
          <p:nvPr/>
        </p:nvSpPr>
        <p:spPr>
          <a:xfrm>
            <a:off x="868680" y="4014216"/>
            <a:ext cx="10424160" cy="365760"/>
          </a:xfrm>
          <a:prstGeom prst="rect">
            <a:avLst/>
          </a:prstGeom>
          <a:noFill/>
          <a:ln/>
        </p:spPr>
        <p:txBody>
          <a:bodyPr wrap="square" lIns="0" tIns="0" rIns="0" bIns="0" rtlCol="0" anchor="t"/>
          <a:lstStyle/>
          <a:p>
            <a:pPr indent="0" marL="0">
              <a:buNone/>
            </a:pPr>
            <a:r>
              <a:rPr lang="en-US" sz="1300" dirty="0">
                <a:solidFill>
                  <a:srgbClr val="1E293B"/>
                </a:solidFill>
                <a:latin typeface="Calibri" pitchFamily="34" charset="0"/>
                <a:ea typeface="Calibri" pitchFamily="34" charset="-122"/>
                <a:cs typeface="Calibri" pitchFamily="34" charset="-120"/>
              </a:rPr>
              <a:t>Check the Ingress controller's own logs, verify the path rules match the request path exactly as configured, and confirm the backend Service name and port are correct.</a:t>
            </a:r>
            <a:endParaRPr lang="en-US" sz="1300" dirty="0"/>
          </a:p>
        </p:txBody>
      </p:sp>
      <p:sp>
        <p:nvSpPr>
          <p:cNvPr id="15" name="Shape 13"/>
          <p:cNvSpPr/>
          <p:nvPr/>
        </p:nvSpPr>
        <p:spPr>
          <a:xfrm>
            <a:off x="868680" y="4379976"/>
            <a:ext cx="10424160" cy="594360"/>
          </a:xfrm>
          <a:prstGeom prst="roundRect">
            <a:avLst>
              <a:gd name="adj" fmla="val 7692"/>
            </a:avLst>
          </a:prstGeom>
          <a:solidFill>
            <a:srgbClr val="0B2330"/>
          </a:solidFill>
          <a:ln/>
        </p:spPr>
      </p:sp>
      <p:sp>
        <p:nvSpPr>
          <p:cNvPr id="16" name="Text 14"/>
          <p:cNvSpPr/>
          <p:nvPr/>
        </p:nvSpPr>
        <p:spPr>
          <a:xfrm>
            <a:off x="1005840" y="4453128"/>
            <a:ext cx="10149840" cy="457200"/>
          </a:xfrm>
          <a:prstGeom prst="rect">
            <a:avLst/>
          </a:prstGeom>
          <a:noFill/>
          <a:ln/>
        </p:spPr>
        <p:txBody>
          <a:bodyPr wrap="square" lIns="0" tIns="0" rIns="0" bIns="0" rtlCol="0" anchor="t"/>
          <a:lstStyle/>
          <a:p>
            <a:pPr indent="0" marL="0">
              <a:buNone/>
            </a:pPr>
            <a:r>
              <a:rPr lang="en-US" sz="1200" dirty="0">
                <a:solidFill>
                  <a:srgbClr val="CFEFEA"/>
                </a:solidFill>
                <a:latin typeface="Courier New" pitchFamily="34" charset="0"/>
                <a:ea typeface="Courier New" pitchFamily="34" charset="-122"/>
                <a:cs typeface="Courier New" pitchFamily="34" charset="-120"/>
              </a:rPr>
              <a:t>kubectl describe ingress web-ingress</a:t>
            </a:r>
            <a:endParaRPr lang="en-US" sz="1200" dirty="0"/>
          </a:p>
          <a:p>
            <a:pPr indent="0" marL="0">
              <a:buNone/>
            </a:pPr>
            <a:r>
              <a:rPr lang="en-US" sz="1200" dirty="0">
                <a:solidFill>
                  <a:srgbClr val="CFEFEA"/>
                </a:solidFill>
                <a:latin typeface="Courier New" pitchFamily="34" charset="0"/>
                <a:ea typeface="Courier New" pitchFamily="34" charset="-122"/>
                <a:cs typeface="Courier New" pitchFamily="34" charset="-120"/>
              </a:rPr>
              <a:t>kubectl get svc web-app-svc</a:t>
            </a:r>
            <a:endParaRPr lang="en-US" sz="1200" dirty="0"/>
          </a:p>
        </p:txBody>
      </p:sp>
      <p:sp>
        <p:nvSpPr>
          <p:cNvPr id="17" name="Text 15"/>
          <p:cNvSpPr/>
          <p:nvPr/>
        </p:nvSpPr>
        <p:spPr>
          <a:xfrm>
            <a:off x="457200" y="6446520"/>
            <a:ext cx="6400800" cy="27432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CKA v1.36 · Module 2</a:t>
            </a:r>
            <a:endParaRPr lang="en-US" sz="900" dirty="0"/>
          </a:p>
        </p:txBody>
      </p:sp>
      <p:sp>
        <p:nvSpPr>
          <p:cNvPr id="18" name="Text 16"/>
          <p:cNvSpPr/>
          <p:nvPr/>
        </p:nvSpPr>
        <p:spPr>
          <a:xfrm>
            <a:off x="11247120" y="6446520"/>
            <a:ext cx="4572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52</a:t>
            </a:r>
            <a:endParaRPr lang="en-US" sz="90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bg>
      <p:bgPr>
        <a:solidFill>
          <a:srgbClr val="21295C"/>
        </a:solidFill>
      </p:bgPr>
    </p:bg>
    <p:spTree>
      <p:nvGrpSpPr>
        <p:cNvPr id="1" name=""/>
        <p:cNvGrpSpPr/>
        <p:nvPr/>
      </p:nvGrpSpPr>
      <p:grpSpPr>
        <a:xfrm>
          <a:off x="0" y="0"/>
          <a:ext cx="0" cy="0"/>
          <a:chOff x="0" y="0"/>
          <a:chExt cx="0" cy="0"/>
        </a:xfrm>
      </p:grpSpPr>
      <p:sp>
        <p:nvSpPr>
          <p:cNvPr id="2" name="Shape 0"/>
          <p:cNvSpPr/>
          <p:nvPr/>
        </p:nvSpPr>
        <p:spPr>
          <a:xfrm>
            <a:off x="8778240" y="3291840"/>
            <a:ext cx="5029200" cy="5029200"/>
          </a:xfrm>
          <a:prstGeom prst="ellipse">
            <a:avLst/>
          </a:prstGeom>
          <a:solidFill>
            <a:srgbClr val="065A82">
              <a:alpha val="40000"/>
            </a:srgbClr>
          </a:solidFill>
          <a:ln/>
        </p:spPr>
      </p:sp>
      <p:sp>
        <p:nvSpPr>
          <p:cNvPr id="3" name="Shape 1"/>
          <p:cNvSpPr/>
          <p:nvPr/>
        </p:nvSpPr>
        <p:spPr>
          <a:xfrm>
            <a:off x="822960" y="1828800"/>
            <a:ext cx="1371600" cy="1371600"/>
          </a:xfrm>
          <a:prstGeom prst="roundRect">
            <a:avLst>
              <a:gd name="adj" fmla="val 12000"/>
            </a:avLst>
          </a:prstGeom>
          <a:solidFill>
            <a:srgbClr val="1C7293"/>
          </a:solidFill>
          <a:ln/>
          <a:effectLst>
            <a:outerShdw sx="100000" sy="100000" kx="0" ky="0" algn="bl" rotWithShape="0" blurRad="88900" dist="25400" dir="2700000">
              <a:srgbClr val="1B2A36">
                <a:alpha val="12000"/>
              </a:srgbClr>
            </a:outerShdw>
          </a:effectLst>
        </p:spPr>
      </p:sp>
      <p:sp>
        <p:nvSpPr>
          <p:cNvPr id="4" name="Text 2"/>
          <p:cNvSpPr/>
          <p:nvPr/>
        </p:nvSpPr>
        <p:spPr>
          <a:xfrm>
            <a:off x="822960" y="1828800"/>
            <a:ext cx="1371600" cy="1371600"/>
          </a:xfrm>
          <a:prstGeom prst="rect">
            <a:avLst/>
          </a:prstGeom>
          <a:noFill/>
          <a:ln/>
        </p:spPr>
        <p:txBody>
          <a:bodyPr wrap="square" lIns="0" tIns="0" rIns="0" bIns="0" rtlCol="0" anchor="ctr"/>
          <a:lstStyle/>
          <a:p>
            <a:pPr algn="ctr" indent="0" marL="0">
              <a:buNone/>
            </a:pPr>
            <a:r>
              <a:rPr lang="en-US" sz="4000" b="1" dirty="0">
                <a:solidFill>
                  <a:srgbClr val="FFFFFF"/>
                </a:solidFill>
                <a:latin typeface="Cambria" pitchFamily="34" charset="0"/>
                <a:ea typeface="Cambria" pitchFamily="34" charset="-122"/>
                <a:cs typeface="Cambria" pitchFamily="34" charset="-120"/>
              </a:rPr>
              <a:t>H</a:t>
            </a:r>
            <a:endParaRPr lang="en-US" sz="4000" dirty="0"/>
          </a:p>
        </p:txBody>
      </p:sp>
      <p:sp>
        <p:nvSpPr>
          <p:cNvPr id="5" name="Text 3"/>
          <p:cNvSpPr/>
          <p:nvPr/>
        </p:nvSpPr>
        <p:spPr>
          <a:xfrm>
            <a:off x="2468880" y="1828800"/>
            <a:ext cx="8961120" cy="100584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Understand and Use CoreDNS</a:t>
            </a:r>
            <a:endParaRPr lang="en-US" sz="3200" dirty="0"/>
          </a:p>
        </p:txBody>
      </p:sp>
      <p:sp>
        <p:nvSpPr>
          <p:cNvPr id="6" name="Text 4"/>
          <p:cNvSpPr/>
          <p:nvPr/>
        </p:nvSpPr>
        <p:spPr>
          <a:xfrm>
            <a:off x="2468880" y="2788920"/>
            <a:ext cx="8961120" cy="640080"/>
          </a:xfrm>
          <a:prstGeom prst="rect">
            <a:avLst/>
          </a:prstGeom>
          <a:noFill/>
          <a:ln/>
        </p:spPr>
        <p:txBody>
          <a:bodyPr wrap="square" lIns="0" tIns="0" rIns="0" bIns="0" rtlCol="0" anchor="ctr"/>
          <a:lstStyle/>
          <a:p>
            <a:pPr indent="0" marL="0">
              <a:buNone/>
            </a:pPr>
            <a:r>
              <a:rPr lang="en-US" sz="1600" dirty="0">
                <a:solidFill>
                  <a:srgbClr val="C9E4ED"/>
                </a:solidFill>
                <a:latin typeface="Calibri" pitchFamily="34" charset="0"/>
                <a:ea typeface="Calibri" pitchFamily="34" charset="-122"/>
                <a:cs typeface="Calibri" pitchFamily="34" charset="-120"/>
              </a:rPr>
              <a:t>The cluster's internal name resolution service</a:t>
            </a:r>
            <a:endParaRPr lang="en-US" sz="1600" dirty="0"/>
          </a:p>
        </p:txBody>
      </p:sp>
      <p:sp>
        <p:nvSpPr>
          <p:cNvPr id="7" name="Shape 5"/>
          <p:cNvSpPr/>
          <p:nvPr/>
        </p:nvSpPr>
        <p:spPr>
          <a:xfrm>
            <a:off x="2468880" y="3429000"/>
            <a:ext cx="8961120" cy="548640"/>
          </a:xfrm>
          <a:prstGeom prst="roundRect">
            <a:avLst>
              <a:gd name="adj" fmla="val 16667"/>
            </a:avLst>
          </a:prstGeom>
          <a:solidFill>
            <a:srgbClr val="FFFFFF">
              <a:alpha val="10000"/>
            </a:srgbClr>
          </a:solidFill>
          <a:ln w="9525">
            <a:solidFill>
              <a:srgbClr val="8FD3E8"/>
            </a:solidFill>
            <a:prstDash val="solid"/>
          </a:ln>
        </p:spPr>
      </p:sp>
      <p:sp>
        <p:nvSpPr>
          <p:cNvPr id="8" name="Text 6"/>
          <p:cNvSpPr/>
          <p:nvPr/>
        </p:nvSpPr>
        <p:spPr>
          <a:xfrm>
            <a:off x="2697480" y="3429000"/>
            <a:ext cx="8503920" cy="548640"/>
          </a:xfrm>
          <a:prstGeom prst="rect">
            <a:avLst/>
          </a:prstGeom>
          <a:noFill/>
          <a:ln/>
        </p:spPr>
        <p:txBody>
          <a:bodyPr wrap="square" lIns="0" tIns="0" rIns="0" bIns="0" rtlCol="0" anchor="ctr"/>
          <a:lstStyle/>
          <a:p>
            <a:pPr algn="l" indent="0" marL="0">
              <a:buNone/>
            </a:pPr>
            <a:r>
              <a:rPr lang="en-US" sz="1200" dirty="0">
                <a:solidFill>
                  <a:srgbClr val="DCEFF5"/>
                </a:solidFill>
                <a:latin typeface="Calibri" pitchFamily="34" charset="0"/>
                <a:ea typeface="Calibri" pitchFamily="34" charset="-122"/>
                <a:cs typeface="Calibri" pitchFamily="34" charset="-120"/>
              </a:rPr>
              <a:t>Domain: Services &amp; Networking · CoreDNS</a:t>
            </a:r>
            <a:endParaRPr lang="en-US" sz="1200" dirty="0"/>
          </a:p>
        </p:txBody>
      </p:sp>
      <p:sp>
        <p:nvSpPr>
          <p:cNvPr id="9" name="Text 7"/>
          <p:cNvSpPr/>
          <p:nvPr/>
        </p:nvSpPr>
        <p:spPr>
          <a:xfrm>
            <a:off x="457200" y="6446520"/>
            <a:ext cx="6400800" cy="27432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CKA v1.36 · Module 2</a:t>
            </a:r>
            <a:endParaRPr lang="en-US" sz="900" dirty="0"/>
          </a:p>
        </p:txBody>
      </p:sp>
      <p:sp>
        <p:nvSpPr>
          <p:cNvPr id="10" name="Text 8"/>
          <p:cNvSpPr/>
          <p:nvPr/>
        </p:nvSpPr>
        <p:spPr>
          <a:xfrm>
            <a:off x="11247120" y="6446520"/>
            <a:ext cx="4572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53</a:t>
            </a:r>
            <a:endParaRPr lang="en-US" sz="90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65760"/>
            <a:ext cx="9144000" cy="320040"/>
          </a:xfrm>
          <a:prstGeom prst="rect">
            <a:avLst/>
          </a:prstGeom>
          <a:noFill/>
          <a:ln/>
        </p:spPr>
        <p:txBody>
          <a:bodyPr wrap="square" lIns="0" tIns="0" rIns="0" bIns="0" rtlCol="0" anchor="ctr"/>
          <a:lstStyle/>
          <a:p>
            <a:pPr indent="0" marL="0">
              <a:buNone/>
            </a:pPr>
            <a:r>
              <a:rPr lang="en-US" sz="1150" b="1" spc="150" kern="0" dirty="0">
                <a:solidFill>
                  <a:srgbClr val="1C7293"/>
                </a:solidFill>
                <a:latin typeface="Calibri" pitchFamily="34" charset="0"/>
                <a:ea typeface="Calibri" pitchFamily="34" charset="-122"/>
                <a:cs typeface="Calibri" pitchFamily="34" charset="-120"/>
              </a:rPr>
              <a:t>COREDNS</a:t>
            </a:r>
            <a:endParaRPr lang="en-US" sz="1150" dirty="0"/>
          </a:p>
        </p:txBody>
      </p:sp>
      <p:sp>
        <p:nvSpPr>
          <p:cNvPr id="3" name="Text 1"/>
          <p:cNvSpPr/>
          <p:nvPr/>
        </p:nvSpPr>
        <p:spPr>
          <a:xfrm>
            <a:off x="640080" y="658368"/>
            <a:ext cx="10881360" cy="685800"/>
          </a:xfrm>
          <a:prstGeom prst="rect">
            <a:avLst/>
          </a:prstGeom>
          <a:noFill/>
          <a:ln/>
        </p:spPr>
        <p:txBody>
          <a:bodyPr wrap="square" lIns="0" tIns="0" rIns="0" bIns="0" rtlCol="0" anchor="ctr"/>
          <a:lstStyle/>
          <a:p>
            <a:pPr indent="0" marL="0">
              <a:buNone/>
            </a:pPr>
            <a:r>
              <a:rPr lang="en-US" sz="2600" b="1" dirty="0">
                <a:solidFill>
                  <a:srgbClr val="21295C"/>
                </a:solidFill>
                <a:latin typeface="Cambria" pitchFamily="34" charset="0"/>
                <a:ea typeface="Cambria" pitchFamily="34" charset="-122"/>
                <a:cs typeface="Cambria" pitchFamily="34" charset="-120"/>
              </a:rPr>
              <a:t>CoreDNS Fundamentals</a:t>
            </a:r>
            <a:endParaRPr lang="en-US" sz="2600" dirty="0"/>
          </a:p>
        </p:txBody>
      </p:sp>
      <p:sp>
        <p:nvSpPr>
          <p:cNvPr id="4" name="Shape 2"/>
          <p:cNvSpPr/>
          <p:nvPr/>
        </p:nvSpPr>
        <p:spPr>
          <a:xfrm>
            <a:off x="640080" y="1371600"/>
            <a:ext cx="10881360" cy="0"/>
          </a:xfrm>
          <a:prstGeom prst="line">
            <a:avLst/>
          </a:prstGeom>
          <a:noFill/>
          <a:ln w="12700">
            <a:solidFill>
              <a:srgbClr val="D7E3E8"/>
            </a:solidFill>
            <a:prstDash val="solid"/>
          </a:ln>
        </p:spPr>
      </p:sp>
      <p:sp>
        <p:nvSpPr>
          <p:cNvPr id="5" name="Shape 3"/>
          <p:cNvSpPr/>
          <p:nvPr/>
        </p:nvSpPr>
        <p:spPr>
          <a:xfrm>
            <a:off x="11109960" y="411480"/>
            <a:ext cx="502920" cy="502920"/>
          </a:xfrm>
          <a:prstGeom prst="ellipse">
            <a:avLst/>
          </a:prstGeom>
          <a:solidFill>
            <a:srgbClr val="EAF4F8"/>
          </a:solidFill>
          <a:ln w="15875">
            <a:solidFill>
              <a:srgbClr val="1C7293"/>
            </a:solidFill>
            <a:prstDash val="solid"/>
          </a:ln>
        </p:spPr>
      </p:sp>
      <p:sp>
        <p:nvSpPr>
          <p:cNvPr id="6" name="Text 4"/>
          <p:cNvSpPr/>
          <p:nvPr/>
        </p:nvSpPr>
        <p:spPr>
          <a:xfrm>
            <a:off x="11109960" y="411480"/>
            <a:ext cx="502920" cy="502920"/>
          </a:xfrm>
          <a:prstGeom prst="rect">
            <a:avLst/>
          </a:prstGeom>
          <a:noFill/>
          <a:ln/>
        </p:spPr>
        <p:txBody>
          <a:bodyPr wrap="square" lIns="0" tIns="0" rIns="0" bIns="0" rtlCol="0" anchor="ctr"/>
          <a:lstStyle/>
          <a:p>
            <a:pPr algn="ctr" indent="0" marL="0">
              <a:buNone/>
            </a:pPr>
            <a:r>
              <a:rPr lang="en-US" sz="1600" b="1" dirty="0">
                <a:solidFill>
                  <a:srgbClr val="1C7293"/>
                </a:solidFill>
                <a:latin typeface="Calibri" pitchFamily="34" charset="0"/>
                <a:ea typeface="Calibri" pitchFamily="34" charset="-122"/>
                <a:cs typeface="Calibri" pitchFamily="34" charset="-120"/>
              </a:rPr>
              <a:t>14</a:t>
            </a:r>
            <a:endParaRPr lang="en-US" sz="1600" dirty="0"/>
          </a:p>
        </p:txBody>
      </p:sp>
      <p:sp>
        <p:nvSpPr>
          <p:cNvPr id="7" name="Text 5"/>
          <p:cNvSpPr/>
          <p:nvPr/>
        </p:nvSpPr>
        <p:spPr>
          <a:xfrm>
            <a:off x="640080" y="1600200"/>
            <a:ext cx="10881360" cy="4572000"/>
          </a:xfrm>
          <a:prstGeom prst="rect">
            <a:avLst/>
          </a:prstGeom>
          <a:noFill/>
          <a:ln/>
        </p:spPr>
        <p:txBody>
          <a:bodyPr wrap="square" lIns="0" tIns="0" rIns="0" bIns="0" rtlCol="0" anchor="t"/>
          <a:lstStyle/>
          <a:p>
            <a:pPr marL="342900" indent="-342900">
              <a:spcAft>
                <a:spcPts val="1200"/>
              </a:spcAft>
              <a:buSzPct val="100000"/>
              <a:buChar char="•"/>
            </a:pPr>
            <a:r>
              <a:rPr lang="en-US" sz="1550" dirty="0">
                <a:solidFill>
                  <a:srgbClr val="1E293B"/>
                </a:solidFill>
                <a:latin typeface="Calibri" pitchFamily="34" charset="0"/>
                <a:ea typeface="Calibri" pitchFamily="34" charset="-122"/>
                <a:cs typeface="Calibri" pitchFamily="34" charset="-120"/>
              </a:rPr>
              <a:t>CoreDNS is the default cluster DNS server, running as a Deployment (typically 2 replicas) in the kube-system namespace, exposed via a ClusterIP Service usually named kube-dns.</a:t>
            </a:r>
            <a:endParaRPr lang="en-US" sz="1550" dirty="0"/>
          </a:p>
          <a:p>
            <a:pPr marL="342900" indent="-342900">
              <a:spcAft>
                <a:spcPts val="1200"/>
              </a:spcAft>
              <a:buSzPct val="100000"/>
              <a:buChar char="•"/>
            </a:pPr>
            <a:r>
              <a:rPr lang="en-US" sz="1550" dirty="0">
                <a:solidFill>
                  <a:srgbClr val="1E293B"/>
                </a:solidFill>
                <a:latin typeface="Calibri" pitchFamily="34" charset="0"/>
                <a:ea typeface="Calibri" pitchFamily="34" charset="-122"/>
                <a:cs typeface="Calibri" pitchFamily="34" charset="-120"/>
              </a:rPr>
              <a:t>Every Pod's /etc/resolv.conf is automatically configured by the kubelet to point at the CoreDNS Service IP, unless dnsPolicy overrides this.</a:t>
            </a:r>
            <a:endParaRPr lang="en-US" sz="1550" dirty="0"/>
          </a:p>
          <a:p>
            <a:pPr marL="342900" indent="-342900">
              <a:spcAft>
                <a:spcPts val="1200"/>
              </a:spcAft>
              <a:buSzPct val="100000"/>
              <a:buChar char="•"/>
            </a:pPr>
            <a:r>
              <a:rPr lang="en-US" sz="1550" dirty="0">
                <a:solidFill>
                  <a:srgbClr val="1E293B"/>
                </a:solidFill>
                <a:latin typeface="Calibri" pitchFamily="34" charset="0"/>
                <a:ea typeface="Calibri" pitchFamily="34" charset="-122"/>
                <a:cs typeface="Calibri" pitchFamily="34" charset="-120"/>
              </a:rPr>
              <a:t>CoreDNS resolves Service names to ClusterIPs and (for headless Services) directly to Pod IPs, plus it forwards any non-cluster queries upstream to the configured external resolvers.</a:t>
            </a:r>
            <a:endParaRPr lang="en-US" sz="1550" dirty="0"/>
          </a:p>
          <a:p>
            <a:pPr marL="342900" indent="-342900">
              <a:spcAft>
                <a:spcPts val="1200"/>
              </a:spcAft>
              <a:buSzPct val="100000"/>
              <a:buChar char="•"/>
            </a:pPr>
            <a:r>
              <a:rPr lang="en-US" sz="1550" dirty="0">
                <a:solidFill>
                  <a:srgbClr val="1E293B"/>
                </a:solidFill>
                <a:latin typeface="Calibri" pitchFamily="34" charset="0"/>
                <a:ea typeface="Calibri" pitchFamily="34" charset="-122"/>
                <a:cs typeface="Calibri" pitchFamily="34" charset="-120"/>
              </a:rPr>
              <a:t>CoreDNS's behavior is controlled by a Corefile, stored as a ConfigMap named coredns in kube-system — editing this ConfigMap is how you customize cluster DNS behavior.</a:t>
            </a:r>
            <a:endParaRPr lang="en-US" sz="1550" dirty="0"/>
          </a:p>
        </p:txBody>
      </p:sp>
      <p:sp>
        <p:nvSpPr>
          <p:cNvPr id="8" name="Text 6"/>
          <p:cNvSpPr/>
          <p:nvPr/>
        </p:nvSpPr>
        <p:spPr>
          <a:xfrm>
            <a:off x="457200" y="6446520"/>
            <a:ext cx="6400800" cy="27432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CKA v1.36 · Module 2</a:t>
            </a:r>
            <a:endParaRPr lang="en-US" sz="900" dirty="0"/>
          </a:p>
        </p:txBody>
      </p:sp>
      <p:sp>
        <p:nvSpPr>
          <p:cNvPr id="9" name="Text 7"/>
          <p:cNvSpPr/>
          <p:nvPr/>
        </p:nvSpPr>
        <p:spPr>
          <a:xfrm>
            <a:off x="11247120" y="6446520"/>
            <a:ext cx="4572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54</a:t>
            </a:r>
            <a:endParaRPr lang="en-US" sz="900"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65760"/>
            <a:ext cx="9144000" cy="320040"/>
          </a:xfrm>
          <a:prstGeom prst="rect">
            <a:avLst/>
          </a:prstGeom>
          <a:noFill/>
          <a:ln/>
        </p:spPr>
        <p:txBody>
          <a:bodyPr wrap="square" lIns="0" tIns="0" rIns="0" bIns="0" rtlCol="0" anchor="ctr"/>
          <a:lstStyle/>
          <a:p>
            <a:pPr indent="0" marL="0">
              <a:buNone/>
            </a:pPr>
            <a:r>
              <a:rPr lang="en-US" sz="1150" b="1" spc="150" kern="0" dirty="0">
                <a:solidFill>
                  <a:srgbClr val="1C7293"/>
                </a:solidFill>
                <a:latin typeface="Calibri" pitchFamily="34" charset="0"/>
                <a:ea typeface="Calibri" pitchFamily="34" charset="-122"/>
                <a:cs typeface="Calibri" pitchFamily="34" charset="-120"/>
              </a:rPr>
              <a:t>COREDNS</a:t>
            </a:r>
            <a:endParaRPr lang="en-US" sz="1150" dirty="0"/>
          </a:p>
        </p:txBody>
      </p:sp>
      <p:sp>
        <p:nvSpPr>
          <p:cNvPr id="3" name="Text 1"/>
          <p:cNvSpPr/>
          <p:nvPr/>
        </p:nvSpPr>
        <p:spPr>
          <a:xfrm>
            <a:off x="640080" y="658368"/>
            <a:ext cx="10881360" cy="685800"/>
          </a:xfrm>
          <a:prstGeom prst="rect">
            <a:avLst/>
          </a:prstGeom>
          <a:noFill/>
          <a:ln/>
        </p:spPr>
        <p:txBody>
          <a:bodyPr wrap="square" lIns="0" tIns="0" rIns="0" bIns="0" rtlCol="0" anchor="ctr"/>
          <a:lstStyle/>
          <a:p>
            <a:pPr indent="0" marL="0">
              <a:buNone/>
            </a:pPr>
            <a:r>
              <a:rPr lang="en-US" sz="2600" b="1" dirty="0">
                <a:solidFill>
                  <a:srgbClr val="21295C"/>
                </a:solidFill>
                <a:latin typeface="Cambria" pitchFamily="34" charset="0"/>
                <a:ea typeface="Cambria" pitchFamily="34" charset="-122"/>
                <a:cs typeface="Cambria" pitchFamily="34" charset="-120"/>
              </a:rPr>
              <a:t>The Service &amp; Pod DNS Naming Convention</a:t>
            </a:r>
            <a:endParaRPr lang="en-US" sz="2600" dirty="0"/>
          </a:p>
        </p:txBody>
      </p:sp>
      <p:sp>
        <p:nvSpPr>
          <p:cNvPr id="4" name="Shape 2"/>
          <p:cNvSpPr/>
          <p:nvPr/>
        </p:nvSpPr>
        <p:spPr>
          <a:xfrm>
            <a:off x="640080" y="1371600"/>
            <a:ext cx="10881360" cy="0"/>
          </a:xfrm>
          <a:prstGeom prst="line">
            <a:avLst/>
          </a:prstGeom>
          <a:noFill/>
          <a:ln w="12700">
            <a:solidFill>
              <a:srgbClr val="D7E3E8"/>
            </a:solidFill>
            <a:prstDash val="solid"/>
          </a:ln>
        </p:spPr>
      </p:sp>
      <p:sp>
        <p:nvSpPr>
          <p:cNvPr id="5" name="Shape 3"/>
          <p:cNvSpPr/>
          <p:nvPr/>
        </p:nvSpPr>
        <p:spPr>
          <a:xfrm>
            <a:off x="11109960" y="411480"/>
            <a:ext cx="502920" cy="502920"/>
          </a:xfrm>
          <a:prstGeom prst="ellipse">
            <a:avLst/>
          </a:prstGeom>
          <a:solidFill>
            <a:srgbClr val="EAF4F8"/>
          </a:solidFill>
          <a:ln w="15875">
            <a:solidFill>
              <a:srgbClr val="1C7293"/>
            </a:solidFill>
            <a:prstDash val="solid"/>
          </a:ln>
        </p:spPr>
      </p:sp>
      <p:sp>
        <p:nvSpPr>
          <p:cNvPr id="6" name="Text 4"/>
          <p:cNvSpPr/>
          <p:nvPr/>
        </p:nvSpPr>
        <p:spPr>
          <a:xfrm>
            <a:off x="11109960" y="411480"/>
            <a:ext cx="502920" cy="502920"/>
          </a:xfrm>
          <a:prstGeom prst="rect">
            <a:avLst/>
          </a:prstGeom>
          <a:noFill/>
          <a:ln/>
        </p:spPr>
        <p:txBody>
          <a:bodyPr wrap="square" lIns="0" tIns="0" rIns="0" bIns="0" rtlCol="0" anchor="ctr"/>
          <a:lstStyle/>
          <a:p>
            <a:pPr algn="ctr" indent="0" marL="0">
              <a:buNone/>
            </a:pPr>
            <a:r>
              <a:rPr lang="en-US" sz="1600" b="1" dirty="0">
                <a:solidFill>
                  <a:srgbClr val="1C7293"/>
                </a:solidFill>
                <a:latin typeface="Calibri" pitchFamily="34" charset="0"/>
                <a:ea typeface="Calibri" pitchFamily="34" charset="-122"/>
                <a:cs typeface="Calibri" pitchFamily="34" charset="-120"/>
              </a:rPr>
              <a:t>15</a:t>
            </a:r>
            <a:endParaRPr lang="en-US" sz="1600" dirty="0"/>
          </a:p>
        </p:txBody>
      </p:sp>
      <p:sp>
        <p:nvSpPr>
          <p:cNvPr id="7" name="Text 5"/>
          <p:cNvSpPr/>
          <p:nvPr/>
        </p:nvSpPr>
        <p:spPr>
          <a:xfrm>
            <a:off x="640080" y="1600200"/>
            <a:ext cx="5212080" cy="365760"/>
          </a:xfrm>
          <a:prstGeom prst="rect">
            <a:avLst/>
          </a:prstGeom>
          <a:noFill/>
          <a:ln/>
        </p:spPr>
        <p:txBody>
          <a:bodyPr wrap="square" lIns="0" tIns="0" rIns="0" bIns="0" rtlCol="0" anchor="ctr"/>
          <a:lstStyle/>
          <a:p>
            <a:pPr indent="0" marL="0">
              <a:buNone/>
            </a:pPr>
            <a:r>
              <a:rPr lang="en-US" sz="1450" b="1" dirty="0">
                <a:solidFill>
                  <a:srgbClr val="065A82"/>
                </a:solidFill>
                <a:latin typeface="Calibri" pitchFamily="34" charset="0"/>
                <a:ea typeface="Calibri" pitchFamily="34" charset="-122"/>
                <a:cs typeface="Calibri" pitchFamily="34" charset="-120"/>
              </a:rPr>
              <a:t>Services</a:t>
            </a:r>
            <a:endParaRPr lang="en-US" sz="1450" dirty="0"/>
          </a:p>
        </p:txBody>
      </p:sp>
      <p:sp>
        <p:nvSpPr>
          <p:cNvPr id="8" name="Text 6"/>
          <p:cNvSpPr/>
          <p:nvPr/>
        </p:nvSpPr>
        <p:spPr>
          <a:xfrm>
            <a:off x="640080" y="2011680"/>
            <a:ext cx="5212080" cy="3931920"/>
          </a:xfrm>
          <a:prstGeom prst="rect">
            <a:avLst/>
          </a:prstGeom>
          <a:noFill/>
          <a:ln/>
        </p:spPr>
        <p:txBody>
          <a:bodyPr wrap="square" lIns="0" tIns="0" rIns="0" bIns="0" rtlCol="0" anchor="t"/>
          <a:lstStyle/>
          <a:p>
            <a:pPr marL="342900" indent="-342900">
              <a:spcAft>
                <a:spcPts val="1000"/>
              </a:spcAft>
              <a:buSzPct val="100000"/>
              <a:buChar char="•"/>
            </a:pPr>
            <a:r>
              <a:rPr lang="en-US" sz="1400" dirty="0">
                <a:solidFill>
                  <a:srgbClr val="1E293B"/>
                </a:solidFill>
                <a:latin typeface="Calibri" pitchFamily="34" charset="0"/>
                <a:ea typeface="Calibri" pitchFamily="34" charset="-122"/>
                <a:cs typeface="Calibri" pitchFamily="34" charset="-120"/>
              </a:rPr>
              <a:t>&lt;service&gt;.&lt;namespace&gt;.svc.cluster.local</a:t>
            </a:r>
            <a:endParaRPr lang="en-US" sz="1400" dirty="0"/>
          </a:p>
          <a:p>
            <a:pPr marL="342900" indent="-342900">
              <a:spcAft>
                <a:spcPts val="1000"/>
              </a:spcAft>
              <a:buSzPct val="100000"/>
              <a:buChar char="•"/>
            </a:pPr>
            <a:r>
              <a:rPr lang="en-US" sz="1400" dirty="0">
                <a:solidFill>
                  <a:srgbClr val="1E293B"/>
                </a:solidFill>
                <a:latin typeface="Calibri" pitchFamily="34" charset="0"/>
                <a:ea typeface="Calibri" pitchFamily="34" charset="-122"/>
                <a:cs typeface="Calibri" pitchFamily="34" charset="-120"/>
              </a:rPr>
              <a:t>Short form within same namespace: &lt;service&gt;</a:t>
            </a:r>
            <a:endParaRPr lang="en-US" sz="1400" dirty="0"/>
          </a:p>
          <a:p>
            <a:pPr marL="342900" indent="-342900">
              <a:spcAft>
                <a:spcPts val="1000"/>
              </a:spcAft>
              <a:buSzPct val="100000"/>
              <a:buChar char="•"/>
            </a:pPr>
            <a:r>
              <a:rPr lang="en-US" sz="1400" dirty="0">
                <a:solidFill>
                  <a:srgbClr val="1E293B"/>
                </a:solidFill>
                <a:latin typeface="Calibri" pitchFamily="34" charset="0"/>
                <a:ea typeface="Calibri" pitchFamily="34" charset="-122"/>
                <a:cs typeface="Calibri" pitchFamily="34" charset="-120"/>
              </a:rPr>
              <a:t>Cross-namespace short form: &lt;service&gt;.&lt;namespace&gt;</a:t>
            </a:r>
            <a:endParaRPr lang="en-US" sz="1400" dirty="0"/>
          </a:p>
        </p:txBody>
      </p:sp>
      <p:sp>
        <p:nvSpPr>
          <p:cNvPr id="9" name="Text 7"/>
          <p:cNvSpPr/>
          <p:nvPr/>
        </p:nvSpPr>
        <p:spPr>
          <a:xfrm>
            <a:off x="6309360" y="1600200"/>
            <a:ext cx="5212080" cy="365760"/>
          </a:xfrm>
          <a:prstGeom prst="rect">
            <a:avLst/>
          </a:prstGeom>
          <a:noFill/>
          <a:ln/>
        </p:spPr>
        <p:txBody>
          <a:bodyPr wrap="square" lIns="0" tIns="0" rIns="0" bIns="0" rtlCol="0" anchor="ctr"/>
          <a:lstStyle/>
          <a:p>
            <a:pPr indent="0" marL="0">
              <a:buNone/>
            </a:pPr>
            <a:r>
              <a:rPr lang="en-US" sz="1450" b="1" dirty="0">
                <a:solidFill>
                  <a:srgbClr val="065A82"/>
                </a:solidFill>
                <a:latin typeface="Calibri" pitchFamily="34" charset="0"/>
                <a:ea typeface="Calibri" pitchFamily="34" charset="-122"/>
                <a:cs typeface="Calibri" pitchFamily="34" charset="-120"/>
              </a:rPr>
              <a:t>Pods (less common to query directly)</a:t>
            </a:r>
            <a:endParaRPr lang="en-US" sz="1450" dirty="0"/>
          </a:p>
        </p:txBody>
      </p:sp>
      <p:sp>
        <p:nvSpPr>
          <p:cNvPr id="10" name="Text 8"/>
          <p:cNvSpPr/>
          <p:nvPr/>
        </p:nvSpPr>
        <p:spPr>
          <a:xfrm>
            <a:off x="6309360" y="2011680"/>
            <a:ext cx="5212080" cy="3931920"/>
          </a:xfrm>
          <a:prstGeom prst="rect">
            <a:avLst/>
          </a:prstGeom>
          <a:noFill/>
          <a:ln/>
        </p:spPr>
        <p:txBody>
          <a:bodyPr wrap="square" lIns="0" tIns="0" rIns="0" bIns="0" rtlCol="0" anchor="t"/>
          <a:lstStyle/>
          <a:p>
            <a:pPr marL="342900" indent="-342900">
              <a:spcAft>
                <a:spcPts val="1000"/>
              </a:spcAft>
              <a:buSzPct val="100000"/>
              <a:buChar char="•"/>
            </a:pPr>
            <a:r>
              <a:rPr lang="en-US" sz="1400" dirty="0">
                <a:solidFill>
                  <a:srgbClr val="1E293B"/>
                </a:solidFill>
                <a:latin typeface="Calibri" pitchFamily="34" charset="0"/>
                <a:ea typeface="Calibri" pitchFamily="34" charset="-122"/>
                <a:cs typeface="Calibri" pitchFamily="34" charset="-120"/>
              </a:rPr>
              <a:t>&lt;pod-ip-with-dashes&gt;.&lt;namespace&gt;.pod.cluster.local</a:t>
            </a:r>
            <a:endParaRPr lang="en-US" sz="1400" dirty="0"/>
          </a:p>
          <a:p>
            <a:pPr marL="342900" indent="-342900">
              <a:spcAft>
                <a:spcPts val="1000"/>
              </a:spcAft>
              <a:buSzPct val="100000"/>
              <a:buChar char="•"/>
            </a:pPr>
            <a:r>
              <a:rPr lang="en-US" sz="1400" dirty="0">
                <a:solidFill>
                  <a:srgbClr val="1E293B"/>
                </a:solidFill>
                <a:latin typeface="Calibri" pitchFamily="34" charset="0"/>
                <a:ea typeface="Calibri" pitchFamily="34" charset="-122"/>
                <a:cs typeface="Calibri" pitchFamily="34" charset="-120"/>
              </a:rPr>
              <a:t>Only resolvable if the Pod belongs to a headless Service with subdomain set</a:t>
            </a:r>
            <a:endParaRPr lang="en-US" sz="1400" dirty="0"/>
          </a:p>
          <a:p>
            <a:pPr marL="342900" indent="-342900">
              <a:spcAft>
                <a:spcPts val="1000"/>
              </a:spcAft>
              <a:buSzPct val="100000"/>
              <a:buChar char="•"/>
            </a:pPr>
            <a:r>
              <a:rPr lang="en-US" sz="1400" dirty="0">
                <a:solidFill>
                  <a:srgbClr val="1E293B"/>
                </a:solidFill>
                <a:latin typeface="Calibri" pitchFamily="34" charset="0"/>
                <a:ea typeface="Calibri" pitchFamily="34" charset="-122"/>
                <a:cs typeface="Calibri" pitchFamily="34" charset="-120"/>
              </a:rPr>
              <a:t>cluster.local is the default cluster domain — can be customized at cluster creation</a:t>
            </a:r>
            <a:endParaRPr lang="en-US" sz="1400" dirty="0"/>
          </a:p>
        </p:txBody>
      </p:sp>
      <p:sp>
        <p:nvSpPr>
          <p:cNvPr id="11" name="Text 9"/>
          <p:cNvSpPr/>
          <p:nvPr/>
        </p:nvSpPr>
        <p:spPr>
          <a:xfrm>
            <a:off x="457200" y="6446520"/>
            <a:ext cx="6400800" cy="27432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CKA v1.36 · Module 2</a:t>
            </a:r>
            <a:endParaRPr lang="en-US" sz="900" dirty="0"/>
          </a:p>
        </p:txBody>
      </p:sp>
      <p:sp>
        <p:nvSpPr>
          <p:cNvPr id="12" name="Text 10"/>
          <p:cNvSpPr/>
          <p:nvPr/>
        </p:nvSpPr>
        <p:spPr>
          <a:xfrm>
            <a:off x="11247120" y="6446520"/>
            <a:ext cx="4572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55</a:t>
            </a:r>
            <a:endParaRPr lang="en-US" sz="900"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65760"/>
            <a:ext cx="9144000" cy="320040"/>
          </a:xfrm>
          <a:prstGeom prst="rect">
            <a:avLst/>
          </a:prstGeom>
          <a:noFill/>
          <a:ln/>
        </p:spPr>
        <p:txBody>
          <a:bodyPr wrap="square" lIns="0" tIns="0" rIns="0" bIns="0" rtlCol="0" anchor="ctr"/>
          <a:lstStyle/>
          <a:p>
            <a:pPr indent="0" marL="0">
              <a:buNone/>
            </a:pPr>
            <a:r>
              <a:rPr lang="en-US" sz="1150" b="1" spc="150" kern="0" dirty="0">
                <a:solidFill>
                  <a:srgbClr val="1C7293"/>
                </a:solidFill>
                <a:latin typeface="Calibri" pitchFamily="34" charset="0"/>
                <a:ea typeface="Calibri" pitchFamily="34" charset="-122"/>
                <a:cs typeface="Calibri" pitchFamily="34" charset="-120"/>
              </a:rPr>
              <a:t>COREDNS</a:t>
            </a:r>
            <a:endParaRPr lang="en-US" sz="1150" dirty="0"/>
          </a:p>
        </p:txBody>
      </p:sp>
      <p:sp>
        <p:nvSpPr>
          <p:cNvPr id="3" name="Text 1"/>
          <p:cNvSpPr/>
          <p:nvPr/>
        </p:nvSpPr>
        <p:spPr>
          <a:xfrm>
            <a:off x="640080" y="658368"/>
            <a:ext cx="10881360" cy="548640"/>
          </a:xfrm>
          <a:prstGeom prst="rect">
            <a:avLst/>
          </a:prstGeom>
          <a:noFill/>
          <a:ln/>
        </p:spPr>
        <p:txBody>
          <a:bodyPr wrap="square" lIns="0" tIns="0" rIns="0" bIns="0" rtlCol="0" anchor="ctr"/>
          <a:lstStyle/>
          <a:p>
            <a:pPr indent="0" marL="0">
              <a:buNone/>
            </a:pPr>
            <a:r>
              <a:rPr lang="en-US" sz="2400" b="1" dirty="0">
                <a:solidFill>
                  <a:srgbClr val="21295C"/>
                </a:solidFill>
                <a:latin typeface="Cambria" pitchFamily="34" charset="0"/>
                <a:ea typeface="Cambria" pitchFamily="34" charset="-122"/>
                <a:cs typeface="Cambria" pitchFamily="34" charset="-120"/>
              </a:rPr>
              <a:t>Diagnosing CoreDNS Issues</a:t>
            </a:r>
            <a:endParaRPr lang="en-US" sz="2400" dirty="0"/>
          </a:p>
        </p:txBody>
      </p:sp>
      <p:sp>
        <p:nvSpPr>
          <p:cNvPr id="4" name="Shape 2"/>
          <p:cNvSpPr/>
          <p:nvPr/>
        </p:nvSpPr>
        <p:spPr>
          <a:xfrm>
            <a:off x="640080" y="1371600"/>
            <a:ext cx="10881360" cy="3529584"/>
          </a:xfrm>
          <a:prstGeom prst="roundRect">
            <a:avLst>
              <a:gd name="adj" fmla="val 1554"/>
            </a:avLst>
          </a:prstGeom>
          <a:solidFill>
            <a:srgbClr val="0B2330"/>
          </a:solidFill>
          <a:ln/>
          <a:effectLst>
            <a:outerShdw sx="100000" sy="100000" kx="0" ky="0" algn="bl" rotWithShape="0" blurRad="88900" dist="25400" dir="2700000">
              <a:srgbClr val="1B2A36">
                <a:alpha val="12000"/>
              </a:srgbClr>
            </a:outerShdw>
          </a:effectLst>
        </p:spPr>
      </p:sp>
      <p:sp>
        <p:nvSpPr>
          <p:cNvPr id="5" name="Text 3"/>
          <p:cNvSpPr/>
          <p:nvPr/>
        </p:nvSpPr>
        <p:spPr>
          <a:xfrm>
            <a:off x="868680" y="1536192"/>
            <a:ext cx="10424160" cy="3200400"/>
          </a:xfrm>
          <a:prstGeom prst="rect">
            <a:avLst/>
          </a:prstGeom>
          <a:noFill/>
          <a:ln/>
        </p:spPr>
        <p:txBody>
          <a:bodyPr wrap="square" lIns="0" tIns="0" rIns="0" bIns="0" rtlCol="0" anchor="t"/>
          <a:lstStyle/>
          <a:p>
            <a:pPr indent="0" marL="0">
              <a:buNone/>
            </a:pPr>
            <a:r>
              <a:rPr lang="en-US" sz="1350" dirty="0">
                <a:solidFill>
                  <a:srgbClr val="CFEFEA"/>
                </a:solidFill>
                <a:latin typeface="Courier New" pitchFamily="34" charset="0"/>
                <a:ea typeface="Courier New" pitchFamily="34" charset="-122"/>
                <a:cs typeface="Courier New" pitchFamily="34" charset="-120"/>
              </a:rPr>
              <a:t># Is CoreDNS itself healthy?</a:t>
            </a:r>
            <a:endParaRPr lang="en-US" sz="1350" dirty="0"/>
          </a:p>
          <a:p>
            <a:pPr indent="0" marL="0">
              <a:buNone/>
            </a:pPr>
            <a:r>
              <a:rPr lang="en-US" sz="1350" dirty="0">
                <a:solidFill>
                  <a:srgbClr val="CFEFEA"/>
                </a:solidFill>
                <a:latin typeface="Courier New" pitchFamily="34" charset="0"/>
                <a:ea typeface="Courier New" pitchFamily="34" charset="-122"/>
                <a:cs typeface="Courier New" pitchFamily="34" charset="-120"/>
              </a:rPr>
              <a:t>kubectl get pods -n kube-system -l k8s-app=kube-dns</a:t>
            </a:r>
            <a:endParaRPr lang="en-US" sz="1350" dirty="0"/>
          </a:p>
          <a:p>
            <a:pPr indent="0" marL="0">
              <a:buNone/>
            </a:pPr>
            <a:r>
              <a:rPr lang="en-US" sz="1350" dirty="0">
                <a:solidFill>
                  <a:srgbClr val="CFEFEA"/>
                </a:solidFill>
                <a:latin typeface="Courier New" pitchFamily="34" charset="0"/>
                <a:ea typeface="Courier New" pitchFamily="34" charset="-122"/>
                <a:cs typeface="Courier New" pitchFamily="34" charset="-120"/>
              </a:rPr>
              <a:t>kubectl logs -n kube-system -l k8s-app=kube-dns</a:t>
            </a:r>
            <a:endParaRPr lang="en-US" sz="1350" dirty="0"/>
          </a:p>
          <a:p>
            <a:pPr indent="0" marL="0">
              <a:buNone/>
            </a:pPr>
            <a:endParaRPr lang="en-US" sz="1350" dirty="0"/>
          </a:p>
          <a:p>
            <a:pPr indent="0" marL="0">
              <a:buNone/>
            </a:pPr>
            <a:r>
              <a:rPr lang="en-US" sz="1350" dirty="0">
                <a:solidFill>
                  <a:srgbClr val="CFEFEA"/>
                </a:solidFill>
                <a:latin typeface="Courier New" pitchFamily="34" charset="0"/>
                <a:ea typeface="Courier New" pitchFamily="34" charset="-122"/>
                <a:cs typeface="Courier New" pitchFamily="34" charset="-120"/>
              </a:rPr>
              <a:t># Can a Pod resolve a known-good name?</a:t>
            </a:r>
            <a:endParaRPr lang="en-US" sz="1350" dirty="0"/>
          </a:p>
          <a:p>
            <a:pPr indent="0" marL="0">
              <a:buNone/>
            </a:pPr>
            <a:r>
              <a:rPr lang="en-US" sz="1350" dirty="0">
                <a:solidFill>
                  <a:srgbClr val="CFEFEA"/>
                </a:solidFill>
                <a:latin typeface="Courier New" pitchFamily="34" charset="0"/>
                <a:ea typeface="Courier New" pitchFamily="34" charset="-122"/>
                <a:cs typeface="Courier New" pitchFamily="34" charset="-120"/>
              </a:rPr>
              <a:t>kubectl run dns-test --image=busybox:1.36 --rm -it --restart=Never \</a:t>
            </a:r>
            <a:endParaRPr lang="en-US" sz="1350" dirty="0"/>
          </a:p>
          <a:p>
            <a:pPr indent="0" marL="0">
              <a:buNone/>
            </a:pPr>
            <a:r>
              <a:rPr lang="en-US" sz="1350" dirty="0">
                <a:solidFill>
                  <a:srgbClr val="CFEFEA"/>
                </a:solidFill>
                <a:latin typeface="Courier New" pitchFamily="34" charset="0"/>
                <a:ea typeface="Courier New" pitchFamily="34" charset="-122"/>
                <a:cs typeface="Courier New" pitchFamily="34" charset="-120"/>
              </a:rPr>
              <a:t>  -- nslookup kubernetes.default</a:t>
            </a:r>
            <a:endParaRPr lang="en-US" sz="1350" dirty="0"/>
          </a:p>
          <a:p>
            <a:pPr indent="0" marL="0">
              <a:buNone/>
            </a:pPr>
            <a:endParaRPr lang="en-US" sz="1350" dirty="0"/>
          </a:p>
          <a:p>
            <a:pPr indent="0" marL="0">
              <a:buNone/>
            </a:pPr>
            <a:r>
              <a:rPr lang="en-US" sz="1350" dirty="0">
                <a:solidFill>
                  <a:srgbClr val="CFEFEA"/>
                </a:solidFill>
                <a:latin typeface="Courier New" pitchFamily="34" charset="0"/>
                <a:ea typeface="Courier New" pitchFamily="34" charset="-122"/>
                <a:cs typeface="Courier New" pitchFamily="34" charset="-120"/>
              </a:rPr>
              <a:t># Is the Pod even pointed at CoreDNS?</a:t>
            </a:r>
            <a:endParaRPr lang="en-US" sz="1350" dirty="0"/>
          </a:p>
          <a:p>
            <a:pPr indent="0" marL="0">
              <a:buNone/>
            </a:pPr>
            <a:r>
              <a:rPr lang="en-US" sz="1350" dirty="0">
                <a:solidFill>
                  <a:srgbClr val="CFEFEA"/>
                </a:solidFill>
                <a:latin typeface="Courier New" pitchFamily="34" charset="0"/>
                <a:ea typeface="Courier New" pitchFamily="34" charset="-122"/>
                <a:cs typeface="Courier New" pitchFamily="34" charset="-120"/>
              </a:rPr>
              <a:t>kubectl exec -it &lt;pod&gt; -- cat /etc/resolv.conf</a:t>
            </a:r>
            <a:endParaRPr lang="en-US" sz="1350" dirty="0"/>
          </a:p>
          <a:p>
            <a:pPr indent="0" marL="0">
              <a:buNone/>
            </a:pPr>
            <a:endParaRPr lang="en-US" sz="1350" dirty="0"/>
          </a:p>
          <a:p>
            <a:pPr indent="0" marL="0">
              <a:buNone/>
            </a:pPr>
            <a:r>
              <a:rPr lang="en-US" sz="1350" dirty="0">
                <a:solidFill>
                  <a:srgbClr val="CFEFEA"/>
                </a:solidFill>
                <a:latin typeface="Courier New" pitchFamily="34" charset="0"/>
                <a:ea typeface="Courier New" pitchFamily="34" charset="-122"/>
                <a:cs typeface="Courier New" pitchFamily="34" charset="-120"/>
              </a:rPr>
              <a:t># Inspect/edit CoreDNS's own configuration</a:t>
            </a:r>
            <a:endParaRPr lang="en-US" sz="1350" dirty="0"/>
          </a:p>
          <a:p>
            <a:pPr indent="0" marL="0">
              <a:buNone/>
            </a:pPr>
            <a:r>
              <a:rPr lang="en-US" sz="1350" dirty="0">
                <a:solidFill>
                  <a:srgbClr val="CFEFEA"/>
                </a:solidFill>
                <a:latin typeface="Courier New" pitchFamily="34" charset="0"/>
                <a:ea typeface="Courier New" pitchFamily="34" charset="-122"/>
                <a:cs typeface="Courier New" pitchFamily="34" charset="-120"/>
              </a:rPr>
              <a:t>kubectl get configmap coredns -n kube-system -o yaml</a:t>
            </a:r>
            <a:endParaRPr lang="en-US" sz="1350" dirty="0"/>
          </a:p>
        </p:txBody>
      </p:sp>
      <p:sp>
        <p:nvSpPr>
          <p:cNvPr id="6" name="Text 4"/>
          <p:cNvSpPr/>
          <p:nvPr/>
        </p:nvSpPr>
        <p:spPr>
          <a:xfrm>
            <a:off x="640080" y="5129784"/>
            <a:ext cx="10881360" cy="1271016"/>
          </a:xfrm>
          <a:prstGeom prst="rect">
            <a:avLst/>
          </a:prstGeom>
          <a:noFill/>
          <a:ln/>
        </p:spPr>
        <p:txBody>
          <a:bodyPr wrap="square" lIns="0" tIns="0" rIns="0" bIns="0" rtlCol="0" anchor="t"/>
          <a:lstStyle/>
          <a:p>
            <a:pPr marL="342900" indent="-342900">
              <a:spcAft>
                <a:spcPts val="500"/>
              </a:spcAft>
              <a:buSzPct val="100000"/>
              <a:buChar char="•"/>
            </a:pPr>
            <a:r>
              <a:rPr lang="en-US" sz="1200" dirty="0">
                <a:solidFill>
                  <a:srgbClr val="1E293B"/>
                </a:solidFill>
                <a:latin typeface="Calibri" pitchFamily="34" charset="0"/>
                <a:ea typeface="Calibri" pitchFamily="34" charset="-122"/>
                <a:cs typeface="Calibri" pitchFamily="34" charset="-120"/>
              </a:rPr>
              <a:t>nslookup kubernetes.default is the canonical exam smoke-test — it should always resolve on a healthy cluster, since the kubernetes Service always exists.</a:t>
            </a:r>
            <a:endParaRPr lang="en-US" sz="1200" dirty="0"/>
          </a:p>
          <a:p>
            <a:pPr marL="342900" indent="-342900">
              <a:spcAft>
                <a:spcPts val="500"/>
              </a:spcAft>
              <a:buSzPct val="100000"/>
              <a:buChar char="•"/>
            </a:pPr>
            <a:r>
              <a:rPr lang="en-US" sz="1200" dirty="0">
                <a:solidFill>
                  <a:srgbClr val="1E293B"/>
                </a:solidFill>
                <a:latin typeface="Calibri" pitchFamily="34" charset="0"/>
                <a:ea typeface="Calibri" pitchFamily="34" charset="-122"/>
                <a:cs typeface="Calibri" pitchFamily="34" charset="-120"/>
              </a:rPr>
              <a:t>If resolv.conf doesn't point at the CoreDNS ClusterIP, check the Pod's dnsPolicy field — it may be intentionally set to Default (use the NODE's resolv.conf) instead of ClusterFirst.</a:t>
            </a:r>
            <a:endParaRPr lang="en-US" sz="1200" dirty="0"/>
          </a:p>
        </p:txBody>
      </p:sp>
      <p:sp>
        <p:nvSpPr>
          <p:cNvPr id="7" name="Text 5"/>
          <p:cNvSpPr/>
          <p:nvPr/>
        </p:nvSpPr>
        <p:spPr>
          <a:xfrm>
            <a:off x="457200" y="6446520"/>
            <a:ext cx="6400800" cy="27432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CKA v1.36 · Module 2</a:t>
            </a:r>
            <a:endParaRPr lang="en-US" sz="900" dirty="0"/>
          </a:p>
        </p:txBody>
      </p:sp>
      <p:sp>
        <p:nvSpPr>
          <p:cNvPr id="8" name="Text 6"/>
          <p:cNvSpPr/>
          <p:nvPr/>
        </p:nvSpPr>
        <p:spPr>
          <a:xfrm>
            <a:off x="11247120" y="6446520"/>
            <a:ext cx="4572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56</a:t>
            </a:r>
            <a:endParaRPr lang="en-US" sz="900"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65760"/>
            <a:ext cx="9144000" cy="320040"/>
          </a:xfrm>
          <a:prstGeom prst="rect">
            <a:avLst/>
          </a:prstGeom>
          <a:noFill/>
          <a:ln/>
        </p:spPr>
        <p:txBody>
          <a:bodyPr wrap="square" lIns="0" tIns="0" rIns="0" bIns="0" rtlCol="0" anchor="ctr"/>
          <a:lstStyle/>
          <a:p>
            <a:pPr indent="0" marL="0">
              <a:buNone/>
            </a:pPr>
            <a:r>
              <a:rPr lang="en-US" sz="1150" b="1" spc="150" kern="0" dirty="0">
                <a:solidFill>
                  <a:srgbClr val="1C7293"/>
                </a:solidFill>
                <a:latin typeface="Calibri" pitchFamily="34" charset="0"/>
                <a:ea typeface="Calibri" pitchFamily="34" charset="-122"/>
                <a:cs typeface="Calibri" pitchFamily="34" charset="-120"/>
              </a:rPr>
              <a:t>COREDNS</a:t>
            </a:r>
            <a:endParaRPr lang="en-US" sz="1150" dirty="0"/>
          </a:p>
        </p:txBody>
      </p:sp>
      <p:sp>
        <p:nvSpPr>
          <p:cNvPr id="3" name="Text 1"/>
          <p:cNvSpPr/>
          <p:nvPr/>
        </p:nvSpPr>
        <p:spPr>
          <a:xfrm>
            <a:off x="640080" y="658368"/>
            <a:ext cx="10881360" cy="685800"/>
          </a:xfrm>
          <a:prstGeom prst="rect">
            <a:avLst/>
          </a:prstGeom>
          <a:noFill/>
          <a:ln/>
        </p:spPr>
        <p:txBody>
          <a:bodyPr wrap="square" lIns="0" tIns="0" rIns="0" bIns="0" rtlCol="0" anchor="ctr"/>
          <a:lstStyle/>
          <a:p>
            <a:pPr indent="0" marL="0">
              <a:buNone/>
            </a:pPr>
            <a:r>
              <a:rPr lang="en-US" sz="2600" b="1" dirty="0">
                <a:solidFill>
                  <a:srgbClr val="21295C"/>
                </a:solidFill>
                <a:latin typeface="Cambria" pitchFamily="34" charset="0"/>
                <a:ea typeface="Cambria" pitchFamily="34" charset="-122"/>
                <a:cs typeface="Cambria" pitchFamily="34" charset="-120"/>
              </a:rPr>
              <a:t>Pod dnsPolicy Options</a:t>
            </a:r>
            <a:endParaRPr lang="en-US" sz="2600" dirty="0"/>
          </a:p>
        </p:txBody>
      </p:sp>
      <p:sp>
        <p:nvSpPr>
          <p:cNvPr id="4" name="Shape 2"/>
          <p:cNvSpPr/>
          <p:nvPr/>
        </p:nvSpPr>
        <p:spPr>
          <a:xfrm>
            <a:off x="640080" y="1371600"/>
            <a:ext cx="10881360" cy="0"/>
          </a:xfrm>
          <a:prstGeom prst="line">
            <a:avLst/>
          </a:prstGeom>
          <a:noFill/>
          <a:ln w="12700">
            <a:solidFill>
              <a:srgbClr val="D7E3E8"/>
            </a:solidFill>
            <a:prstDash val="solid"/>
          </a:ln>
        </p:spPr>
      </p:sp>
      <p:sp>
        <p:nvSpPr>
          <p:cNvPr id="5" name="Shape 3"/>
          <p:cNvSpPr/>
          <p:nvPr/>
        </p:nvSpPr>
        <p:spPr>
          <a:xfrm>
            <a:off x="11109960" y="411480"/>
            <a:ext cx="502920" cy="502920"/>
          </a:xfrm>
          <a:prstGeom prst="ellipse">
            <a:avLst/>
          </a:prstGeom>
          <a:solidFill>
            <a:srgbClr val="EAF4F8"/>
          </a:solidFill>
          <a:ln w="15875">
            <a:solidFill>
              <a:srgbClr val="1C7293"/>
            </a:solidFill>
            <a:prstDash val="solid"/>
          </a:ln>
        </p:spPr>
      </p:sp>
      <p:sp>
        <p:nvSpPr>
          <p:cNvPr id="6" name="Text 4"/>
          <p:cNvSpPr/>
          <p:nvPr/>
        </p:nvSpPr>
        <p:spPr>
          <a:xfrm>
            <a:off x="11109960" y="411480"/>
            <a:ext cx="502920" cy="502920"/>
          </a:xfrm>
          <a:prstGeom prst="rect">
            <a:avLst/>
          </a:prstGeom>
          <a:noFill/>
          <a:ln/>
        </p:spPr>
        <p:txBody>
          <a:bodyPr wrap="square" lIns="0" tIns="0" rIns="0" bIns="0" rtlCol="0" anchor="ctr"/>
          <a:lstStyle/>
          <a:p>
            <a:pPr algn="ctr" indent="0" marL="0">
              <a:buNone/>
            </a:pPr>
            <a:r>
              <a:rPr lang="en-US" sz="1600" b="1" dirty="0">
                <a:solidFill>
                  <a:srgbClr val="1C7293"/>
                </a:solidFill>
                <a:latin typeface="Calibri" pitchFamily="34" charset="0"/>
                <a:ea typeface="Calibri" pitchFamily="34" charset="-122"/>
                <a:cs typeface="Calibri" pitchFamily="34" charset="-120"/>
              </a:rPr>
              <a:t>16</a:t>
            </a:r>
            <a:endParaRPr lang="en-US" sz="1600" dirty="0"/>
          </a:p>
        </p:txBody>
      </p:sp>
      <p:sp>
        <p:nvSpPr>
          <p:cNvPr id="7" name="Text 5"/>
          <p:cNvSpPr/>
          <p:nvPr/>
        </p:nvSpPr>
        <p:spPr>
          <a:xfrm>
            <a:off x="640080" y="1600200"/>
            <a:ext cx="10881360" cy="4572000"/>
          </a:xfrm>
          <a:prstGeom prst="rect">
            <a:avLst/>
          </a:prstGeom>
          <a:noFill/>
          <a:ln/>
        </p:spPr>
        <p:txBody>
          <a:bodyPr wrap="square" lIns="0" tIns="0" rIns="0" bIns="0" rtlCol="0" anchor="t"/>
          <a:lstStyle/>
          <a:p>
            <a:pPr marL="342900" indent="-342900">
              <a:spcAft>
                <a:spcPts val="1200"/>
              </a:spcAft>
              <a:buSzPct val="100000"/>
              <a:buChar char="•"/>
            </a:pPr>
            <a:r>
              <a:rPr lang="en-US" sz="1550" dirty="0">
                <a:solidFill>
                  <a:srgbClr val="1E293B"/>
                </a:solidFill>
                <a:latin typeface="Calibri" pitchFamily="34" charset="0"/>
                <a:ea typeface="Calibri" pitchFamily="34" charset="-122"/>
                <a:cs typeface="Calibri" pitchFamily="34" charset="-120"/>
              </a:rPr>
              <a:t>ClusterFirst (default) — queries for the cluster domain go to CoreDNS; anything else is forwarded upstream by CoreDNS.</a:t>
            </a:r>
            <a:endParaRPr lang="en-US" sz="1550" dirty="0"/>
          </a:p>
          <a:p>
            <a:pPr marL="342900" indent="-342900">
              <a:spcAft>
                <a:spcPts val="1200"/>
              </a:spcAft>
              <a:buSzPct val="100000"/>
              <a:buChar char="•"/>
            </a:pPr>
            <a:r>
              <a:rPr lang="en-US" sz="1550" dirty="0">
                <a:solidFill>
                  <a:srgbClr val="1E293B"/>
                </a:solidFill>
                <a:latin typeface="Calibri" pitchFamily="34" charset="0"/>
                <a:ea typeface="Calibri" pitchFamily="34" charset="-122"/>
                <a:cs typeface="Calibri" pitchFamily="34" charset="-120"/>
              </a:rPr>
              <a:t>Default — the Pod inherits the NODE's own /etc/resolv.conf, bypassing CoreDNS entirely (despite the confusing name, this is NOT the default policy).</a:t>
            </a:r>
            <a:endParaRPr lang="en-US" sz="1550" dirty="0"/>
          </a:p>
          <a:p>
            <a:pPr marL="342900" indent="-342900">
              <a:spcAft>
                <a:spcPts val="1200"/>
              </a:spcAft>
              <a:buSzPct val="100000"/>
              <a:buChar char="•"/>
            </a:pPr>
            <a:r>
              <a:rPr lang="en-US" sz="1550" dirty="0">
                <a:solidFill>
                  <a:srgbClr val="1E293B"/>
                </a:solidFill>
                <a:latin typeface="Calibri" pitchFamily="34" charset="0"/>
                <a:ea typeface="Calibri" pitchFamily="34" charset="-122"/>
                <a:cs typeface="Calibri" pitchFamily="34" charset="-120"/>
              </a:rPr>
              <a:t>ClusterFirstWithHostNet — for Pods using hostNetwork: true that still need cluster DNS resolution (hostNetwork Pods would otherwise behave like 'Default').</a:t>
            </a:r>
            <a:endParaRPr lang="en-US" sz="1550" dirty="0"/>
          </a:p>
          <a:p>
            <a:pPr marL="342900" indent="-342900">
              <a:spcAft>
                <a:spcPts val="1200"/>
              </a:spcAft>
              <a:buSzPct val="100000"/>
              <a:buChar char="•"/>
            </a:pPr>
            <a:r>
              <a:rPr lang="en-US" sz="1550" dirty="0">
                <a:solidFill>
                  <a:srgbClr val="1E293B"/>
                </a:solidFill>
                <a:latin typeface="Calibri" pitchFamily="34" charset="0"/>
                <a:ea typeface="Calibri" pitchFamily="34" charset="-122"/>
                <a:cs typeface="Calibri" pitchFamily="34" charset="-120"/>
              </a:rPr>
              <a:t>None — ignores Kubernetes DNS settings entirely; requires dnsConfig to be fully specified manually.</a:t>
            </a:r>
            <a:endParaRPr lang="en-US" sz="1550" dirty="0"/>
          </a:p>
          <a:p>
            <a:pPr marL="342900" indent="-342900">
              <a:spcAft>
                <a:spcPts val="1200"/>
              </a:spcAft>
              <a:buSzPct val="100000"/>
              <a:buChar char="•"/>
            </a:pPr>
            <a:r>
              <a:rPr lang="en-US" sz="1550" dirty="0">
                <a:solidFill>
                  <a:srgbClr val="1E293B"/>
                </a:solidFill>
                <a:latin typeface="Calibri" pitchFamily="34" charset="0"/>
                <a:ea typeface="Calibri" pitchFamily="34" charset="-122"/>
                <a:cs typeface="Calibri" pitchFamily="34" charset="-120"/>
              </a:rPr>
              <a:t>Exam trap: a hostNetwork: true Pod failing to resolve cluster names usually needs dnsPolicy: ClusterFirstWithHostNet explicitly set.</a:t>
            </a:r>
            <a:endParaRPr lang="en-US" sz="1550" dirty="0"/>
          </a:p>
        </p:txBody>
      </p:sp>
      <p:sp>
        <p:nvSpPr>
          <p:cNvPr id="8" name="Text 6"/>
          <p:cNvSpPr/>
          <p:nvPr/>
        </p:nvSpPr>
        <p:spPr>
          <a:xfrm>
            <a:off x="457200" y="6446520"/>
            <a:ext cx="6400800" cy="27432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CKA v1.36 · Module 2</a:t>
            </a:r>
            <a:endParaRPr lang="en-US" sz="900" dirty="0"/>
          </a:p>
        </p:txBody>
      </p:sp>
      <p:sp>
        <p:nvSpPr>
          <p:cNvPr id="9" name="Text 7"/>
          <p:cNvSpPr/>
          <p:nvPr/>
        </p:nvSpPr>
        <p:spPr>
          <a:xfrm>
            <a:off x="11247120" y="6446520"/>
            <a:ext cx="4572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57</a:t>
            </a:r>
            <a:endParaRPr lang="en-US" sz="900"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365760"/>
            <a:ext cx="2468880" cy="384048"/>
          </a:xfrm>
          <a:prstGeom prst="roundRect">
            <a:avLst>
              <a:gd name="adj" fmla="val 50000"/>
            </a:avLst>
          </a:prstGeom>
          <a:solidFill>
            <a:srgbClr val="21295C"/>
          </a:solidFill>
          <a:ln/>
        </p:spPr>
      </p:sp>
      <p:sp>
        <p:nvSpPr>
          <p:cNvPr id="3" name="Text 1"/>
          <p:cNvSpPr/>
          <p:nvPr/>
        </p:nvSpPr>
        <p:spPr>
          <a:xfrm>
            <a:off x="640080" y="365760"/>
            <a:ext cx="2468880" cy="384048"/>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EXAM PATTERN 9</a:t>
            </a:r>
            <a:endParaRPr lang="en-US" sz="1150" dirty="0"/>
          </a:p>
        </p:txBody>
      </p:sp>
      <p:sp>
        <p:nvSpPr>
          <p:cNvPr id="4" name="Text 2"/>
          <p:cNvSpPr/>
          <p:nvPr/>
        </p:nvSpPr>
        <p:spPr>
          <a:xfrm>
            <a:off x="3246120" y="365760"/>
            <a:ext cx="8229600" cy="384048"/>
          </a:xfrm>
          <a:prstGeom prst="rect">
            <a:avLst/>
          </a:prstGeom>
          <a:noFill/>
          <a:ln/>
        </p:spPr>
        <p:txBody>
          <a:bodyPr wrap="square" lIns="0" tIns="0" rIns="0" bIns="0" rtlCol="0" anchor="ctr"/>
          <a:lstStyle/>
          <a:p>
            <a:pPr indent="0" marL="0">
              <a:buNone/>
            </a:pPr>
            <a:r>
              <a:rPr lang="en-US" sz="1100" b="1" spc="120" kern="0" dirty="0">
                <a:solidFill>
                  <a:srgbClr val="1C7293"/>
                </a:solidFill>
                <a:latin typeface="Calibri" pitchFamily="34" charset="0"/>
                <a:ea typeface="Calibri" pitchFamily="34" charset="-122"/>
                <a:cs typeface="Calibri" pitchFamily="34" charset="-120"/>
              </a:rPr>
              <a:t>COREDNS</a:t>
            </a:r>
            <a:endParaRPr lang="en-US" sz="1100" dirty="0"/>
          </a:p>
        </p:txBody>
      </p:sp>
      <p:sp>
        <p:nvSpPr>
          <p:cNvPr id="5" name="Text 3"/>
          <p:cNvSpPr/>
          <p:nvPr/>
        </p:nvSpPr>
        <p:spPr>
          <a:xfrm>
            <a:off x="640080" y="841248"/>
            <a:ext cx="10881360" cy="502920"/>
          </a:xfrm>
          <a:prstGeom prst="rect">
            <a:avLst/>
          </a:prstGeom>
          <a:noFill/>
          <a:ln/>
        </p:spPr>
        <p:txBody>
          <a:bodyPr wrap="square" lIns="0" tIns="0" rIns="0" bIns="0" rtlCol="0" anchor="ctr"/>
          <a:lstStyle/>
          <a:p>
            <a:pPr indent="0" marL="0">
              <a:buNone/>
            </a:pPr>
            <a:r>
              <a:rPr lang="en-US" sz="2100" b="1" dirty="0">
                <a:solidFill>
                  <a:srgbClr val="21295C"/>
                </a:solidFill>
                <a:latin typeface="Cambria" pitchFamily="34" charset="0"/>
                <a:ea typeface="Cambria" pitchFamily="34" charset="-122"/>
                <a:cs typeface="Cambria" pitchFamily="34" charset="-120"/>
              </a:rPr>
              <a:t>All Pods Suddenly Can't Resolve Any DNS Names</a:t>
            </a:r>
            <a:endParaRPr lang="en-US" sz="2100" dirty="0"/>
          </a:p>
        </p:txBody>
      </p:sp>
      <p:sp>
        <p:nvSpPr>
          <p:cNvPr id="6" name="Shape 4"/>
          <p:cNvSpPr/>
          <p:nvPr/>
        </p:nvSpPr>
        <p:spPr>
          <a:xfrm>
            <a:off x="640080" y="1463040"/>
            <a:ext cx="10881360" cy="960120"/>
          </a:xfrm>
          <a:prstGeom prst="roundRect">
            <a:avLst>
              <a:gd name="adj" fmla="val 5714"/>
            </a:avLst>
          </a:prstGeom>
          <a:solidFill>
            <a:srgbClr val="EAF4F8"/>
          </a:solidFill>
          <a:ln/>
        </p:spPr>
      </p:sp>
      <p:sp>
        <p:nvSpPr>
          <p:cNvPr id="7" name="Text 5"/>
          <p:cNvSpPr/>
          <p:nvPr/>
        </p:nvSpPr>
        <p:spPr>
          <a:xfrm>
            <a:off x="868680" y="1554480"/>
            <a:ext cx="2743200" cy="274320"/>
          </a:xfrm>
          <a:prstGeom prst="rect">
            <a:avLst/>
          </a:prstGeom>
          <a:noFill/>
          <a:ln/>
        </p:spPr>
        <p:txBody>
          <a:bodyPr wrap="square" lIns="0" tIns="0" rIns="0" bIns="0" rtlCol="0" anchor="ctr"/>
          <a:lstStyle/>
          <a:p>
            <a:pPr indent="0" marL="0">
              <a:buNone/>
            </a:pPr>
            <a:r>
              <a:rPr lang="en-US" sz="1050" b="1" spc="100" kern="0" dirty="0">
                <a:solidFill>
                  <a:srgbClr val="1C7293"/>
                </a:solidFill>
                <a:latin typeface="Calibri" pitchFamily="34" charset="0"/>
                <a:ea typeface="Calibri" pitchFamily="34" charset="-122"/>
                <a:cs typeface="Calibri" pitchFamily="34" charset="-120"/>
              </a:rPr>
              <a:t>SYMPTOM / SCENARIO</a:t>
            </a:r>
            <a:endParaRPr lang="en-US" sz="1050" dirty="0"/>
          </a:p>
        </p:txBody>
      </p:sp>
      <p:sp>
        <p:nvSpPr>
          <p:cNvPr id="8" name="Text 6"/>
          <p:cNvSpPr/>
          <p:nvPr/>
        </p:nvSpPr>
        <p:spPr>
          <a:xfrm>
            <a:off x="868680" y="1810512"/>
            <a:ext cx="10424160" cy="548640"/>
          </a:xfrm>
          <a:prstGeom prst="rect">
            <a:avLst/>
          </a:prstGeom>
          <a:noFill/>
          <a:ln/>
        </p:spPr>
        <p:txBody>
          <a:bodyPr wrap="square" lIns="0" tIns="0" rIns="0" bIns="0" rtlCol="0" anchor="t"/>
          <a:lstStyle/>
          <a:p>
            <a:pPr indent="0" marL="0">
              <a:buNone/>
            </a:pPr>
            <a:r>
              <a:rPr lang="en-US" sz="1300" dirty="0">
                <a:solidFill>
                  <a:srgbClr val="1E293B"/>
                </a:solidFill>
                <a:latin typeface="Calibri" pitchFamily="34" charset="0"/>
                <a:ea typeface="Calibri" pitchFamily="34" charset="-122"/>
                <a:cs typeface="Calibri" pitchFamily="34" charset="-120"/>
              </a:rPr>
              <a:t>Applications across the entire cluster start failing with DNS resolution errors simultaneously; the issue is NOT limited to one namespace or one NetworkPolicy.</a:t>
            </a:r>
            <a:endParaRPr lang="en-US" sz="1300" dirty="0"/>
          </a:p>
        </p:txBody>
      </p:sp>
      <p:sp>
        <p:nvSpPr>
          <p:cNvPr id="9" name="Shape 7"/>
          <p:cNvSpPr/>
          <p:nvPr/>
        </p:nvSpPr>
        <p:spPr>
          <a:xfrm>
            <a:off x="640080" y="2587752"/>
            <a:ext cx="10881360" cy="914400"/>
          </a:xfrm>
          <a:prstGeom prst="roundRect">
            <a:avLst>
              <a:gd name="adj" fmla="val 6000"/>
            </a:avLst>
          </a:prstGeom>
          <a:solidFill>
            <a:srgbClr val="FBF3E3"/>
          </a:solidFill>
          <a:ln/>
        </p:spPr>
      </p:sp>
      <p:sp>
        <p:nvSpPr>
          <p:cNvPr id="10" name="Text 8"/>
          <p:cNvSpPr/>
          <p:nvPr/>
        </p:nvSpPr>
        <p:spPr>
          <a:xfrm>
            <a:off x="868680" y="2679192"/>
            <a:ext cx="2743200" cy="274320"/>
          </a:xfrm>
          <a:prstGeom prst="rect">
            <a:avLst/>
          </a:prstGeom>
          <a:noFill/>
          <a:ln/>
        </p:spPr>
        <p:txBody>
          <a:bodyPr wrap="square" lIns="0" tIns="0" rIns="0" bIns="0" rtlCol="0" anchor="ctr"/>
          <a:lstStyle/>
          <a:p>
            <a:pPr indent="0" marL="0">
              <a:buNone/>
            </a:pPr>
            <a:r>
              <a:rPr lang="en-US" sz="1050" b="1" spc="100" kern="0" dirty="0">
                <a:solidFill>
                  <a:srgbClr val="B7791F"/>
                </a:solidFill>
                <a:latin typeface="Calibri" pitchFamily="34" charset="0"/>
                <a:ea typeface="Calibri" pitchFamily="34" charset="-122"/>
                <a:cs typeface="Calibri" pitchFamily="34" charset="-120"/>
              </a:rPr>
              <a:t>ROOT CAUSE</a:t>
            </a:r>
            <a:endParaRPr lang="en-US" sz="1050" dirty="0"/>
          </a:p>
        </p:txBody>
      </p:sp>
      <p:sp>
        <p:nvSpPr>
          <p:cNvPr id="11" name="Text 9"/>
          <p:cNvSpPr/>
          <p:nvPr/>
        </p:nvSpPr>
        <p:spPr>
          <a:xfrm>
            <a:off x="868680" y="2935224"/>
            <a:ext cx="10424160" cy="502920"/>
          </a:xfrm>
          <a:prstGeom prst="rect">
            <a:avLst/>
          </a:prstGeom>
          <a:noFill/>
          <a:ln/>
        </p:spPr>
        <p:txBody>
          <a:bodyPr wrap="square" lIns="0" tIns="0" rIns="0" bIns="0" rtlCol="0" anchor="t"/>
          <a:lstStyle/>
          <a:p>
            <a:pPr indent="0" marL="0">
              <a:buNone/>
            </a:pPr>
            <a:r>
              <a:rPr lang="en-US" sz="1300" dirty="0">
                <a:solidFill>
                  <a:srgbClr val="1E293B"/>
                </a:solidFill>
                <a:latin typeface="Calibri" pitchFamily="34" charset="0"/>
                <a:ea typeface="Calibri" pitchFamily="34" charset="-122"/>
                <a:cs typeface="Calibri" pitchFamily="34" charset="-120"/>
              </a:rPr>
              <a:t>The CoreDNS Pods themselves are unhealthy (CrashLoopBackOff, evicted, or all scheduled on a now-dead node), or the kube-dns Service has lost its Endpoints.</a:t>
            </a:r>
            <a:endParaRPr lang="en-US" sz="1300" dirty="0"/>
          </a:p>
        </p:txBody>
      </p:sp>
      <p:sp>
        <p:nvSpPr>
          <p:cNvPr id="12" name="Shape 10"/>
          <p:cNvSpPr/>
          <p:nvPr/>
        </p:nvSpPr>
        <p:spPr>
          <a:xfrm>
            <a:off x="640080" y="3666744"/>
            <a:ext cx="10881360" cy="1417320"/>
          </a:xfrm>
          <a:prstGeom prst="roundRect">
            <a:avLst>
              <a:gd name="adj" fmla="val 3871"/>
            </a:avLst>
          </a:prstGeom>
          <a:solidFill>
            <a:srgbClr val="E7F5EC"/>
          </a:solidFill>
          <a:ln/>
        </p:spPr>
      </p:sp>
      <p:sp>
        <p:nvSpPr>
          <p:cNvPr id="13" name="Text 11"/>
          <p:cNvSpPr/>
          <p:nvPr/>
        </p:nvSpPr>
        <p:spPr>
          <a:xfrm>
            <a:off x="868680" y="3758184"/>
            <a:ext cx="2743200" cy="274320"/>
          </a:xfrm>
          <a:prstGeom prst="rect">
            <a:avLst/>
          </a:prstGeom>
          <a:noFill/>
          <a:ln/>
        </p:spPr>
        <p:txBody>
          <a:bodyPr wrap="square" lIns="0" tIns="0" rIns="0" bIns="0" rtlCol="0" anchor="ctr"/>
          <a:lstStyle/>
          <a:p>
            <a:pPr indent="0" marL="0">
              <a:buNone/>
            </a:pPr>
            <a:r>
              <a:rPr lang="en-US" sz="1050" b="1" spc="100" kern="0" dirty="0">
                <a:solidFill>
                  <a:srgbClr val="15803D"/>
                </a:solidFill>
                <a:latin typeface="Calibri" pitchFamily="34" charset="0"/>
                <a:ea typeface="Calibri" pitchFamily="34" charset="-122"/>
                <a:cs typeface="Calibri" pitchFamily="34" charset="-120"/>
              </a:rPr>
              <a:t>THE FIX</a:t>
            </a:r>
            <a:endParaRPr lang="en-US" sz="1050" dirty="0"/>
          </a:p>
        </p:txBody>
      </p:sp>
      <p:sp>
        <p:nvSpPr>
          <p:cNvPr id="14" name="Text 12"/>
          <p:cNvSpPr/>
          <p:nvPr/>
        </p:nvSpPr>
        <p:spPr>
          <a:xfrm>
            <a:off x="868680" y="4014216"/>
            <a:ext cx="10424160" cy="365760"/>
          </a:xfrm>
          <a:prstGeom prst="rect">
            <a:avLst/>
          </a:prstGeom>
          <a:noFill/>
          <a:ln/>
        </p:spPr>
        <p:txBody>
          <a:bodyPr wrap="square" lIns="0" tIns="0" rIns="0" bIns="0" rtlCol="0" anchor="t"/>
          <a:lstStyle/>
          <a:p>
            <a:pPr indent="0" marL="0">
              <a:buNone/>
            </a:pPr>
            <a:r>
              <a:rPr lang="en-US" sz="1300" dirty="0">
                <a:solidFill>
                  <a:srgbClr val="1E293B"/>
                </a:solidFill>
                <a:latin typeface="Calibri" pitchFamily="34" charset="0"/>
                <a:ea typeface="Calibri" pitchFamily="34" charset="-122"/>
                <a:cs typeface="Calibri" pitchFamily="34" charset="-120"/>
              </a:rPr>
              <a:t>Check CoreDNS Pod health and Endpoints first, before investigating individual application configs — a cluster-wide DNS symptom points at CoreDNS itself, not app-level misconfiguration.</a:t>
            </a:r>
            <a:endParaRPr lang="en-US" sz="1300" dirty="0"/>
          </a:p>
        </p:txBody>
      </p:sp>
      <p:sp>
        <p:nvSpPr>
          <p:cNvPr id="15" name="Shape 13"/>
          <p:cNvSpPr/>
          <p:nvPr/>
        </p:nvSpPr>
        <p:spPr>
          <a:xfrm>
            <a:off x="868680" y="4379976"/>
            <a:ext cx="10424160" cy="594360"/>
          </a:xfrm>
          <a:prstGeom prst="roundRect">
            <a:avLst>
              <a:gd name="adj" fmla="val 7692"/>
            </a:avLst>
          </a:prstGeom>
          <a:solidFill>
            <a:srgbClr val="0B2330"/>
          </a:solidFill>
          <a:ln/>
        </p:spPr>
      </p:sp>
      <p:sp>
        <p:nvSpPr>
          <p:cNvPr id="16" name="Text 14"/>
          <p:cNvSpPr/>
          <p:nvPr/>
        </p:nvSpPr>
        <p:spPr>
          <a:xfrm>
            <a:off x="1005840" y="4453128"/>
            <a:ext cx="10149840" cy="457200"/>
          </a:xfrm>
          <a:prstGeom prst="rect">
            <a:avLst/>
          </a:prstGeom>
          <a:noFill/>
          <a:ln/>
        </p:spPr>
        <p:txBody>
          <a:bodyPr wrap="square" lIns="0" tIns="0" rIns="0" bIns="0" rtlCol="0" anchor="t"/>
          <a:lstStyle/>
          <a:p>
            <a:pPr indent="0" marL="0">
              <a:buNone/>
            </a:pPr>
            <a:r>
              <a:rPr lang="en-US" sz="1200" dirty="0">
                <a:solidFill>
                  <a:srgbClr val="CFEFEA"/>
                </a:solidFill>
                <a:latin typeface="Courier New" pitchFamily="34" charset="0"/>
                <a:ea typeface="Courier New" pitchFamily="34" charset="-122"/>
                <a:cs typeface="Courier New" pitchFamily="34" charset="-120"/>
              </a:rPr>
              <a:t>kubectl get pods -n kube-system -l k8s-app=kube-dns -o wide</a:t>
            </a:r>
            <a:endParaRPr lang="en-US" sz="1200" dirty="0"/>
          </a:p>
          <a:p>
            <a:pPr indent="0" marL="0">
              <a:buNone/>
            </a:pPr>
            <a:r>
              <a:rPr lang="en-US" sz="1200" dirty="0">
                <a:solidFill>
                  <a:srgbClr val="CFEFEA"/>
                </a:solidFill>
                <a:latin typeface="Courier New" pitchFamily="34" charset="0"/>
                <a:ea typeface="Courier New" pitchFamily="34" charset="-122"/>
                <a:cs typeface="Courier New" pitchFamily="34" charset="-120"/>
              </a:rPr>
              <a:t>kubectl get endpoints kube-dns -n kube-system</a:t>
            </a:r>
            <a:endParaRPr lang="en-US" sz="1200" dirty="0"/>
          </a:p>
        </p:txBody>
      </p:sp>
      <p:sp>
        <p:nvSpPr>
          <p:cNvPr id="17" name="Text 15"/>
          <p:cNvSpPr/>
          <p:nvPr/>
        </p:nvSpPr>
        <p:spPr>
          <a:xfrm>
            <a:off x="457200" y="6446520"/>
            <a:ext cx="6400800" cy="27432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CKA v1.36 · Module 2</a:t>
            </a:r>
            <a:endParaRPr lang="en-US" sz="900" dirty="0"/>
          </a:p>
        </p:txBody>
      </p:sp>
      <p:sp>
        <p:nvSpPr>
          <p:cNvPr id="18" name="Text 16"/>
          <p:cNvSpPr/>
          <p:nvPr/>
        </p:nvSpPr>
        <p:spPr>
          <a:xfrm>
            <a:off x="11247120" y="6446520"/>
            <a:ext cx="4572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58</a:t>
            </a:r>
            <a:endParaRPr lang="en-US" sz="900"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bg>
      <p:bgPr>
        <a:solidFill>
          <a:srgbClr val="21295C"/>
        </a:solidFill>
      </p:bgPr>
    </p:bg>
    <p:spTree>
      <p:nvGrpSpPr>
        <p:cNvPr id="1" name=""/>
        <p:cNvGrpSpPr/>
        <p:nvPr/>
      </p:nvGrpSpPr>
      <p:grpSpPr>
        <a:xfrm>
          <a:off x="0" y="0"/>
          <a:ext cx="0" cy="0"/>
          <a:chOff x="0" y="0"/>
          <a:chExt cx="0" cy="0"/>
        </a:xfrm>
      </p:grpSpPr>
      <p:sp>
        <p:nvSpPr>
          <p:cNvPr id="2" name="Shape 0"/>
          <p:cNvSpPr/>
          <p:nvPr/>
        </p:nvSpPr>
        <p:spPr>
          <a:xfrm>
            <a:off x="8778240" y="3291840"/>
            <a:ext cx="5029200" cy="5029200"/>
          </a:xfrm>
          <a:prstGeom prst="ellipse">
            <a:avLst/>
          </a:prstGeom>
          <a:solidFill>
            <a:srgbClr val="065A82">
              <a:alpha val="40000"/>
            </a:srgbClr>
          </a:solidFill>
          <a:ln/>
        </p:spPr>
      </p:sp>
      <p:sp>
        <p:nvSpPr>
          <p:cNvPr id="3" name="Shape 1"/>
          <p:cNvSpPr/>
          <p:nvPr/>
        </p:nvSpPr>
        <p:spPr>
          <a:xfrm>
            <a:off x="822960" y="1828800"/>
            <a:ext cx="1371600" cy="1371600"/>
          </a:xfrm>
          <a:prstGeom prst="roundRect">
            <a:avLst>
              <a:gd name="adj" fmla="val 12000"/>
            </a:avLst>
          </a:prstGeom>
          <a:solidFill>
            <a:srgbClr val="1C7293"/>
          </a:solidFill>
          <a:ln/>
          <a:effectLst>
            <a:outerShdw sx="100000" sy="100000" kx="0" ky="0" algn="bl" rotWithShape="0" blurRad="88900" dist="25400" dir="2700000">
              <a:srgbClr val="1B2A36">
                <a:alpha val="12000"/>
              </a:srgbClr>
            </a:outerShdw>
          </a:effectLst>
        </p:spPr>
      </p:sp>
      <p:sp>
        <p:nvSpPr>
          <p:cNvPr id="4" name="Text 2"/>
          <p:cNvSpPr/>
          <p:nvPr/>
        </p:nvSpPr>
        <p:spPr>
          <a:xfrm>
            <a:off x="822960" y="1828800"/>
            <a:ext cx="1371600" cy="1371600"/>
          </a:xfrm>
          <a:prstGeom prst="rect">
            <a:avLst/>
          </a:prstGeom>
          <a:noFill/>
          <a:ln/>
        </p:spPr>
        <p:txBody>
          <a:bodyPr wrap="square" lIns="0" tIns="0" rIns="0" bIns="0" rtlCol="0" anchor="ctr"/>
          <a:lstStyle/>
          <a:p>
            <a:pPr algn="ctr" indent="0" marL="0">
              <a:buNone/>
            </a:pPr>
            <a:r>
              <a:rPr lang="en-US" sz="4000" b="1" dirty="0">
                <a:solidFill>
                  <a:srgbClr val="FFFFFF"/>
                </a:solidFill>
                <a:latin typeface="Cambria" pitchFamily="34" charset="0"/>
                <a:ea typeface="Cambria" pitchFamily="34" charset="-122"/>
                <a:cs typeface="Cambria" pitchFamily="34" charset="-120"/>
              </a:rPr>
              <a:t>I</a:t>
            </a:r>
            <a:endParaRPr lang="en-US" sz="4000" dirty="0"/>
          </a:p>
        </p:txBody>
      </p:sp>
      <p:sp>
        <p:nvSpPr>
          <p:cNvPr id="5" name="Text 3"/>
          <p:cNvSpPr/>
          <p:nvPr/>
        </p:nvSpPr>
        <p:spPr>
          <a:xfrm>
            <a:off x="2468880" y="1828800"/>
            <a:ext cx="8961120" cy="100584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Configure Pod Admission &amp; Scheduling</a:t>
            </a:r>
            <a:endParaRPr lang="en-US" sz="3200" dirty="0"/>
          </a:p>
        </p:txBody>
      </p:sp>
      <p:sp>
        <p:nvSpPr>
          <p:cNvPr id="6" name="Text 4"/>
          <p:cNvSpPr/>
          <p:nvPr/>
        </p:nvSpPr>
        <p:spPr>
          <a:xfrm>
            <a:off x="2468880" y="2788920"/>
            <a:ext cx="8961120" cy="640080"/>
          </a:xfrm>
          <a:prstGeom prst="rect">
            <a:avLst/>
          </a:prstGeom>
          <a:noFill/>
          <a:ln/>
        </p:spPr>
        <p:txBody>
          <a:bodyPr wrap="square" lIns="0" tIns="0" rIns="0" bIns="0" rtlCol="0" anchor="ctr"/>
          <a:lstStyle/>
          <a:p>
            <a:pPr indent="0" marL="0">
              <a:buNone/>
            </a:pPr>
            <a:r>
              <a:rPr lang="en-US" sz="1600" dirty="0">
                <a:solidFill>
                  <a:srgbClr val="C9E4ED"/>
                </a:solidFill>
                <a:latin typeface="Calibri" pitchFamily="34" charset="0"/>
                <a:ea typeface="Calibri" pitchFamily="34" charset="-122"/>
                <a:cs typeface="Calibri" pitchFamily="34" charset="-120"/>
              </a:rPr>
              <a:t>Limits, node affinity, taints, and admission control</a:t>
            </a:r>
            <a:endParaRPr lang="en-US" sz="1600" dirty="0"/>
          </a:p>
        </p:txBody>
      </p:sp>
      <p:sp>
        <p:nvSpPr>
          <p:cNvPr id="7" name="Shape 5"/>
          <p:cNvSpPr/>
          <p:nvPr/>
        </p:nvSpPr>
        <p:spPr>
          <a:xfrm>
            <a:off x="2468880" y="3429000"/>
            <a:ext cx="8961120" cy="548640"/>
          </a:xfrm>
          <a:prstGeom prst="roundRect">
            <a:avLst>
              <a:gd name="adj" fmla="val 16667"/>
            </a:avLst>
          </a:prstGeom>
          <a:solidFill>
            <a:srgbClr val="FFFFFF">
              <a:alpha val="10000"/>
            </a:srgbClr>
          </a:solidFill>
          <a:ln w="9525">
            <a:solidFill>
              <a:srgbClr val="8FD3E8"/>
            </a:solidFill>
            <a:prstDash val="solid"/>
          </a:ln>
        </p:spPr>
      </p:sp>
      <p:sp>
        <p:nvSpPr>
          <p:cNvPr id="8" name="Text 6"/>
          <p:cNvSpPr/>
          <p:nvPr/>
        </p:nvSpPr>
        <p:spPr>
          <a:xfrm>
            <a:off x="2697480" y="3429000"/>
            <a:ext cx="8503920" cy="548640"/>
          </a:xfrm>
          <a:prstGeom prst="rect">
            <a:avLst/>
          </a:prstGeom>
          <a:noFill/>
          <a:ln/>
        </p:spPr>
        <p:txBody>
          <a:bodyPr wrap="square" lIns="0" tIns="0" rIns="0" bIns="0" rtlCol="0" anchor="ctr"/>
          <a:lstStyle/>
          <a:p>
            <a:pPr algn="l" indent="0" marL="0">
              <a:buNone/>
            </a:pPr>
            <a:r>
              <a:rPr lang="en-US" sz="1200" dirty="0">
                <a:solidFill>
                  <a:srgbClr val="DCEFF5"/>
                </a:solidFill>
                <a:latin typeface="Calibri" pitchFamily="34" charset="0"/>
                <a:ea typeface="Calibri" pitchFamily="34" charset="-122"/>
                <a:cs typeface="Calibri" pitchFamily="34" charset="-120"/>
              </a:rPr>
              <a:t>Domain: Workloads &amp; Scheduling · Pod admission and scheduling</a:t>
            </a:r>
            <a:endParaRPr lang="en-US" sz="1200" dirty="0"/>
          </a:p>
        </p:txBody>
      </p:sp>
      <p:sp>
        <p:nvSpPr>
          <p:cNvPr id="9" name="Text 7"/>
          <p:cNvSpPr/>
          <p:nvPr/>
        </p:nvSpPr>
        <p:spPr>
          <a:xfrm>
            <a:off x="457200" y="6446520"/>
            <a:ext cx="6400800" cy="27432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CKA v1.36 · Module 2</a:t>
            </a:r>
            <a:endParaRPr lang="en-US" sz="900" dirty="0"/>
          </a:p>
        </p:txBody>
      </p:sp>
      <p:sp>
        <p:nvSpPr>
          <p:cNvPr id="10" name="Text 8"/>
          <p:cNvSpPr/>
          <p:nvPr/>
        </p:nvSpPr>
        <p:spPr>
          <a:xfrm>
            <a:off x="11247120" y="6446520"/>
            <a:ext cx="4572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59</a:t>
            </a:r>
            <a:endParaRPr lang="en-US" sz="900"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65760"/>
            <a:ext cx="9144000" cy="320040"/>
          </a:xfrm>
          <a:prstGeom prst="rect">
            <a:avLst/>
          </a:prstGeom>
          <a:noFill/>
          <a:ln/>
        </p:spPr>
        <p:txBody>
          <a:bodyPr wrap="square" lIns="0" tIns="0" rIns="0" bIns="0" rtlCol="0" anchor="ctr"/>
          <a:lstStyle/>
          <a:p>
            <a:pPr indent="0" marL="0">
              <a:buNone/>
            </a:pPr>
            <a:r>
              <a:rPr lang="en-US" sz="1150" b="1" spc="150" kern="0" dirty="0">
                <a:solidFill>
                  <a:srgbClr val="1C7293"/>
                </a:solidFill>
                <a:latin typeface="Calibri" pitchFamily="34" charset="0"/>
                <a:ea typeface="Calibri" pitchFamily="34" charset="-122"/>
                <a:cs typeface="Calibri" pitchFamily="34" charset="-120"/>
              </a:rPr>
              <a:t>ADMISSION &amp; SCHEDULING</a:t>
            </a:r>
            <a:endParaRPr lang="en-US" sz="1150" dirty="0"/>
          </a:p>
        </p:txBody>
      </p:sp>
      <p:sp>
        <p:nvSpPr>
          <p:cNvPr id="3" name="Text 1"/>
          <p:cNvSpPr/>
          <p:nvPr/>
        </p:nvSpPr>
        <p:spPr>
          <a:xfrm>
            <a:off x="640080" y="658368"/>
            <a:ext cx="10881360" cy="685800"/>
          </a:xfrm>
          <a:prstGeom prst="rect">
            <a:avLst/>
          </a:prstGeom>
          <a:noFill/>
          <a:ln/>
        </p:spPr>
        <p:txBody>
          <a:bodyPr wrap="square" lIns="0" tIns="0" rIns="0" bIns="0" rtlCol="0" anchor="ctr"/>
          <a:lstStyle/>
          <a:p>
            <a:pPr indent="0" marL="0">
              <a:buNone/>
            </a:pPr>
            <a:r>
              <a:rPr lang="en-US" sz="2600" b="1" dirty="0">
                <a:solidFill>
                  <a:srgbClr val="21295C"/>
                </a:solidFill>
                <a:latin typeface="Cambria" pitchFamily="34" charset="0"/>
                <a:ea typeface="Cambria" pitchFamily="34" charset="-122"/>
                <a:cs typeface="Cambria" pitchFamily="34" charset="-120"/>
              </a:rPr>
              <a:t>The Pod Admission Pipeline</a:t>
            </a:r>
            <a:endParaRPr lang="en-US" sz="2600" dirty="0"/>
          </a:p>
        </p:txBody>
      </p:sp>
      <p:sp>
        <p:nvSpPr>
          <p:cNvPr id="4" name="Shape 2"/>
          <p:cNvSpPr/>
          <p:nvPr/>
        </p:nvSpPr>
        <p:spPr>
          <a:xfrm>
            <a:off x="640080" y="1371600"/>
            <a:ext cx="10881360" cy="0"/>
          </a:xfrm>
          <a:prstGeom prst="line">
            <a:avLst/>
          </a:prstGeom>
          <a:noFill/>
          <a:ln w="12700">
            <a:solidFill>
              <a:srgbClr val="D7E3E8"/>
            </a:solidFill>
            <a:prstDash val="solid"/>
          </a:ln>
        </p:spPr>
      </p:sp>
      <p:sp>
        <p:nvSpPr>
          <p:cNvPr id="5" name="Shape 3"/>
          <p:cNvSpPr/>
          <p:nvPr/>
        </p:nvSpPr>
        <p:spPr>
          <a:xfrm>
            <a:off x="11109960" y="411480"/>
            <a:ext cx="502920" cy="502920"/>
          </a:xfrm>
          <a:prstGeom prst="ellipse">
            <a:avLst/>
          </a:prstGeom>
          <a:solidFill>
            <a:srgbClr val="EAF4F8"/>
          </a:solidFill>
          <a:ln w="15875">
            <a:solidFill>
              <a:srgbClr val="1C7293"/>
            </a:solidFill>
            <a:prstDash val="solid"/>
          </a:ln>
        </p:spPr>
      </p:sp>
      <p:sp>
        <p:nvSpPr>
          <p:cNvPr id="6" name="Text 4"/>
          <p:cNvSpPr/>
          <p:nvPr/>
        </p:nvSpPr>
        <p:spPr>
          <a:xfrm>
            <a:off x="11109960" y="411480"/>
            <a:ext cx="502920" cy="502920"/>
          </a:xfrm>
          <a:prstGeom prst="rect">
            <a:avLst/>
          </a:prstGeom>
          <a:noFill/>
          <a:ln/>
        </p:spPr>
        <p:txBody>
          <a:bodyPr wrap="square" lIns="0" tIns="0" rIns="0" bIns="0" rtlCol="0" anchor="ctr"/>
          <a:lstStyle/>
          <a:p>
            <a:pPr algn="ctr" indent="0" marL="0">
              <a:buNone/>
            </a:pPr>
            <a:r>
              <a:rPr lang="en-US" sz="1600" b="1" dirty="0">
                <a:solidFill>
                  <a:srgbClr val="1C7293"/>
                </a:solidFill>
                <a:latin typeface="Calibri" pitchFamily="34" charset="0"/>
                <a:ea typeface="Calibri" pitchFamily="34" charset="-122"/>
                <a:cs typeface="Calibri" pitchFamily="34" charset="-120"/>
              </a:rPr>
              <a:t>17</a:t>
            </a:r>
            <a:endParaRPr lang="en-US" sz="1600" dirty="0"/>
          </a:p>
        </p:txBody>
      </p:sp>
      <p:sp>
        <p:nvSpPr>
          <p:cNvPr id="7" name="Text 5"/>
          <p:cNvSpPr/>
          <p:nvPr/>
        </p:nvSpPr>
        <p:spPr>
          <a:xfrm>
            <a:off x="640080" y="1600200"/>
            <a:ext cx="10881360" cy="4572000"/>
          </a:xfrm>
          <a:prstGeom prst="rect">
            <a:avLst/>
          </a:prstGeom>
          <a:noFill/>
          <a:ln/>
        </p:spPr>
        <p:txBody>
          <a:bodyPr wrap="square" lIns="0" tIns="0" rIns="0" bIns="0" rtlCol="0" anchor="t"/>
          <a:lstStyle/>
          <a:p>
            <a:pPr marL="342900" indent="-342900">
              <a:spcAft>
                <a:spcPts val="1200"/>
              </a:spcAft>
              <a:buSzPct val="100000"/>
              <a:buChar char="•"/>
            </a:pPr>
            <a:r>
              <a:rPr lang="en-US" sz="1550" dirty="0">
                <a:solidFill>
                  <a:srgbClr val="1E293B"/>
                </a:solidFill>
                <a:latin typeface="Calibri" pitchFamily="34" charset="0"/>
                <a:ea typeface="Calibri" pitchFamily="34" charset="-122"/>
                <a:cs typeface="Calibri" pitchFamily="34" charset="-120"/>
              </a:rPr>
              <a:t>Every API request (including Pod creation) flows through: Authentication → Authorization (RBAC) → Admission Controllers → etcd persistence.</a:t>
            </a:r>
            <a:endParaRPr lang="en-US" sz="1550" dirty="0"/>
          </a:p>
          <a:p>
            <a:pPr marL="342900" indent="-342900">
              <a:spcAft>
                <a:spcPts val="1200"/>
              </a:spcAft>
              <a:buSzPct val="100000"/>
              <a:buChar char="•"/>
            </a:pPr>
            <a:r>
              <a:rPr lang="en-US" sz="1550" dirty="0">
                <a:solidFill>
                  <a:srgbClr val="1E293B"/>
                </a:solidFill>
                <a:latin typeface="Calibri" pitchFamily="34" charset="0"/>
                <a:ea typeface="Calibri" pitchFamily="34" charset="-122"/>
                <a:cs typeface="Calibri" pitchFamily="34" charset="-120"/>
              </a:rPr>
              <a:t>Admission controllers run in two phases: Mutating (can modify the object, e.g. injecting a default toleration or sidecar) then Validating (can only accept or reject, no modification).</a:t>
            </a:r>
            <a:endParaRPr lang="en-US" sz="1550" dirty="0"/>
          </a:p>
          <a:p>
            <a:pPr marL="342900" indent="-342900">
              <a:spcAft>
                <a:spcPts val="1200"/>
              </a:spcAft>
              <a:buSzPct val="100000"/>
              <a:buChar char="•"/>
            </a:pPr>
            <a:r>
              <a:rPr lang="en-US" sz="1550" dirty="0">
                <a:solidFill>
                  <a:srgbClr val="1E293B"/>
                </a:solidFill>
                <a:latin typeface="Calibri" pitchFamily="34" charset="0"/>
                <a:ea typeface="Calibri" pitchFamily="34" charset="-122"/>
                <a:cs typeface="Calibri" pitchFamily="34" charset="-120"/>
              </a:rPr>
              <a:t>Common built-in admission controllers: NamespaceLifecycle, LimitRanger, ServiceAccount, ResourceQuota, DefaultStorageClass, PodSecurity.</a:t>
            </a:r>
            <a:endParaRPr lang="en-US" sz="1550" dirty="0"/>
          </a:p>
          <a:p>
            <a:pPr marL="342900" indent="-342900">
              <a:spcAft>
                <a:spcPts val="1200"/>
              </a:spcAft>
              <a:buSzPct val="100000"/>
              <a:buChar char="•"/>
            </a:pPr>
            <a:r>
              <a:rPr lang="en-US" sz="1550" dirty="0">
                <a:solidFill>
                  <a:srgbClr val="1E293B"/>
                </a:solidFill>
                <a:latin typeface="Calibri" pitchFamily="34" charset="0"/>
                <a:ea typeface="Calibri" pitchFamily="34" charset="-122"/>
                <a:cs typeface="Calibri" pitchFamily="34" charset="-120"/>
              </a:rPr>
              <a:t>ValidatingAdmissionPolicy and MutatingAdmissionPolicy (CEL-based, no webhook required) are the modern, in-tree alternative to writing a full external admission webhook for many common policy needs.</a:t>
            </a:r>
            <a:endParaRPr lang="en-US" sz="1550" dirty="0"/>
          </a:p>
          <a:p>
            <a:pPr marL="342900" indent="-342900">
              <a:spcAft>
                <a:spcPts val="1200"/>
              </a:spcAft>
              <a:buSzPct val="100000"/>
              <a:buChar char="•"/>
            </a:pPr>
            <a:r>
              <a:rPr lang="en-US" sz="1550" dirty="0">
                <a:solidFill>
                  <a:srgbClr val="1E293B"/>
                </a:solidFill>
                <a:latin typeface="Calibri" pitchFamily="34" charset="0"/>
                <a:ea typeface="Calibri" pitchFamily="34" charset="-122"/>
                <a:cs typeface="Calibri" pitchFamily="34" charset="-120"/>
              </a:rPr>
              <a:t>Admission control is WHY a Pod can pass scheduling logic conceptually but still be rejected outright before ever reaching etcd — useful framing for exam troubleshooting questions.</a:t>
            </a:r>
            <a:endParaRPr lang="en-US" sz="1550" dirty="0"/>
          </a:p>
        </p:txBody>
      </p:sp>
      <p:sp>
        <p:nvSpPr>
          <p:cNvPr id="8" name="Text 6"/>
          <p:cNvSpPr/>
          <p:nvPr/>
        </p:nvSpPr>
        <p:spPr>
          <a:xfrm>
            <a:off x="457200" y="6446520"/>
            <a:ext cx="6400800" cy="27432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CKA v1.36 · Module 2</a:t>
            </a:r>
            <a:endParaRPr lang="en-US" sz="900" dirty="0"/>
          </a:p>
        </p:txBody>
      </p:sp>
      <p:sp>
        <p:nvSpPr>
          <p:cNvPr id="9" name="Text 7"/>
          <p:cNvSpPr/>
          <p:nvPr/>
        </p:nvSpPr>
        <p:spPr>
          <a:xfrm>
            <a:off x="11247120" y="6446520"/>
            <a:ext cx="4572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60</a:t>
            </a:r>
            <a:endParaRPr lang="en-US" sz="900"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65760"/>
            <a:ext cx="9144000" cy="320040"/>
          </a:xfrm>
          <a:prstGeom prst="rect">
            <a:avLst/>
          </a:prstGeom>
          <a:noFill/>
          <a:ln/>
        </p:spPr>
        <p:txBody>
          <a:bodyPr wrap="square" lIns="0" tIns="0" rIns="0" bIns="0" rtlCol="0" anchor="ctr"/>
          <a:lstStyle/>
          <a:p>
            <a:pPr indent="0" marL="0">
              <a:buNone/>
            </a:pPr>
            <a:r>
              <a:rPr lang="en-US" sz="1150" b="1" spc="150" kern="0" dirty="0">
                <a:solidFill>
                  <a:srgbClr val="1C7293"/>
                </a:solidFill>
                <a:latin typeface="Calibri" pitchFamily="34" charset="0"/>
                <a:ea typeface="Calibri" pitchFamily="34" charset="-122"/>
                <a:cs typeface="Calibri" pitchFamily="34" charset="-120"/>
              </a:rPr>
              <a:t>ADMISSION &amp; SCHEDULING</a:t>
            </a:r>
            <a:endParaRPr lang="en-US" sz="1150" dirty="0"/>
          </a:p>
        </p:txBody>
      </p:sp>
      <p:sp>
        <p:nvSpPr>
          <p:cNvPr id="3" name="Text 1"/>
          <p:cNvSpPr/>
          <p:nvPr/>
        </p:nvSpPr>
        <p:spPr>
          <a:xfrm>
            <a:off x="640080" y="658368"/>
            <a:ext cx="10881360" cy="685800"/>
          </a:xfrm>
          <a:prstGeom prst="rect">
            <a:avLst/>
          </a:prstGeom>
          <a:noFill/>
          <a:ln/>
        </p:spPr>
        <p:txBody>
          <a:bodyPr wrap="square" lIns="0" tIns="0" rIns="0" bIns="0" rtlCol="0" anchor="ctr"/>
          <a:lstStyle/>
          <a:p>
            <a:pPr indent="0" marL="0">
              <a:buNone/>
            </a:pPr>
            <a:r>
              <a:rPr lang="en-US" sz="2600" b="1" dirty="0">
                <a:solidFill>
                  <a:srgbClr val="21295C"/>
                </a:solidFill>
                <a:latin typeface="Cambria" pitchFamily="34" charset="0"/>
                <a:ea typeface="Cambria" pitchFamily="34" charset="-122"/>
                <a:cs typeface="Cambria" pitchFamily="34" charset="-120"/>
              </a:rPr>
              <a:t>LimitRange — Per-Namespace Defaults &amp; Bounds</a:t>
            </a:r>
            <a:endParaRPr lang="en-US" sz="2600" dirty="0"/>
          </a:p>
        </p:txBody>
      </p:sp>
      <p:sp>
        <p:nvSpPr>
          <p:cNvPr id="4" name="Shape 2"/>
          <p:cNvSpPr/>
          <p:nvPr/>
        </p:nvSpPr>
        <p:spPr>
          <a:xfrm>
            <a:off x="640080" y="1371600"/>
            <a:ext cx="10881360" cy="0"/>
          </a:xfrm>
          <a:prstGeom prst="line">
            <a:avLst/>
          </a:prstGeom>
          <a:noFill/>
          <a:ln w="12700">
            <a:solidFill>
              <a:srgbClr val="D7E3E8"/>
            </a:solidFill>
            <a:prstDash val="solid"/>
          </a:ln>
        </p:spPr>
      </p:sp>
      <p:sp>
        <p:nvSpPr>
          <p:cNvPr id="5" name="Shape 3"/>
          <p:cNvSpPr/>
          <p:nvPr/>
        </p:nvSpPr>
        <p:spPr>
          <a:xfrm>
            <a:off x="11109960" y="411480"/>
            <a:ext cx="502920" cy="502920"/>
          </a:xfrm>
          <a:prstGeom prst="ellipse">
            <a:avLst/>
          </a:prstGeom>
          <a:solidFill>
            <a:srgbClr val="EAF4F8"/>
          </a:solidFill>
          <a:ln w="15875">
            <a:solidFill>
              <a:srgbClr val="1C7293"/>
            </a:solidFill>
            <a:prstDash val="solid"/>
          </a:ln>
        </p:spPr>
      </p:sp>
      <p:sp>
        <p:nvSpPr>
          <p:cNvPr id="6" name="Text 4"/>
          <p:cNvSpPr/>
          <p:nvPr/>
        </p:nvSpPr>
        <p:spPr>
          <a:xfrm>
            <a:off x="11109960" y="411480"/>
            <a:ext cx="502920" cy="502920"/>
          </a:xfrm>
          <a:prstGeom prst="rect">
            <a:avLst/>
          </a:prstGeom>
          <a:noFill/>
          <a:ln/>
        </p:spPr>
        <p:txBody>
          <a:bodyPr wrap="square" lIns="0" tIns="0" rIns="0" bIns="0" rtlCol="0" anchor="ctr"/>
          <a:lstStyle/>
          <a:p>
            <a:pPr algn="ctr" indent="0" marL="0">
              <a:buNone/>
            </a:pPr>
            <a:r>
              <a:rPr lang="en-US" sz="1600" b="1" dirty="0">
                <a:solidFill>
                  <a:srgbClr val="1C7293"/>
                </a:solidFill>
                <a:latin typeface="Calibri" pitchFamily="34" charset="0"/>
                <a:ea typeface="Calibri" pitchFamily="34" charset="-122"/>
                <a:cs typeface="Calibri" pitchFamily="34" charset="-120"/>
              </a:rPr>
              <a:t>18</a:t>
            </a:r>
            <a:endParaRPr lang="en-US" sz="1600" dirty="0"/>
          </a:p>
        </p:txBody>
      </p:sp>
      <p:sp>
        <p:nvSpPr>
          <p:cNvPr id="7" name="Text 5"/>
          <p:cNvSpPr/>
          <p:nvPr/>
        </p:nvSpPr>
        <p:spPr>
          <a:xfrm>
            <a:off x="640080" y="1600200"/>
            <a:ext cx="10881360" cy="4572000"/>
          </a:xfrm>
          <a:prstGeom prst="rect">
            <a:avLst/>
          </a:prstGeom>
          <a:noFill/>
          <a:ln/>
        </p:spPr>
        <p:txBody>
          <a:bodyPr wrap="square" lIns="0" tIns="0" rIns="0" bIns="0" rtlCol="0" anchor="t"/>
          <a:lstStyle/>
          <a:p>
            <a:pPr marL="342900" indent="-342900">
              <a:spcAft>
                <a:spcPts val="1200"/>
              </a:spcAft>
              <a:buSzPct val="100000"/>
              <a:buChar char="•"/>
            </a:pPr>
            <a:r>
              <a:rPr lang="en-US" sz="1550" dirty="0">
                <a:solidFill>
                  <a:srgbClr val="1E293B"/>
                </a:solidFill>
                <a:latin typeface="Calibri" pitchFamily="34" charset="0"/>
                <a:ea typeface="Calibri" pitchFamily="34" charset="-122"/>
                <a:cs typeface="Calibri" pitchFamily="34" charset="-120"/>
              </a:rPr>
              <a:t>A LimitRange sets DEFAULT resource requests/limits for containers that don't specify their own, AND enforces min/max bounds on what any container in the namespace may request.</a:t>
            </a:r>
            <a:endParaRPr lang="en-US" sz="1550" dirty="0"/>
          </a:p>
          <a:p>
            <a:pPr marL="342900" indent="-342900">
              <a:spcAft>
                <a:spcPts val="1200"/>
              </a:spcAft>
              <a:buSzPct val="100000"/>
              <a:buChar char="•"/>
            </a:pPr>
            <a:r>
              <a:rPr lang="en-US" sz="1550" dirty="0">
                <a:solidFill>
                  <a:srgbClr val="1E293B"/>
                </a:solidFill>
                <a:latin typeface="Calibri" pitchFamily="34" charset="0"/>
                <a:ea typeface="Calibri" pitchFamily="34" charset="-122"/>
                <a:cs typeface="Calibri" pitchFamily="34" charset="-120"/>
              </a:rPr>
              <a:t>If a Pod's requested resources fall outside a namespace's LimitRange bounds, the Pod is rejected at admission time — before scheduling is ever attempted.</a:t>
            </a:r>
            <a:endParaRPr lang="en-US" sz="1550" dirty="0"/>
          </a:p>
          <a:p>
            <a:pPr marL="342900" indent="-342900">
              <a:spcAft>
                <a:spcPts val="1200"/>
              </a:spcAft>
              <a:buSzPct val="100000"/>
              <a:buChar char="•"/>
            </a:pPr>
            <a:r>
              <a:rPr lang="en-US" sz="1550" dirty="0">
                <a:solidFill>
                  <a:srgbClr val="1E293B"/>
                </a:solidFill>
                <a:latin typeface="Calibri" pitchFamily="34" charset="0"/>
                <a:ea typeface="Calibri" pitchFamily="34" charset="-122"/>
                <a:cs typeface="Calibri" pitchFamily="34" charset="-120"/>
              </a:rPr>
              <a:t>Different from ResourceQuota, which caps the SUM of resources across an entire namespace, not per-container bounds.</a:t>
            </a:r>
            <a:endParaRPr lang="en-US" sz="1550" dirty="0"/>
          </a:p>
          <a:p>
            <a:pPr marL="342900" indent="-342900">
              <a:spcAft>
                <a:spcPts val="1200"/>
              </a:spcAft>
              <a:buSzPct val="100000"/>
              <a:buChar char="•"/>
            </a:pPr>
            <a:r>
              <a:rPr lang="en-US" sz="1550" dirty="0">
                <a:solidFill>
                  <a:srgbClr val="1E293B"/>
                </a:solidFill>
                <a:latin typeface="Calibri" pitchFamily="34" charset="0"/>
                <a:ea typeface="Calibri" pitchFamily="34" charset="-122"/>
                <a:cs typeface="Calibri" pitchFamily="34" charset="-120"/>
              </a:rPr>
              <a:t>Both LimitRange and ResourceQuota are themselves enforced by admission controllers (LimitRanger and ResourceQuota respectively).</a:t>
            </a:r>
            <a:endParaRPr lang="en-US" sz="1550" dirty="0"/>
          </a:p>
        </p:txBody>
      </p:sp>
      <p:sp>
        <p:nvSpPr>
          <p:cNvPr id="8" name="Text 6"/>
          <p:cNvSpPr/>
          <p:nvPr/>
        </p:nvSpPr>
        <p:spPr>
          <a:xfrm>
            <a:off x="457200" y="6446520"/>
            <a:ext cx="6400800" cy="27432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CKA v1.36 · Module 2</a:t>
            </a:r>
            <a:endParaRPr lang="en-US" sz="900" dirty="0"/>
          </a:p>
        </p:txBody>
      </p:sp>
      <p:sp>
        <p:nvSpPr>
          <p:cNvPr id="9" name="Text 7"/>
          <p:cNvSpPr/>
          <p:nvPr/>
        </p:nvSpPr>
        <p:spPr>
          <a:xfrm>
            <a:off x="11247120" y="6446520"/>
            <a:ext cx="4572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61</a:t>
            </a:r>
            <a:endParaRPr lang="en-US" sz="900"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65760"/>
            <a:ext cx="9144000" cy="320040"/>
          </a:xfrm>
          <a:prstGeom prst="rect">
            <a:avLst/>
          </a:prstGeom>
          <a:noFill/>
          <a:ln/>
        </p:spPr>
        <p:txBody>
          <a:bodyPr wrap="square" lIns="0" tIns="0" rIns="0" bIns="0" rtlCol="0" anchor="ctr"/>
          <a:lstStyle/>
          <a:p>
            <a:pPr indent="0" marL="0">
              <a:buNone/>
            </a:pPr>
            <a:r>
              <a:rPr lang="en-US" sz="1150" b="1" spc="150" kern="0" dirty="0">
                <a:solidFill>
                  <a:srgbClr val="1C7293"/>
                </a:solidFill>
                <a:latin typeface="Calibri" pitchFamily="34" charset="0"/>
                <a:ea typeface="Calibri" pitchFamily="34" charset="-122"/>
                <a:cs typeface="Calibri" pitchFamily="34" charset="-120"/>
              </a:rPr>
              <a:t>ADMISSION &amp; SCHEDULING</a:t>
            </a:r>
            <a:endParaRPr lang="en-US" sz="1150" dirty="0"/>
          </a:p>
        </p:txBody>
      </p:sp>
      <p:sp>
        <p:nvSpPr>
          <p:cNvPr id="3" name="Text 1"/>
          <p:cNvSpPr/>
          <p:nvPr/>
        </p:nvSpPr>
        <p:spPr>
          <a:xfrm>
            <a:off x="640080" y="658368"/>
            <a:ext cx="10881360" cy="548640"/>
          </a:xfrm>
          <a:prstGeom prst="rect">
            <a:avLst/>
          </a:prstGeom>
          <a:noFill/>
          <a:ln/>
        </p:spPr>
        <p:txBody>
          <a:bodyPr wrap="square" lIns="0" tIns="0" rIns="0" bIns="0" rtlCol="0" anchor="ctr"/>
          <a:lstStyle/>
          <a:p>
            <a:pPr indent="0" marL="0">
              <a:buNone/>
            </a:pPr>
            <a:r>
              <a:rPr lang="en-US" sz="2400" b="1" dirty="0">
                <a:solidFill>
                  <a:srgbClr val="21295C"/>
                </a:solidFill>
                <a:latin typeface="Cambria" pitchFamily="34" charset="0"/>
                <a:ea typeface="Cambria" pitchFamily="34" charset="-122"/>
                <a:cs typeface="Cambria" pitchFamily="34" charset="-120"/>
              </a:rPr>
              <a:t>LimitRange &amp; ResourceQuota Examples</a:t>
            </a:r>
            <a:endParaRPr lang="en-US" sz="2400" dirty="0"/>
          </a:p>
        </p:txBody>
      </p:sp>
      <p:sp>
        <p:nvSpPr>
          <p:cNvPr id="4" name="Shape 2"/>
          <p:cNvSpPr/>
          <p:nvPr/>
        </p:nvSpPr>
        <p:spPr>
          <a:xfrm>
            <a:off x="640080" y="1371600"/>
            <a:ext cx="10881360" cy="3776472"/>
          </a:xfrm>
          <a:prstGeom prst="roundRect">
            <a:avLst>
              <a:gd name="adj" fmla="val 1453"/>
            </a:avLst>
          </a:prstGeom>
          <a:solidFill>
            <a:srgbClr val="0B2330"/>
          </a:solidFill>
          <a:ln/>
          <a:effectLst>
            <a:outerShdw sx="100000" sy="100000" kx="0" ky="0" algn="bl" rotWithShape="0" blurRad="88900" dist="25400" dir="2700000">
              <a:srgbClr val="1B2A36">
                <a:alpha val="12000"/>
              </a:srgbClr>
            </a:outerShdw>
          </a:effectLst>
        </p:spPr>
      </p:sp>
      <p:sp>
        <p:nvSpPr>
          <p:cNvPr id="5" name="Text 3"/>
          <p:cNvSpPr/>
          <p:nvPr/>
        </p:nvSpPr>
        <p:spPr>
          <a:xfrm>
            <a:off x="868680" y="1536192"/>
            <a:ext cx="10424160" cy="3447288"/>
          </a:xfrm>
          <a:prstGeom prst="rect">
            <a:avLst/>
          </a:prstGeom>
          <a:noFill/>
          <a:ln/>
        </p:spPr>
        <p:txBody>
          <a:bodyPr wrap="square" lIns="0" tIns="0" rIns="0" bIns="0" rtlCol="0" anchor="t"/>
          <a:lstStyle/>
          <a:p>
            <a:pPr indent="0" marL="0">
              <a:buNone/>
            </a:pPr>
            <a:r>
              <a:rPr lang="en-US" sz="1150" dirty="0">
                <a:solidFill>
                  <a:srgbClr val="CFEFEA"/>
                </a:solidFill>
                <a:latin typeface="Courier New" pitchFamily="34" charset="0"/>
                <a:ea typeface="Courier New" pitchFamily="34" charset="-122"/>
                <a:cs typeface="Courier New" pitchFamily="34" charset="-120"/>
              </a:rPr>
              <a:t>apiVersion: v1</a:t>
            </a:r>
            <a:endParaRPr lang="en-US" sz="1150" dirty="0"/>
          </a:p>
          <a:p>
            <a:pPr indent="0" marL="0">
              <a:buNone/>
            </a:pPr>
            <a:r>
              <a:rPr lang="en-US" sz="1150" dirty="0">
                <a:solidFill>
                  <a:srgbClr val="CFEFEA"/>
                </a:solidFill>
                <a:latin typeface="Courier New" pitchFamily="34" charset="0"/>
                <a:ea typeface="Courier New" pitchFamily="34" charset="-122"/>
                <a:cs typeface="Courier New" pitchFamily="34" charset="-120"/>
              </a:rPr>
              <a:t>kind: LimitRange</a:t>
            </a:r>
            <a:endParaRPr lang="en-US" sz="1150" dirty="0"/>
          </a:p>
          <a:p>
            <a:pPr indent="0" marL="0">
              <a:buNone/>
            </a:pPr>
            <a:r>
              <a:rPr lang="en-US" sz="1150" dirty="0">
                <a:solidFill>
                  <a:srgbClr val="CFEFEA"/>
                </a:solidFill>
                <a:latin typeface="Courier New" pitchFamily="34" charset="0"/>
                <a:ea typeface="Courier New" pitchFamily="34" charset="-122"/>
                <a:cs typeface="Courier New" pitchFamily="34" charset="-120"/>
              </a:rPr>
              <a:t>metadata: { name: default-limits, namespace: dev }</a:t>
            </a:r>
            <a:endParaRPr lang="en-US" sz="1150" dirty="0"/>
          </a:p>
          <a:p>
            <a:pPr indent="0" marL="0">
              <a:buNone/>
            </a:pPr>
            <a:r>
              <a:rPr lang="en-US" sz="1150" dirty="0">
                <a:solidFill>
                  <a:srgbClr val="CFEFEA"/>
                </a:solidFill>
                <a:latin typeface="Courier New" pitchFamily="34" charset="0"/>
                <a:ea typeface="Courier New" pitchFamily="34" charset="-122"/>
                <a:cs typeface="Courier New" pitchFamily="34" charset="-120"/>
              </a:rPr>
              <a:t>spec:</a:t>
            </a:r>
            <a:endParaRPr lang="en-US" sz="1150" dirty="0"/>
          </a:p>
          <a:p>
            <a:pPr indent="0" marL="0">
              <a:buNone/>
            </a:pPr>
            <a:r>
              <a:rPr lang="en-US" sz="1150" dirty="0">
                <a:solidFill>
                  <a:srgbClr val="CFEFEA"/>
                </a:solidFill>
                <a:latin typeface="Courier New" pitchFamily="34" charset="0"/>
                <a:ea typeface="Courier New" pitchFamily="34" charset="-122"/>
                <a:cs typeface="Courier New" pitchFamily="34" charset="-120"/>
              </a:rPr>
              <a:t>  limits:</a:t>
            </a:r>
            <a:endParaRPr lang="en-US" sz="1150" dirty="0"/>
          </a:p>
          <a:p>
            <a:pPr indent="0" marL="0">
              <a:buNone/>
            </a:pPr>
            <a:r>
              <a:rPr lang="en-US" sz="1150" dirty="0">
                <a:solidFill>
                  <a:srgbClr val="CFEFEA"/>
                </a:solidFill>
                <a:latin typeface="Courier New" pitchFamily="34" charset="0"/>
                <a:ea typeface="Courier New" pitchFamily="34" charset="-122"/>
                <a:cs typeface="Courier New" pitchFamily="34" charset="-120"/>
              </a:rPr>
              <a:t>  - type: Container</a:t>
            </a:r>
            <a:endParaRPr lang="en-US" sz="1150" dirty="0"/>
          </a:p>
          <a:p>
            <a:pPr indent="0" marL="0">
              <a:buNone/>
            </a:pPr>
            <a:r>
              <a:rPr lang="en-US" sz="1150" dirty="0">
                <a:solidFill>
                  <a:srgbClr val="CFEFEA"/>
                </a:solidFill>
                <a:latin typeface="Courier New" pitchFamily="34" charset="0"/>
                <a:ea typeface="Courier New" pitchFamily="34" charset="-122"/>
                <a:cs typeface="Courier New" pitchFamily="34" charset="-120"/>
              </a:rPr>
              <a:t>    default: { cpu: "500m", memory: "256Mi" }       # applied if unset</a:t>
            </a:r>
            <a:endParaRPr lang="en-US" sz="1150" dirty="0"/>
          </a:p>
          <a:p>
            <a:pPr indent="0" marL="0">
              <a:buNone/>
            </a:pPr>
            <a:r>
              <a:rPr lang="en-US" sz="1150" dirty="0">
                <a:solidFill>
                  <a:srgbClr val="CFEFEA"/>
                </a:solidFill>
                <a:latin typeface="Courier New" pitchFamily="34" charset="0"/>
                <a:ea typeface="Courier New" pitchFamily="34" charset="-122"/>
                <a:cs typeface="Courier New" pitchFamily="34" charset="-120"/>
              </a:rPr>
              <a:t>    defaultRequest: { cpu: "250m", memory: "128Mi" }</a:t>
            </a:r>
            <a:endParaRPr lang="en-US" sz="1150" dirty="0"/>
          </a:p>
          <a:p>
            <a:pPr indent="0" marL="0">
              <a:buNone/>
            </a:pPr>
            <a:r>
              <a:rPr lang="en-US" sz="1150" dirty="0">
                <a:solidFill>
                  <a:srgbClr val="CFEFEA"/>
                </a:solidFill>
                <a:latin typeface="Courier New" pitchFamily="34" charset="0"/>
                <a:ea typeface="Courier New" pitchFamily="34" charset="-122"/>
                <a:cs typeface="Courier New" pitchFamily="34" charset="-120"/>
              </a:rPr>
              <a:t>    max: { cpu: "2", memory: "1Gi" }</a:t>
            </a:r>
            <a:endParaRPr lang="en-US" sz="1150" dirty="0"/>
          </a:p>
          <a:p>
            <a:pPr indent="0" marL="0">
              <a:buNone/>
            </a:pPr>
            <a:r>
              <a:rPr lang="en-US" sz="1150" dirty="0">
                <a:solidFill>
                  <a:srgbClr val="CFEFEA"/>
                </a:solidFill>
                <a:latin typeface="Courier New" pitchFamily="34" charset="0"/>
                <a:ea typeface="Courier New" pitchFamily="34" charset="-122"/>
                <a:cs typeface="Courier New" pitchFamily="34" charset="-120"/>
              </a:rPr>
              <a:t>    min: { cpu: "100m", memory: "64Mi" }</a:t>
            </a:r>
            <a:endParaRPr lang="en-US" sz="1150" dirty="0"/>
          </a:p>
          <a:p>
            <a:pPr indent="0" marL="0">
              <a:buNone/>
            </a:pPr>
            <a:r>
              <a:rPr lang="en-US" sz="1150" dirty="0">
                <a:solidFill>
                  <a:srgbClr val="CFEFEA"/>
                </a:solidFill>
                <a:latin typeface="Courier New" pitchFamily="34" charset="0"/>
                <a:ea typeface="Courier New" pitchFamily="34" charset="-122"/>
                <a:cs typeface="Courier New" pitchFamily="34" charset="-120"/>
              </a:rPr>
              <a:t>---</a:t>
            </a:r>
            <a:endParaRPr lang="en-US" sz="1150" dirty="0"/>
          </a:p>
          <a:p>
            <a:pPr indent="0" marL="0">
              <a:buNone/>
            </a:pPr>
            <a:r>
              <a:rPr lang="en-US" sz="1150" dirty="0">
                <a:solidFill>
                  <a:srgbClr val="CFEFEA"/>
                </a:solidFill>
                <a:latin typeface="Courier New" pitchFamily="34" charset="0"/>
                <a:ea typeface="Courier New" pitchFamily="34" charset="-122"/>
                <a:cs typeface="Courier New" pitchFamily="34" charset="-120"/>
              </a:rPr>
              <a:t>apiVersion: v1</a:t>
            </a:r>
            <a:endParaRPr lang="en-US" sz="1150" dirty="0"/>
          </a:p>
          <a:p>
            <a:pPr indent="0" marL="0">
              <a:buNone/>
            </a:pPr>
            <a:r>
              <a:rPr lang="en-US" sz="1150" dirty="0">
                <a:solidFill>
                  <a:srgbClr val="CFEFEA"/>
                </a:solidFill>
                <a:latin typeface="Courier New" pitchFamily="34" charset="0"/>
                <a:ea typeface="Courier New" pitchFamily="34" charset="-122"/>
                <a:cs typeface="Courier New" pitchFamily="34" charset="-120"/>
              </a:rPr>
              <a:t>kind: ResourceQuota</a:t>
            </a:r>
            <a:endParaRPr lang="en-US" sz="1150" dirty="0"/>
          </a:p>
          <a:p>
            <a:pPr indent="0" marL="0">
              <a:buNone/>
            </a:pPr>
            <a:r>
              <a:rPr lang="en-US" sz="1150" dirty="0">
                <a:solidFill>
                  <a:srgbClr val="CFEFEA"/>
                </a:solidFill>
                <a:latin typeface="Courier New" pitchFamily="34" charset="0"/>
                <a:ea typeface="Courier New" pitchFamily="34" charset="-122"/>
                <a:cs typeface="Courier New" pitchFamily="34" charset="-120"/>
              </a:rPr>
              <a:t>metadata: { name: dev-quota, namespace: dev }</a:t>
            </a:r>
            <a:endParaRPr lang="en-US" sz="1150" dirty="0"/>
          </a:p>
          <a:p>
            <a:pPr indent="0" marL="0">
              <a:buNone/>
            </a:pPr>
            <a:r>
              <a:rPr lang="en-US" sz="1150" dirty="0">
                <a:solidFill>
                  <a:srgbClr val="CFEFEA"/>
                </a:solidFill>
                <a:latin typeface="Courier New" pitchFamily="34" charset="0"/>
                <a:ea typeface="Courier New" pitchFamily="34" charset="-122"/>
                <a:cs typeface="Courier New" pitchFamily="34" charset="-120"/>
              </a:rPr>
              <a:t>spec:</a:t>
            </a:r>
            <a:endParaRPr lang="en-US" sz="1150" dirty="0"/>
          </a:p>
          <a:p>
            <a:pPr indent="0" marL="0">
              <a:buNone/>
            </a:pPr>
            <a:r>
              <a:rPr lang="en-US" sz="1150" dirty="0">
                <a:solidFill>
                  <a:srgbClr val="CFEFEA"/>
                </a:solidFill>
                <a:latin typeface="Courier New" pitchFamily="34" charset="0"/>
                <a:ea typeface="Courier New" pitchFamily="34" charset="-122"/>
                <a:cs typeface="Courier New" pitchFamily="34" charset="-120"/>
              </a:rPr>
              <a:t>  hard:</a:t>
            </a:r>
            <a:endParaRPr lang="en-US" sz="1150" dirty="0"/>
          </a:p>
          <a:p>
            <a:pPr indent="0" marL="0">
              <a:buNone/>
            </a:pPr>
            <a:r>
              <a:rPr lang="en-US" sz="1150" dirty="0">
                <a:solidFill>
                  <a:srgbClr val="CFEFEA"/>
                </a:solidFill>
                <a:latin typeface="Courier New" pitchFamily="34" charset="0"/>
                <a:ea typeface="Courier New" pitchFamily="34" charset="-122"/>
                <a:cs typeface="Courier New" pitchFamily="34" charset="-120"/>
              </a:rPr>
              <a:t>    requests.cpu: "4"</a:t>
            </a:r>
            <a:endParaRPr lang="en-US" sz="1150" dirty="0"/>
          </a:p>
          <a:p>
            <a:pPr indent="0" marL="0">
              <a:buNone/>
            </a:pPr>
            <a:r>
              <a:rPr lang="en-US" sz="1150" dirty="0">
                <a:solidFill>
                  <a:srgbClr val="CFEFEA"/>
                </a:solidFill>
                <a:latin typeface="Courier New" pitchFamily="34" charset="0"/>
                <a:ea typeface="Courier New" pitchFamily="34" charset="-122"/>
                <a:cs typeface="Courier New" pitchFamily="34" charset="-120"/>
              </a:rPr>
              <a:t>    requests.memory: 8Gi</a:t>
            </a:r>
            <a:endParaRPr lang="en-US" sz="1150" dirty="0"/>
          </a:p>
          <a:p>
            <a:pPr indent="0" marL="0">
              <a:buNone/>
            </a:pPr>
            <a:r>
              <a:rPr lang="en-US" sz="1150" dirty="0">
                <a:solidFill>
                  <a:srgbClr val="CFEFEA"/>
                </a:solidFill>
                <a:latin typeface="Courier New" pitchFamily="34" charset="0"/>
                <a:ea typeface="Courier New" pitchFamily="34" charset="-122"/>
                <a:cs typeface="Courier New" pitchFamily="34" charset="-120"/>
              </a:rPr>
              <a:t>    pods: "20"</a:t>
            </a:r>
            <a:endParaRPr lang="en-US" sz="1150" dirty="0"/>
          </a:p>
        </p:txBody>
      </p:sp>
      <p:sp>
        <p:nvSpPr>
          <p:cNvPr id="6" name="Text 4"/>
          <p:cNvSpPr/>
          <p:nvPr/>
        </p:nvSpPr>
        <p:spPr>
          <a:xfrm>
            <a:off x="640080" y="5376672"/>
            <a:ext cx="10881360" cy="1024128"/>
          </a:xfrm>
          <a:prstGeom prst="rect">
            <a:avLst/>
          </a:prstGeom>
          <a:noFill/>
          <a:ln/>
        </p:spPr>
        <p:txBody>
          <a:bodyPr wrap="square" lIns="0" tIns="0" rIns="0" bIns="0" rtlCol="0" anchor="t"/>
          <a:lstStyle/>
          <a:p>
            <a:pPr marL="342900" indent="-342900">
              <a:spcAft>
                <a:spcPts val="500"/>
              </a:spcAft>
              <a:buSzPct val="100000"/>
              <a:buChar char="•"/>
            </a:pPr>
            <a:r>
              <a:rPr lang="en-US" sz="1200" dirty="0">
                <a:solidFill>
                  <a:srgbClr val="1E293B"/>
                </a:solidFill>
                <a:latin typeface="Calibri" pitchFamily="34" charset="0"/>
                <a:ea typeface="Calibri" pitchFamily="34" charset="-122"/>
                <a:cs typeface="Calibri" pitchFamily="34" charset="-120"/>
              </a:rPr>
              <a:t>kubectl describe namespace dev shows both the LimitRange and ResourceQuota status, including current usage against the quota.</a:t>
            </a:r>
            <a:endParaRPr lang="en-US" sz="1200" dirty="0"/>
          </a:p>
          <a:p>
            <a:pPr marL="342900" indent="-342900">
              <a:spcAft>
                <a:spcPts val="500"/>
              </a:spcAft>
              <a:buSzPct val="100000"/>
              <a:buChar char="•"/>
            </a:pPr>
            <a:r>
              <a:rPr lang="en-US" sz="1200" dirty="0">
                <a:solidFill>
                  <a:srgbClr val="1E293B"/>
                </a:solidFill>
                <a:latin typeface="Calibri" pitchFamily="34" charset="0"/>
                <a:ea typeface="Calibri" pitchFamily="34" charset="-122"/>
                <a:cs typeface="Calibri" pitchFamily="34" charset="-120"/>
              </a:rPr>
              <a:t>Exam trap: a Pod creation failing with a 'forbidden: exceeded quota' or 'maximum cpu usage' message is an admission-time rejection, not a scheduling failure — the Pod object never even gets created.</a:t>
            </a:r>
            <a:endParaRPr lang="en-US" sz="1200" dirty="0"/>
          </a:p>
        </p:txBody>
      </p:sp>
      <p:sp>
        <p:nvSpPr>
          <p:cNvPr id="7" name="Text 5"/>
          <p:cNvSpPr/>
          <p:nvPr/>
        </p:nvSpPr>
        <p:spPr>
          <a:xfrm>
            <a:off x="457200" y="6446520"/>
            <a:ext cx="6400800" cy="27432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CKA v1.36 · Module 2</a:t>
            </a:r>
            <a:endParaRPr lang="en-US" sz="900" dirty="0"/>
          </a:p>
        </p:txBody>
      </p:sp>
      <p:sp>
        <p:nvSpPr>
          <p:cNvPr id="8" name="Text 6"/>
          <p:cNvSpPr/>
          <p:nvPr/>
        </p:nvSpPr>
        <p:spPr>
          <a:xfrm>
            <a:off x="11247120" y="6446520"/>
            <a:ext cx="4572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62</a:t>
            </a:r>
            <a:endParaRPr lang="en-US" sz="900" dirty="0"/>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65760"/>
            <a:ext cx="9144000" cy="320040"/>
          </a:xfrm>
          <a:prstGeom prst="rect">
            <a:avLst/>
          </a:prstGeom>
          <a:noFill/>
          <a:ln/>
        </p:spPr>
        <p:txBody>
          <a:bodyPr wrap="square" lIns="0" tIns="0" rIns="0" bIns="0" rtlCol="0" anchor="ctr"/>
          <a:lstStyle/>
          <a:p>
            <a:pPr indent="0" marL="0">
              <a:buNone/>
            </a:pPr>
            <a:r>
              <a:rPr lang="en-US" sz="1150" b="1" spc="150" kern="0" dirty="0">
                <a:solidFill>
                  <a:srgbClr val="1C7293"/>
                </a:solidFill>
                <a:latin typeface="Calibri" pitchFamily="34" charset="0"/>
                <a:ea typeface="Calibri" pitchFamily="34" charset="-122"/>
                <a:cs typeface="Calibri" pitchFamily="34" charset="-120"/>
              </a:rPr>
              <a:t>ADMISSION &amp; SCHEDULING</a:t>
            </a:r>
            <a:endParaRPr lang="en-US" sz="1150" dirty="0"/>
          </a:p>
        </p:txBody>
      </p:sp>
      <p:sp>
        <p:nvSpPr>
          <p:cNvPr id="3" name="Text 1"/>
          <p:cNvSpPr/>
          <p:nvPr/>
        </p:nvSpPr>
        <p:spPr>
          <a:xfrm>
            <a:off x="640080" y="658368"/>
            <a:ext cx="10881360" cy="685800"/>
          </a:xfrm>
          <a:prstGeom prst="rect">
            <a:avLst/>
          </a:prstGeom>
          <a:noFill/>
          <a:ln/>
        </p:spPr>
        <p:txBody>
          <a:bodyPr wrap="square" lIns="0" tIns="0" rIns="0" bIns="0" rtlCol="0" anchor="ctr"/>
          <a:lstStyle/>
          <a:p>
            <a:pPr indent="0" marL="0">
              <a:buNone/>
            </a:pPr>
            <a:r>
              <a:rPr lang="en-US" sz="2600" b="1" dirty="0">
                <a:solidFill>
                  <a:srgbClr val="21295C"/>
                </a:solidFill>
                <a:latin typeface="Cambria" pitchFamily="34" charset="0"/>
                <a:ea typeface="Cambria" pitchFamily="34" charset="-122"/>
                <a:cs typeface="Cambria" pitchFamily="34" charset="-120"/>
              </a:rPr>
              <a:t>nodeSelector — The Simplest Scheduling Constraint</a:t>
            </a:r>
            <a:endParaRPr lang="en-US" sz="2600" dirty="0"/>
          </a:p>
        </p:txBody>
      </p:sp>
      <p:sp>
        <p:nvSpPr>
          <p:cNvPr id="4" name="Shape 2"/>
          <p:cNvSpPr/>
          <p:nvPr/>
        </p:nvSpPr>
        <p:spPr>
          <a:xfrm>
            <a:off x="640080" y="1371600"/>
            <a:ext cx="10881360" cy="0"/>
          </a:xfrm>
          <a:prstGeom prst="line">
            <a:avLst/>
          </a:prstGeom>
          <a:noFill/>
          <a:ln w="12700">
            <a:solidFill>
              <a:srgbClr val="D7E3E8"/>
            </a:solidFill>
            <a:prstDash val="solid"/>
          </a:ln>
        </p:spPr>
      </p:sp>
      <p:sp>
        <p:nvSpPr>
          <p:cNvPr id="5" name="Shape 3"/>
          <p:cNvSpPr/>
          <p:nvPr/>
        </p:nvSpPr>
        <p:spPr>
          <a:xfrm>
            <a:off x="11109960" y="411480"/>
            <a:ext cx="502920" cy="502920"/>
          </a:xfrm>
          <a:prstGeom prst="ellipse">
            <a:avLst/>
          </a:prstGeom>
          <a:solidFill>
            <a:srgbClr val="EAF4F8"/>
          </a:solidFill>
          <a:ln w="15875">
            <a:solidFill>
              <a:srgbClr val="1C7293"/>
            </a:solidFill>
            <a:prstDash val="solid"/>
          </a:ln>
        </p:spPr>
      </p:sp>
      <p:sp>
        <p:nvSpPr>
          <p:cNvPr id="6" name="Text 4"/>
          <p:cNvSpPr/>
          <p:nvPr/>
        </p:nvSpPr>
        <p:spPr>
          <a:xfrm>
            <a:off x="11109960" y="411480"/>
            <a:ext cx="502920" cy="502920"/>
          </a:xfrm>
          <a:prstGeom prst="rect">
            <a:avLst/>
          </a:prstGeom>
          <a:noFill/>
          <a:ln/>
        </p:spPr>
        <p:txBody>
          <a:bodyPr wrap="square" lIns="0" tIns="0" rIns="0" bIns="0" rtlCol="0" anchor="ctr"/>
          <a:lstStyle/>
          <a:p>
            <a:pPr algn="ctr" indent="0" marL="0">
              <a:buNone/>
            </a:pPr>
            <a:r>
              <a:rPr lang="en-US" sz="1600" b="1" dirty="0">
                <a:solidFill>
                  <a:srgbClr val="1C7293"/>
                </a:solidFill>
                <a:latin typeface="Calibri" pitchFamily="34" charset="0"/>
                <a:ea typeface="Calibri" pitchFamily="34" charset="-122"/>
                <a:cs typeface="Calibri" pitchFamily="34" charset="-120"/>
              </a:rPr>
              <a:t>19</a:t>
            </a:r>
            <a:endParaRPr lang="en-US" sz="1600" dirty="0"/>
          </a:p>
        </p:txBody>
      </p:sp>
      <p:sp>
        <p:nvSpPr>
          <p:cNvPr id="7" name="Text 5"/>
          <p:cNvSpPr/>
          <p:nvPr/>
        </p:nvSpPr>
        <p:spPr>
          <a:xfrm>
            <a:off x="640080" y="1600200"/>
            <a:ext cx="10881360" cy="4572000"/>
          </a:xfrm>
          <a:prstGeom prst="rect">
            <a:avLst/>
          </a:prstGeom>
          <a:noFill/>
          <a:ln/>
        </p:spPr>
        <p:txBody>
          <a:bodyPr wrap="square" lIns="0" tIns="0" rIns="0" bIns="0" rtlCol="0" anchor="t"/>
          <a:lstStyle/>
          <a:p>
            <a:pPr marL="342900" indent="-342900">
              <a:spcAft>
                <a:spcPts val="1200"/>
              </a:spcAft>
              <a:buSzPct val="100000"/>
              <a:buChar char="•"/>
            </a:pPr>
            <a:r>
              <a:rPr lang="en-US" sz="1550" dirty="0">
                <a:solidFill>
                  <a:srgbClr val="1E293B"/>
                </a:solidFill>
                <a:latin typeface="Calibri" pitchFamily="34" charset="0"/>
                <a:ea typeface="Calibri" pitchFamily="34" charset="-122"/>
                <a:cs typeface="Calibri" pitchFamily="34" charset="-120"/>
              </a:rPr>
              <a:t>nodeSelector is a simple key-value map on the Pod spec; the scheduler will only place the Pod on nodes whose labels match ALL specified key-value pairs.</a:t>
            </a:r>
            <a:endParaRPr lang="en-US" sz="1550" dirty="0"/>
          </a:p>
          <a:p>
            <a:pPr marL="342900" indent="-342900">
              <a:spcAft>
                <a:spcPts val="1200"/>
              </a:spcAft>
              <a:buSzPct val="100000"/>
              <a:buChar char="•"/>
            </a:pPr>
            <a:r>
              <a:rPr lang="en-US" sz="1550" dirty="0">
                <a:solidFill>
                  <a:srgbClr val="1E293B"/>
                </a:solidFill>
                <a:latin typeface="Calibri" pitchFamily="34" charset="0"/>
                <a:ea typeface="Calibri" pitchFamily="34" charset="-122"/>
                <a:cs typeface="Calibri" pitchFamily="34" charset="-120"/>
              </a:rPr>
              <a:t>Nodes are labeled with kubectl label node &lt;node&gt; &lt;key&gt;=&lt;value&gt;.</a:t>
            </a:r>
            <a:endParaRPr lang="en-US" sz="1550" dirty="0"/>
          </a:p>
          <a:p>
            <a:pPr marL="342900" indent="-342900">
              <a:spcAft>
                <a:spcPts val="1200"/>
              </a:spcAft>
              <a:buSzPct val="100000"/>
              <a:buChar char="•"/>
            </a:pPr>
            <a:r>
              <a:rPr lang="en-US" sz="1550" dirty="0">
                <a:solidFill>
                  <a:srgbClr val="1E293B"/>
                </a:solidFill>
                <a:latin typeface="Calibri" pitchFamily="34" charset="0"/>
                <a:ea typeface="Calibri" pitchFamily="34" charset="-122"/>
                <a:cs typeface="Calibri" pitchFamily="34" charset="-120"/>
              </a:rPr>
              <a:t>nodeSelector supports exact-match AND logic only — no OR conditions, no 'prefer but don't require' — for that, use node affinity instead.</a:t>
            </a:r>
            <a:endParaRPr lang="en-US" sz="1550" dirty="0"/>
          </a:p>
          <a:p>
            <a:pPr marL="342900" indent="-342900">
              <a:spcAft>
                <a:spcPts val="1200"/>
              </a:spcAft>
              <a:buSzPct val="100000"/>
              <a:buChar char="•"/>
            </a:pPr>
            <a:r>
              <a:rPr lang="en-US" sz="1550" dirty="0">
                <a:solidFill>
                  <a:srgbClr val="1E293B"/>
                </a:solidFill>
                <a:latin typeface="Calibri" pitchFamily="34" charset="0"/>
                <a:ea typeface="Calibri" pitchFamily="34" charset="-122"/>
                <a:cs typeface="Calibri" pitchFamily="34" charset="-120"/>
              </a:rPr>
              <a:t>It's the right tool when the requirement is simple and absolute, e.g. 'this Pod must run on a node labeled disktype=ssd.'</a:t>
            </a:r>
            <a:endParaRPr lang="en-US" sz="1550" dirty="0"/>
          </a:p>
        </p:txBody>
      </p:sp>
      <p:sp>
        <p:nvSpPr>
          <p:cNvPr id="8" name="Text 6"/>
          <p:cNvSpPr/>
          <p:nvPr/>
        </p:nvSpPr>
        <p:spPr>
          <a:xfrm>
            <a:off x="457200" y="6446520"/>
            <a:ext cx="6400800" cy="27432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CKA v1.36 · Module 2</a:t>
            </a:r>
            <a:endParaRPr lang="en-US" sz="900" dirty="0"/>
          </a:p>
        </p:txBody>
      </p:sp>
      <p:sp>
        <p:nvSpPr>
          <p:cNvPr id="9" name="Text 7"/>
          <p:cNvSpPr/>
          <p:nvPr/>
        </p:nvSpPr>
        <p:spPr>
          <a:xfrm>
            <a:off x="11247120" y="6446520"/>
            <a:ext cx="4572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63</a:t>
            </a:r>
            <a:endParaRPr lang="en-US" sz="900" dirty="0"/>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6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65760"/>
            <a:ext cx="9144000" cy="320040"/>
          </a:xfrm>
          <a:prstGeom prst="rect">
            <a:avLst/>
          </a:prstGeom>
          <a:noFill/>
          <a:ln/>
        </p:spPr>
        <p:txBody>
          <a:bodyPr wrap="square" lIns="0" tIns="0" rIns="0" bIns="0" rtlCol="0" anchor="ctr"/>
          <a:lstStyle/>
          <a:p>
            <a:pPr indent="0" marL="0">
              <a:buNone/>
            </a:pPr>
            <a:r>
              <a:rPr lang="en-US" sz="1150" b="1" spc="150" kern="0" dirty="0">
                <a:solidFill>
                  <a:srgbClr val="1C7293"/>
                </a:solidFill>
                <a:latin typeface="Calibri" pitchFamily="34" charset="0"/>
                <a:ea typeface="Calibri" pitchFamily="34" charset="-122"/>
                <a:cs typeface="Calibri" pitchFamily="34" charset="-120"/>
              </a:rPr>
              <a:t>ADMISSION &amp; SCHEDULING</a:t>
            </a:r>
            <a:endParaRPr lang="en-US" sz="1150" dirty="0"/>
          </a:p>
        </p:txBody>
      </p:sp>
      <p:sp>
        <p:nvSpPr>
          <p:cNvPr id="3" name="Text 1"/>
          <p:cNvSpPr/>
          <p:nvPr/>
        </p:nvSpPr>
        <p:spPr>
          <a:xfrm>
            <a:off x="640080" y="658368"/>
            <a:ext cx="10881360" cy="548640"/>
          </a:xfrm>
          <a:prstGeom prst="rect">
            <a:avLst/>
          </a:prstGeom>
          <a:noFill/>
          <a:ln/>
        </p:spPr>
        <p:txBody>
          <a:bodyPr wrap="square" lIns="0" tIns="0" rIns="0" bIns="0" rtlCol="0" anchor="ctr"/>
          <a:lstStyle/>
          <a:p>
            <a:pPr indent="0" marL="0">
              <a:buNone/>
            </a:pPr>
            <a:r>
              <a:rPr lang="en-US" sz="2400" b="1" dirty="0">
                <a:solidFill>
                  <a:srgbClr val="21295C"/>
                </a:solidFill>
                <a:latin typeface="Cambria" pitchFamily="34" charset="0"/>
                <a:ea typeface="Cambria" pitchFamily="34" charset="-122"/>
                <a:cs typeface="Cambria" pitchFamily="34" charset="-120"/>
              </a:rPr>
              <a:t>Node Affinity — Required vs. Preferred</a:t>
            </a:r>
            <a:endParaRPr lang="en-US" sz="2400" dirty="0"/>
          </a:p>
        </p:txBody>
      </p:sp>
      <p:sp>
        <p:nvSpPr>
          <p:cNvPr id="4" name="Shape 2"/>
          <p:cNvSpPr/>
          <p:nvPr/>
        </p:nvSpPr>
        <p:spPr>
          <a:xfrm>
            <a:off x="640080" y="1371600"/>
            <a:ext cx="10881360" cy="2980944"/>
          </a:xfrm>
          <a:prstGeom prst="roundRect">
            <a:avLst>
              <a:gd name="adj" fmla="val 1840"/>
            </a:avLst>
          </a:prstGeom>
          <a:solidFill>
            <a:srgbClr val="0B2330"/>
          </a:solidFill>
          <a:ln/>
          <a:effectLst>
            <a:outerShdw sx="100000" sy="100000" kx="0" ky="0" algn="bl" rotWithShape="0" blurRad="88900" dist="25400" dir="2700000">
              <a:srgbClr val="1B2A36">
                <a:alpha val="12000"/>
              </a:srgbClr>
            </a:outerShdw>
          </a:effectLst>
        </p:spPr>
      </p:sp>
      <p:sp>
        <p:nvSpPr>
          <p:cNvPr id="5" name="Text 3"/>
          <p:cNvSpPr/>
          <p:nvPr/>
        </p:nvSpPr>
        <p:spPr>
          <a:xfrm>
            <a:off x="868680" y="1536192"/>
            <a:ext cx="10424160" cy="2651760"/>
          </a:xfrm>
          <a:prstGeom prst="rect">
            <a:avLst/>
          </a:prstGeom>
          <a:noFill/>
          <a:ln/>
        </p:spPr>
        <p:txBody>
          <a:bodyPr wrap="square" lIns="0" tIns="0" rIns="0" bIns="0" rtlCol="0" anchor="t"/>
          <a:lstStyle/>
          <a:p>
            <a:pPr indent="0" marL="0">
              <a:buNone/>
            </a:pPr>
            <a:r>
              <a:rPr lang="en-US" sz="1050" dirty="0">
                <a:solidFill>
                  <a:srgbClr val="CFEFEA"/>
                </a:solidFill>
                <a:latin typeface="Courier New" pitchFamily="34" charset="0"/>
                <a:ea typeface="Courier New" pitchFamily="34" charset="-122"/>
                <a:cs typeface="Courier New" pitchFamily="34" charset="-120"/>
              </a:rPr>
              <a:t>affinity:</a:t>
            </a:r>
            <a:endParaRPr lang="en-US" sz="1050" dirty="0"/>
          </a:p>
          <a:p>
            <a:pPr indent="0" marL="0">
              <a:buNone/>
            </a:pPr>
            <a:r>
              <a:rPr lang="en-US" sz="1050" dirty="0">
                <a:solidFill>
                  <a:srgbClr val="CFEFEA"/>
                </a:solidFill>
                <a:latin typeface="Courier New" pitchFamily="34" charset="0"/>
                <a:ea typeface="Courier New" pitchFamily="34" charset="-122"/>
                <a:cs typeface="Courier New" pitchFamily="34" charset="-120"/>
              </a:rPr>
              <a:t>  nodeAffinity:</a:t>
            </a:r>
            <a:endParaRPr lang="en-US" sz="1050" dirty="0"/>
          </a:p>
          <a:p>
            <a:pPr indent="0" marL="0">
              <a:buNone/>
            </a:pPr>
            <a:r>
              <a:rPr lang="en-US" sz="1050" dirty="0">
                <a:solidFill>
                  <a:srgbClr val="CFEFEA"/>
                </a:solidFill>
                <a:latin typeface="Courier New" pitchFamily="34" charset="0"/>
                <a:ea typeface="Courier New" pitchFamily="34" charset="-122"/>
                <a:cs typeface="Courier New" pitchFamily="34" charset="-120"/>
              </a:rPr>
              <a:t>    requiredDuringSchedulingIgnoredDuringExecution:</a:t>
            </a:r>
            <a:endParaRPr lang="en-US" sz="1050" dirty="0"/>
          </a:p>
          <a:p>
            <a:pPr indent="0" marL="0">
              <a:buNone/>
            </a:pPr>
            <a:r>
              <a:rPr lang="en-US" sz="1050" dirty="0">
                <a:solidFill>
                  <a:srgbClr val="CFEFEA"/>
                </a:solidFill>
                <a:latin typeface="Courier New" pitchFamily="34" charset="0"/>
                <a:ea typeface="Courier New" pitchFamily="34" charset="-122"/>
                <a:cs typeface="Courier New" pitchFamily="34" charset="-120"/>
              </a:rPr>
              <a:t>      nodeSelectorTerms:</a:t>
            </a:r>
            <a:endParaRPr lang="en-US" sz="1050" dirty="0"/>
          </a:p>
          <a:p>
            <a:pPr indent="0" marL="0">
              <a:buNone/>
            </a:pPr>
            <a:r>
              <a:rPr lang="en-US" sz="1050" dirty="0">
                <a:solidFill>
                  <a:srgbClr val="CFEFEA"/>
                </a:solidFill>
                <a:latin typeface="Courier New" pitchFamily="34" charset="0"/>
                <a:ea typeface="Courier New" pitchFamily="34" charset="-122"/>
                <a:cs typeface="Courier New" pitchFamily="34" charset="-120"/>
              </a:rPr>
              <a:t>      - matchExpressions:</a:t>
            </a:r>
            <a:endParaRPr lang="en-US" sz="1050" dirty="0"/>
          </a:p>
          <a:p>
            <a:pPr indent="0" marL="0">
              <a:buNone/>
            </a:pPr>
            <a:r>
              <a:rPr lang="en-US" sz="1050" dirty="0">
                <a:solidFill>
                  <a:srgbClr val="CFEFEA"/>
                </a:solidFill>
                <a:latin typeface="Courier New" pitchFamily="34" charset="0"/>
                <a:ea typeface="Courier New" pitchFamily="34" charset="-122"/>
                <a:cs typeface="Courier New" pitchFamily="34" charset="-120"/>
              </a:rPr>
              <a:t>        - key: disktype</a:t>
            </a:r>
            <a:endParaRPr lang="en-US" sz="1050" dirty="0"/>
          </a:p>
          <a:p>
            <a:pPr indent="0" marL="0">
              <a:buNone/>
            </a:pPr>
            <a:r>
              <a:rPr lang="en-US" sz="1050" dirty="0">
                <a:solidFill>
                  <a:srgbClr val="CFEFEA"/>
                </a:solidFill>
                <a:latin typeface="Courier New" pitchFamily="34" charset="0"/>
                <a:ea typeface="Courier New" pitchFamily="34" charset="-122"/>
                <a:cs typeface="Courier New" pitchFamily="34" charset="-120"/>
              </a:rPr>
              <a:t>          operator: In</a:t>
            </a:r>
            <a:endParaRPr lang="en-US" sz="1050" dirty="0"/>
          </a:p>
          <a:p>
            <a:pPr indent="0" marL="0">
              <a:buNone/>
            </a:pPr>
            <a:r>
              <a:rPr lang="en-US" sz="1050" dirty="0">
                <a:solidFill>
                  <a:srgbClr val="CFEFEA"/>
                </a:solidFill>
                <a:latin typeface="Courier New" pitchFamily="34" charset="0"/>
                <a:ea typeface="Courier New" pitchFamily="34" charset="-122"/>
                <a:cs typeface="Courier New" pitchFamily="34" charset="-120"/>
              </a:rPr>
              <a:t>          values: [ssd]</a:t>
            </a:r>
            <a:endParaRPr lang="en-US" sz="1050" dirty="0"/>
          </a:p>
          <a:p>
            <a:pPr indent="0" marL="0">
              <a:buNone/>
            </a:pPr>
            <a:r>
              <a:rPr lang="en-US" sz="1050" dirty="0">
                <a:solidFill>
                  <a:srgbClr val="CFEFEA"/>
                </a:solidFill>
                <a:latin typeface="Courier New" pitchFamily="34" charset="0"/>
                <a:ea typeface="Courier New" pitchFamily="34" charset="-122"/>
                <a:cs typeface="Courier New" pitchFamily="34" charset="-120"/>
              </a:rPr>
              <a:t>    preferredDuringSchedulingIgnoredDuringExecution:</a:t>
            </a:r>
            <a:endParaRPr lang="en-US" sz="1050" dirty="0"/>
          </a:p>
          <a:p>
            <a:pPr indent="0" marL="0">
              <a:buNone/>
            </a:pPr>
            <a:r>
              <a:rPr lang="en-US" sz="1050" dirty="0">
                <a:solidFill>
                  <a:srgbClr val="CFEFEA"/>
                </a:solidFill>
                <a:latin typeface="Courier New" pitchFamily="34" charset="0"/>
                <a:ea typeface="Courier New" pitchFamily="34" charset="-122"/>
                <a:cs typeface="Courier New" pitchFamily="34" charset="-120"/>
              </a:rPr>
              <a:t>    - weight: 80</a:t>
            </a:r>
            <a:endParaRPr lang="en-US" sz="1050" dirty="0"/>
          </a:p>
          <a:p>
            <a:pPr indent="0" marL="0">
              <a:buNone/>
            </a:pPr>
            <a:r>
              <a:rPr lang="en-US" sz="1050" dirty="0">
                <a:solidFill>
                  <a:srgbClr val="CFEFEA"/>
                </a:solidFill>
                <a:latin typeface="Courier New" pitchFamily="34" charset="0"/>
                <a:ea typeface="Courier New" pitchFamily="34" charset="-122"/>
                <a:cs typeface="Courier New" pitchFamily="34" charset="-120"/>
              </a:rPr>
              <a:t>      preference:</a:t>
            </a:r>
            <a:endParaRPr lang="en-US" sz="1050" dirty="0"/>
          </a:p>
          <a:p>
            <a:pPr indent="0" marL="0">
              <a:buNone/>
            </a:pPr>
            <a:r>
              <a:rPr lang="en-US" sz="1050" dirty="0">
                <a:solidFill>
                  <a:srgbClr val="CFEFEA"/>
                </a:solidFill>
                <a:latin typeface="Courier New" pitchFamily="34" charset="0"/>
                <a:ea typeface="Courier New" pitchFamily="34" charset="-122"/>
                <a:cs typeface="Courier New" pitchFamily="34" charset="-120"/>
              </a:rPr>
              <a:t>        matchExpressions:</a:t>
            </a:r>
            <a:endParaRPr lang="en-US" sz="1050" dirty="0"/>
          </a:p>
          <a:p>
            <a:pPr indent="0" marL="0">
              <a:buNone/>
            </a:pPr>
            <a:r>
              <a:rPr lang="en-US" sz="1050" dirty="0">
                <a:solidFill>
                  <a:srgbClr val="CFEFEA"/>
                </a:solidFill>
                <a:latin typeface="Courier New" pitchFamily="34" charset="0"/>
                <a:ea typeface="Courier New" pitchFamily="34" charset="-122"/>
                <a:cs typeface="Courier New" pitchFamily="34" charset="-120"/>
              </a:rPr>
              <a:t>        - key: zone</a:t>
            </a:r>
            <a:endParaRPr lang="en-US" sz="1050" dirty="0"/>
          </a:p>
          <a:p>
            <a:pPr indent="0" marL="0">
              <a:buNone/>
            </a:pPr>
            <a:r>
              <a:rPr lang="en-US" sz="1050" dirty="0">
                <a:solidFill>
                  <a:srgbClr val="CFEFEA"/>
                </a:solidFill>
                <a:latin typeface="Courier New" pitchFamily="34" charset="0"/>
                <a:ea typeface="Courier New" pitchFamily="34" charset="-122"/>
                <a:cs typeface="Courier New" pitchFamily="34" charset="-120"/>
              </a:rPr>
              <a:t>          operator: In</a:t>
            </a:r>
            <a:endParaRPr lang="en-US" sz="1050" dirty="0"/>
          </a:p>
          <a:p>
            <a:pPr indent="0" marL="0">
              <a:buNone/>
            </a:pPr>
            <a:r>
              <a:rPr lang="en-US" sz="1050" dirty="0">
                <a:solidFill>
                  <a:srgbClr val="CFEFEA"/>
                </a:solidFill>
                <a:latin typeface="Courier New" pitchFamily="34" charset="0"/>
                <a:ea typeface="Courier New" pitchFamily="34" charset="-122"/>
                <a:cs typeface="Courier New" pitchFamily="34" charset="-120"/>
              </a:rPr>
              <a:t>          values: [us-east-1a]</a:t>
            </a:r>
            <a:endParaRPr lang="en-US" sz="1050" dirty="0"/>
          </a:p>
        </p:txBody>
      </p:sp>
      <p:sp>
        <p:nvSpPr>
          <p:cNvPr id="6" name="Text 4"/>
          <p:cNvSpPr/>
          <p:nvPr/>
        </p:nvSpPr>
        <p:spPr>
          <a:xfrm>
            <a:off x="640080" y="4581144"/>
            <a:ext cx="10881360" cy="1819656"/>
          </a:xfrm>
          <a:prstGeom prst="rect">
            <a:avLst/>
          </a:prstGeom>
          <a:noFill/>
          <a:ln/>
        </p:spPr>
        <p:txBody>
          <a:bodyPr wrap="square" lIns="0" tIns="0" rIns="0" bIns="0" rtlCol="0" anchor="t"/>
          <a:lstStyle/>
          <a:p>
            <a:pPr marL="342900" indent="-342900">
              <a:spcAft>
                <a:spcPts val="500"/>
              </a:spcAft>
              <a:buSzPct val="100000"/>
              <a:buChar char="•"/>
            </a:pPr>
            <a:r>
              <a:rPr lang="en-US" sz="1200" dirty="0">
                <a:solidFill>
                  <a:srgbClr val="1E293B"/>
                </a:solidFill>
                <a:latin typeface="Calibri" pitchFamily="34" charset="0"/>
                <a:ea typeface="Calibri" pitchFamily="34" charset="-122"/>
                <a:cs typeface="Calibri" pitchFamily="34" charset="-120"/>
              </a:rPr>
              <a:t>'Required' is a hard constraint — the Pod stays Pending if no node matches, exactly like nodeSelector but with richer operators (In, NotIn, Exists, DoesNotExist, Gt, Lt).</a:t>
            </a:r>
            <a:endParaRPr lang="en-US" sz="1200" dirty="0"/>
          </a:p>
          <a:p>
            <a:pPr marL="342900" indent="-342900">
              <a:spcAft>
                <a:spcPts val="500"/>
              </a:spcAft>
              <a:buSzPct val="100000"/>
              <a:buChar char="•"/>
            </a:pPr>
            <a:r>
              <a:rPr lang="en-US" sz="1200" dirty="0">
                <a:solidFill>
                  <a:srgbClr val="1E293B"/>
                </a:solidFill>
                <a:latin typeface="Calibri" pitchFamily="34" charset="0"/>
                <a:ea typeface="Calibri" pitchFamily="34" charset="-122"/>
                <a:cs typeface="Calibri" pitchFamily="34" charset="-120"/>
              </a:rPr>
              <a:t>'Preferred' is a soft constraint — the scheduler tries to honor it (weighted 1-100 against other preferences) but will still schedule the Pod elsewhere if it must.</a:t>
            </a:r>
            <a:endParaRPr lang="en-US" sz="1200" dirty="0"/>
          </a:p>
          <a:p>
            <a:pPr marL="342900" indent="-342900">
              <a:spcAft>
                <a:spcPts val="500"/>
              </a:spcAft>
              <a:buSzPct val="100000"/>
              <a:buChar char="•"/>
            </a:pPr>
            <a:r>
              <a:rPr lang="en-US" sz="1200" dirty="0">
                <a:solidFill>
                  <a:srgbClr val="1E293B"/>
                </a:solidFill>
                <a:latin typeface="Calibri" pitchFamily="34" charset="0"/>
                <a:ea typeface="Calibri" pitchFamily="34" charset="-122"/>
                <a:cs typeface="Calibri" pitchFamily="34" charset="-120"/>
              </a:rPr>
              <a:t>'IgnoredDuringExecution' in both names means: if node labels change AFTER the Pod is already running, the Pod is NOT evicted retroactively.</a:t>
            </a:r>
            <a:endParaRPr lang="en-US" sz="1200" dirty="0"/>
          </a:p>
        </p:txBody>
      </p:sp>
      <p:sp>
        <p:nvSpPr>
          <p:cNvPr id="7" name="Text 5"/>
          <p:cNvSpPr/>
          <p:nvPr/>
        </p:nvSpPr>
        <p:spPr>
          <a:xfrm>
            <a:off x="457200" y="6446520"/>
            <a:ext cx="6400800" cy="27432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CKA v1.36 · Module 2</a:t>
            </a:r>
            <a:endParaRPr lang="en-US" sz="900" dirty="0"/>
          </a:p>
        </p:txBody>
      </p:sp>
      <p:sp>
        <p:nvSpPr>
          <p:cNvPr id="8" name="Text 6"/>
          <p:cNvSpPr/>
          <p:nvPr/>
        </p:nvSpPr>
        <p:spPr>
          <a:xfrm>
            <a:off x="11247120" y="6446520"/>
            <a:ext cx="4572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64</a:t>
            </a:r>
            <a:endParaRPr lang="en-US" sz="900" dirty="0"/>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6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65760"/>
            <a:ext cx="9144000" cy="320040"/>
          </a:xfrm>
          <a:prstGeom prst="rect">
            <a:avLst/>
          </a:prstGeom>
          <a:noFill/>
          <a:ln/>
        </p:spPr>
        <p:txBody>
          <a:bodyPr wrap="square" lIns="0" tIns="0" rIns="0" bIns="0" rtlCol="0" anchor="ctr"/>
          <a:lstStyle/>
          <a:p>
            <a:pPr indent="0" marL="0">
              <a:buNone/>
            </a:pPr>
            <a:r>
              <a:rPr lang="en-US" sz="1150" b="1" spc="150" kern="0" dirty="0">
                <a:solidFill>
                  <a:srgbClr val="1C7293"/>
                </a:solidFill>
                <a:latin typeface="Calibri" pitchFamily="34" charset="0"/>
                <a:ea typeface="Calibri" pitchFamily="34" charset="-122"/>
                <a:cs typeface="Calibri" pitchFamily="34" charset="-120"/>
              </a:rPr>
              <a:t>ADMISSION &amp; SCHEDULING</a:t>
            </a:r>
            <a:endParaRPr lang="en-US" sz="1150" dirty="0"/>
          </a:p>
        </p:txBody>
      </p:sp>
      <p:sp>
        <p:nvSpPr>
          <p:cNvPr id="3" name="Text 1"/>
          <p:cNvSpPr/>
          <p:nvPr/>
        </p:nvSpPr>
        <p:spPr>
          <a:xfrm>
            <a:off x="640080" y="658368"/>
            <a:ext cx="10881360" cy="685800"/>
          </a:xfrm>
          <a:prstGeom prst="rect">
            <a:avLst/>
          </a:prstGeom>
          <a:noFill/>
          <a:ln/>
        </p:spPr>
        <p:txBody>
          <a:bodyPr wrap="square" lIns="0" tIns="0" rIns="0" bIns="0" rtlCol="0" anchor="ctr"/>
          <a:lstStyle/>
          <a:p>
            <a:pPr indent="0" marL="0">
              <a:buNone/>
            </a:pPr>
            <a:r>
              <a:rPr lang="en-US" sz="2600" b="1" dirty="0">
                <a:solidFill>
                  <a:srgbClr val="21295C"/>
                </a:solidFill>
                <a:latin typeface="Cambria" pitchFamily="34" charset="0"/>
                <a:ea typeface="Cambria" pitchFamily="34" charset="-122"/>
                <a:cs typeface="Cambria" pitchFamily="34" charset="-120"/>
              </a:rPr>
              <a:t>Taints &amp; Tolerations — The Inverse of Affinity</a:t>
            </a:r>
            <a:endParaRPr lang="en-US" sz="2600" dirty="0"/>
          </a:p>
        </p:txBody>
      </p:sp>
      <p:sp>
        <p:nvSpPr>
          <p:cNvPr id="4" name="Shape 2"/>
          <p:cNvSpPr/>
          <p:nvPr/>
        </p:nvSpPr>
        <p:spPr>
          <a:xfrm>
            <a:off x="640080" y="1371600"/>
            <a:ext cx="10881360" cy="0"/>
          </a:xfrm>
          <a:prstGeom prst="line">
            <a:avLst/>
          </a:prstGeom>
          <a:noFill/>
          <a:ln w="12700">
            <a:solidFill>
              <a:srgbClr val="D7E3E8"/>
            </a:solidFill>
            <a:prstDash val="solid"/>
          </a:ln>
        </p:spPr>
      </p:sp>
      <p:sp>
        <p:nvSpPr>
          <p:cNvPr id="5" name="Shape 3"/>
          <p:cNvSpPr/>
          <p:nvPr/>
        </p:nvSpPr>
        <p:spPr>
          <a:xfrm>
            <a:off x="11109960" y="411480"/>
            <a:ext cx="502920" cy="502920"/>
          </a:xfrm>
          <a:prstGeom prst="ellipse">
            <a:avLst/>
          </a:prstGeom>
          <a:solidFill>
            <a:srgbClr val="EAF4F8"/>
          </a:solidFill>
          <a:ln w="15875">
            <a:solidFill>
              <a:srgbClr val="1C7293"/>
            </a:solidFill>
            <a:prstDash val="solid"/>
          </a:ln>
        </p:spPr>
      </p:sp>
      <p:sp>
        <p:nvSpPr>
          <p:cNvPr id="6" name="Text 4"/>
          <p:cNvSpPr/>
          <p:nvPr/>
        </p:nvSpPr>
        <p:spPr>
          <a:xfrm>
            <a:off x="11109960" y="411480"/>
            <a:ext cx="502920" cy="502920"/>
          </a:xfrm>
          <a:prstGeom prst="rect">
            <a:avLst/>
          </a:prstGeom>
          <a:noFill/>
          <a:ln/>
        </p:spPr>
        <p:txBody>
          <a:bodyPr wrap="square" lIns="0" tIns="0" rIns="0" bIns="0" rtlCol="0" anchor="ctr"/>
          <a:lstStyle/>
          <a:p>
            <a:pPr algn="ctr" indent="0" marL="0">
              <a:buNone/>
            </a:pPr>
            <a:r>
              <a:rPr lang="en-US" sz="1600" b="1" dirty="0">
                <a:solidFill>
                  <a:srgbClr val="1C7293"/>
                </a:solidFill>
                <a:latin typeface="Calibri" pitchFamily="34" charset="0"/>
                <a:ea typeface="Calibri" pitchFamily="34" charset="-122"/>
                <a:cs typeface="Calibri" pitchFamily="34" charset="-120"/>
              </a:rPr>
              <a:t>20</a:t>
            </a:r>
            <a:endParaRPr lang="en-US" sz="1600" dirty="0"/>
          </a:p>
        </p:txBody>
      </p:sp>
      <p:sp>
        <p:nvSpPr>
          <p:cNvPr id="7" name="Text 5"/>
          <p:cNvSpPr/>
          <p:nvPr/>
        </p:nvSpPr>
        <p:spPr>
          <a:xfrm>
            <a:off x="640080" y="1600200"/>
            <a:ext cx="10881360" cy="4572000"/>
          </a:xfrm>
          <a:prstGeom prst="rect">
            <a:avLst/>
          </a:prstGeom>
          <a:noFill/>
          <a:ln/>
        </p:spPr>
        <p:txBody>
          <a:bodyPr wrap="square" lIns="0" tIns="0" rIns="0" bIns="0" rtlCol="0" anchor="t"/>
          <a:lstStyle/>
          <a:p>
            <a:pPr marL="342900" indent="-342900">
              <a:spcAft>
                <a:spcPts val="1200"/>
              </a:spcAft>
              <a:buSzPct val="100000"/>
              <a:buChar char="•"/>
            </a:pPr>
            <a:r>
              <a:rPr lang="en-US" sz="1550" dirty="0">
                <a:solidFill>
                  <a:srgbClr val="1E293B"/>
                </a:solidFill>
                <a:latin typeface="Calibri" pitchFamily="34" charset="0"/>
                <a:ea typeface="Calibri" pitchFamily="34" charset="-122"/>
                <a:cs typeface="Calibri" pitchFamily="34" charset="-120"/>
              </a:rPr>
              <a:t>A taint is applied to a NODE and repels Pods by default; a toleration is applied to a POD and allows (but does not force) scheduling onto a tainted node.</a:t>
            </a:r>
            <a:endParaRPr lang="en-US" sz="1550" dirty="0"/>
          </a:p>
          <a:p>
            <a:pPr marL="342900" indent="-342900">
              <a:spcAft>
                <a:spcPts val="1200"/>
              </a:spcAft>
              <a:buSzPct val="100000"/>
              <a:buChar char="•"/>
            </a:pPr>
            <a:r>
              <a:rPr lang="en-US" sz="1550" dirty="0">
                <a:solidFill>
                  <a:srgbClr val="1E293B"/>
                </a:solidFill>
                <a:latin typeface="Calibri" pitchFamily="34" charset="0"/>
                <a:ea typeface="Calibri" pitchFamily="34" charset="-122"/>
                <a:cs typeface="Calibri" pitchFamily="34" charset="-120"/>
              </a:rPr>
              <a:t>Taint effects: NoSchedule (new Pods won't be scheduled, existing ones stay), PreferNoSchedule (soft version of NoSchedule), NoExecute (new Pods won't be scheduled AND existing non-tolerating Pods are evicted).</a:t>
            </a:r>
            <a:endParaRPr lang="en-US" sz="1550" dirty="0"/>
          </a:p>
          <a:p>
            <a:pPr marL="342900" indent="-342900">
              <a:spcAft>
                <a:spcPts val="1200"/>
              </a:spcAft>
              <a:buSzPct val="100000"/>
              <a:buChar char="•"/>
            </a:pPr>
            <a:r>
              <a:rPr lang="en-US" sz="1550" dirty="0">
                <a:solidFill>
                  <a:srgbClr val="1E293B"/>
                </a:solidFill>
                <a:latin typeface="Calibri" pitchFamily="34" charset="0"/>
                <a:ea typeface="Calibri" pitchFamily="34" charset="-122"/>
                <a:cs typeface="Calibri" pitchFamily="34" charset="-120"/>
              </a:rPr>
              <a:t>Taints and tolerations control what CAN'T schedule somewhere; node affinity controls what a Pod WANTS scheduled somewhere — they are complementary, not interchangeable.</a:t>
            </a:r>
            <a:endParaRPr lang="en-US" sz="1550" dirty="0"/>
          </a:p>
          <a:p>
            <a:pPr marL="342900" indent="-342900">
              <a:spcAft>
                <a:spcPts val="1200"/>
              </a:spcAft>
              <a:buSzPct val="100000"/>
              <a:buChar char="•"/>
            </a:pPr>
            <a:r>
              <a:rPr lang="en-US" sz="1550" dirty="0">
                <a:solidFill>
                  <a:srgbClr val="1E293B"/>
                </a:solidFill>
                <a:latin typeface="Calibri" pitchFamily="34" charset="0"/>
                <a:ea typeface="Calibri" pitchFamily="34" charset="-122"/>
                <a:cs typeface="Calibri" pitchFamily="34" charset="-120"/>
              </a:rPr>
              <a:t>Control-plane nodes are tainted node-role.kubernetes.io/control-plane:NoSchedule by default in kubeadm clusters — this is why regular workloads don't land there automatically.</a:t>
            </a:r>
            <a:endParaRPr lang="en-US" sz="1550" dirty="0"/>
          </a:p>
        </p:txBody>
      </p:sp>
      <p:sp>
        <p:nvSpPr>
          <p:cNvPr id="8" name="Text 6"/>
          <p:cNvSpPr/>
          <p:nvPr/>
        </p:nvSpPr>
        <p:spPr>
          <a:xfrm>
            <a:off x="457200" y="6446520"/>
            <a:ext cx="6400800" cy="27432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CKA v1.36 · Module 2</a:t>
            </a:r>
            <a:endParaRPr lang="en-US" sz="900" dirty="0"/>
          </a:p>
        </p:txBody>
      </p:sp>
      <p:sp>
        <p:nvSpPr>
          <p:cNvPr id="9" name="Text 7"/>
          <p:cNvSpPr/>
          <p:nvPr/>
        </p:nvSpPr>
        <p:spPr>
          <a:xfrm>
            <a:off x="11247120" y="6446520"/>
            <a:ext cx="4572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65</a:t>
            </a:r>
            <a:endParaRPr lang="en-US" sz="900" dirty="0"/>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6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65760"/>
            <a:ext cx="9144000" cy="320040"/>
          </a:xfrm>
          <a:prstGeom prst="rect">
            <a:avLst/>
          </a:prstGeom>
          <a:noFill/>
          <a:ln/>
        </p:spPr>
        <p:txBody>
          <a:bodyPr wrap="square" lIns="0" tIns="0" rIns="0" bIns="0" rtlCol="0" anchor="ctr"/>
          <a:lstStyle/>
          <a:p>
            <a:pPr indent="0" marL="0">
              <a:buNone/>
            </a:pPr>
            <a:r>
              <a:rPr lang="en-US" sz="1150" b="1" spc="150" kern="0" dirty="0">
                <a:solidFill>
                  <a:srgbClr val="1C7293"/>
                </a:solidFill>
                <a:latin typeface="Calibri" pitchFamily="34" charset="0"/>
                <a:ea typeface="Calibri" pitchFamily="34" charset="-122"/>
                <a:cs typeface="Calibri" pitchFamily="34" charset="-120"/>
              </a:rPr>
              <a:t>ADMISSION &amp; SCHEDULING</a:t>
            </a:r>
            <a:endParaRPr lang="en-US" sz="1150" dirty="0"/>
          </a:p>
        </p:txBody>
      </p:sp>
      <p:sp>
        <p:nvSpPr>
          <p:cNvPr id="3" name="Text 1"/>
          <p:cNvSpPr/>
          <p:nvPr/>
        </p:nvSpPr>
        <p:spPr>
          <a:xfrm>
            <a:off x="640080" y="658368"/>
            <a:ext cx="10881360" cy="548640"/>
          </a:xfrm>
          <a:prstGeom prst="rect">
            <a:avLst/>
          </a:prstGeom>
          <a:noFill/>
          <a:ln/>
        </p:spPr>
        <p:txBody>
          <a:bodyPr wrap="square" lIns="0" tIns="0" rIns="0" bIns="0" rtlCol="0" anchor="ctr"/>
          <a:lstStyle/>
          <a:p>
            <a:pPr indent="0" marL="0">
              <a:buNone/>
            </a:pPr>
            <a:r>
              <a:rPr lang="en-US" sz="2400" b="1" dirty="0">
                <a:solidFill>
                  <a:srgbClr val="21295C"/>
                </a:solidFill>
                <a:latin typeface="Cambria" pitchFamily="34" charset="0"/>
                <a:ea typeface="Cambria" pitchFamily="34" charset="-122"/>
                <a:cs typeface="Cambria" pitchFamily="34" charset="-120"/>
              </a:rPr>
              <a:t>Applying Taints &amp; Matching Tolerations</a:t>
            </a:r>
            <a:endParaRPr lang="en-US" sz="2400" dirty="0"/>
          </a:p>
        </p:txBody>
      </p:sp>
      <p:sp>
        <p:nvSpPr>
          <p:cNvPr id="4" name="Shape 2"/>
          <p:cNvSpPr/>
          <p:nvPr/>
        </p:nvSpPr>
        <p:spPr>
          <a:xfrm>
            <a:off x="640080" y="1371600"/>
            <a:ext cx="10881360" cy="3529584"/>
          </a:xfrm>
          <a:prstGeom prst="roundRect">
            <a:avLst>
              <a:gd name="adj" fmla="val 1554"/>
            </a:avLst>
          </a:prstGeom>
          <a:solidFill>
            <a:srgbClr val="0B2330"/>
          </a:solidFill>
          <a:ln/>
          <a:effectLst>
            <a:outerShdw sx="100000" sy="100000" kx="0" ky="0" algn="bl" rotWithShape="0" blurRad="88900" dist="25400" dir="2700000">
              <a:srgbClr val="1B2A36">
                <a:alpha val="12000"/>
              </a:srgbClr>
            </a:outerShdw>
          </a:effectLst>
        </p:spPr>
      </p:sp>
      <p:sp>
        <p:nvSpPr>
          <p:cNvPr id="5" name="Text 3"/>
          <p:cNvSpPr/>
          <p:nvPr/>
        </p:nvSpPr>
        <p:spPr>
          <a:xfrm>
            <a:off x="868680" y="1536192"/>
            <a:ext cx="10424160" cy="3200400"/>
          </a:xfrm>
          <a:prstGeom prst="rect">
            <a:avLst/>
          </a:prstGeom>
          <a:noFill/>
          <a:ln/>
        </p:spPr>
        <p:txBody>
          <a:bodyPr wrap="square" lIns="0" tIns="0" rIns="0" bIns="0" rtlCol="0" anchor="t"/>
          <a:lstStyle/>
          <a:p>
            <a:pPr indent="0" marL="0">
              <a:buNone/>
            </a:pPr>
            <a:r>
              <a:rPr lang="en-US" sz="1350" dirty="0">
                <a:solidFill>
                  <a:srgbClr val="CFEFEA"/>
                </a:solidFill>
                <a:latin typeface="Courier New" pitchFamily="34" charset="0"/>
                <a:ea typeface="Courier New" pitchFamily="34" charset="-122"/>
                <a:cs typeface="Courier New" pitchFamily="34" charset="-120"/>
              </a:rPr>
              <a:t># Taint a node</a:t>
            </a:r>
            <a:endParaRPr lang="en-US" sz="1350" dirty="0"/>
          </a:p>
          <a:p>
            <a:pPr indent="0" marL="0">
              <a:buNone/>
            </a:pPr>
            <a:r>
              <a:rPr lang="en-US" sz="1350" dirty="0">
                <a:solidFill>
                  <a:srgbClr val="CFEFEA"/>
                </a:solidFill>
                <a:latin typeface="Courier New" pitchFamily="34" charset="0"/>
                <a:ea typeface="Courier New" pitchFamily="34" charset="-122"/>
                <a:cs typeface="Courier New" pitchFamily="34" charset="-120"/>
              </a:rPr>
              <a:t>kubectl taint node node-1 gpu=true:NoSchedule</a:t>
            </a:r>
            <a:endParaRPr lang="en-US" sz="1350" dirty="0"/>
          </a:p>
          <a:p>
            <a:pPr indent="0" marL="0">
              <a:buNone/>
            </a:pPr>
            <a:endParaRPr lang="en-US" sz="1350" dirty="0"/>
          </a:p>
          <a:p>
            <a:pPr indent="0" marL="0">
              <a:buNone/>
            </a:pPr>
            <a:r>
              <a:rPr lang="en-US" sz="1350" dirty="0">
                <a:solidFill>
                  <a:srgbClr val="CFEFEA"/>
                </a:solidFill>
                <a:latin typeface="Courier New" pitchFamily="34" charset="0"/>
                <a:ea typeface="Courier New" pitchFamily="34" charset="-122"/>
                <a:cs typeface="Courier New" pitchFamily="34" charset="-120"/>
              </a:rPr>
              <a:t># Pod spec toleration to match it:</a:t>
            </a:r>
            <a:endParaRPr lang="en-US" sz="1350" dirty="0"/>
          </a:p>
          <a:p>
            <a:pPr indent="0" marL="0">
              <a:buNone/>
            </a:pPr>
            <a:r>
              <a:rPr lang="en-US" sz="1350" dirty="0">
                <a:solidFill>
                  <a:srgbClr val="CFEFEA"/>
                </a:solidFill>
                <a:latin typeface="Courier New" pitchFamily="34" charset="0"/>
                <a:ea typeface="Courier New" pitchFamily="34" charset="-122"/>
                <a:cs typeface="Courier New" pitchFamily="34" charset="-120"/>
              </a:rPr>
              <a:t>tolerations:</a:t>
            </a:r>
            <a:endParaRPr lang="en-US" sz="1350" dirty="0"/>
          </a:p>
          <a:p>
            <a:pPr indent="0" marL="0">
              <a:buNone/>
            </a:pPr>
            <a:r>
              <a:rPr lang="en-US" sz="1350" dirty="0">
                <a:solidFill>
                  <a:srgbClr val="CFEFEA"/>
                </a:solidFill>
                <a:latin typeface="Courier New" pitchFamily="34" charset="0"/>
                <a:ea typeface="Courier New" pitchFamily="34" charset="-122"/>
                <a:cs typeface="Courier New" pitchFamily="34" charset="-120"/>
              </a:rPr>
              <a:t>- key: "gpu"</a:t>
            </a:r>
            <a:endParaRPr lang="en-US" sz="1350" dirty="0"/>
          </a:p>
          <a:p>
            <a:pPr indent="0" marL="0">
              <a:buNone/>
            </a:pPr>
            <a:r>
              <a:rPr lang="en-US" sz="1350" dirty="0">
                <a:solidFill>
                  <a:srgbClr val="CFEFEA"/>
                </a:solidFill>
                <a:latin typeface="Courier New" pitchFamily="34" charset="0"/>
                <a:ea typeface="Courier New" pitchFamily="34" charset="-122"/>
                <a:cs typeface="Courier New" pitchFamily="34" charset="-120"/>
              </a:rPr>
              <a:t>  operator: "Equal"</a:t>
            </a:r>
            <a:endParaRPr lang="en-US" sz="1350" dirty="0"/>
          </a:p>
          <a:p>
            <a:pPr indent="0" marL="0">
              <a:buNone/>
            </a:pPr>
            <a:r>
              <a:rPr lang="en-US" sz="1350" dirty="0">
                <a:solidFill>
                  <a:srgbClr val="CFEFEA"/>
                </a:solidFill>
                <a:latin typeface="Courier New" pitchFamily="34" charset="0"/>
                <a:ea typeface="Courier New" pitchFamily="34" charset="-122"/>
                <a:cs typeface="Courier New" pitchFamily="34" charset="-120"/>
              </a:rPr>
              <a:t>  value: "true"</a:t>
            </a:r>
            <a:endParaRPr lang="en-US" sz="1350" dirty="0"/>
          </a:p>
          <a:p>
            <a:pPr indent="0" marL="0">
              <a:buNone/>
            </a:pPr>
            <a:r>
              <a:rPr lang="en-US" sz="1350" dirty="0">
                <a:solidFill>
                  <a:srgbClr val="CFEFEA"/>
                </a:solidFill>
                <a:latin typeface="Courier New" pitchFamily="34" charset="0"/>
                <a:ea typeface="Courier New" pitchFamily="34" charset="-122"/>
                <a:cs typeface="Courier New" pitchFamily="34" charset="-120"/>
              </a:rPr>
              <a:t>  effect: "NoSchedule"</a:t>
            </a:r>
            <a:endParaRPr lang="en-US" sz="1350" dirty="0"/>
          </a:p>
          <a:p>
            <a:pPr indent="0" marL="0">
              <a:buNone/>
            </a:pPr>
            <a:endParaRPr lang="en-US" sz="1350" dirty="0"/>
          </a:p>
          <a:p>
            <a:pPr indent="0" marL="0">
              <a:buNone/>
            </a:pPr>
            <a:r>
              <a:rPr lang="en-US" sz="1350" dirty="0">
                <a:solidFill>
                  <a:srgbClr val="CFEFEA"/>
                </a:solidFill>
                <a:latin typeface="Courier New" pitchFamily="34" charset="0"/>
                <a:ea typeface="Courier New" pitchFamily="34" charset="-122"/>
                <a:cs typeface="Courier New" pitchFamily="34" charset="-120"/>
              </a:rPr>
              <a:t># Remove a taint (note the trailing dash)</a:t>
            </a:r>
            <a:endParaRPr lang="en-US" sz="1350" dirty="0"/>
          </a:p>
          <a:p>
            <a:pPr indent="0" marL="0">
              <a:buNone/>
            </a:pPr>
            <a:r>
              <a:rPr lang="en-US" sz="1350" dirty="0">
                <a:solidFill>
                  <a:srgbClr val="CFEFEA"/>
                </a:solidFill>
                <a:latin typeface="Courier New" pitchFamily="34" charset="0"/>
                <a:ea typeface="Courier New" pitchFamily="34" charset="-122"/>
                <a:cs typeface="Courier New" pitchFamily="34" charset="-120"/>
              </a:rPr>
              <a:t>kubectl taint node node-1 gpu=true:NoSchedule-</a:t>
            </a:r>
            <a:endParaRPr lang="en-US" sz="1350" dirty="0"/>
          </a:p>
        </p:txBody>
      </p:sp>
      <p:sp>
        <p:nvSpPr>
          <p:cNvPr id="6" name="Text 4"/>
          <p:cNvSpPr/>
          <p:nvPr/>
        </p:nvSpPr>
        <p:spPr>
          <a:xfrm>
            <a:off x="640080" y="5129784"/>
            <a:ext cx="10881360" cy="1271016"/>
          </a:xfrm>
          <a:prstGeom prst="rect">
            <a:avLst/>
          </a:prstGeom>
          <a:noFill/>
          <a:ln/>
        </p:spPr>
        <p:txBody>
          <a:bodyPr wrap="square" lIns="0" tIns="0" rIns="0" bIns="0" rtlCol="0" anchor="t"/>
          <a:lstStyle/>
          <a:p>
            <a:pPr marL="342900" indent="-342900">
              <a:spcAft>
                <a:spcPts val="500"/>
              </a:spcAft>
              <a:buSzPct val="100000"/>
              <a:buChar char="•"/>
            </a:pPr>
            <a:r>
              <a:rPr lang="en-US" sz="1200" dirty="0">
                <a:solidFill>
                  <a:srgbClr val="1E293B"/>
                </a:solidFill>
                <a:latin typeface="Calibri" pitchFamily="34" charset="0"/>
                <a:ea typeface="Calibri" pitchFamily="34" charset="-122"/>
                <a:cs typeface="Calibri" pitchFamily="34" charset="-120"/>
              </a:rPr>
              <a:t>A toleration only PERMITS scheduling onto a tainted node — it does not REQUIRE it. Combine with node affinity if the Pod must specifically land there.</a:t>
            </a:r>
            <a:endParaRPr lang="en-US" sz="1200" dirty="0"/>
          </a:p>
          <a:p>
            <a:pPr marL="342900" indent="-342900">
              <a:spcAft>
                <a:spcPts val="500"/>
              </a:spcAft>
              <a:buSzPct val="100000"/>
              <a:buChar char="•"/>
            </a:pPr>
            <a:r>
              <a:rPr lang="en-US" sz="1200" dirty="0">
                <a:solidFill>
                  <a:srgbClr val="1E293B"/>
                </a:solidFill>
                <a:latin typeface="Calibri" pitchFamily="34" charset="0"/>
                <a:ea typeface="Calibri" pitchFamily="34" charset="-122"/>
                <a:cs typeface="Calibri" pitchFamily="34" charset="-120"/>
              </a:rPr>
              <a:t>operator: Exists (with no 'value' field) tolerates a taint with that key regardless of its value — a common exam shortcut when the exact taint value isn't critical.</a:t>
            </a:r>
            <a:endParaRPr lang="en-US" sz="1200" dirty="0"/>
          </a:p>
        </p:txBody>
      </p:sp>
      <p:sp>
        <p:nvSpPr>
          <p:cNvPr id="7" name="Text 5"/>
          <p:cNvSpPr/>
          <p:nvPr/>
        </p:nvSpPr>
        <p:spPr>
          <a:xfrm>
            <a:off x="457200" y="6446520"/>
            <a:ext cx="6400800" cy="27432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CKA v1.36 · Module 2</a:t>
            </a:r>
            <a:endParaRPr lang="en-US" sz="900" dirty="0"/>
          </a:p>
        </p:txBody>
      </p:sp>
      <p:sp>
        <p:nvSpPr>
          <p:cNvPr id="8" name="Text 6"/>
          <p:cNvSpPr/>
          <p:nvPr/>
        </p:nvSpPr>
        <p:spPr>
          <a:xfrm>
            <a:off x="11247120" y="6446520"/>
            <a:ext cx="4572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66</a:t>
            </a:r>
            <a:endParaRPr lang="en-US" sz="900" dirty="0"/>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name="Slide 6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365760"/>
            <a:ext cx="2468880" cy="384048"/>
          </a:xfrm>
          <a:prstGeom prst="roundRect">
            <a:avLst>
              <a:gd name="adj" fmla="val 50000"/>
            </a:avLst>
          </a:prstGeom>
          <a:solidFill>
            <a:srgbClr val="21295C"/>
          </a:solidFill>
          <a:ln/>
        </p:spPr>
      </p:sp>
      <p:sp>
        <p:nvSpPr>
          <p:cNvPr id="3" name="Text 1"/>
          <p:cNvSpPr/>
          <p:nvPr/>
        </p:nvSpPr>
        <p:spPr>
          <a:xfrm>
            <a:off x="640080" y="365760"/>
            <a:ext cx="2468880" cy="384048"/>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EXAM PATTERN 10</a:t>
            </a:r>
            <a:endParaRPr lang="en-US" sz="1150" dirty="0"/>
          </a:p>
        </p:txBody>
      </p:sp>
      <p:sp>
        <p:nvSpPr>
          <p:cNvPr id="4" name="Text 2"/>
          <p:cNvSpPr/>
          <p:nvPr/>
        </p:nvSpPr>
        <p:spPr>
          <a:xfrm>
            <a:off x="3246120" y="365760"/>
            <a:ext cx="8229600" cy="384048"/>
          </a:xfrm>
          <a:prstGeom prst="rect">
            <a:avLst/>
          </a:prstGeom>
          <a:noFill/>
          <a:ln/>
        </p:spPr>
        <p:txBody>
          <a:bodyPr wrap="square" lIns="0" tIns="0" rIns="0" bIns="0" rtlCol="0" anchor="ctr"/>
          <a:lstStyle/>
          <a:p>
            <a:pPr indent="0" marL="0">
              <a:buNone/>
            </a:pPr>
            <a:r>
              <a:rPr lang="en-US" sz="1100" b="1" spc="120" kern="0" dirty="0">
                <a:solidFill>
                  <a:srgbClr val="1C7293"/>
                </a:solidFill>
                <a:latin typeface="Calibri" pitchFamily="34" charset="0"/>
                <a:ea typeface="Calibri" pitchFamily="34" charset="-122"/>
                <a:cs typeface="Calibri" pitchFamily="34" charset="-120"/>
              </a:rPr>
              <a:t>ADMISSION &amp; SCHEDULING</a:t>
            </a:r>
            <a:endParaRPr lang="en-US" sz="1100" dirty="0"/>
          </a:p>
        </p:txBody>
      </p:sp>
      <p:sp>
        <p:nvSpPr>
          <p:cNvPr id="5" name="Text 3"/>
          <p:cNvSpPr/>
          <p:nvPr/>
        </p:nvSpPr>
        <p:spPr>
          <a:xfrm>
            <a:off x="640080" y="841248"/>
            <a:ext cx="10881360" cy="502920"/>
          </a:xfrm>
          <a:prstGeom prst="rect">
            <a:avLst/>
          </a:prstGeom>
          <a:noFill/>
          <a:ln/>
        </p:spPr>
        <p:txBody>
          <a:bodyPr wrap="square" lIns="0" tIns="0" rIns="0" bIns="0" rtlCol="0" anchor="ctr"/>
          <a:lstStyle/>
          <a:p>
            <a:pPr indent="0" marL="0">
              <a:buNone/>
            </a:pPr>
            <a:r>
              <a:rPr lang="en-US" sz="2100" b="1" dirty="0">
                <a:solidFill>
                  <a:srgbClr val="21295C"/>
                </a:solidFill>
                <a:latin typeface="Cambria" pitchFamily="34" charset="0"/>
                <a:ea typeface="Cambria" pitchFamily="34" charset="-122"/>
                <a:cs typeface="Cambria" pitchFamily="34" charset="-120"/>
              </a:rPr>
              <a:t>Pod Stuck Pending Despite Apparently Available Capacity</a:t>
            </a:r>
            <a:endParaRPr lang="en-US" sz="2100" dirty="0"/>
          </a:p>
        </p:txBody>
      </p:sp>
      <p:sp>
        <p:nvSpPr>
          <p:cNvPr id="6" name="Shape 4"/>
          <p:cNvSpPr/>
          <p:nvPr/>
        </p:nvSpPr>
        <p:spPr>
          <a:xfrm>
            <a:off x="640080" y="1463040"/>
            <a:ext cx="10881360" cy="960120"/>
          </a:xfrm>
          <a:prstGeom prst="roundRect">
            <a:avLst>
              <a:gd name="adj" fmla="val 5714"/>
            </a:avLst>
          </a:prstGeom>
          <a:solidFill>
            <a:srgbClr val="EAF4F8"/>
          </a:solidFill>
          <a:ln/>
        </p:spPr>
      </p:sp>
      <p:sp>
        <p:nvSpPr>
          <p:cNvPr id="7" name="Text 5"/>
          <p:cNvSpPr/>
          <p:nvPr/>
        </p:nvSpPr>
        <p:spPr>
          <a:xfrm>
            <a:off x="868680" y="1554480"/>
            <a:ext cx="2743200" cy="274320"/>
          </a:xfrm>
          <a:prstGeom prst="rect">
            <a:avLst/>
          </a:prstGeom>
          <a:noFill/>
          <a:ln/>
        </p:spPr>
        <p:txBody>
          <a:bodyPr wrap="square" lIns="0" tIns="0" rIns="0" bIns="0" rtlCol="0" anchor="ctr"/>
          <a:lstStyle/>
          <a:p>
            <a:pPr indent="0" marL="0">
              <a:buNone/>
            </a:pPr>
            <a:r>
              <a:rPr lang="en-US" sz="1050" b="1" spc="100" kern="0" dirty="0">
                <a:solidFill>
                  <a:srgbClr val="1C7293"/>
                </a:solidFill>
                <a:latin typeface="Calibri" pitchFamily="34" charset="0"/>
                <a:ea typeface="Calibri" pitchFamily="34" charset="-122"/>
                <a:cs typeface="Calibri" pitchFamily="34" charset="-120"/>
              </a:rPr>
              <a:t>SYMPTOM / SCENARIO</a:t>
            </a:r>
            <a:endParaRPr lang="en-US" sz="1050" dirty="0"/>
          </a:p>
        </p:txBody>
      </p:sp>
      <p:sp>
        <p:nvSpPr>
          <p:cNvPr id="8" name="Text 6"/>
          <p:cNvSpPr/>
          <p:nvPr/>
        </p:nvSpPr>
        <p:spPr>
          <a:xfrm>
            <a:off x="868680" y="1810512"/>
            <a:ext cx="10424160" cy="548640"/>
          </a:xfrm>
          <a:prstGeom prst="rect">
            <a:avLst/>
          </a:prstGeom>
          <a:noFill/>
          <a:ln/>
        </p:spPr>
        <p:txBody>
          <a:bodyPr wrap="square" lIns="0" tIns="0" rIns="0" bIns="0" rtlCol="0" anchor="t"/>
          <a:lstStyle/>
          <a:p>
            <a:pPr indent="0" marL="0">
              <a:buNone/>
            </a:pPr>
            <a:r>
              <a:rPr lang="en-US" sz="1300" dirty="0">
                <a:solidFill>
                  <a:srgbClr val="1E293B"/>
                </a:solidFill>
                <a:latin typeface="Calibri" pitchFamily="34" charset="0"/>
                <a:ea typeface="Calibri" pitchFamily="34" charset="-122"/>
                <a:cs typeface="Calibri" pitchFamily="34" charset="-120"/>
              </a:rPr>
              <a:t>kubectl get pods shows a Pod stuck Pending. kubectl top nodes shows plenty of free CPU/memory across the cluster.</a:t>
            </a:r>
            <a:endParaRPr lang="en-US" sz="1300" dirty="0"/>
          </a:p>
        </p:txBody>
      </p:sp>
      <p:sp>
        <p:nvSpPr>
          <p:cNvPr id="9" name="Shape 7"/>
          <p:cNvSpPr/>
          <p:nvPr/>
        </p:nvSpPr>
        <p:spPr>
          <a:xfrm>
            <a:off x="640080" y="2587752"/>
            <a:ext cx="10881360" cy="914400"/>
          </a:xfrm>
          <a:prstGeom prst="roundRect">
            <a:avLst>
              <a:gd name="adj" fmla="val 6000"/>
            </a:avLst>
          </a:prstGeom>
          <a:solidFill>
            <a:srgbClr val="FBF3E3"/>
          </a:solidFill>
          <a:ln/>
        </p:spPr>
      </p:sp>
      <p:sp>
        <p:nvSpPr>
          <p:cNvPr id="10" name="Text 8"/>
          <p:cNvSpPr/>
          <p:nvPr/>
        </p:nvSpPr>
        <p:spPr>
          <a:xfrm>
            <a:off x="868680" y="2679192"/>
            <a:ext cx="2743200" cy="274320"/>
          </a:xfrm>
          <a:prstGeom prst="rect">
            <a:avLst/>
          </a:prstGeom>
          <a:noFill/>
          <a:ln/>
        </p:spPr>
        <p:txBody>
          <a:bodyPr wrap="square" lIns="0" tIns="0" rIns="0" bIns="0" rtlCol="0" anchor="ctr"/>
          <a:lstStyle/>
          <a:p>
            <a:pPr indent="0" marL="0">
              <a:buNone/>
            </a:pPr>
            <a:r>
              <a:rPr lang="en-US" sz="1050" b="1" spc="100" kern="0" dirty="0">
                <a:solidFill>
                  <a:srgbClr val="B7791F"/>
                </a:solidFill>
                <a:latin typeface="Calibri" pitchFamily="34" charset="0"/>
                <a:ea typeface="Calibri" pitchFamily="34" charset="-122"/>
                <a:cs typeface="Calibri" pitchFamily="34" charset="-120"/>
              </a:rPr>
              <a:t>ROOT CAUSE</a:t>
            </a:r>
            <a:endParaRPr lang="en-US" sz="1050" dirty="0"/>
          </a:p>
        </p:txBody>
      </p:sp>
      <p:sp>
        <p:nvSpPr>
          <p:cNvPr id="11" name="Text 9"/>
          <p:cNvSpPr/>
          <p:nvPr/>
        </p:nvSpPr>
        <p:spPr>
          <a:xfrm>
            <a:off x="868680" y="2935224"/>
            <a:ext cx="10424160" cy="502920"/>
          </a:xfrm>
          <a:prstGeom prst="rect">
            <a:avLst/>
          </a:prstGeom>
          <a:noFill/>
          <a:ln/>
        </p:spPr>
        <p:txBody>
          <a:bodyPr wrap="square" lIns="0" tIns="0" rIns="0" bIns="0" rtlCol="0" anchor="t"/>
          <a:lstStyle/>
          <a:p>
            <a:pPr indent="0" marL="0">
              <a:buNone/>
            </a:pPr>
            <a:r>
              <a:rPr lang="en-US" sz="1300" dirty="0">
                <a:solidFill>
                  <a:srgbClr val="1E293B"/>
                </a:solidFill>
                <a:latin typeface="Calibri" pitchFamily="34" charset="0"/>
                <a:ea typeface="Calibri" pitchFamily="34" charset="-122"/>
                <a:cs typeface="Calibri" pitchFamily="34" charset="-120"/>
              </a:rPr>
              <a:t>Free capacity alone doesn't guarantee schedulability. The most common causes: an unmatched nodeAffinity/nodeSelector, a node taint with no matching Pod toleration, or a PodDisruptionBudget/anti-affinity rule preventing placement.</a:t>
            </a:r>
            <a:endParaRPr lang="en-US" sz="1300" dirty="0"/>
          </a:p>
        </p:txBody>
      </p:sp>
      <p:sp>
        <p:nvSpPr>
          <p:cNvPr id="12" name="Shape 10"/>
          <p:cNvSpPr/>
          <p:nvPr/>
        </p:nvSpPr>
        <p:spPr>
          <a:xfrm>
            <a:off x="640080" y="3666744"/>
            <a:ext cx="10881360" cy="1417320"/>
          </a:xfrm>
          <a:prstGeom prst="roundRect">
            <a:avLst>
              <a:gd name="adj" fmla="val 3871"/>
            </a:avLst>
          </a:prstGeom>
          <a:solidFill>
            <a:srgbClr val="E7F5EC"/>
          </a:solidFill>
          <a:ln/>
        </p:spPr>
      </p:sp>
      <p:sp>
        <p:nvSpPr>
          <p:cNvPr id="13" name="Text 11"/>
          <p:cNvSpPr/>
          <p:nvPr/>
        </p:nvSpPr>
        <p:spPr>
          <a:xfrm>
            <a:off x="868680" y="3758184"/>
            <a:ext cx="2743200" cy="274320"/>
          </a:xfrm>
          <a:prstGeom prst="rect">
            <a:avLst/>
          </a:prstGeom>
          <a:noFill/>
          <a:ln/>
        </p:spPr>
        <p:txBody>
          <a:bodyPr wrap="square" lIns="0" tIns="0" rIns="0" bIns="0" rtlCol="0" anchor="ctr"/>
          <a:lstStyle/>
          <a:p>
            <a:pPr indent="0" marL="0">
              <a:buNone/>
            </a:pPr>
            <a:r>
              <a:rPr lang="en-US" sz="1050" b="1" spc="100" kern="0" dirty="0">
                <a:solidFill>
                  <a:srgbClr val="15803D"/>
                </a:solidFill>
                <a:latin typeface="Calibri" pitchFamily="34" charset="0"/>
                <a:ea typeface="Calibri" pitchFamily="34" charset="-122"/>
                <a:cs typeface="Calibri" pitchFamily="34" charset="-120"/>
              </a:rPr>
              <a:t>THE FIX</a:t>
            </a:r>
            <a:endParaRPr lang="en-US" sz="1050" dirty="0"/>
          </a:p>
        </p:txBody>
      </p:sp>
      <p:sp>
        <p:nvSpPr>
          <p:cNvPr id="14" name="Text 12"/>
          <p:cNvSpPr/>
          <p:nvPr/>
        </p:nvSpPr>
        <p:spPr>
          <a:xfrm>
            <a:off x="868680" y="4014216"/>
            <a:ext cx="10424160" cy="365760"/>
          </a:xfrm>
          <a:prstGeom prst="rect">
            <a:avLst/>
          </a:prstGeom>
          <a:noFill/>
          <a:ln/>
        </p:spPr>
        <p:txBody>
          <a:bodyPr wrap="square" lIns="0" tIns="0" rIns="0" bIns="0" rtlCol="0" anchor="t"/>
          <a:lstStyle/>
          <a:p>
            <a:pPr indent="0" marL="0">
              <a:buNone/>
            </a:pPr>
            <a:r>
              <a:rPr lang="en-US" sz="1300" dirty="0">
                <a:solidFill>
                  <a:srgbClr val="1E293B"/>
                </a:solidFill>
                <a:latin typeface="Calibri" pitchFamily="34" charset="0"/>
                <a:ea typeface="Calibri" pitchFamily="34" charset="-122"/>
                <a:cs typeface="Calibri" pitchFamily="34" charset="-120"/>
              </a:rPr>
              <a:t>kubectl describe pod always states the exact reason in its Events section under FailedScheduling — read it before guessing.</a:t>
            </a:r>
            <a:endParaRPr lang="en-US" sz="1300" dirty="0"/>
          </a:p>
        </p:txBody>
      </p:sp>
      <p:sp>
        <p:nvSpPr>
          <p:cNvPr id="15" name="Shape 13"/>
          <p:cNvSpPr/>
          <p:nvPr/>
        </p:nvSpPr>
        <p:spPr>
          <a:xfrm>
            <a:off x="868680" y="4379976"/>
            <a:ext cx="10424160" cy="594360"/>
          </a:xfrm>
          <a:prstGeom prst="roundRect">
            <a:avLst>
              <a:gd name="adj" fmla="val 7692"/>
            </a:avLst>
          </a:prstGeom>
          <a:solidFill>
            <a:srgbClr val="0B2330"/>
          </a:solidFill>
          <a:ln/>
        </p:spPr>
      </p:sp>
      <p:sp>
        <p:nvSpPr>
          <p:cNvPr id="16" name="Text 14"/>
          <p:cNvSpPr/>
          <p:nvPr/>
        </p:nvSpPr>
        <p:spPr>
          <a:xfrm>
            <a:off x="1005840" y="4453128"/>
            <a:ext cx="10149840" cy="457200"/>
          </a:xfrm>
          <a:prstGeom prst="rect">
            <a:avLst/>
          </a:prstGeom>
          <a:noFill/>
          <a:ln/>
        </p:spPr>
        <p:txBody>
          <a:bodyPr wrap="square" lIns="0" tIns="0" rIns="0" bIns="0" rtlCol="0" anchor="t"/>
          <a:lstStyle/>
          <a:p>
            <a:pPr indent="0" marL="0">
              <a:buNone/>
            </a:pPr>
            <a:r>
              <a:rPr lang="en-US" sz="1200" dirty="0">
                <a:solidFill>
                  <a:srgbClr val="CFEFEA"/>
                </a:solidFill>
                <a:latin typeface="Courier New" pitchFamily="34" charset="0"/>
                <a:ea typeface="Courier New" pitchFamily="34" charset="-122"/>
                <a:cs typeface="Courier New" pitchFamily="34" charset="-120"/>
              </a:rPr>
              <a:t>kubectl describe pod &lt;pod&gt; | grep -A10 Events</a:t>
            </a:r>
            <a:endParaRPr lang="en-US" sz="1200" dirty="0"/>
          </a:p>
          <a:p>
            <a:pPr indent="0" marL="0">
              <a:buNone/>
            </a:pPr>
            <a:r>
              <a:rPr lang="en-US" sz="1200" dirty="0">
                <a:solidFill>
                  <a:srgbClr val="CFEFEA"/>
                </a:solidFill>
                <a:latin typeface="Courier New" pitchFamily="34" charset="0"/>
                <a:ea typeface="Courier New" pitchFamily="34" charset="-122"/>
                <a:cs typeface="Courier New" pitchFamily="34" charset="-120"/>
              </a:rPr>
              <a:t>kubectl get nodes -o custom-columns=NAME:.metadata.name,TAINTS:.spec.taints</a:t>
            </a:r>
            <a:endParaRPr lang="en-US" sz="1200" dirty="0"/>
          </a:p>
        </p:txBody>
      </p:sp>
      <p:sp>
        <p:nvSpPr>
          <p:cNvPr id="17" name="Text 15"/>
          <p:cNvSpPr/>
          <p:nvPr/>
        </p:nvSpPr>
        <p:spPr>
          <a:xfrm>
            <a:off x="457200" y="6446520"/>
            <a:ext cx="6400800" cy="27432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CKA v1.36 · Module 2</a:t>
            </a:r>
            <a:endParaRPr lang="en-US" sz="900" dirty="0"/>
          </a:p>
        </p:txBody>
      </p:sp>
      <p:sp>
        <p:nvSpPr>
          <p:cNvPr id="18" name="Text 16"/>
          <p:cNvSpPr/>
          <p:nvPr/>
        </p:nvSpPr>
        <p:spPr>
          <a:xfrm>
            <a:off x="11247120" y="6446520"/>
            <a:ext cx="4572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67</a:t>
            </a:r>
            <a:endParaRPr lang="en-US" sz="900" dirty="0"/>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name="Slide 6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65760"/>
            <a:ext cx="9144000" cy="320040"/>
          </a:xfrm>
          <a:prstGeom prst="rect">
            <a:avLst/>
          </a:prstGeom>
          <a:noFill/>
          <a:ln/>
        </p:spPr>
        <p:txBody>
          <a:bodyPr wrap="square" lIns="0" tIns="0" rIns="0" bIns="0" rtlCol="0" anchor="ctr"/>
          <a:lstStyle/>
          <a:p>
            <a:pPr indent="0" marL="0">
              <a:buNone/>
            </a:pPr>
            <a:r>
              <a:rPr lang="en-US" sz="1150" b="1" spc="150" kern="0" dirty="0">
                <a:solidFill>
                  <a:srgbClr val="1C7293"/>
                </a:solidFill>
                <a:latin typeface="Calibri" pitchFamily="34" charset="0"/>
                <a:ea typeface="Calibri" pitchFamily="34" charset="-122"/>
                <a:cs typeface="Calibri" pitchFamily="34" charset="-120"/>
              </a:rPr>
              <a:t>ADMISSION &amp; SCHEDULING</a:t>
            </a:r>
            <a:endParaRPr lang="en-US" sz="1150" dirty="0"/>
          </a:p>
        </p:txBody>
      </p:sp>
      <p:sp>
        <p:nvSpPr>
          <p:cNvPr id="3" name="Text 1"/>
          <p:cNvSpPr/>
          <p:nvPr/>
        </p:nvSpPr>
        <p:spPr>
          <a:xfrm>
            <a:off x="640080" y="658368"/>
            <a:ext cx="10881360" cy="685800"/>
          </a:xfrm>
          <a:prstGeom prst="rect">
            <a:avLst/>
          </a:prstGeom>
          <a:noFill/>
          <a:ln/>
        </p:spPr>
        <p:txBody>
          <a:bodyPr wrap="square" lIns="0" tIns="0" rIns="0" bIns="0" rtlCol="0" anchor="ctr"/>
          <a:lstStyle/>
          <a:p>
            <a:pPr indent="0" marL="0">
              <a:buNone/>
            </a:pPr>
            <a:r>
              <a:rPr lang="en-US" sz="2600" b="1" dirty="0">
                <a:solidFill>
                  <a:srgbClr val="21295C"/>
                </a:solidFill>
                <a:latin typeface="Cambria" pitchFamily="34" charset="0"/>
                <a:ea typeface="Cambria" pitchFamily="34" charset="-122"/>
                <a:cs typeface="Cambria" pitchFamily="34" charset="-120"/>
              </a:rPr>
              <a:t>Module 2 — Scheduling Quick Reference</a:t>
            </a:r>
            <a:endParaRPr lang="en-US" sz="2600" dirty="0"/>
          </a:p>
        </p:txBody>
      </p:sp>
      <p:sp>
        <p:nvSpPr>
          <p:cNvPr id="4" name="Shape 2"/>
          <p:cNvSpPr/>
          <p:nvPr/>
        </p:nvSpPr>
        <p:spPr>
          <a:xfrm>
            <a:off x="640080" y="1371600"/>
            <a:ext cx="10881360" cy="0"/>
          </a:xfrm>
          <a:prstGeom prst="line">
            <a:avLst/>
          </a:prstGeom>
          <a:noFill/>
          <a:ln w="12700">
            <a:solidFill>
              <a:srgbClr val="D7E3E8"/>
            </a:solidFill>
            <a:prstDash val="solid"/>
          </a:ln>
        </p:spPr>
      </p:sp>
      <p:sp>
        <p:nvSpPr>
          <p:cNvPr id="5" name="Shape 3"/>
          <p:cNvSpPr/>
          <p:nvPr/>
        </p:nvSpPr>
        <p:spPr>
          <a:xfrm>
            <a:off x="11109960" y="411480"/>
            <a:ext cx="502920" cy="502920"/>
          </a:xfrm>
          <a:prstGeom prst="ellipse">
            <a:avLst/>
          </a:prstGeom>
          <a:solidFill>
            <a:srgbClr val="EAF4F8"/>
          </a:solidFill>
          <a:ln w="15875">
            <a:solidFill>
              <a:srgbClr val="1C7293"/>
            </a:solidFill>
            <a:prstDash val="solid"/>
          </a:ln>
        </p:spPr>
      </p:sp>
      <p:sp>
        <p:nvSpPr>
          <p:cNvPr id="6" name="Text 4"/>
          <p:cNvSpPr/>
          <p:nvPr/>
        </p:nvSpPr>
        <p:spPr>
          <a:xfrm>
            <a:off x="11109960" y="411480"/>
            <a:ext cx="502920" cy="502920"/>
          </a:xfrm>
          <a:prstGeom prst="rect">
            <a:avLst/>
          </a:prstGeom>
          <a:noFill/>
          <a:ln/>
        </p:spPr>
        <p:txBody>
          <a:bodyPr wrap="square" lIns="0" tIns="0" rIns="0" bIns="0" rtlCol="0" anchor="ctr"/>
          <a:lstStyle/>
          <a:p>
            <a:pPr algn="ctr" indent="0" marL="0">
              <a:buNone/>
            </a:pPr>
            <a:r>
              <a:rPr lang="en-US" sz="1600" b="1" dirty="0">
                <a:solidFill>
                  <a:srgbClr val="1C7293"/>
                </a:solidFill>
                <a:latin typeface="Calibri" pitchFamily="34" charset="0"/>
                <a:ea typeface="Calibri" pitchFamily="34" charset="-122"/>
                <a:cs typeface="Calibri" pitchFamily="34" charset="-120"/>
              </a:rPr>
              <a:t>✓</a:t>
            </a:r>
            <a:endParaRPr lang="en-US" sz="1600" dirty="0"/>
          </a:p>
        </p:txBody>
      </p:sp>
      <p:sp>
        <p:nvSpPr>
          <p:cNvPr id="7" name="Text 5"/>
          <p:cNvSpPr/>
          <p:nvPr/>
        </p:nvSpPr>
        <p:spPr>
          <a:xfrm>
            <a:off x="640080" y="1600200"/>
            <a:ext cx="10881360" cy="4572000"/>
          </a:xfrm>
          <a:prstGeom prst="rect">
            <a:avLst/>
          </a:prstGeom>
          <a:noFill/>
          <a:ln/>
        </p:spPr>
        <p:txBody>
          <a:bodyPr wrap="square" lIns="0" tIns="0" rIns="0" bIns="0" rtlCol="0" anchor="t"/>
          <a:lstStyle/>
          <a:p>
            <a:pPr marL="342900" indent="-342900">
              <a:spcAft>
                <a:spcPts val="1200"/>
              </a:spcAft>
              <a:buSzPct val="100000"/>
              <a:buChar char="•"/>
            </a:pPr>
            <a:r>
              <a:rPr lang="en-US" sz="1550" dirty="0">
                <a:solidFill>
                  <a:srgbClr val="1E293B"/>
                </a:solidFill>
                <a:latin typeface="Calibri" pitchFamily="34" charset="0"/>
                <a:ea typeface="Calibri" pitchFamily="34" charset="-122"/>
                <a:cs typeface="Calibri" pitchFamily="34" charset="-120"/>
              </a:rPr>
              <a:t>Pod rejected immediately, never even scheduled → admission-time issue: check LimitRange/ResourceQuota and RBAC first.</a:t>
            </a:r>
            <a:endParaRPr lang="en-US" sz="1550" dirty="0"/>
          </a:p>
          <a:p>
            <a:pPr marL="342900" indent="-342900">
              <a:spcAft>
                <a:spcPts val="1200"/>
              </a:spcAft>
              <a:buSzPct val="100000"/>
              <a:buChar char="•"/>
            </a:pPr>
            <a:r>
              <a:rPr lang="en-US" sz="1550" dirty="0">
                <a:solidFill>
                  <a:srgbClr val="1E293B"/>
                </a:solidFill>
                <a:latin typeface="Calibri" pitchFamily="34" charset="0"/>
                <a:ea typeface="Calibri" pitchFamily="34" charset="-122"/>
                <a:cs typeface="Calibri" pitchFamily="34" charset="-120"/>
              </a:rPr>
              <a:t>Pod accepted but stuck Pending → scheduling-time issue: check nodeSelector/nodeAffinity, taints/tolerations, and raw resource capacity, in that order.</a:t>
            </a:r>
            <a:endParaRPr lang="en-US" sz="1550" dirty="0"/>
          </a:p>
          <a:p>
            <a:pPr marL="342900" indent="-342900">
              <a:spcAft>
                <a:spcPts val="1200"/>
              </a:spcAft>
              <a:buSzPct val="100000"/>
              <a:buChar char="•"/>
            </a:pPr>
            <a:r>
              <a:rPr lang="en-US" sz="1550" dirty="0">
                <a:solidFill>
                  <a:srgbClr val="1E293B"/>
                </a:solidFill>
                <a:latin typeface="Calibri" pitchFamily="34" charset="0"/>
                <a:ea typeface="Calibri" pitchFamily="34" charset="-122"/>
                <a:cs typeface="Calibri" pitchFamily="34" charset="-120"/>
              </a:rPr>
              <a:t>Need an absolute placement rule → nodeSelector (simple) or required nodeAffinity (expressive).</a:t>
            </a:r>
            <a:endParaRPr lang="en-US" sz="1550" dirty="0"/>
          </a:p>
          <a:p>
            <a:pPr marL="342900" indent="-342900">
              <a:spcAft>
                <a:spcPts val="1200"/>
              </a:spcAft>
              <a:buSzPct val="100000"/>
              <a:buChar char="•"/>
            </a:pPr>
            <a:r>
              <a:rPr lang="en-US" sz="1550" dirty="0">
                <a:solidFill>
                  <a:srgbClr val="1E293B"/>
                </a:solidFill>
                <a:latin typeface="Calibri" pitchFamily="34" charset="0"/>
                <a:ea typeface="Calibri" pitchFamily="34" charset="-122"/>
                <a:cs typeface="Calibri" pitchFamily="34" charset="-120"/>
              </a:rPr>
              <a:t>Need a soft placement preference → preferred nodeAffinity.</a:t>
            </a:r>
            <a:endParaRPr lang="en-US" sz="1550" dirty="0"/>
          </a:p>
          <a:p>
            <a:pPr marL="342900" indent="-342900">
              <a:spcAft>
                <a:spcPts val="1200"/>
              </a:spcAft>
              <a:buSzPct val="100000"/>
              <a:buChar char="•"/>
            </a:pPr>
            <a:r>
              <a:rPr lang="en-US" sz="1550" dirty="0">
                <a:solidFill>
                  <a:srgbClr val="1E293B"/>
                </a:solidFill>
                <a:latin typeface="Calibri" pitchFamily="34" charset="0"/>
                <a:ea typeface="Calibri" pitchFamily="34" charset="-122"/>
                <a:cs typeface="Calibri" pitchFamily="34" charset="-120"/>
              </a:rPr>
              <a:t>Need to repel Pods from specific nodes by default → taints, matched by tolerations on the Pods that should be allowed.</a:t>
            </a:r>
            <a:endParaRPr lang="en-US" sz="1550" dirty="0"/>
          </a:p>
        </p:txBody>
      </p:sp>
      <p:sp>
        <p:nvSpPr>
          <p:cNvPr id="8" name="Text 6"/>
          <p:cNvSpPr/>
          <p:nvPr/>
        </p:nvSpPr>
        <p:spPr>
          <a:xfrm>
            <a:off x="457200" y="6446520"/>
            <a:ext cx="6400800" cy="27432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CKA v1.36 · Module 2</a:t>
            </a:r>
            <a:endParaRPr lang="en-US" sz="900" dirty="0"/>
          </a:p>
        </p:txBody>
      </p:sp>
      <p:sp>
        <p:nvSpPr>
          <p:cNvPr id="9" name="Text 7"/>
          <p:cNvSpPr/>
          <p:nvPr/>
        </p:nvSpPr>
        <p:spPr>
          <a:xfrm>
            <a:off x="11247120" y="6446520"/>
            <a:ext cx="4572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68</a:t>
            </a:r>
            <a:endParaRPr lang="en-US" sz="900" dirty="0"/>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name="Slide 69">
    <p:bg>
      <p:bgPr>
        <a:solidFill>
          <a:srgbClr val="21295C"/>
        </a:solidFill>
      </p:bgPr>
    </p:bg>
    <p:spTree>
      <p:nvGrpSpPr>
        <p:cNvPr id="1" name=""/>
        <p:cNvGrpSpPr/>
        <p:nvPr/>
      </p:nvGrpSpPr>
      <p:grpSpPr>
        <a:xfrm>
          <a:off x="0" y="0"/>
          <a:ext cx="0" cy="0"/>
          <a:chOff x="0" y="0"/>
          <a:chExt cx="0" cy="0"/>
        </a:xfrm>
      </p:grpSpPr>
      <p:sp>
        <p:nvSpPr>
          <p:cNvPr id="2" name="Shape 0"/>
          <p:cNvSpPr/>
          <p:nvPr/>
        </p:nvSpPr>
        <p:spPr>
          <a:xfrm>
            <a:off x="8778240" y="3291840"/>
            <a:ext cx="5029200" cy="5029200"/>
          </a:xfrm>
          <a:prstGeom prst="ellipse">
            <a:avLst/>
          </a:prstGeom>
          <a:solidFill>
            <a:srgbClr val="065A82">
              <a:alpha val="40000"/>
            </a:srgbClr>
          </a:solidFill>
          <a:ln/>
        </p:spPr>
      </p:sp>
      <p:sp>
        <p:nvSpPr>
          <p:cNvPr id="3" name="Shape 1"/>
          <p:cNvSpPr/>
          <p:nvPr/>
        </p:nvSpPr>
        <p:spPr>
          <a:xfrm>
            <a:off x="822960" y="1828800"/>
            <a:ext cx="1371600" cy="1371600"/>
          </a:xfrm>
          <a:prstGeom prst="roundRect">
            <a:avLst>
              <a:gd name="adj" fmla="val 12000"/>
            </a:avLst>
          </a:prstGeom>
          <a:solidFill>
            <a:srgbClr val="1C7293"/>
          </a:solidFill>
          <a:ln/>
          <a:effectLst>
            <a:outerShdw sx="100000" sy="100000" kx="0" ky="0" algn="bl" rotWithShape="0" blurRad="88900" dist="25400" dir="2700000">
              <a:srgbClr val="1B2A36">
                <a:alpha val="12000"/>
              </a:srgbClr>
            </a:outerShdw>
          </a:effectLst>
        </p:spPr>
      </p:sp>
      <p:sp>
        <p:nvSpPr>
          <p:cNvPr id="4" name="Text 2"/>
          <p:cNvSpPr/>
          <p:nvPr/>
        </p:nvSpPr>
        <p:spPr>
          <a:xfrm>
            <a:off x="822960" y="1828800"/>
            <a:ext cx="1371600" cy="1371600"/>
          </a:xfrm>
          <a:prstGeom prst="rect">
            <a:avLst/>
          </a:prstGeom>
          <a:noFill/>
          <a:ln/>
        </p:spPr>
        <p:txBody>
          <a:bodyPr wrap="square" lIns="0" tIns="0" rIns="0" bIns="0" rtlCol="0" anchor="ctr"/>
          <a:lstStyle/>
          <a:p>
            <a:pPr algn="ctr" indent="0" marL="0">
              <a:buNone/>
            </a:pPr>
            <a:r>
              <a:rPr lang="en-US" sz="4000" b="1" dirty="0">
                <a:solidFill>
                  <a:srgbClr val="FFFFFF"/>
                </a:solidFill>
                <a:latin typeface="Cambria" pitchFamily="34" charset="0"/>
                <a:ea typeface="Cambria" pitchFamily="34" charset="-122"/>
                <a:cs typeface="Cambria" pitchFamily="34" charset="-120"/>
              </a:rPr>
              <a:t>Q</a:t>
            </a:r>
            <a:endParaRPr lang="en-US" sz="4000" dirty="0"/>
          </a:p>
        </p:txBody>
      </p:sp>
      <p:sp>
        <p:nvSpPr>
          <p:cNvPr id="5" name="Text 3"/>
          <p:cNvSpPr/>
          <p:nvPr/>
        </p:nvSpPr>
        <p:spPr>
          <a:xfrm>
            <a:off x="2468880" y="1828800"/>
            <a:ext cx="8961120" cy="100584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Sample Certification-Style Questions</a:t>
            </a:r>
            <a:endParaRPr lang="en-US" sz="3200" dirty="0"/>
          </a:p>
        </p:txBody>
      </p:sp>
      <p:sp>
        <p:nvSpPr>
          <p:cNvPr id="6" name="Text 4"/>
          <p:cNvSpPr/>
          <p:nvPr/>
        </p:nvSpPr>
        <p:spPr>
          <a:xfrm>
            <a:off x="2468880" y="2788920"/>
            <a:ext cx="8961120" cy="640080"/>
          </a:xfrm>
          <a:prstGeom prst="rect">
            <a:avLst/>
          </a:prstGeom>
          <a:noFill/>
          <a:ln/>
        </p:spPr>
        <p:txBody>
          <a:bodyPr wrap="square" lIns="0" tIns="0" rIns="0" bIns="0" rtlCol="0" anchor="ctr"/>
          <a:lstStyle/>
          <a:p>
            <a:pPr indent="0" marL="0">
              <a:buNone/>
            </a:pPr>
            <a:r>
              <a:rPr lang="en-US" sz="1600" dirty="0">
                <a:solidFill>
                  <a:srgbClr val="C9E4ED"/>
                </a:solidFill>
                <a:latin typeface="Calibri" pitchFamily="34" charset="0"/>
                <a:ea typeface="Calibri" pitchFamily="34" charset="-122"/>
                <a:cs typeface="Calibri" pitchFamily="34" charset="-120"/>
              </a:rPr>
              <a:t>Study aids modeled on real CKA performance-task themes</a:t>
            </a:r>
            <a:endParaRPr lang="en-US" sz="1600" dirty="0"/>
          </a:p>
        </p:txBody>
      </p:sp>
      <p:sp>
        <p:nvSpPr>
          <p:cNvPr id="7" name="Shape 5"/>
          <p:cNvSpPr/>
          <p:nvPr/>
        </p:nvSpPr>
        <p:spPr>
          <a:xfrm>
            <a:off x="2468880" y="3429000"/>
            <a:ext cx="8961120" cy="548640"/>
          </a:xfrm>
          <a:prstGeom prst="roundRect">
            <a:avLst>
              <a:gd name="adj" fmla="val 16667"/>
            </a:avLst>
          </a:prstGeom>
          <a:solidFill>
            <a:srgbClr val="FFFFFF">
              <a:alpha val="10000"/>
            </a:srgbClr>
          </a:solidFill>
          <a:ln w="9525">
            <a:solidFill>
              <a:srgbClr val="8FD3E8"/>
            </a:solidFill>
            <a:prstDash val="solid"/>
          </a:ln>
        </p:spPr>
      </p:sp>
      <p:sp>
        <p:nvSpPr>
          <p:cNvPr id="8" name="Text 6"/>
          <p:cNvSpPr/>
          <p:nvPr/>
        </p:nvSpPr>
        <p:spPr>
          <a:xfrm>
            <a:off x="2697480" y="3429000"/>
            <a:ext cx="8503920" cy="548640"/>
          </a:xfrm>
          <a:prstGeom prst="rect">
            <a:avLst/>
          </a:prstGeom>
          <a:noFill/>
          <a:ln/>
        </p:spPr>
        <p:txBody>
          <a:bodyPr wrap="square" lIns="0" tIns="0" rIns="0" bIns="0" rtlCol="0" anchor="ctr"/>
          <a:lstStyle/>
          <a:p>
            <a:pPr algn="l" indent="0" marL="0">
              <a:buNone/>
            </a:pPr>
            <a:r>
              <a:rPr lang="en-US" sz="1200" dirty="0">
                <a:solidFill>
                  <a:srgbClr val="DCEFF5"/>
                </a:solidFill>
                <a:latin typeface="Calibri" pitchFamily="34" charset="0"/>
                <a:ea typeface="Calibri" pitchFamily="34" charset="-122"/>
                <a:cs typeface="Calibri" pitchFamily="34" charset="-120"/>
              </a:rPr>
              <a:t>Note: the live CKA exam is 100% hands-on terminal tasks — these multiple-choice items are for concept review only</a:t>
            </a:r>
            <a:endParaRPr lang="en-US" sz="1200" dirty="0"/>
          </a:p>
        </p:txBody>
      </p:sp>
      <p:sp>
        <p:nvSpPr>
          <p:cNvPr id="9" name="Text 7"/>
          <p:cNvSpPr/>
          <p:nvPr/>
        </p:nvSpPr>
        <p:spPr>
          <a:xfrm>
            <a:off x="457200" y="6446520"/>
            <a:ext cx="6400800" cy="27432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CKA v1.36 · Module 2</a:t>
            </a:r>
            <a:endParaRPr lang="en-US" sz="900" dirty="0"/>
          </a:p>
        </p:txBody>
      </p:sp>
      <p:sp>
        <p:nvSpPr>
          <p:cNvPr id="10" name="Text 8"/>
          <p:cNvSpPr/>
          <p:nvPr/>
        </p:nvSpPr>
        <p:spPr>
          <a:xfrm>
            <a:off x="11247120" y="6446520"/>
            <a:ext cx="4572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69</a:t>
            </a:r>
            <a:endParaRPr lang="en-US" sz="900" dirty="0"/>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name="Slide 7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365760"/>
            <a:ext cx="2103120" cy="384048"/>
          </a:xfrm>
          <a:prstGeom prst="roundRect">
            <a:avLst>
              <a:gd name="adj" fmla="val 50000"/>
            </a:avLst>
          </a:prstGeom>
          <a:solidFill>
            <a:srgbClr val="21295C"/>
          </a:solidFill>
          <a:ln/>
        </p:spPr>
      </p:sp>
      <p:sp>
        <p:nvSpPr>
          <p:cNvPr id="3" name="Text 1"/>
          <p:cNvSpPr/>
          <p:nvPr/>
        </p:nvSpPr>
        <p:spPr>
          <a:xfrm>
            <a:off x="640080" y="365760"/>
            <a:ext cx="210312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SAMPLE Q1</a:t>
            </a:r>
            <a:endParaRPr lang="en-US" sz="1200" dirty="0"/>
          </a:p>
        </p:txBody>
      </p:sp>
      <p:sp>
        <p:nvSpPr>
          <p:cNvPr id="4" name="Text 2"/>
          <p:cNvSpPr/>
          <p:nvPr/>
        </p:nvSpPr>
        <p:spPr>
          <a:xfrm>
            <a:off x="2880360" y="365760"/>
            <a:ext cx="8595360" cy="384048"/>
          </a:xfrm>
          <a:prstGeom prst="rect">
            <a:avLst/>
          </a:prstGeom>
          <a:noFill/>
          <a:ln/>
        </p:spPr>
        <p:txBody>
          <a:bodyPr wrap="square" lIns="0" tIns="0" rIns="0" bIns="0" rtlCol="0" anchor="ctr"/>
          <a:lstStyle/>
          <a:p>
            <a:pPr indent="0" marL="0">
              <a:buNone/>
            </a:pPr>
            <a:r>
              <a:rPr lang="en-US" sz="1200" i="1" dirty="0">
                <a:solidFill>
                  <a:srgbClr val="64748B"/>
                </a:solidFill>
                <a:latin typeface="Calibri" pitchFamily="34" charset="0"/>
                <a:ea typeface="Calibri" pitchFamily="34" charset="-122"/>
                <a:cs typeface="Calibri" pitchFamily="34" charset="-120"/>
              </a:rPr>
              <a:t>Deployment Strategies</a:t>
            </a:r>
            <a:endParaRPr lang="en-US" sz="1200" dirty="0"/>
          </a:p>
        </p:txBody>
      </p:sp>
      <p:sp>
        <p:nvSpPr>
          <p:cNvPr id="5" name="Text 3"/>
          <p:cNvSpPr/>
          <p:nvPr/>
        </p:nvSpPr>
        <p:spPr>
          <a:xfrm>
            <a:off x="640080" y="914400"/>
            <a:ext cx="10881360" cy="1005840"/>
          </a:xfrm>
          <a:prstGeom prst="rect">
            <a:avLst/>
          </a:prstGeom>
          <a:noFill/>
          <a:ln/>
        </p:spPr>
        <p:txBody>
          <a:bodyPr wrap="square" lIns="0" tIns="0" rIns="0" bIns="0" rtlCol="0" anchor="t"/>
          <a:lstStyle/>
          <a:p>
            <a:pPr indent="0" marL="0">
              <a:buNone/>
            </a:pPr>
            <a:r>
              <a:rPr lang="en-US" sz="1800" b="1" dirty="0">
                <a:solidFill>
                  <a:srgbClr val="21295C"/>
                </a:solidFill>
                <a:latin typeface="Cambria" pitchFamily="34" charset="0"/>
                <a:ea typeface="Cambria" pitchFamily="34" charset="-122"/>
                <a:cs typeface="Cambria" pitchFamily="34" charset="-120"/>
              </a:rPr>
              <a:t>A Deployment has replicas: 20, maxUnavailable: 25%, maxSurge: 25%. During a rolling update, what is the MAXIMUM number of Pods that could exist simultaneously?</a:t>
            </a:r>
            <a:endParaRPr lang="en-US" sz="1800" dirty="0"/>
          </a:p>
        </p:txBody>
      </p:sp>
      <p:sp>
        <p:nvSpPr>
          <p:cNvPr id="6" name="Shape 4"/>
          <p:cNvSpPr/>
          <p:nvPr/>
        </p:nvSpPr>
        <p:spPr>
          <a:xfrm>
            <a:off x="640080" y="2057400"/>
            <a:ext cx="10881360" cy="566928"/>
          </a:xfrm>
          <a:prstGeom prst="roundRect">
            <a:avLst>
              <a:gd name="adj" fmla="val 9677"/>
            </a:avLst>
          </a:prstGeom>
          <a:solidFill>
            <a:srgbClr val="EAF4F8"/>
          </a:solidFill>
          <a:ln w="9525">
            <a:solidFill>
              <a:srgbClr val="D7E3E8"/>
            </a:solidFill>
            <a:prstDash val="solid"/>
          </a:ln>
        </p:spPr>
      </p:sp>
      <p:sp>
        <p:nvSpPr>
          <p:cNvPr id="7" name="Text 5"/>
          <p:cNvSpPr/>
          <p:nvPr/>
        </p:nvSpPr>
        <p:spPr>
          <a:xfrm>
            <a:off x="868680" y="2057400"/>
            <a:ext cx="9601200" cy="566928"/>
          </a:xfrm>
          <a:prstGeom prst="rect">
            <a:avLst/>
          </a:prstGeom>
          <a:noFill/>
          <a:ln/>
        </p:spPr>
        <p:txBody>
          <a:bodyPr wrap="square" lIns="0" tIns="0" rIns="0" bIns="0" rtlCol="0" anchor="ctr"/>
          <a:lstStyle/>
          <a:p>
            <a:pPr indent="0" marL="0">
              <a:buNone/>
            </a:pPr>
            <a:r>
              <a:rPr lang="en-US" sz="1350" dirty="0">
                <a:solidFill>
                  <a:srgbClr val="1E293B"/>
                </a:solidFill>
                <a:latin typeface="Calibri" pitchFamily="34" charset="0"/>
                <a:ea typeface="Calibri" pitchFamily="34" charset="-122"/>
                <a:cs typeface="Calibri" pitchFamily="34" charset="-120"/>
              </a:rPr>
              <a:t>A.  15</a:t>
            </a:r>
            <a:endParaRPr lang="en-US" sz="1350" dirty="0"/>
          </a:p>
        </p:txBody>
      </p:sp>
      <p:sp>
        <p:nvSpPr>
          <p:cNvPr id="8" name="Shape 6"/>
          <p:cNvSpPr/>
          <p:nvPr/>
        </p:nvSpPr>
        <p:spPr>
          <a:xfrm>
            <a:off x="640080" y="2734056"/>
            <a:ext cx="10881360" cy="566928"/>
          </a:xfrm>
          <a:prstGeom prst="roundRect">
            <a:avLst>
              <a:gd name="adj" fmla="val 9677"/>
            </a:avLst>
          </a:prstGeom>
          <a:solidFill>
            <a:srgbClr val="EAF4F8"/>
          </a:solidFill>
          <a:ln w="9525">
            <a:solidFill>
              <a:srgbClr val="D7E3E8"/>
            </a:solidFill>
            <a:prstDash val="solid"/>
          </a:ln>
        </p:spPr>
      </p:sp>
      <p:sp>
        <p:nvSpPr>
          <p:cNvPr id="9" name="Text 7"/>
          <p:cNvSpPr/>
          <p:nvPr/>
        </p:nvSpPr>
        <p:spPr>
          <a:xfrm>
            <a:off x="868680" y="2734056"/>
            <a:ext cx="9601200" cy="566928"/>
          </a:xfrm>
          <a:prstGeom prst="rect">
            <a:avLst/>
          </a:prstGeom>
          <a:noFill/>
          <a:ln/>
        </p:spPr>
        <p:txBody>
          <a:bodyPr wrap="square" lIns="0" tIns="0" rIns="0" bIns="0" rtlCol="0" anchor="ctr"/>
          <a:lstStyle/>
          <a:p>
            <a:pPr indent="0" marL="0">
              <a:buNone/>
            </a:pPr>
            <a:r>
              <a:rPr lang="en-US" sz="1350" dirty="0">
                <a:solidFill>
                  <a:srgbClr val="1E293B"/>
                </a:solidFill>
                <a:latin typeface="Calibri" pitchFamily="34" charset="0"/>
                <a:ea typeface="Calibri" pitchFamily="34" charset="-122"/>
                <a:cs typeface="Calibri" pitchFamily="34" charset="-120"/>
              </a:rPr>
              <a:t>B.  20</a:t>
            </a:r>
            <a:endParaRPr lang="en-US" sz="1350" dirty="0"/>
          </a:p>
        </p:txBody>
      </p:sp>
      <p:sp>
        <p:nvSpPr>
          <p:cNvPr id="10" name="Shape 8"/>
          <p:cNvSpPr/>
          <p:nvPr/>
        </p:nvSpPr>
        <p:spPr>
          <a:xfrm>
            <a:off x="640080" y="3410712"/>
            <a:ext cx="10881360" cy="566928"/>
          </a:xfrm>
          <a:prstGeom prst="roundRect">
            <a:avLst>
              <a:gd name="adj" fmla="val 9677"/>
            </a:avLst>
          </a:prstGeom>
          <a:solidFill>
            <a:srgbClr val="E7F5EC"/>
          </a:solidFill>
          <a:ln w="19050">
            <a:solidFill>
              <a:srgbClr val="15803D"/>
            </a:solidFill>
            <a:prstDash val="solid"/>
          </a:ln>
        </p:spPr>
      </p:sp>
      <p:sp>
        <p:nvSpPr>
          <p:cNvPr id="11" name="Text 9"/>
          <p:cNvSpPr/>
          <p:nvPr/>
        </p:nvSpPr>
        <p:spPr>
          <a:xfrm>
            <a:off x="868680" y="3410712"/>
            <a:ext cx="9601200" cy="566928"/>
          </a:xfrm>
          <a:prstGeom prst="rect">
            <a:avLst/>
          </a:prstGeom>
          <a:noFill/>
          <a:ln/>
        </p:spPr>
        <p:txBody>
          <a:bodyPr wrap="square" lIns="0" tIns="0" rIns="0" bIns="0" rtlCol="0" anchor="ctr"/>
          <a:lstStyle/>
          <a:p>
            <a:pPr indent="0" marL="0">
              <a:buNone/>
            </a:pPr>
            <a:r>
              <a:rPr lang="en-US" sz="1350" dirty="0">
                <a:solidFill>
                  <a:srgbClr val="1E293B"/>
                </a:solidFill>
                <a:latin typeface="Calibri" pitchFamily="34" charset="0"/>
                <a:ea typeface="Calibri" pitchFamily="34" charset="-122"/>
                <a:cs typeface="Calibri" pitchFamily="34" charset="-120"/>
              </a:rPr>
              <a:t>C.  25</a:t>
            </a:r>
            <a:endParaRPr lang="en-US" sz="1350" dirty="0"/>
          </a:p>
        </p:txBody>
      </p:sp>
      <p:sp>
        <p:nvSpPr>
          <p:cNvPr id="12" name="Text 10"/>
          <p:cNvSpPr/>
          <p:nvPr/>
        </p:nvSpPr>
        <p:spPr>
          <a:xfrm>
            <a:off x="10058400" y="3410712"/>
            <a:ext cx="1371600" cy="566928"/>
          </a:xfrm>
          <a:prstGeom prst="rect">
            <a:avLst/>
          </a:prstGeom>
          <a:noFill/>
          <a:ln/>
        </p:spPr>
        <p:txBody>
          <a:bodyPr wrap="square" lIns="0" tIns="0" rIns="0" bIns="0" rtlCol="0" anchor="ctr"/>
          <a:lstStyle/>
          <a:p>
            <a:pPr algn="r" indent="0" marL="0">
              <a:buNone/>
            </a:pPr>
            <a:r>
              <a:rPr lang="en-US" sz="1100" b="1" dirty="0">
                <a:solidFill>
                  <a:srgbClr val="15803D"/>
                </a:solidFill>
                <a:latin typeface="Calibri" pitchFamily="34" charset="0"/>
                <a:ea typeface="Calibri" pitchFamily="34" charset="-122"/>
                <a:cs typeface="Calibri" pitchFamily="34" charset="-120"/>
              </a:rPr>
              <a:t>CORRECT</a:t>
            </a:r>
            <a:endParaRPr lang="en-US" sz="1100" dirty="0"/>
          </a:p>
        </p:txBody>
      </p:sp>
      <p:sp>
        <p:nvSpPr>
          <p:cNvPr id="13" name="Shape 11"/>
          <p:cNvSpPr/>
          <p:nvPr/>
        </p:nvSpPr>
        <p:spPr>
          <a:xfrm>
            <a:off x="640080" y="4087368"/>
            <a:ext cx="10881360" cy="566928"/>
          </a:xfrm>
          <a:prstGeom prst="roundRect">
            <a:avLst>
              <a:gd name="adj" fmla="val 9677"/>
            </a:avLst>
          </a:prstGeom>
          <a:solidFill>
            <a:srgbClr val="EAF4F8"/>
          </a:solidFill>
          <a:ln w="9525">
            <a:solidFill>
              <a:srgbClr val="D7E3E8"/>
            </a:solidFill>
            <a:prstDash val="solid"/>
          </a:ln>
        </p:spPr>
      </p:sp>
      <p:sp>
        <p:nvSpPr>
          <p:cNvPr id="14" name="Text 12"/>
          <p:cNvSpPr/>
          <p:nvPr/>
        </p:nvSpPr>
        <p:spPr>
          <a:xfrm>
            <a:off x="868680" y="4087368"/>
            <a:ext cx="9601200" cy="566928"/>
          </a:xfrm>
          <a:prstGeom prst="rect">
            <a:avLst/>
          </a:prstGeom>
          <a:noFill/>
          <a:ln/>
        </p:spPr>
        <p:txBody>
          <a:bodyPr wrap="square" lIns="0" tIns="0" rIns="0" bIns="0" rtlCol="0" anchor="ctr"/>
          <a:lstStyle/>
          <a:p>
            <a:pPr indent="0" marL="0">
              <a:buNone/>
            </a:pPr>
            <a:r>
              <a:rPr lang="en-US" sz="1350" dirty="0">
                <a:solidFill>
                  <a:srgbClr val="1E293B"/>
                </a:solidFill>
                <a:latin typeface="Calibri" pitchFamily="34" charset="0"/>
                <a:ea typeface="Calibri" pitchFamily="34" charset="-122"/>
                <a:cs typeface="Calibri" pitchFamily="34" charset="-120"/>
              </a:rPr>
              <a:t>D.  30</a:t>
            </a:r>
            <a:endParaRPr lang="en-US" sz="1350" dirty="0"/>
          </a:p>
        </p:txBody>
      </p:sp>
      <p:sp>
        <p:nvSpPr>
          <p:cNvPr id="15" name="Shape 13"/>
          <p:cNvSpPr/>
          <p:nvPr/>
        </p:nvSpPr>
        <p:spPr>
          <a:xfrm>
            <a:off x="640080" y="4809744"/>
            <a:ext cx="10881360" cy="1636776"/>
          </a:xfrm>
          <a:prstGeom prst="roundRect">
            <a:avLst>
              <a:gd name="adj" fmla="val 3352"/>
            </a:avLst>
          </a:prstGeom>
          <a:solidFill>
            <a:srgbClr val="FBF3E3"/>
          </a:solidFill>
          <a:ln/>
        </p:spPr>
      </p:sp>
      <p:sp>
        <p:nvSpPr>
          <p:cNvPr id="16" name="Text 14"/>
          <p:cNvSpPr/>
          <p:nvPr/>
        </p:nvSpPr>
        <p:spPr>
          <a:xfrm>
            <a:off x="868680" y="4882896"/>
            <a:ext cx="10424160" cy="1490472"/>
          </a:xfrm>
          <a:prstGeom prst="rect">
            <a:avLst/>
          </a:prstGeom>
          <a:noFill/>
          <a:ln/>
        </p:spPr>
        <p:txBody>
          <a:bodyPr wrap="square" lIns="0" tIns="0" rIns="0" bIns="0" rtlCol="0" anchor="t"/>
          <a:lstStyle/>
          <a:p>
            <a:pPr indent="0" marL="0">
              <a:buNone/>
            </a:pPr>
            <a:r>
              <a:rPr lang="en-US" sz="1250" b="1" dirty="0">
                <a:solidFill>
                  <a:srgbClr val="B7791F"/>
                </a:solidFill>
                <a:latin typeface="Calibri" pitchFamily="34" charset="0"/>
                <a:ea typeface="Calibri" pitchFamily="34" charset="-122"/>
                <a:cs typeface="Calibri" pitchFamily="34" charset="-120"/>
              </a:rPr>
              <a:t>Explanation: </a:t>
            </a:r>
            <a:pPr indent="0" marL="0">
              <a:buNone/>
            </a:pPr>
            <a:r>
              <a:rPr lang="en-US" sz="1250" dirty="0">
                <a:solidFill>
                  <a:srgbClr val="1E293B"/>
                </a:solidFill>
                <a:latin typeface="Calibri" pitchFamily="34" charset="0"/>
                <a:ea typeface="Calibri" pitchFamily="34" charset="-122"/>
                <a:cs typeface="Calibri" pitchFamily="34" charset="-120"/>
              </a:rPr>
              <a:t>maxSurge: 25% of 20 desired replicas = 5 extra Pods allowed above the desired count. 20 (desired) + 5 (surge) = 25 maximum Pods at any point during the rollout.</a:t>
            </a:r>
            <a:endParaRPr lang="en-US" sz="1250" dirty="0"/>
          </a:p>
        </p:txBody>
      </p:sp>
      <p:sp>
        <p:nvSpPr>
          <p:cNvPr id="17" name="Text 15"/>
          <p:cNvSpPr/>
          <p:nvPr/>
        </p:nvSpPr>
        <p:spPr>
          <a:xfrm>
            <a:off x="457200" y="6446520"/>
            <a:ext cx="6400800" cy="27432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CKA v1.36 · Module 2</a:t>
            </a:r>
            <a:endParaRPr lang="en-US" sz="900" dirty="0"/>
          </a:p>
        </p:txBody>
      </p:sp>
      <p:sp>
        <p:nvSpPr>
          <p:cNvPr id="18" name="Text 16"/>
          <p:cNvSpPr/>
          <p:nvPr/>
        </p:nvSpPr>
        <p:spPr>
          <a:xfrm>
            <a:off x="11247120" y="6446520"/>
            <a:ext cx="4572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70</a:t>
            </a:r>
            <a:endParaRPr lang="en-US" sz="900" dirty="0"/>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name="Slide 7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365760"/>
            <a:ext cx="2103120" cy="384048"/>
          </a:xfrm>
          <a:prstGeom prst="roundRect">
            <a:avLst>
              <a:gd name="adj" fmla="val 50000"/>
            </a:avLst>
          </a:prstGeom>
          <a:solidFill>
            <a:srgbClr val="21295C"/>
          </a:solidFill>
          <a:ln/>
        </p:spPr>
      </p:sp>
      <p:sp>
        <p:nvSpPr>
          <p:cNvPr id="3" name="Text 1"/>
          <p:cNvSpPr/>
          <p:nvPr/>
        </p:nvSpPr>
        <p:spPr>
          <a:xfrm>
            <a:off x="640080" y="365760"/>
            <a:ext cx="210312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SAMPLE Q2</a:t>
            </a:r>
            <a:endParaRPr lang="en-US" sz="1200" dirty="0"/>
          </a:p>
        </p:txBody>
      </p:sp>
      <p:sp>
        <p:nvSpPr>
          <p:cNvPr id="4" name="Text 2"/>
          <p:cNvSpPr/>
          <p:nvPr/>
        </p:nvSpPr>
        <p:spPr>
          <a:xfrm>
            <a:off x="2880360" y="365760"/>
            <a:ext cx="8595360" cy="384048"/>
          </a:xfrm>
          <a:prstGeom prst="rect">
            <a:avLst/>
          </a:prstGeom>
          <a:noFill/>
          <a:ln/>
        </p:spPr>
        <p:txBody>
          <a:bodyPr wrap="square" lIns="0" tIns="0" rIns="0" bIns="0" rtlCol="0" anchor="ctr"/>
          <a:lstStyle/>
          <a:p>
            <a:pPr indent="0" marL="0">
              <a:buNone/>
            </a:pPr>
            <a:r>
              <a:rPr lang="en-US" sz="1200" i="1" dirty="0">
                <a:solidFill>
                  <a:srgbClr val="64748B"/>
                </a:solidFill>
                <a:latin typeface="Calibri" pitchFamily="34" charset="0"/>
                <a:ea typeface="Calibri" pitchFamily="34" charset="-122"/>
                <a:cs typeface="Calibri" pitchFamily="34" charset="-120"/>
              </a:rPr>
              <a:t>Pod Connectivity &amp; Services</a:t>
            </a:r>
            <a:endParaRPr lang="en-US" sz="1200" dirty="0"/>
          </a:p>
        </p:txBody>
      </p:sp>
      <p:sp>
        <p:nvSpPr>
          <p:cNvPr id="5" name="Text 3"/>
          <p:cNvSpPr/>
          <p:nvPr/>
        </p:nvSpPr>
        <p:spPr>
          <a:xfrm>
            <a:off x="640080" y="914400"/>
            <a:ext cx="10881360" cy="1005840"/>
          </a:xfrm>
          <a:prstGeom prst="rect">
            <a:avLst/>
          </a:prstGeom>
          <a:noFill/>
          <a:ln/>
        </p:spPr>
        <p:txBody>
          <a:bodyPr wrap="square" lIns="0" tIns="0" rIns="0" bIns="0" rtlCol="0" anchor="t"/>
          <a:lstStyle/>
          <a:p>
            <a:pPr indent="0" marL="0">
              <a:buNone/>
            </a:pPr>
            <a:r>
              <a:rPr lang="en-US" sz="1800" b="1" dirty="0">
                <a:solidFill>
                  <a:srgbClr val="21295C"/>
                </a:solidFill>
                <a:latin typeface="Cambria" pitchFamily="34" charset="0"/>
                <a:ea typeface="Cambria" pitchFamily="34" charset="-122"/>
                <a:cs typeface="Cambria" pitchFamily="34" charset="-120"/>
              </a:rPr>
              <a:t>kubectl get endpoints my-service returns &lt;none&gt;. The backing Pods are confirmed Running and passing their readiness probes. What should you check FIRST?</a:t>
            </a:r>
            <a:endParaRPr lang="en-US" sz="1800" dirty="0"/>
          </a:p>
        </p:txBody>
      </p:sp>
      <p:sp>
        <p:nvSpPr>
          <p:cNvPr id="6" name="Shape 4"/>
          <p:cNvSpPr/>
          <p:nvPr/>
        </p:nvSpPr>
        <p:spPr>
          <a:xfrm>
            <a:off x="640080" y="2057400"/>
            <a:ext cx="10881360" cy="566928"/>
          </a:xfrm>
          <a:prstGeom prst="roundRect">
            <a:avLst>
              <a:gd name="adj" fmla="val 9677"/>
            </a:avLst>
          </a:prstGeom>
          <a:solidFill>
            <a:srgbClr val="EAF4F8"/>
          </a:solidFill>
          <a:ln w="9525">
            <a:solidFill>
              <a:srgbClr val="D7E3E8"/>
            </a:solidFill>
            <a:prstDash val="solid"/>
          </a:ln>
        </p:spPr>
      </p:sp>
      <p:sp>
        <p:nvSpPr>
          <p:cNvPr id="7" name="Text 5"/>
          <p:cNvSpPr/>
          <p:nvPr/>
        </p:nvSpPr>
        <p:spPr>
          <a:xfrm>
            <a:off x="868680" y="2057400"/>
            <a:ext cx="9601200" cy="566928"/>
          </a:xfrm>
          <a:prstGeom prst="rect">
            <a:avLst/>
          </a:prstGeom>
          <a:noFill/>
          <a:ln/>
        </p:spPr>
        <p:txBody>
          <a:bodyPr wrap="square" lIns="0" tIns="0" rIns="0" bIns="0" rtlCol="0" anchor="ctr"/>
          <a:lstStyle/>
          <a:p>
            <a:pPr indent="0" marL="0">
              <a:buNone/>
            </a:pPr>
            <a:r>
              <a:rPr lang="en-US" sz="1350" dirty="0">
                <a:solidFill>
                  <a:srgbClr val="1E293B"/>
                </a:solidFill>
                <a:latin typeface="Calibri" pitchFamily="34" charset="0"/>
                <a:ea typeface="Calibri" pitchFamily="34" charset="-122"/>
                <a:cs typeface="Calibri" pitchFamily="34" charset="-120"/>
              </a:rPr>
              <a:t>A.  Whether a NetworkPolicy is blocking traffic</a:t>
            </a:r>
            <a:endParaRPr lang="en-US" sz="1350" dirty="0"/>
          </a:p>
        </p:txBody>
      </p:sp>
      <p:sp>
        <p:nvSpPr>
          <p:cNvPr id="8" name="Shape 6"/>
          <p:cNvSpPr/>
          <p:nvPr/>
        </p:nvSpPr>
        <p:spPr>
          <a:xfrm>
            <a:off x="640080" y="2734056"/>
            <a:ext cx="10881360" cy="566928"/>
          </a:xfrm>
          <a:prstGeom prst="roundRect">
            <a:avLst>
              <a:gd name="adj" fmla="val 9677"/>
            </a:avLst>
          </a:prstGeom>
          <a:solidFill>
            <a:srgbClr val="E7F5EC"/>
          </a:solidFill>
          <a:ln w="19050">
            <a:solidFill>
              <a:srgbClr val="15803D"/>
            </a:solidFill>
            <a:prstDash val="solid"/>
          </a:ln>
        </p:spPr>
      </p:sp>
      <p:sp>
        <p:nvSpPr>
          <p:cNvPr id="9" name="Text 7"/>
          <p:cNvSpPr/>
          <p:nvPr/>
        </p:nvSpPr>
        <p:spPr>
          <a:xfrm>
            <a:off x="868680" y="2734056"/>
            <a:ext cx="9601200" cy="566928"/>
          </a:xfrm>
          <a:prstGeom prst="rect">
            <a:avLst/>
          </a:prstGeom>
          <a:noFill/>
          <a:ln/>
        </p:spPr>
        <p:txBody>
          <a:bodyPr wrap="square" lIns="0" tIns="0" rIns="0" bIns="0" rtlCol="0" anchor="ctr"/>
          <a:lstStyle/>
          <a:p>
            <a:pPr indent="0" marL="0">
              <a:buNone/>
            </a:pPr>
            <a:r>
              <a:rPr lang="en-US" sz="1350" dirty="0">
                <a:solidFill>
                  <a:srgbClr val="1E293B"/>
                </a:solidFill>
                <a:latin typeface="Calibri" pitchFamily="34" charset="0"/>
                <a:ea typeface="Calibri" pitchFamily="34" charset="-122"/>
                <a:cs typeface="Calibri" pitchFamily="34" charset="-120"/>
              </a:rPr>
              <a:t>B.  Whether the Service's spec.selector matches the Pods' labels</a:t>
            </a:r>
            <a:endParaRPr lang="en-US" sz="1350" dirty="0"/>
          </a:p>
        </p:txBody>
      </p:sp>
      <p:sp>
        <p:nvSpPr>
          <p:cNvPr id="10" name="Text 8"/>
          <p:cNvSpPr/>
          <p:nvPr/>
        </p:nvSpPr>
        <p:spPr>
          <a:xfrm>
            <a:off x="10058400" y="2734056"/>
            <a:ext cx="1371600" cy="566928"/>
          </a:xfrm>
          <a:prstGeom prst="rect">
            <a:avLst/>
          </a:prstGeom>
          <a:noFill/>
          <a:ln/>
        </p:spPr>
        <p:txBody>
          <a:bodyPr wrap="square" lIns="0" tIns="0" rIns="0" bIns="0" rtlCol="0" anchor="ctr"/>
          <a:lstStyle/>
          <a:p>
            <a:pPr algn="r" indent="0" marL="0">
              <a:buNone/>
            </a:pPr>
            <a:r>
              <a:rPr lang="en-US" sz="1100" b="1" dirty="0">
                <a:solidFill>
                  <a:srgbClr val="15803D"/>
                </a:solidFill>
                <a:latin typeface="Calibri" pitchFamily="34" charset="0"/>
                <a:ea typeface="Calibri" pitchFamily="34" charset="-122"/>
                <a:cs typeface="Calibri" pitchFamily="34" charset="-120"/>
              </a:rPr>
              <a:t>CORRECT</a:t>
            </a:r>
            <a:endParaRPr lang="en-US" sz="1100" dirty="0"/>
          </a:p>
        </p:txBody>
      </p:sp>
      <p:sp>
        <p:nvSpPr>
          <p:cNvPr id="11" name="Shape 9"/>
          <p:cNvSpPr/>
          <p:nvPr/>
        </p:nvSpPr>
        <p:spPr>
          <a:xfrm>
            <a:off x="640080" y="3410712"/>
            <a:ext cx="10881360" cy="566928"/>
          </a:xfrm>
          <a:prstGeom prst="roundRect">
            <a:avLst>
              <a:gd name="adj" fmla="val 9677"/>
            </a:avLst>
          </a:prstGeom>
          <a:solidFill>
            <a:srgbClr val="EAF4F8"/>
          </a:solidFill>
          <a:ln w="9525">
            <a:solidFill>
              <a:srgbClr val="D7E3E8"/>
            </a:solidFill>
            <a:prstDash val="solid"/>
          </a:ln>
        </p:spPr>
      </p:sp>
      <p:sp>
        <p:nvSpPr>
          <p:cNvPr id="12" name="Text 10"/>
          <p:cNvSpPr/>
          <p:nvPr/>
        </p:nvSpPr>
        <p:spPr>
          <a:xfrm>
            <a:off x="868680" y="3410712"/>
            <a:ext cx="9601200" cy="566928"/>
          </a:xfrm>
          <a:prstGeom prst="rect">
            <a:avLst/>
          </a:prstGeom>
          <a:noFill/>
          <a:ln/>
        </p:spPr>
        <p:txBody>
          <a:bodyPr wrap="square" lIns="0" tIns="0" rIns="0" bIns="0" rtlCol="0" anchor="ctr"/>
          <a:lstStyle/>
          <a:p>
            <a:pPr indent="0" marL="0">
              <a:buNone/>
            </a:pPr>
            <a:r>
              <a:rPr lang="en-US" sz="1350" dirty="0">
                <a:solidFill>
                  <a:srgbClr val="1E293B"/>
                </a:solidFill>
                <a:latin typeface="Calibri" pitchFamily="34" charset="0"/>
                <a:ea typeface="Calibri" pitchFamily="34" charset="-122"/>
                <a:cs typeface="Calibri" pitchFamily="34" charset="-120"/>
              </a:rPr>
              <a:t>C.  Whether CoreDNS is healthy</a:t>
            </a:r>
            <a:endParaRPr lang="en-US" sz="1350" dirty="0"/>
          </a:p>
        </p:txBody>
      </p:sp>
      <p:sp>
        <p:nvSpPr>
          <p:cNvPr id="13" name="Shape 11"/>
          <p:cNvSpPr/>
          <p:nvPr/>
        </p:nvSpPr>
        <p:spPr>
          <a:xfrm>
            <a:off x="640080" y="4087368"/>
            <a:ext cx="10881360" cy="566928"/>
          </a:xfrm>
          <a:prstGeom prst="roundRect">
            <a:avLst>
              <a:gd name="adj" fmla="val 9677"/>
            </a:avLst>
          </a:prstGeom>
          <a:solidFill>
            <a:srgbClr val="EAF4F8"/>
          </a:solidFill>
          <a:ln w="9525">
            <a:solidFill>
              <a:srgbClr val="D7E3E8"/>
            </a:solidFill>
            <a:prstDash val="solid"/>
          </a:ln>
        </p:spPr>
      </p:sp>
      <p:sp>
        <p:nvSpPr>
          <p:cNvPr id="14" name="Text 12"/>
          <p:cNvSpPr/>
          <p:nvPr/>
        </p:nvSpPr>
        <p:spPr>
          <a:xfrm>
            <a:off x="868680" y="4087368"/>
            <a:ext cx="9601200" cy="566928"/>
          </a:xfrm>
          <a:prstGeom prst="rect">
            <a:avLst/>
          </a:prstGeom>
          <a:noFill/>
          <a:ln/>
        </p:spPr>
        <p:txBody>
          <a:bodyPr wrap="square" lIns="0" tIns="0" rIns="0" bIns="0" rtlCol="0" anchor="ctr"/>
          <a:lstStyle/>
          <a:p>
            <a:pPr indent="0" marL="0">
              <a:buNone/>
            </a:pPr>
            <a:r>
              <a:rPr lang="en-US" sz="1350" dirty="0">
                <a:solidFill>
                  <a:srgbClr val="1E293B"/>
                </a:solidFill>
                <a:latin typeface="Calibri" pitchFamily="34" charset="0"/>
                <a:ea typeface="Calibri" pitchFamily="34" charset="-122"/>
                <a:cs typeface="Calibri" pitchFamily="34" charset="-120"/>
              </a:rPr>
              <a:t>D.  Whether the node has enough CPU</a:t>
            </a:r>
            <a:endParaRPr lang="en-US" sz="1350" dirty="0"/>
          </a:p>
        </p:txBody>
      </p:sp>
      <p:sp>
        <p:nvSpPr>
          <p:cNvPr id="15" name="Shape 13"/>
          <p:cNvSpPr/>
          <p:nvPr/>
        </p:nvSpPr>
        <p:spPr>
          <a:xfrm>
            <a:off x="640080" y="4809744"/>
            <a:ext cx="10881360" cy="1636776"/>
          </a:xfrm>
          <a:prstGeom prst="roundRect">
            <a:avLst>
              <a:gd name="adj" fmla="val 3352"/>
            </a:avLst>
          </a:prstGeom>
          <a:solidFill>
            <a:srgbClr val="FBF3E3"/>
          </a:solidFill>
          <a:ln/>
        </p:spPr>
      </p:sp>
      <p:sp>
        <p:nvSpPr>
          <p:cNvPr id="16" name="Text 14"/>
          <p:cNvSpPr/>
          <p:nvPr/>
        </p:nvSpPr>
        <p:spPr>
          <a:xfrm>
            <a:off x="868680" y="4882896"/>
            <a:ext cx="10424160" cy="1490472"/>
          </a:xfrm>
          <a:prstGeom prst="rect">
            <a:avLst/>
          </a:prstGeom>
          <a:noFill/>
          <a:ln/>
        </p:spPr>
        <p:txBody>
          <a:bodyPr wrap="square" lIns="0" tIns="0" rIns="0" bIns="0" rtlCol="0" anchor="t"/>
          <a:lstStyle/>
          <a:p>
            <a:pPr indent="0" marL="0">
              <a:buNone/>
            </a:pPr>
            <a:r>
              <a:rPr lang="en-US" sz="1250" b="1" dirty="0">
                <a:solidFill>
                  <a:srgbClr val="B7791F"/>
                </a:solidFill>
                <a:latin typeface="Calibri" pitchFamily="34" charset="0"/>
                <a:ea typeface="Calibri" pitchFamily="34" charset="-122"/>
                <a:cs typeface="Calibri" pitchFamily="34" charset="-120"/>
              </a:rPr>
              <a:t>Explanation: </a:t>
            </a:r>
            <a:pPr indent="0" marL="0">
              <a:buNone/>
            </a:pPr>
            <a:r>
              <a:rPr lang="en-US" sz="1250" dirty="0">
                <a:solidFill>
                  <a:srgbClr val="1E293B"/>
                </a:solidFill>
                <a:latin typeface="Calibri" pitchFamily="34" charset="0"/>
                <a:ea typeface="Calibri" pitchFamily="34" charset="-122"/>
                <a:cs typeface="Calibri" pitchFamily="34" charset="-120"/>
              </a:rPr>
              <a:t>An empty Endpoints list with healthy, Ready Pods almost always means the Service's selector doesn't match the Pods' labels. NetworkPolicy and DNS issues affect REACHING an existing Endpoint, not whether one gets populated in the first place -- so selector mismatch is the correct first check.</a:t>
            </a:r>
            <a:endParaRPr lang="en-US" sz="1250" dirty="0"/>
          </a:p>
        </p:txBody>
      </p:sp>
      <p:sp>
        <p:nvSpPr>
          <p:cNvPr id="17" name="Text 15"/>
          <p:cNvSpPr/>
          <p:nvPr/>
        </p:nvSpPr>
        <p:spPr>
          <a:xfrm>
            <a:off x="457200" y="6446520"/>
            <a:ext cx="6400800" cy="27432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CKA v1.36 · Module 2</a:t>
            </a:r>
            <a:endParaRPr lang="en-US" sz="900" dirty="0"/>
          </a:p>
        </p:txBody>
      </p:sp>
      <p:sp>
        <p:nvSpPr>
          <p:cNvPr id="18" name="Text 16"/>
          <p:cNvSpPr/>
          <p:nvPr/>
        </p:nvSpPr>
        <p:spPr>
          <a:xfrm>
            <a:off x="11247120" y="6446520"/>
            <a:ext cx="4572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71</a:t>
            </a:r>
            <a:endParaRPr lang="en-US" sz="900" dirty="0"/>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name="Slide 7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365760"/>
            <a:ext cx="2103120" cy="384048"/>
          </a:xfrm>
          <a:prstGeom prst="roundRect">
            <a:avLst>
              <a:gd name="adj" fmla="val 50000"/>
            </a:avLst>
          </a:prstGeom>
          <a:solidFill>
            <a:srgbClr val="21295C"/>
          </a:solidFill>
          <a:ln/>
        </p:spPr>
      </p:sp>
      <p:sp>
        <p:nvSpPr>
          <p:cNvPr id="3" name="Text 1"/>
          <p:cNvSpPr/>
          <p:nvPr/>
        </p:nvSpPr>
        <p:spPr>
          <a:xfrm>
            <a:off x="640080" y="365760"/>
            <a:ext cx="210312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SAMPLE Q3</a:t>
            </a:r>
            <a:endParaRPr lang="en-US" sz="1200" dirty="0"/>
          </a:p>
        </p:txBody>
      </p:sp>
      <p:sp>
        <p:nvSpPr>
          <p:cNvPr id="4" name="Text 2"/>
          <p:cNvSpPr/>
          <p:nvPr/>
        </p:nvSpPr>
        <p:spPr>
          <a:xfrm>
            <a:off x="2880360" y="365760"/>
            <a:ext cx="8595360" cy="384048"/>
          </a:xfrm>
          <a:prstGeom prst="rect">
            <a:avLst/>
          </a:prstGeom>
          <a:noFill/>
          <a:ln/>
        </p:spPr>
        <p:txBody>
          <a:bodyPr wrap="square" lIns="0" tIns="0" rIns="0" bIns="0" rtlCol="0" anchor="ctr"/>
          <a:lstStyle/>
          <a:p>
            <a:pPr indent="0" marL="0">
              <a:buNone/>
            </a:pPr>
            <a:r>
              <a:rPr lang="en-US" sz="1200" i="1" dirty="0">
                <a:solidFill>
                  <a:srgbClr val="64748B"/>
                </a:solidFill>
                <a:latin typeface="Calibri" pitchFamily="34" charset="0"/>
                <a:ea typeface="Calibri" pitchFamily="34" charset="-122"/>
                <a:cs typeface="Calibri" pitchFamily="34" charset="-120"/>
              </a:rPr>
              <a:t>Network Policies</a:t>
            </a:r>
            <a:endParaRPr lang="en-US" sz="1200" dirty="0"/>
          </a:p>
        </p:txBody>
      </p:sp>
      <p:sp>
        <p:nvSpPr>
          <p:cNvPr id="5" name="Text 3"/>
          <p:cNvSpPr/>
          <p:nvPr/>
        </p:nvSpPr>
        <p:spPr>
          <a:xfrm>
            <a:off x="640080" y="914400"/>
            <a:ext cx="10881360" cy="1005840"/>
          </a:xfrm>
          <a:prstGeom prst="rect">
            <a:avLst/>
          </a:prstGeom>
          <a:noFill/>
          <a:ln/>
        </p:spPr>
        <p:txBody>
          <a:bodyPr wrap="square" lIns="0" tIns="0" rIns="0" bIns="0" rtlCol="0" anchor="t"/>
          <a:lstStyle/>
          <a:p>
            <a:pPr indent="0" marL="0">
              <a:buNone/>
            </a:pPr>
            <a:r>
              <a:rPr lang="en-US" sz="1800" b="1" dirty="0">
                <a:solidFill>
                  <a:srgbClr val="21295C"/>
                </a:solidFill>
                <a:latin typeface="Cambria" pitchFamily="34" charset="0"/>
                <a:ea typeface="Cambria" pitchFamily="34" charset="-122"/>
                <a:cs typeface="Cambria" pitchFamily="34" charset="-120"/>
              </a:rPr>
              <a:t>You need a Pod to receive traffic ONLY from Pods labeled role=frontend that are ALSO running in a namespace labeled env=prod (both conditions required). Which YAML structure is correct?</a:t>
            </a:r>
            <a:endParaRPr lang="en-US" sz="1800" dirty="0"/>
          </a:p>
        </p:txBody>
      </p:sp>
      <p:sp>
        <p:nvSpPr>
          <p:cNvPr id="6" name="Shape 4"/>
          <p:cNvSpPr/>
          <p:nvPr/>
        </p:nvSpPr>
        <p:spPr>
          <a:xfrm>
            <a:off x="640080" y="2057400"/>
            <a:ext cx="10881360" cy="566928"/>
          </a:xfrm>
          <a:prstGeom prst="roundRect">
            <a:avLst>
              <a:gd name="adj" fmla="val 9677"/>
            </a:avLst>
          </a:prstGeom>
          <a:solidFill>
            <a:srgbClr val="E7F5EC"/>
          </a:solidFill>
          <a:ln w="19050">
            <a:solidFill>
              <a:srgbClr val="15803D"/>
            </a:solidFill>
            <a:prstDash val="solid"/>
          </a:ln>
        </p:spPr>
      </p:sp>
      <p:sp>
        <p:nvSpPr>
          <p:cNvPr id="7" name="Text 5"/>
          <p:cNvSpPr/>
          <p:nvPr/>
        </p:nvSpPr>
        <p:spPr>
          <a:xfrm>
            <a:off x="868680" y="2057400"/>
            <a:ext cx="9601200" cy="566928"/>
          </a:xfrm>
          <a:prstGeom prst="rect">
            <a:avLst/>
          </a:prstGeom>
          <a:noFill/>
          <a:ln/>
        </p:spPr>
        <p:txBody>
          <a:bodyPr wrap="square" lIns="0" tIns="0" rIns="0" bIns="0" rtlCol="0" anchor="ctr"/>
          <a:lstStyle/>
          <a:p>
            <a:pPr indent="0" marL="0">
              <a:buNone/>
            </a:pPr>
            <a:r>
              <a:rPr lang="en-US" sz="1350" dirty="0">
                <a:solidFill>
                  <a:srgbClr val="1E293B"/>
                </a:solidFill>
                <a:latin typeface="Calibri" pitchFamily="34" charset="0"/>
                <a:ea typeface="Calibri" pitchFamily="34" charset="-122"/>
                <a:cs typeface="Calibri" pitchFamily="34" charset="-120"/>
              </a:rPr>
              <a:t>A.  A single 'from' list item containing both podSelector and namespaceSelector</a:t>
            </a:r>
            <a:endParaRPr lang="en-US" sz="1350" dirty="0"/>
          </a:p>
        </p:txBody>
      </p:sp>
      <p:sp>
        <p:nvSpPr>
          <p:cNvPr id="8" name="Text 6"/>
          <p:cNvSpPr/>
          <p:nvPr/>
        </p:nvSpPr>
        <p:spPr>
          <a:xfrm>
            <a:off x="10058400" y="2057400"/>
            <a:ext cx="1371600" cy="566928"/>
          </a:xfrm>
          <a:prstGeom prst="rect">
            <a:avLst/>
          </a:prstGeom>
          <a:noFill/>
          <a:ln/>
        </p:spPr>
        <p:txBody>
          <a:bodyPr wrap="square" lIns="0" tIns="0" rIns="0" bIns="0" rtlCol="0" anchor="ctr"/>
          <a:lstStyle/>
          <a:p>
            <a:pPr algn="r" indent="0" marL="0">
              <a:buNone/>
            </a:pPr>
            <a:r>
              <a:rPr lang="en-US" sz="1100" b="1" dirty="0">
                <a:solidFill>
                  <a:srgbClr val="15803D"/>
                </a:solidFill>
                <a:latin typeface="Calibri" pitchFamily="34" charset="0"/>
                <a:ea typeface="Calibri" pitchFamily="34" charset="-122"/>
                <a:cs typeface="Calibri" pitchFamily="34" charset="-120"/>
              </a:rPr>
              <a:t>CORRECT</a:t>
            </a:r>
            <a:endParaRPr lang="en-US" sz="1100" dirty="0"/>
          </a:p>
        </p:txBody>
      </p:sp>
      <p:sp>
        <p:nvSpPr>
          <p:cNvPr id="9" name="Shape 7"/>
          <p:cNvSpPr/>
          <p:nvPr/>
        </p:nvSpPr>
        <p:spPr>
          <a:xfrm>
            <a:off x="640080" y="2734056"/>
            <a:ext cx="10881360" cy="566928"/>
          </a:xfrm>
          <a:prstGeom prst="roundRect">
            <a:avLst>
              <a:gd name="adj" fmla="val 9677"/>
            </a:avLst>
          </a:prstGeom>
          <a:solidFill>
            <a:srgbClr val="EAF4F8"/>
          </a:solidFill>
          <a:ln w="9525">
            <a:solidFill>
              <a:srgbClr val="D7E3E8"/>
            </a:solidFill>
            <a:prstDash val="solid"/>
          </a:ln>
        </p:spPr>
      </p:sp>
      <p:sp>
        <p:nvSpPr>
          <p:cNvPr id="10" name="Text 8"/>
          <p:cNvSpPr/>
          <p:nvPr/>
        </p:nvSpPr>
        <p:spPr>
          <a:xfrm>
            <a:off x="868680" y="2734056"/>
            <a:ext cx="9601200" cy="566928"/>
          </a:xfrm>
          <a:prstGeom prst="rect">
            <a:avLst/>
          </a:prstGeom>
          <a:noFill/>
          <a:ln/>
        </p:spPr>
        <p:txBody>
          <a:bodyPr wrap="square" lIns="0" tIns="0" rIns="0" bIns="0" rtlCol="0" anchor="ctr"/>
          <a:lstStyle/>
          <a:p>
            <a:pPr indent="0" marL="0">
              <a:buNone/>
            </a:pPr>
            <a:r>
              <a:rPr lang="en-US" sz="1350" dirty="0">
                <a:solidFill>
                  <a:srgbClr val="1E293B"/>
                </a:solidFill>
                <a:latin typeface="Calibri" pitchFamily="34" charset="0"/>
                <a:ea typeface="Calibri" pitchFamily="34" charset="-122"/>
                <a:cs typeface="Calibri" pitchFamily="34" charset="-120"/>
              </a:rPr>
              <a:t>B.  Two separate 'from' list items, one with podSelector and one with namespaceSelector</a:t>
            </a:r>
            <a:endParaRPr lang="en-US" sz="1350" dirty="0"/>
          </a:p>
        </p:txBody>
      </p:sp>
      <p:sp>
        <p:nvSpPr>
          <p:cNvPr id="11" name="Shape 9"/>
          <p:cNvSpPr/>
          <p:nvPr/>
        </p:nvSpPr>
        <p:spPr>
          <a:xfrm>
            <a:off x="640080" y="3410712"/>
            <a:ext cx="10881360" cy="566928"/>
          </a:xfrm>
          <a:prstGeom prst="roundRect">
            <a:avLst>
              <a:gd name="adj" fmla="val 9677"/>
            </a:avLst>
          </a:prstGeom>
          <a:solidFill>
            <a:srgbClr val="EAF4F8"/>
          </a:solidFill>
          <a:ln w="9525">
            <a:solidFill>
              <a:srgbClr val="D7E3E8"/>
            </a:solidFill>
            <a:prstDash val="solid"/>
          </a:ln>
        </p:spPr>
      </p:sp>
      <p:sp>
        <p:nvSpPr>
          <p:cNvPr id="12" name="Text 10"/>
          <p:cNvSpPr/>
          <p:nvPr/>
        </p:nvSpPr>
        <p:spPr>
          <a:xfrm>
            <a:off x="868680" y="3410712"/>
            <a:ext cx="9601200" cy="566928"/>
          </a:xfrm>
          <a:prstGeom prst="rect">
            <a:avLst/>
          </a:prstGeom>
          <a:noFill/>
          <a:ln/>
        </p:spPr>
        <p:txBody>
          <a:bodyPr wrap="square" lIns="0" tIns="0" rIns="0" bIns="0" rtlCol="0" anchor="ctr"/>
          <a:lstStyle/>
          <a:p>
            <a:pPr indent="0" marL="0">
              <a:buNone/>
            </a:pPr>
            <a:r>
              <a:rPr lang="en-US" sz="1350" dirty="0">
                <a:solidFill>
                  <a:srgbClr val="1E293B"/>
                </a:solidFill>
                <a:latin typeface="Calibri" pitchFamily="34" charset="0"/>
                <a:ea typeface="Calibri" pitchFamily="34" charset="-122"/>
                <a:cs typeface="Calibri" pitchFamily="34" charset="-120"/>
              </a:rPr>
              <a:t>C.  Two separate NetworkPolicy objects, one for each selector</a:t>
            </a:r>
            <a:endParaRPr lang="en-US" sz="1350" dirty="0"/>
          </a:p>
        </p:txBody>
      </p:sp>
      <p:sp>
        <p:nvSpPr>
          <p:cNvPr id="13" name="Shape 11"/>
          <p:cNvSpPr/>
          <p:nvPr/>
        </p:nvSpPr>
        <p:spPr>
          <a:xfrm>
            <a:off x="640080" y="4087368"/>
            <a:ext cx="10881360" cy="566928"/>
          </a:xfrm>
          <a:prstGeom prst="roundRect">
            <a:avLst>
              <a:gd name="adj" fmla="val 9677"/>
            </a:avLst>
          </a:prstGeom>
          <a:solidFill>
            <a:srgbClr val="EAF4F8"/>
          </a:solidFill>
          <a:ln w="9525">
            <a:solidFill>
              <a:srgbClr val="D7E3E8"/>
            </a:solidFill>
            <a:prstDash val="solid"/>
          </a:ln>
        </p:spPr>
      </p:sp>
      <p:sp>
        <p:nvSpPr>
          <p:cNvPr id="14" name="Text 12"/>
          <p:cNvSpPr/>
          <p:nvPr/>
        </p:nvSpPr>
        <p:spPr>
          <a:xfrm>
            <a:off x="868680" y="4087368"/>
            <a:ext cx="9601200" cy="566928"/>
          </a:xfrm>
          <a:prstGeom prst="rect">
            <a:avLst/>
          </a:prstGeom>
          <a:noFill/>
          <a:ln/>
        </p:spPr>
        <p:txBody>
          <a:bodyPr wrap="square" lIns="0" tIns="0" rIns="0" bIns="0" rtlCol="0" anchor="ctr"/>
          <a:lstStyle/>
          <a:p>
            <a:pPr indent="0" marL="0">
              <a:buNone/>
            </a:pPr>
            <a:r>
              <a:rPr lang="en-US" sz="1350" dirty="0">
                <a:solidFill>
                  <a:srgbClr val="1E293B"/>
                </a:solidFill>
                <a:latin typeface="Calibri" pitchFamily="34" charset="0"/>
                <a:ea typeface="Calibri" pitchFamily="34" charset="-122"/>
                <a:cs typeface="Calibri" pitchFamily="34" charset="-120"/>
              </a:rPr>
              <a:t>D.  A podSelector with matchExpressions combining both conditions</a:t>
            </a:r>
            <a:endParaRPr lang="en-US" sz="1350" dirty="0"/>
          </a:p>
        </p:txBody>
      </p:sp>
      <p:sp>
        <p:nvSpPr>
          <p:cNvPr id="15" name="Shape 13"/>
          <p:cNvSpPr/>
          <p:nvPr/>
        </p:nvSpPr>
        <p:spPr>
          <a:xfrm>
            <a:off x="640080" y="4809744"/>
            <a:ext cx="10881360" cy="1636776"/>
          </a:xfrm>
          <a:prstGeom prst="roundRect">
            <a:avLst>
              <a:gd name="adj" fmla="val 3352"/>
            </a:avLst>
          </a:prstGeom>
          <a:solidFill>
            <a:srgbClr val="FBF3E3"/>
          </a:solidFill>
          <a:ln/>
        </p:spPr>
      </p:sp>
      <p:sp>
        <p:nvSpPr>
          <p:cNvPr id="16" name="Text 14"/>
          <p:cNvSpPr/>
          <p:nvPr/>
        </p:nvSpPr>
        <p:spPr>
          <a:xfrm>
            <a:off x="868680" y="4882896"/>
            <a:ext cx="10424160" cy="1490472"/>
          </a:xfrm>
          <a:prstGeom prst="rect">
            <a:avLst/>
          </a:prstGeom>
          <a:noFill/>
          <a:ln/>
        </p:spPr>
        <p:txBody>
          <a:bodyPr wrap="square" lIns="0" tIns="0" rIns="0" bIns="0" rtlCol="0" anchor="t"/>
          <a:lstStyle/>
          <a:p>
            <a:pPr indent="0" marL="0">
              <a:buNone/>
            </a:pPr>
            <a:r>
              <a:rPr lang="en-US" sz="1250" b="1" dirty="0">
                <a:solidFill>
                  <a:srgbClr val="B7791F"/>
                </a:solidFill>
                <a:latin typeface="Calibri" pitchFamily="34" charset="0"/>
                <a:ea typeface="Calibri" pitchFamily="34" charset="-122"/>
                <a:cs typeface="Calibri" pitchFamily="34" charset="-120"/>
              </a:rPr>
              <a:t>Explanation: </a:t>
            </a:r>
            <a:pPr indent="0" marL="0">
              <a:buNone/>
            </a:pPr>
            <a:r>
              <a:rPr lang="en-US" sz="1250" dirty="0">
                <a:solidFill>
                  <a:srgbClr val="1E293B"/>
                </a:solidFill>
                <a:latin typeface="Calibri" pitchFamily="34" charset="0"/>
                <a:ea typeface="Calibri" pitchFamily="34" charset="-122"/>
                <a:cs typeface="Calibri" pitchFamily="34" charset="-120"/>
              </a:rPr>
              <a:t>Combining podSelector and namespaceSelector within the SAME 'from' list item (i.e. under one leading dash) creates an AND condition -- traffic must satisfy both. Separate list items (separate dashes) would instead create an OR condition, which is not what's being asked for here.</a:t>
            </a:r>
            <a:endParaRPr lang="en-US" sz="1250" dirty="0"/>
          </a:p>
        </p:txBody>
      </p:sp>
      <p:sp>
        <p:nvSpPr>
          <p:cNvPr id="17" name="Text 15"/>
          <p:cNvSpPr/>
          <p:nvPr/>
        </p:nvSpPr>
        <p:spPr>
          <a:xfrm>
            <a:off x="457200" y="6446520"/>
            <a:ext cx="6400800" cy="27432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CKA v1.36 · Module 2</a:t>
            </a:r>
            <a:endParaRPr lang="en-US" sz="900" dirty="0"/>
          </a:p>
        </p:txBody>
      </p:sp>
      <p:sp>
        <p:nvSpPr>
          <p:cNvPr id="18" name="Text 16"/>
          <p:cNvSpPr/>
          <p:nvPr/>
        </p:nvSpPr>
        <p:spPr>
          <a:xfrm>
            <a:off x="11247120" y="6446520"/>
            <a:ext cx="4572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72</a:t>
            </a:r>
            <a:endParaRPr lang="en-US" sz="900" dirty="0"/>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name="Slide 7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365760"/>
            <a:ext cx="2103120" cy="384048"/>
          </a:xfrm>
          <a:prstGeom prst="roundRect">
            <a:avLst>
              <a:gd name="adj" fmla="val 50000"/>
            </a:avLst>
          </a:prstGeom>
          <a:solidFill>
            <a:srgbClr val="21295C"/>
          </a:solidFill>
          <a:ln/>
        </p:spPr>
      </p:sp>
      <p:sp>
        <p:nvSpPr>
          <p:cNvPr id="3" name="Text 1"/>
          <p:cNvSpPr/>
          <p:nvPr/>
        </p:nvSpPr>
        <p:spPr>
          <a:xfrm>
            <a:off x="640080" y="365760"/>
            <a:ext cx="210312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SAMPLE Q4</a:t>
            </a:r>
            <a:endParaRPr lang="en-US" sz="1200" dirty="0"/>
          </a:p>
        </p:txBody>
      </p:sp>
      <p:sp>
        <p:nvSpPr>
          <p:cNvPr id="4" name="Text 2"/>
          <p:cNvSpPr/>
          <p:nvPr/>
        </p:nvSpPr>
        <p:spPr>
          <a:xfrm>
            <a:off x="2880360" y="365760"/>
            <a:ext cx="8595360" cy="384048"/>
          </a:xfrm>
          <a:prstGeom prst="rect">
            <a:avLst/>
          </a:prstGeom>
          <a:noFill/>
          <a:ln/>
        </p:spPr>
        <p:txBody>
          <a:bodyPr wrap="square" lIns="0" tIns="0" rIns="0" bIns="0" rtlCol="0" anchor="ctr"/>
          <a:lstStyle/>
          <a:p>
            <a:pPr indent="0" marL="0">
              <a:buNone/>
            </a:pPr>
            <a:r>
              <a:rPr lang="en-US" sz="1200" i="1" dirty="0">
                <a:solidFill>
                  <a:srgbClr val="64748B"/>
                </a:solidFill>
                <a:latin typeface="Calibri" pitchFamily="34" charset="0"/>
                <a:ea typeface="Calibri" pitchFamily="34" charset="-122"/>
                <a:cs typeface="Calibri" pitchFamily="34" charset="-120"/>
              </a:rPr>
              <a:t>Service Types</a:t>
            </a:r>
            <a:endParaRPr lang="en-US" sz="1200" dirty="0"/>
          </a:p>
        </p:txBody>
      </p:sp>
      <p:sp>
        <p:nvSpPr>
          <p:cNvPr id="5" name="Text 3"/>
          <p:cNvSpPr/>
          <p:nvPr/>
        </p:nvSpPr>
        <p:spPr>
          <a:xfrm>
            <a:off x="640080" y="914400"/>
            <a:ext cx="10881360" cy="1005840"/>
          </a:xfrm>
          <a:prstGeom prst="rect">
            <a:avLst/>
          </a:prstGeom>
          <a:noFill/>
          <a:ln/>
        </p:spPr>
        <p:txBody>
          <a:bodyPr wrap="square" lIns="0" tIns="0" rIns="0" bIns="0" rtlCol="0" anchor="t"/>
          <a:lstStyle/>
          <a:p>
            <a:pPr indent="0" marL="0">
              <a:buNone/>
            </a:pPr>
            <a:r>
              <a:rPr lang="en-US" sz="1800" b="1" dirty="0">
                <a:solidFill>
                  <a:srgbClr val="21295C"/>
                </a:solidFill>
                <a:latin typeface="Cambria" pitchFamily="34" charset="0"/>
                <a:ea typeface="Cambria" pitchFamily="34" charset="-122"/>
                <a:cs typeface="Cambria" pitchFamily="34" charset="-120"/>
              </a:rPr>
              <a:t>A LoadBalancer Service's EXTERNAL-IP shows &lt;pending&gt; indefinitely on a kubeadm-built bare-metal lab cluster. What is the most likely explanation?</a:t>
            </a:r>
            <a:endParaRPr lang="en-US" sz="1800" dirty="0"/>
          </a:p>
        </p:txBody>
      </p:sp>
      <p:sp>
        <p:nvSpPr>
          <p:cNvPr id="6" name="Shape 4"/>
          <p:cNvSpPr/>
          <p:nvPr/>
        </p:nvSpPr>
        <p:spPr>
          <a:xfrm>
            <a:off x="640080" y="2057400"/>
            <a:ext cx="10881360" cy="566928"/>
          </a:xfrm>
          <a:prstGeom prst="roundRect">
            <a:avLst>
              <a:gd name="adj" fmla="val 9677"/>
            </a:avLst>
          </a:prstGeom>
          <a:solidFill>
            <a:srgbClr val="EAF4F8"/>
          </a:solidFill>
          <a:ln w="9525">
            <a:solidFill>
              <a:srgbClr val="D7E3E8"/>
            </a:solidFill>
            <a:prstDash val="solid"/>
          </a:ln>
        </p:spPr>
      </p:sp>
      <p:sp>
        <p:nvSpPr>
          <p:cNvPr id="7" name="Text 5"/>
          <p:cNvSpPr/>
          <p:nvPr/>
        </p:nvSpPr>
        <p:spPr>
          <a:xfrm>
            <a:off x="868680" y="2057400"/>
            <a:ext cx="9601200" cy="566928"/>
          </a:xfrm>
          <a:prstGeom prst="rect">
            <a:avLst/>
          </a:prstGeom>
          <a:noFill/>
          <a:ln/>
        </p:spPr>
        <p:txBody>
          <a:bodyPr wrap="square" lIns="0" tIns="0" rIns="0" bIns="0" rtlCol="0" anchor="ctr"/>
          <a:lstStyle/>
          <a:p>
            <a:pPr indent="0" marL="0">
              <a:buNone/>
            </a:pPr>
            <a:r>
              <a:rPr lang="en-US" sz="1350" dirty="0">
                <a:solidFill>
                  <a:srgbClr val="1E293B"/>
                </a:solidFill>
                <a:latin typeface="Calibri" pitchFamily="34" charset="0"/>
                <a:ea typeface="Calibri" pitchFamily="34" charset="-122"/>
                <a:cs typeface="Calibri" pitchFamily="34" charset="-120"/>
              </a:rPr>
              <a:t>A.  The Service YAML has a syntax error</a:t>
            </a:r>
            <a:endParaRPr lang="en-US" sz="1350" dirty="0"/>
          </a:p>
        </p:txBody>
      </p:sp>
      <p:sp>
        <p:nvSpPr>
          <p:cNvPr id="8" name="Shape 6"/>
          <p:cNvSpPr/>
          <p:nvPr/>
        </p:nvSpPr>
        <p:spPr>
          <a:xfrm>
            <a:off x="640080" y="2734056"/>
            <a:ext cx="10881360" cy="566928"/>
          </a:xfrm>
          <a:prstGeom prst="roundRect">
            <a:avLst>
              <a:gd name="adj" fmla="val 9677"/>
            </a:avLst>
          </a:prstGeom>
          <a:solidFill>
            <a:srgbClr val="E7F5EC"/>
          </a:solidFill>
          <a:ln w="19050">
            <a:solidFill>
              <a:srgbClr val="15803D"/>
            </a:solidFill>
            <a:prstDash val="solid"/>
          </a:ln>
        </p:spPr>
      </p:sp>
      <p:sp>
        <p:nvSpPr>
          <p:cNvPr id="9" name="Text 7"/>
          <p:cNvSpPr/>
          <p:nvPr/>
        </p:nvSpPr>
        <p:spPr>
          <a:xfrm>
            <a:off x="868680" y="2734056"/>
            <a:ext cx="9601200" cy="566928"/>
          </a:xfrm>
          <a:prstGeom prst="rect">
            <a:avLst/>
          </a:prstGeom>
          <a:noFill/>
          <a:ln/>
        </p:spPr>
        <p:txBody>
          <a:bodyPr wrap="square" lIns="0" tIns="0" rIns="0" bIns="0" rtlCol="0" anchor="ctr"/>
          <a:lstStyle/>
          <a:p>
            <a:pPr indent="0" marL="0">
              <a:buNone/>
            </a:pPr>
            <a:r>
              <a:rPr lang="en-US" sz="1350" dirty="0">
                <a:solidFill>
                  <a:srgbClr val="1E293B"/>
                </a:solidFill>
                <a:latin typeface="Calibri" pitchFamily="34" charset="0"/>
                <a:ea typeface="Calibri" pitchFamily="34" charset="-122"/>
                <a:cs typeface="Calibri" pitchFamily="34" charset="-120"/>
              </a:rPr>
              <a:t>B.  The cluster has no cloud provider integration (and no tool like MetalLB) to provision an external load balancer</a:t>
            </a:r>
            <a:endParaRPr lang="en-US" sz="1350" dirty="0"/>
          </a:p>
        </p:txBody>
      </p:sp>
      <p:sp>
        <p:nvSpPr>
          <p:cNvPr id="10" name="Text 8"/>
          <p:cNvSpPr/>
          <p:nvPr/>
        </p:nvSpPr>
        <p:spPr>
          <a:xfrm>
            <a:off x="10058400" y="2734056"/>
            <a:ext cx="1371600" cy="566928"/>
          </a:xfrm>
          <a:prstGeom prst="rect">
            <a:avLst/>
          </a:prstGeom>
          <a:noFill/>
          <a:ln/>
        </p:spPr>
        <p:txBody>
          <a:bodyPr wrap="square" lIns="0" tIns="0" rIns="0" bIns="0" rtlCol="0" anchor="ctr"/>
          <a:lstStyle/>
          <a:p>
            <a:pPr algn="r" indent="0" marL="0">
              <a:buNone/>
            </a:pPr>
            <a:r>
              <a:rPr lang="en-US" sz="1100" b="1" dirty="0">
                <a:solidFill>
                  <a:srgbClr val="15803D"/>
                </a:solidFill>
                <a:latin typeface="Calibri" pitchFamily="34" charset="0"/>
                <a:ea typeface="Calibri" pitchFamily="34" charset="-122"/>
                <a:cs typeface="Calibri" pitchFamily="34" charset="-120"/>
              </a:rPr>
              <a:t>CORRECT</a:t>
            </a:r>
            <a:endParaRPr lang="en-US" sz="1100" dirty="0"/>
          </a:p>
        </p:txBody>
      </p:sp>
      <p:sp>
        <p:nvSpPr>
          <p:cNvPr id="11" name="Shape 9"/>
          <p:cNvSpPr/>
          <p:nvPr/>
        </p:nvSpPr>
        <p:spPr>
          <a:xfrm>
            <a:off x="640080" y="3410712"/>
            <a:ext cx="10881360" cy="566928"/>
          </a:xfrm>
          <a:prstGeom prst="roundRect">
            <a:avLst>
              <a:gd name="adj" fmla="val 9677"/>
            </a:avLst>
          </a:prstGeom>
          <a:solidFill>
            <a:srgbClr val="EAF4F8"/>
          </a:solidFill>
          <a:ln w="9525">
            <a:solidFill>
              <a:srgbClr val="D7E3E8"/>
            </a:solidFill>
            <a:prstDash val="solid"/>
          </a:ln>
        </p:spPr>
      </p:sp>
      <p:sp>
        <p:nvSpPr>
          <p:cNvPr id="12" name="Text 10"/>
          <p:cNvSpPr/>
          <p:nvPr/>
        </p:nvSpPr>
        <p:spPr>
          <a:xfrm>
            <a:off x="868680" y="3410712"/>
            <a:ext cx="9601200" cy="566928"/>
          </a:xfrm>
          <a:prstGeom prst="rect">
            <a:avLst/>
          </a:prstGeom>
          <a:noFill/>
          <a:ln/>
        </p:spPr>
        <p:txBody>
          <a:bodyPr wrap="square" lIns="0" tIns="0" rIns="0" bIns="0" rtlCol="0" anchor="ctr"/>
          <a:lstStyle/>
          <a:p>
            <a:pPr indent="0" marL="0">
              <a:buNone/>
            </a:pPr>
            <a:r>
              <a:rPr lang="en-US" sz="1350" dirty="0">
                <a:solidFill>
                  <a:srgbClr val="1E293B"/>
                </a:solidFill>
                <a:latin typeface="Calibri" pitchFamily="34" charset="0"/>
                <a:ea typeface="Calibri" pitchFamily="34" charset="-122"/>
                <a:cs typeface="Calibri" pitchFamily="34" charset="-120"/>
              </a:rPr>
              <a:t>C.  The Pods are not in a Ready state</a:t>
            </a:r>
            <a:endParaRPr lang="en-US" sz="1350" dirty="0"/>
          </a:p>
        </p:txBody>
      </p:sp>
      <p:sp>
        <p:nvSpPr>
          <p:cNvPr id="13" name="Shape 11"/>
          <p:cNvSpPr/>
          <p:nvPr/>
        </p:nvSpPr>
        <p:spPr>
          <a:xfrm>
            <a:off x="640080" y="4087368"/>
            <a:ext cx="10881360" cy="566928"/>
          </a:xfrm>
          <a:prstGeom prst="roundRect">
            <a:avLst>
              <a:gd name="adj" fmla="val 9677"/>
            </a:avLst>
          </a:prstGeom>
          <a:solidFill>
            <a:srgbClr val="EAF4F8"/>
          </a:solidFill>
          <a:ln w="9525">
            <a:solidFill>
              <a:srgbClr val="D7E3E8"/>
            </a:solidFill>
            <a:prstDash val="solid"/>
          </a:ln>
        </p:spPr>
      </p:sp>
      <p:sp>
        <p:nvSpPr>
          <p:cNvPr id="14" name="Text 12"/>
          <p:cNvSpPr/>
          <p:nvPr/>
        </p:nvSpPr>
        <p:spPr>
          <a:xfrm>
            <a:off x="868680" y="4087368"/>
            <a:ext cx="9601200" cy="566928"/>
          </a:xfrm>
          <a:prstGeom prst="rect">
            <a:avLst/>
          </a:prstGeom>
          <a:noFill/>
          <a:ln/>
        </p:spPr>
        <p:txBody>
          <a:bodyPr wrap="square" lIns="0" tIns="0" rIns="0" bIns="0" rtlCol="0" anchor="ctr"/>
          <a:lstStyle/>
          <a:p>
            <a:pPr indent="0" marL="0">
              <a:buNone/>
            </a:pPr>
            <a:r>
              <a:rPr lang="en-US" sz="1350" dirty="0">
                <a:solidFill>
                  <a:srgbClr val="1E293B"/>
                </a:solidFill>
                <a:latin typeface="Calibri" pitchFamily="34" charset="0"/>
                <a:ea typeface="Calibri" pitchFamily="34" charset="-122"/>
                <a:cs typeface="Calibri" pitchFamily="34" charset="-120"/>
              </a:rPr>
              <a:t>D.  NodePort range has been exhausted</a:t>
            </a:r>
            <a:endParaRPr lang="en-US" sz="1350" dirty="0"/>
          </a:p>
        </p:txBody>
      </p:sp>
      <p:sp>
        <p:nvSpPr>
          <p:cNvPr id="15" name="Shape 13"/>
          <p:cNvSpPr/>
          <p:nvPr/>
        </p:nvSpPr>
        <p:spPr>
          <a:xfrm>
            <a:off x="640080" y="4809744"/>
            <a:ext cx="10881360" cy="1636776"/>
          </a:xfrm>
          <a:prstGeom prst="roundRect">
            <a:avLst>
              <a:gd name="adj" fmla="val 3352"/>
            </a:avLst>
          </a:prstGeom>
          <a:solidFill>
            <a:srgbClr val="FBF3E3"/>
          </a:solidFill>
          <a:ln/>
        </p:spPr>
      </p:sp>
      <p:sp>
        <p:nvSpPr>
          <p:cNvPr id="16" name="Text 14"/>
          <p:cNvSpPr/>
          <p:nvPr/>
        </p:nvSpPr>
        <p:spPr>
          <a:xfrm>
            <a:off x="868680" y="4882896"/>
            <a:ext cx="10424160" cy="1490472"/>
          </a:xfrm>
          <a:prstGeom prst="rect">
            <a:avLst/>
          </a:prstGeom>
          <a:noFill/>
          <a:ln/>
        </p:spPr>
        <p:txBody>
          <a:bodyPr wrap="square" lIns="0" tIns="0" rIns="0" bIns="0" rtlCol="0" anchor="t"/>
          <a:lstStyle/>
          <a:p>
            <a:pPr indent="0" marL="0">
              <a:buNone/>
            </a:pPr>
            <a:r>
              <a:rPr lang="en-US" sz="1250" b="1" dirty="0">
                <a:solidFill>
                  <a:srgbClr val="B7791F"/>
                </a:solidFill>
                <a:latin typeface="Calibri" pitchFamily="34" charset="0"/>
                <a:ea typeface="Calibri" pitchFamily="34" charset="-122"/>
                <a:cs typeface="Calibri" pitchFamily="34" charset="-120"/>
              </a:rPr>
              <a:t>Explanation: </a:t>
            </a:r>
            <a:pPr indent="0" marL="0">
              <a:buNone/>
            </a:pPr>
            <a:r>
              <a:rPr lang="en-US" sz="1250" dirty="0">
                <a:solidFill>
                  <a:srgbClr val="1E293B"/>
                </a:solidFill>
                <a:latin typeface="Calibri" pitchFamily="34" charset="0"/>
                <a:ea typeface="Calibri" pitchFamily="34" charset="-122"/>
                <a:cs typeface="Calibri" pitchFamily="34" charset="-120"/>
              </a:rPr>
              <a:t>LoadBalancer Services depend on a cloud provider's controller (or an on-prem equivalent like MetalLB) to actually provision the external IP. On a plain kubeadm bare-metal cluster with neither installed, EXTERNAL-IP stays &lt;pending&gt; forever by design -- this is expected behavior, not a misconfiguration.</a:t>
            </a:r>
            <a:endParaRPr lang="en-US" sz="1250" dirty="0"/>
          </a:p>
        </p:txBody>
      </p:sp>
      <p:sp>
        <p:nvSpPr>
          <p:cNvPr id="17" name="Text 15"/>
          <p:cNvSpPr/>
          <p:nvPr/>
        </p:nvSpPr>
        <p:spPr>
          <a:xfrm>
            <a:off x="457200" y="6446520"/>
            <a:ext cx="6400800" cy="27432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CKA v1.36 · Module 2</a:t>
            </a:r>
            <a:endParaRPr lang="en-US" sz="900" dirty="0"/>
          </a:p>
        </p:txBody>
      </p:sp>
      <p:sp>
        <p:nvSpPr>
          <p:cNvPr id="18" name="Text 16"/>
          <p:cNvSpPr/>
          <p:nvPr/>
        </p:nvSpPr>
        <p:spPr>
          <a:xfrm>
            <a:off x="11247120" y="6446520"/>
            <a:ext cx="4572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73</a:t>
            </a:r>
            <a:endParaRPr lang="en-US" sz="900" dirty="0"/>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name="Slide 7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365760"/>
            <a:ext cx="2103120" cy="384048"/>
          </a:xfrm>
          <a:prstGeom prst="roundRect">
            <a:avLst>
              <a:gd name="adj" fmla="val 50000"/>
            </a:avLst>
          </a:prstGeom>
          <a:solidFill>
            <a:srgbClr val="21295C"/>
          </a:solidFill>
          <a:ln/>
        </p:spPr>
      </p:sp>
      <p:sp>
        <p:nvSpPr>
          <p:cNvPr id="3" name="Text 1"/>
          <p:cNvSpPr/>
          <p:nvPr/>
        </p:nvSpPr>
        <p:spPr>
          <a:xfrm>
            <a:off x="640080" y="365760"/>
            <a:ext cx="210312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SAMPLE Q5</a:t>
            </a:r>
            <a:endParaRPr lang="en-US" sz="1200" dirty="0"/>
          </a:p>
        </p:txBody>
      </p:sp>
      <p:sp>
        <p:nvSpPr>
          <p:cNvPr id="4" name="Text 2"/>
          <p:cNvSpPr/>
          <p:nvPr/>
        </p:nvSpPr>
        <p:spPr>
          <a:xfrm>
            <a:off x="2880360" y="365760"/>
            <a:ext cx="8595360" cy="384048"/>
          </a:xfrm>
          <a:prstGeom prst="rect">
            <a:avLst/>
          </a:prstGeom>
          <a:noFill/>
          <a:ln/>
        </p:spPr>
        <p:txBody>
          <a:bodyPr wrap="square" lIns="0" tIns="0" rIns="0" bIns="0" rtlCol="0" anchor="ctr"/>
          <a:lstStyle/>
          <a:p>
            <a:pPr indent="0" marL="0">
              <a:buNone/>
            </a:pPr>
            <a:r>
              <a:rPr lang="en-US" sz="1200" i="1" dirty="0">
                <a:solidFill>
                  <a:srgbClr val="64748B"/>
                </a:solidFill>
                <a:latin typeface="Calibri" pitchFamily="34" charset="0"/>
                <a:ea typeface="Calibri" pitchFamily="34" charset="-122"/>
                <a:cs typeface="Calibri" pitchFamily="34" charset="-120"/>
              </a:rPr>
              <a:t>Ingress</a:t>
            </a:r>
            <a:endParaRPr lang="en-US" sz="1200" dirty="0"/>
          </a:p>
        </p:txBody>
      </p:sp>
      <p:sp>
        <p:nvSpPr>
          <p:cNvPr id="5" name="Text 3"/>
          <p:cNvSpPr/>
          <p:nvPr/>
        </p:nvSpPr>
        <p:spPr>
          <a:xfrm>
            <a:off x="640080" y="914400"/>
            <a:ext cx="10881360" cy="1005840"/>
          </a:xfrm>
          <a:prstGeom prst="rect">
            <a:avLst/>
          </a:prstGeom>
          <a:noFill/>
          <a:ln/>
        </p:spPr>
        <p:txBody>
          <a:bodyPr wrap="square" lIns="0" tIns="0" rIns="0" bIns="0" rtlCol="0" anchor="t"/>
          <a:lstStyle/>
          <a:p>
            <a:pPr indent="0" marL="0">
              <a:buNone/>
            </a:pPr>
            <a:r>
              <a:rPr lang="en-US" sz="1800" b="1" dirty="0">
                <a:solidFill>
                  <a:srgbClr val="21295C"/>
                </a:solidFill>
                <a:latin typeface="Cambria" pitchFamily="34" charset="0"/>
                <a:ea typeface="Cambria" pitchFamily="34" charset="-122"/>
                <a:cs typeface="Cambria" pitchFamily="34" charset="-120"/>
              </a:rPr>
              <a:t>An Ingress object is applied with no errors and correct YAML syntax, but traffic never routes to the backend Service. What is the most likely root cause?</a:t>
            </a:r>
            <a:endParaRPr lang="en-US" sz="1800" dirty="0"/>
          </a:p>
        </p:txBody>
      </p:sp>
      <p:sp>
        <p:nvSpPr>
          <p:cNvPr id="6" name="Shape 4"/>
          <p:cNvSpPr/>
          <p:nvPr/>
        </p:nvSpPr>
        <p:spPr>
          <a:xfrm>
            <a:off x="640080" y="2057400"/>
            <a:ext cx="10881360" cy="566928"/>
          </a:xfrm>
          <a:prstGeom prst="roundRect">
            <a:avLst>
              <a:gd name="adj" fmla="val 9677"/>
            </a:avLst>
          </a:prstGeom>
          <a:solidFill>
            <a:srgbClr val="EAF4F8"/>
          </a:solidFill>
          <a:ln w="9525">
            <a:solidFill>
              <a:srgbClr val="D7E3E8"/>
            </a:solidFill>
            <a:prstDash val="solid"/>
          </a:ln>
        </p:spPr>
      </p:sp>
      <p:sp>
        <p:nvSpPr>
          <p:cNvPr id="7" name="Text 5"/>
          <p:cNvSpPr/>
          <p:nvPr/>
        </p:nvSpPr>
        <p:spPr>
          <a:xfrm>
            <a:off x="868680" y="2057400"/>
            <a:ext cx="9601200" cy="566928"/>
          </a:xfrm>
          <a:prstGeom prst="rect">
            <a:avLst/>
          </a:prstGeom>
          <a:noFill/>
          <a:ln/>
        </p:spPr>
        <p:txBody>
          <a:bodyPr wrap="square" lIns="0" tIns="0" rIns="0" bIns="0" rtlCol="0" anchor="ctr"/>
          <a:lstStyle/>
          <a:p>
            <a:pPr indent="0" marL="0">
              <a:buNone/>
            </a:pPr>
            <a:r>
              <a:rPr lang="en-US" sz="1350" dirty="0">
                <a:solidFill>
                  <a:srgbClr val="1E293B"/>
                </a:solidFill>
                <a:latin typeface="Calibri" pitchFamily="34" charset="0"/>
                <a:ea typeface="Calibri" pitchFamily="34" charset="-122"/>
                <a:cs typeface="Calibri" pitchFamily="34" charset="-120"/>
              </a:rPr>
              <a:t>A.  The Ingress API version is deprecated</a:t>
            </a:r>
            <a:endParaRPr lang="en-US" sz="1350" dirty="0"/>
          </a:p>
        </p:txBody>
      </p:sp>
      <p:sp>
        <p:nvSpPr>
          <p:cNvPr id="8" name="Shape 6"/>
          <p:cNvSpPr/>
          <p:nvPr/>
        </p:nvSpPr>
        <p:spPr>
          <a:xfrm>
            <a:off x="640080" y="2734056"/>
            <a:ext cx="10881360" cy="566928"/>
          </a:xfrm>
          <a:prstGeom prst="roundRect">
            <a:avLst>
              <a:gd name="adj" fmla="val 9677"/>
            </a:avLst>
          </a:prstGeom>
          <a:solidFill>
            <a:srgbClr val="E7F5EC"/>
          </a:solidFill>
          <a:ln w="19050">
            <a:solidFill>
              <a:srgbClr val="15803D"/>
            </a:solidFill>
            <a:prstDash val="solid"/>
          </a:ln>
        </p:spPr>
      </p:sp>
      <p:sp>
        <p:nvSpPr>
          <p:cNvPr id="9" name="Text 7"/>
          <p:cNvSpPr/>
          <p:nvPr/>
        </p:nvSpPr>
        <p:spPr>
          <a:xfrm>
            <a:off x="868680" y="2734056"/>
            <a:ext cx="9601200" cy="566928"/>
          </a:xfrm>
          <a:prstGeom prst="rect">
            <a:avLst/>
          </a:prstGeom>
          <a:noFill/>
          <a:ln/>
        </p:spPr>
        <p:txBody>
          <a:bodyPr wrap="square" lIns="0" tIns="0" rIns="0" bIns="0" rtlCol="0" anchor="ctr"/>
          <a:lstStyle/>
          <a:p>
            <a:pPr indent="0" marL="0">
              <a:buNone/>
            </a:pPr>
            <a:r>
              <a:rPr lang="en-US" sz="1350" dirty="0">
                <a:solidFill>
                  <a:srgbClr val="1E293B"/>
                </a:solidFill>
                <a:latin typeface="Calibri" pitchFamily="34" charset="0"/>
                <a:ea typeface="Calibri" pitchFamily="34" charset="-122"/>
                <a:cs typeface="Calibri" pitchFamily="34" charset="-120"/>
              </a:rPr>
              <a:t>B.  No Ingress controller is installed in the cluster</a:t>
            </a:r>
            <a:endParaRPr lang="en-US" sz="1350" dirty="0"/>
          </a:p>
        </p:txBody>
      </p:sp>
      <p:sp>
        <p:nvSpPr>
          <p:cNvPr id="10" name="Text 8"/>
          <p:cNvSpPr/>
          <p:nvPr/>
        </p:nvSpPr>
        <p:spPr>
          <a:xfrm>
            <a:off x="10058400" y="2734056"/>
            <a:ext cx="1371600" cy="566928"/>
          </a:xfrm>
          <a:prstGeom prst="rect">
            <a:avLst/>
          </a:prstGeom>
          <a:noFill/>
          <a:ln/>
        </p:spPr>
        <p:txBody>
          <a:bodyPr wrap="square" lIns="0" tIns="0" rIns="0" bIns="0" rtlCol="0" anchor="ctr"/>
          <a:lstStyle/>
          <a:p>
            <a:pPr algn="r" indent="0" marL="0">
              <a:buNone/>
            </a:pPr>
            <a:r>
              <a:rPr lang="en-US" sz="1100" b="1" dirty="0">
                <a:solidFill>
                  <a:srgbClr val="15803D"/>
                </a:solidFill>
                <a:latin typeface="Calibri" pitchFamily="34" charset="0"/>
                <a:ea typeface="Calibri" pitchFamily="34" charset="-122"/>
                <a:cs typeface="Calibri" pitchFamily="34" charset="-120"/>
              </a:rPr>
              <a:t>CORRECT</a:t>
            </a:r>
            <a:endParaRPr lang="en-US" sz="1100" dirty="0"/>
          </a:p>
        </p:txBody>
      </p:sp>
      <p:sp>
        <p:nvSpPr>
          <p:cNvPr id="11" name="Shape 9"/>
          <p:cNvSpPr/>
          <p:nvPr/>
        </p:nvSpPr>
        <p:spPr>
          <a:xfrm>
            <a:off x="640080" y="3410712"/>
            <a:ext cx="10881360" cy="566928"/>
          </a:xfrm>
          <a:prstGeom prst="roundRect">
            <a:avLst>
              <a:gd name="adj" fmla="val 9677"/>
            </a:avLst>
          </a:prstGeom>
          <a:solidFill>
            <a:srgbClr val="EAF4F8"/>
          </a:solidFill>
          <a:ln w="9525">
            <a:solidFill>
              <a:srgbClr val="D7E3E8"/>
            </a:solidFill>
            <a:prstDash val="solid"/>
          </a:ln>
        </p:spPr>
      </p:sp>
      <p:sp>
        <p:nvSpPr>
          <p:cNvPr id="12" name="Text 10"/>
          <p:cNvSpPr/>
          <p:nvPr/>
        </p:nvSpPr>
        <p:spPr>
          <a:xfrm>
            <a:off x="868680" y="3410712"/>
            <a:ext cx="9601200" cy="566928"/>
          </a:xfrm>
          <a:prstGeom prst="rect">
            <a:avLst/>
          </a:prstGeom>
          <a:noFill/>
          <a:ln/>
        </p:spPr>
        <p:txBody>
          <a:bodyPr wrap="square" lIns="0" tIns="0" rIns="0" bIns="0" rtlCol="0" anchor="ctr"/>
          <a:lstStyle/>
          <a:p>
            <a:pPr indent="0" marL="0">
              <a:buNone/>
            </a:pPr>
            <a:r>
              <a:rPr lang="en-US" sz="1350" dirty="0">
                <a:solidFill>
                  <a:srgbClr val="1E293B"/>
                </a:solidFill>
                <a:latin typeface="Calibri" pitchFamily="34" charset="0"/>
                <a:ea typeface="Calibri" pitchFamily="34" charset="-122"/>
                <a:cs typeface="Calibri" pitchFamily="34" charset="-120"/>
              </a:rPr>
              <a:t>C.  The backend Service is of type ClusterIP</a:t>
            </a:r>
            <a:endParaRPr lang="en-US" sz="1350" dirty="0"/>
          </a:p>
        </p:txBody>
      </p:sp>
      <p:sp>
        <p:nvSpPr>
          <p:cNvPr id="13" name="Shape 11"/>
          <p:cNvSpPr/>
          <p:nvPr/>
        </p:nvSpPr>
        <p:spPr>
          <a:xfrm>
            <a:off x="640080" y="4087368"/>
            <a:ext cx="10881360" cy="566928"/>
          </a:xfrm>
          <a:prstGeom prst="roundRect">
            <a:avLst>
              <a:gd name="adj" fmla="val 9677"/>
            </a:avLst>
          </a:prstGeom>
          <a:solidFill>
            <a:srgbClr val="EAF4F8"/>
          </a:solidFill>
          <a:ln w="9525">
            <a:solidFill>
              <a:srgbClr val="D7E3E8"/>
            </a:solidFill>
            <a:prstDash val="solid"/>
          </a:ln>
        </p:spPr>
      </p:sp>
      <p:sp>
        <p:nvSpPr>
          <p:cNvPr id="14" name="Text 12"/>
          <p:cNvSpPr/>
          <p:nvPr/>
        </p:nvSpPr>
        <p:spPr>
          <a:xfrm>
            <a:off x="868680" y="4087368"/>
            <a:ext cx="9601200" cy="566928"/>
          </a:xfrm>
          <a:prstGeom prst="rect">
            <a:avLst/>
          </a:prstGeom>
          <a:noFill/>
          <a:ln/>
        </p:spPr>
        <p:txBody>
          <a:bodyPr wrap="square" lIns="0" tIns="0" rIns="0" bIns="0" rtlCol="0" anchor="ctr"/>
          <a:lstStyle/>
          <a:p>
            <a:pPr indent="0" marL="0">
              <a:buNone/>
            </a:pPr>
            <a:r>
              <a:rPr lang="en-US" sz="1350" dirty="0">
                <a:solidFill>
                  <a:srgbClr val="1E293B"/>
                </a:solidFill>
                <a:latin typeface="Calibri" pitchFamily="34" charset="0"/>
                <a:ea typeface="Calibri" pitchFamily="34" charset="-122"/>
                <a:cs typeface="Calibri" pitchFamily="34" charset="-120"/>
              </a:rPr>
              <a:t>D.  The Ingress object is missing a NodePort</a:t>
            </a:r>
            <a:endParaRPr lang="en-US" sz="1350" dirty="0"/>
          </a:p>
        </p:txBody>
      </p:sp>
      <p:sp>
        <p:nvSpPr>
          <p:cNvPr id="15" name="Shape 13"/>
          <p:cNvSpPr/>
          <p:nvPr/>
        </p:nvSpPr>
        <p:spPr>
          <a:xfrm>
            <a:off x="640080" y="4809744"/>
            <a:ext cx="10881360" cy="1636776"/>
          </a:xfrm>
          <a:prstGeom prst="roundRect">
            <a:avLst>
              <a:gd name="adj" fmla="val 3352"/>
            </a:avLst>
          </a:prstGeom>
          <a:solidFill>
            <a:srgbClr val="FBF3E3"/>
          </a:solidFill>
          <a:ln/>
        </p:spPr>
      </p:sp>
      <p:sp>
        <p:nvSpPr>
          <p:cNvPr id="16" name="Text 14"/>
          <p:cNvSpPr/>
          <p:nvPr/>
        </p:nvSpPr>
        <p:spPr>
          <a:xfrm>
            <a:off x="868680" y="4882896"/>
            <a:ext cx="10424160" cy="1490472"/>
          </a:xfrm>
          <a:prstGeom prst="rect">
            <a:avLst/>
          </a:prstGeom>
          <a:noFill/>
          <a:ln/>
        </p:spPr>
        <p:txBody>
          <a:bodyPr wrap="square" lIns="0" tIns="0" rIns="0" bIns="0" rtlCol="0" anchor="t"/>
          <a:lstStyle/>
          <a:p>
            <a:pPr indent="0" marL="0">
              <a:buNone/>
            </a:pPr>
            <a:r>
              <a:rPr lang="en-US" sz="1250" b="1" dirty="0">
                <a:solidFill>
                  <a:srgbClr val="B7791F"/>
                </a:solidFill>
                <a:latin typeface="Calibri" pitchFamily="34" charset="0"/>
                <a:ea typeface="Calibri" pitchFamily="34" charset="-122"/>
                <a:cs typeface="Calibri" pitchFamily="34" charset="-120"/>
              </a:rPr>
              <a:t>Explanation: </a:t>
            </a:r>
            <a:pPr indent="0" marL="0">
              <a:buNone/>
            </a:pPr>
            <a:r>
              <a:rPr lang="en-US" sz="1250" dirty="0">
                <a:solidFill>
                  <a:srgbClr val="1E293B"/>
                </a:solidFill>
                <a:latin typeface="Calibri" pitchFamily="34" charset="0"/>
                <a:ea typeface="Calibri" pitchFamily="34" charset="-122"/>
                <a:cs typeface="Calibri" pitchFamily="34" charset="-120"/>
              </a:rPr>
              <a:t>Kubernetes ships with no default Ingress controller. An Ingress object with perfectly valid YAML does nothing on its own if no controller (e.g. ingress-nginx) is watching and implementing it. A ClusterIP backend Service is actually the NORMAL and expected backend type for an Ingress.</a:t>
            </a:r>
            <a:endParaRPr lang="en-US" sz="1250" dirty="0"/>
          </a:p>
        </p:txBody>
      </p:sp>
      <p:sp>
        <p:nvSpPr>
          <p:cNvPr id="17" name="Text 15"/>
          <p:cNvSpPr/>
          <p:nvPr/>
        </p:nvSpPr>
        <p:spPr>
          <a:xfrm>
            <a:off x="457200" y="6446520"/>
            <a:ext cx="6400800" cy="27432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CKA v1.36 · Module 2</a:t>
            </a:r>
            <a:endParaRPr lang="en-US" sz="900" dirty="0"/>
          </a:p>
        </p:txBody>
      </p:sp>
      <p:sp>
        <p:nvSpPr>
          <p:cNvPr id="18" name="Text 16"/>
          <p:cNvSpPr/>
          <p:nvPr/>
        </p:nvSpPr>
        <p:spPr>
          <a:xfrm>
            <a:off x="11247120" y="6446520"/>
            <a:ext cx="4572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74</a:t>
            </a:r>
            <a:endParaRPr lang="en-US" sz="900" dirty="0"/>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name="Slide 7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365760"/>
            <a:ext cx="2103120" cy="384048"/>
          </a:xfrm>
          <a:prstGeom prst="roundRect">
            <a:avLst>
              <a:gd name="adj" fmla="val 50000"/>
            </a:avLst>
          </a:prstGeom>
          <a:solidFill>
            <a:srgbClr val="21295C"/>
          </a:solidFill>
          <a:ln/>
        </p:spPr>
      </p:sp>
      <p:sp>
        <p:nvSpPr>
          <p:cNvPr id="3" name="Text 1"/>
          <p:cNvSpPr/>
          <p:nvPr/>
        </p:nvSpPr>
        <p:spPr>
          <a:xfrm>
            <a:off x="640080" y="365760"/>
            <a:ext cx="210312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SAMPLE Q6</a:t>
            </a:r>
            <a:endParaRPr lang="en-US" sz="1200" dirty="0"/>
          </a:p>
        </p:txBody>
      </p:sp>
      <p:sp>
        <p:nvSpPr>
          <p:cNvPr id="4" name="Text 2"/>
          <p:cNvSpPr/>
          <p:nvPr/>
        </p:nvSpPr>
        <p:spPr>
          <a:xfrm>
            <a:off x="2880360" y="365760"/>
            <a:ext cx="8595360" cy="384048"/>
          </a:xfrm>
          <a:prstGeom prst="rect">
            <a:avLst/>
          </a:prstGeom>
          <a:noFill/>
          <a:ln/>
        </p:spPr>
        <p:txBody>
          <a:bodyPr wrap="square" lIns="0" tIns="0" rIns="0" bIns="0" rtlCol="0" anchor="ctr"/>
          <a:lstStyle/>
          <a:p>
            <a:pPr indent="0" marL="0">
              <a:buNone/>
            </a:pPr>
            <a:r>
              <a:rPr lang="en-US" sz="1200" i="1" dirty="0">
                <a:solidFill>
                  <a:srgbClr val="64748B"/>
                </a:solidFill>
                <a:latin typeface="Calibri" pitchFamily="34" charset="0"/>
                <a:ea typeface="Calibri" pitchFamily="34" charset="-122"/>
                <a:cs typeface="Calibri" pitchFamily="34" charset="-120"/>
              </a:rPr>
              <a:t>Gateway API</a:t>
            </a:r>
            <a:endParaRPr lang="en-US" sz="1200" dirty="0"/>
          </a:p>
        </p:txBody>
      </p:sp>
      <p:sp>
        <p:nvSpPr>
          <p:cNvPr id="5" name="Text 3"/>
          <p:cNvSpPr/>
          <p:nvPr/>
        </p:nvSpPr>
        <p:spPr>
          <a:xfrm>
            <a:off x="640080" y="914400"/>
            <a:ext cx="10881360" cy="1005840"/>
          </a:xfrm>
          <a:prstGeom prst="rect">
            <a:avLst/>
          </a:prstGeom>
          <a:noFill/>
          <a:ln/>
        </p:spPr>
        <p:txBody>
          <a:bodyPr wrap="square" lIns="0" tIns="0" rIns="0" bIns="0" rtlCol="0" anchor="t"/>
          <a:lstStyle/>
          <a:p>
            <a:pPr indent="0" marL="0">
              <a:buNone/>
            </a:pPr>
            <a:r>
              <a:rPr lang="en-US" sz="1800" b="1" dirty="0">
                <a:solidFill>
                  <a:srgbClr val="21295C"/>
                </a:solidFill>
                <a:latin typeface="Cambria" pitchFamily="34" charset="0"/>
                <a:ea typeface="Cambria" pitchFamily="34" charset="-122"/>
                <a:cs typeface="Cambria" pitchFamily="34" charset="-120"/>
              </a:rPr>
              <a:t>You need EXACTLY 5% of traffic routed to a canary version of an application, regardless of how many replicas each version has. Which approach correctly guarantees this?</a:t>
            </a:r>
            <a:endParaRPr lang="en-US" sz="1800" dirty="0"/>
          </a:p>
        </p:txBody>
      </p:sp>
      <p:sp>
        <p:nvSpPr>
          <p:cNvPr id="6" name="Shape 4"/>
          <p:cNvSpPr/>
          <p:nvPr/>
        </p:nvSpPr>
        <p:spPr>
          <a:xfrm>
            <a:off x="640080" y="2057400"/>
            <a:ext cx="10881360" cy="566928"/>
          </a:xfrm>
          <a:prstGeom prst="roundRect">
            <a:avLst>
              <a:gd name="adj" fmla="val 9677"/>
            </a:avLst>
          </a:prstGeom>
          <a:solidFill>
            <a:srgbClr val="EAF4F8"/>
          </a:solidFill>
          <a:ln w="9525">
            <a:solidFill>
              <a:srgbClr val="D7E3E8"/>
            </a:solidFill>
            <a:prstDash val="solid"/>
          </a:ln>
        </p:spPr>
      </p:sp>
      <p:sp>
        <p:nvSpPr>
          <p:cNvPr id="7" name="Text 5"/>
          <p:cNvSpPr/>
          <p:nvPr/>
        </p:nvSpPr>
        <p:spPr>
          <a:xfrm>
            <a:off x="868680" y="2057400"/>
            <a:ext cx="9601200" cy="566928"/>
          </a:xfrm>
          <a:prstGeom prst="rect">
            <a:avLst/>
          </a:prstGeom>
          <a:noFill/>
          <a:ln/>
        </p:spPr>
        <p:txBody>
          <a:bodyPr wrap="square" lIns="0" tIns="0" rIns="0" bIns="0" rtlCol="0" anchor="ctr"/>
          <a:lstStyle/>
          <a:p>
            <a:pPr indent="0" marL="0">
              <a:buNone/>
            </a:pPr>
            <a:r>
              <a:rPr lang="en-US" sz="1350" dirty="0">
                <a:solidFill>
                  <a:srgbClr val="1E293B"/>
                </a:solidFill>
                <a:latin typeface="Calibri" pitchFamily="34" charset="0"/>
                <a:ea typeface="Calibri" pitchFamily="34" charset="-122"/>
                <a:cs typeface="Calibri" pitchFamily="34" charset="-120"/>
              </a:rPr>
              <a:t>A.  Scale the canary Deployment to roughly 5% of total replica count</a:t>
            </a:r>
            <a:endParaRPr lang="en-US" sz="1350" dirty="0"/>
          </a:p>
        </p:txBody>
      </p:sp>
      <p:sp>
        <p:nvSpPr>
          <p:cNvPr id="8" name="Shape 6"/>
          <p:cNvSpPr/>
          <p:nvPr/>
        </p:nvSpPr>
        <p:spPr>
          <a:xfrm>
            <a:off x="640080" y="2734056"/>
            <a:ext cx="10881360" cy="566928"/>
          </a:xfrm>
          <a:prstGeom prst="roundRect">
            <a:avLst>
              <a:gd name="adj" fmla="val 9677"/>
            </a:avLst>
          </a:prstGeom>
          <a:solidFill>
            <a:srgbClr val="E7F5EC"/>
          </a:solidFill>
          <a:ln w="19050">
            <a:solidFill>
              <a:srgbClr val="15803D"/>
            </a:solidFill>
            <a:prstDash val="solid"/>
          </a:ln>
        </p:spPr>
      </p:sp>
      <p:sp>
        <p:nvSpPr>
          <p:cNvPr id="9" name="Text 7"/>
          <p:cNvSpPr/>
          <p:nvPr/>
        </p:nvSpPr>
        <p:spPr>
          <a:xfrm>
            <a:off x="868680" y="2734056"/>
            <a:ext cx="9601200" cy="566928"/>
          </a:xfrm>
          <a:prstGeom prst="rect">
            <a:avLst/>
          </a:prstGeom>
          <a:noFill/>
          <a:ln/>
        </p:spPr>
        <p:txBody>
          <a:bodyPr wrap="square" lIns="0" tIns="0" rIns="0" bIns="0" rtlCol="0" anchor="ctr"/>
          <a:lstStyle/>
          <a:p>
            <a:pPr indent="0" marL="0">
              <a:buNone/>
            </a:pPr>
            <a:r>
              <a:rPr lang="en-US" sz="1350" dirty="0">
                <a:solidFill>
                  <a:srgbClr val="1E293B"/>
                </a:solidFill>
                <a:latin typeface="Calibri" pitchFamily="34" charset="0"/>
                <a:ea typeface="Calibri" pitchFamily="34" charset="-122"/>
                <a:cs typeface="Calibri" pitchFamily="34" charset="-120"/>
              </a:rPr>
              <a:t>B.  Use an HTTPRoute with backendRefs weights of 95 and 5</a:t>
            </a:r>
            <a:endParaRPr lang="en-US" sz="1350" dirty="0"/>
          </a:p>
        </p:txBody>
      </p:sp>
      <p:sp>
        <p:nvSpPr>
          <p:cNvPr id="10" name="Text 8"/>
          <p:cNvSpPr/>
          <p:nvPr/>
        </p:nvSpPr>
        <p:spPr>
          <a:xfrm>
            <a:off x="10058400" y="2734056"/>
            <a:ext cx="1371600" cy="566928"/>
          </a:xfrm>
          <a:prstGeom prst="rect">
            <a:avLst/>
          </a:prstGeom>
          <a:noFill/>
          <a:ln/>
        </p:spPr>
        <p:txBody>
          <a:bodyPr wrap="square" lIns="0" tIns="0" rIns="0" bIns="0" rtlCol="0" anchor="ctr"/>
          <a:lstStyle/>
          <a:p>
            <a:pPr algn="r" indent="0" marL="0">
              <a:buNone/>
            </a:pPr>
            <a:r>
              <a:rPr lang="en-US" sz="1100" b="1" dirty="0">
                <a:solidFill>
                  <a:srgbClr val="15803D"/>
                </a:solidFill>
                <a:latin typeface="Calibri" pitchFamily="34" charset="0"/>
                <a:ea typeface="Calibri" pitchFamily="34" charset="-122"/>
                <a:cs typeface="Calibri" pitchFamily="34" charset="-120"/>
              </a:rPr>
              <a:t>CORRECT</a:t>
            </a:r>
            <a:endParaRPr lang="en-US" sz="1100" dirty="0"/>
          </a:p>
        </p:txBody>
      </p:sp>
      <p:sp>
        <p:nvSpPr>
          <p:cNvPr id="11" name="Shape 9"/>
          <p:cNvSpPr/>
          <p:nvPr/>
        </p:nvSpPr>
        <p:spPr>
          <a:xfrm>
            <a:off x="640080" y="3410712"/>
            <a:ext cx="10881360" cy="566928"/>
          </a:xfrm>
          <a:prstGeom prst="roundRect">
            <a:avLst>
              <a:gd name="adj" fmla="val 9677"/>
            </a:avLst>
          </a:prstGeom>
          <a:solidFill>
            <a:srgbClr val="EAF4F8"/>
          </a:solidFill>
          <a:ln w="9525">
            <a:solidFill>
              <a:srgbClr val="D7E3E8"/>
            </a:solidFill>
            <a:prstDash val="solid"/>
          </a:ln>
        </p:spPr>
      </p:sp>
      <p:sp>
        <p:nvSpPr>
          <p:cNvPr id="12" name="Text 10"/>
          <p:cNvSpPr/>
          <p:nvPr/>
        </p:nvSpPr>
        <p:spPr>
          <a:xfrm>
            <a:off x="868680" y="3410712"/>
            <a:ext cx="9601200" cy="566928"/>
          </a:xfrm>
          <a:prstGeom prst="rect">
            <a:avLst/>
          </a:prstGeom>
          <a:noFill/>
          <a:ln/>
        </p:spPr>
        <p:txBody>
          <a:bodyPr wrap="square" lIns="0" tIns="0" rIns="0" bIns="0" rtlCol="0" anchor="ctr"/>
          <a:lstStyle/>
          <a:p>
            <a:pPr indent="0" marL="0">
              <a:buNone/>
            </a:pPr>
            <a:r>
              <a:rPr lang="en-US" sz="1350" dirty="0">
                <a:solidFill>
                  <a:srgbClr val="1E293B"/>
                </a:solidFill>
                <a:latin typeface="Calibri" pitchFamily="34" charset="0"/>
                <a:ea typeface="Calibri" pitchFamily="34" charset="-122"/>
                <a:cs typeface="Calibri" pitchFamily="34" charset="-120"/>
              </a:rPr>
              <a:t>C.  Create two separate Services with different selectors</a:t>
            </a:r>
            <a:endParaRPr lang="en-US" sz="1350" dirty="0"/>
          </a:p>
        </p:txBody>
      </p:sp>
      <p:sp>
        <p:nvSpPr>
          <p:cNvPr id="13" name="Shape 11"/>
          <p:cNvSpPr/>
          <p:nvPr/>
        </p:nvSpPr>
        <p:spPr>
          <a:xfrm>
            <a:off x="640080" y="4087368"/>
            <a:ext cx="10881360" cy="566928"/>
          </a:xfrm>
          <a:prstGeom prst="roundRect">
            <a:avLst>
              <a:gd name="adj" fmla="val 9677"/>
            </a:avLst>
          </a:prstGeom>
          <a:solidFill>
            <a:srgbClr val="EAF4F8"/>
          </a:solidFill>
          <a:ln w="9525">
            <a:solidFill>
              <a:srgbClr val="D7E3E8"/>
            </a:solidFill>
            <a:prstDash val="solid"/>
          </a:ln>
        </p:spPr>
      </p:sp>
      <p:sp>
        <p:nvSpPr>
          <p:cNvPr id="14" name="Text 12"/>
          <p:cNvSpPr/>
          <p:nvPr/>
        </p:nvSpPr>
        <p:spPr>
          <a:xfrm>
            <a:off x="868680" y="4087368"/>
            <a:ext cx="9601200" cy="566928"/>
          </a:xfrm>
          <a:prstGeom prst="rect">
            <a:avLst/>
          </a:prstGeom>
          <a:noFill/>
          <a:ln/>
        </p:spPr>
        <p:txBody>
          <a:bodyPr wrap="square" lIns="0" tIns="0" rIns="0" bIns="0" rtlCol="0" anchor="ctr"/>
          <a:lstStyle/>
          <a:p>
            <a:pPr indent="0" marL="0">
              <a:buNone/>
            </a:pPr>
            <a:r>
              <a:rPr lang="en-US" sz="1350" dirty="0">
                <a:solidFill>
                  <a:srgbClr val="1E293B"/>
                </a:solidFill>
                <a:latin typeface="Calibri" pitchFamily="34" charset="0"/>
                <a:ea typeface="Calibri" pitchFamily="34" charset="-122"/>
                <a:cs typeface="Calibri" pitchFamily="34" charset="-120"/>
              </a:rPr>
              <a:t>D.  Use a NetworkPolicy to throttle the canary</a:t>
            </a:r>
            <a:endParaRPr lang="en-US" sz="1350" dirty="0"/>
          </a:p>
        </p:txBody>
      </p:sp>
      <p:sp>
        <p:nvSpPr>
          <p:cNvPr id="15" name="Shape 13"/>
          <p:cNvSpPr/>
          <p:nvPr/>
        </p:nvSpPr>
        <p:spPr>
          <a:xfrm>
            <a:off x="640080" y="4809744"/>
            <a:ext cx="10881360" cy="1636776"/>
          </a:xfrm>
          <a:prstGeom prst="roundRect">
            <a:avLst>
              <a:gd name="adj" fmla="val 3352"/>
            </a:avLst>
          </a:prstGeom>
          <a:solidFill>
            <a:srgbClr val="FBF3E3"/>
          </a:solidFill>
          <a:ln/>
        </p:spPr>
      </p:sp>
      <p:sp>
        <p:nvSpPr>
          <p:cNvPr id="16" name="Text 14"/>
          <p:cNvSpPr/>
          <p:nvPr/>
        </p:nvSpPr>
        <p:spPr>
          <a:xfrm>
            <a:off x="868680" y="4882896"/>
            <a:ext cx="10424160" cy="1490472"/>
          </a:xfrm>
          <a:prstGeom prst="rect">
            <a:avLst/>
          </a:prstGeom>
          <a:noFill/>
          <a:ln/>
        </p:spPr>
        <p:txBody>
          <a:bodyPr wrap="square" lIns="0" tIns="0" rIns="0" bIns="0" rtlCol="0" anchor="t"/>
          <a:lstStyle/>
          <a:p>
            <a:pPr indent="0" marL="0">
              <a:buNone/>
            </a:pPr>
            <a:r>
              <a:rPr lang="en-US" sz="1250" b="1" dirty="0">
                <a:solidFill>
                  <a:srgbClr val="B7791F"/>
                </a:solidFill>
                <a:latin typeface="Calibri" pitchFamily="34" charset="0"/>
                <a:ea typeface="Calibri" pitchFamily="34" charset="-122"/>
                <a:cs typeface="Calibri" pitchFamily="34" charset="-120"/>
              </a:rPr>
              <a:t>Explanation: </a:t>
            </a:r>
            <a:pPr indent="0" marL="0">
              <a:buNone/>
            </a:pPr>
            <a:r>
              <a:rPr lang="en-US" sz="1250" dirty="0">
                <a:solidFill>
                  <a:srgbClr val="1E293B"/>
                </a:solidFill>
                <a:latin typeface="Calibri" pitchFamily="34" charset="0"/>
                <a:ea typeface="Calibri" pitchFamily="34" charset="-122"/>
                <a:cs typeface="Calibri" pitchFamily="34" charset="-120"/>
              </a:rPr>
              <a:t>Replica-ratio canary deployments only approximate a percentage and are affected by uneven load distribution across Pods. An HTTPRoute's backendRefs weight field guarantees an EXACT traffic percentage split at the HTTP routing layer, independent of replica count.</a:t>
            </a:r>
            <a:endParaRPr lang="en-US" sz="1250" dirty="0"/>
          </a:p>
        </p:txBody>
      </p:sp>
      <p:sp>
        <p:nvSpPr>
          <p:cNvPr id="17" name="Text 15"/>
          <p:cNvSpPr/>
          <p:nvPr/>
        </p:nvSpPr>
        <p:spPr>
          <a:xfrm>
            <a:off x="457200" y="6446520"/>
            <a:ext cx="6400800" cy="27432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CKA v1.36 · Module 2</a:t>
            </a:r>
            <a:endParaRPr lang="en-US" sz="900" dirty="0"/>
          </a:p>
        </p:txBody>
      </p:sp>
      <p:sp>
        <p:nvSpPr>
          <p:cNvPr id="18" name="Text 16"/>
          <p:cNvSpPr/>
          <p:nvPr/>
        </p:nvSpPr>
        <p:spPr>
          <a:xfrm>
            <a:off x="11247120" y="6446520"/>
            <a:ext cx="4572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75</a:t>
            </a:r>
            <a:endParaRPr lang="en-US" sz="900" dirty="0"/>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name="Slide 7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365760"/>
            <a:ext cx="2103120" cy="384048"/>
          </a:xfrm>
          <a:prstGeom prst="roundRect">
            <a:avLst>
              <a:gd name="adj" fmla="val 50000"/>
            </a:avLst>
          </a:prstGeom>
          <a:solidFill>
            <a:srgbClr val="21295C"/>
          </a:solidFill>
          <a:ln/>
        </p:spPr>
      </p:sp>
      <p:sp>
        <p:nvSpPr>
          <p:cNvPr id="3" name="Text 1"/>
          <p:cNvSpPr/>
          <p:nvPr/>
        </p:nvSpPr>
        <p:spPr>
          <a:xfrm>
            <a:off x="640080" y="365760"/>
            <a:ext cx="210312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SAMPLE Q7</a:t>
            </a:r>
            <a:endParaRPr lang="en-US" sz="1200" dirty="0"/>
          </a:p>
        </p:txBody>
      </p:sp>
      <p:sp>
        <p:nvSpPr>
          <p:cNvPr id="4" name="Text 2"/>
          <p:cNvSpPr/>
          <p:nvPr/>
        </p:nvSpPr>
        <p:spPr>
          <a:xfrm>
            <a:off x="2880360" y="365760"/>
            <a:ext cx="8595360" cy="384048"/>
          </a:xfrm>
          <a:prstGeom prst="rect">
            <a:avLst/>
          </a:prstGeom>
          <a:noFill/>
          <a:ln/>
        </p:spPr>
        <p:txBody>
          <a:bodyPr wrap="square" lIns="0" tIns="0" rIns="0" bIns="0" rtlCol="0" anchor="ctr"/>
          <a:lstStyle/>
          <a:p>
            <a:pPr indent="0" marL="0">
              <a:buNone/>
            </a:pPr>
            <a:r>
              <a:rPr lang="en-US" sz="1200" i="1" dirty="0">
                <a:solidFill>
                  <a:srgbClr val="64748B"/>
                </a:solidFill>
                <a:latin typeface="Calibri" pitchFamily="34" charset="0"/>
                <a:ea typeface="Calibri" pitchFamily="34" charset="-122"/>
                <a:cs typeface="Calibri" pitchFamily="34" charset="-120"/>
              </a:rPr>
              <a:t>CoreDNS</a:t>
            </a:r>
            <a:endParaRPr lang="en-US" sz="1200" dirty="0"/>
          </a:p>
        </p:txBody>
      </p:sp>
      <p:sp>
        <p:nvSpPr>
          <p:cNvPr id="5" name="Text 3"/>
          <p:cNvSpPr/>
          <p:nvPr/>
        </p:nvSpPr>
        <p:spPr>
          <a:xfrm>
            <a:off x="640080" y="914400"/>
            <a:ext cx="10881360" cy="1005840"/>
          </a:xfrm>
          <a:prstGeom prst="rect">
            <a:avLst/>
          </a:prstGeom>
          <a:noFill/>
          <a:ln/>
        </p:spPr>
        <p:txBody>
          <a:bodyPr wrap="square" lIns="0" tIns="0" rIns="0" bIns="0" rtlCol="0" anchor="t"/>
          <a:lstStyle/>
          <a:p>
            <a:pPr indent="0" marL="0">
              <a:buNone/>
            </a:pPr>
            <a:r>
              <a:rPr lang="en-US" sz="1800" b="1" dirty="0">
                <a:solidFill>
                  <a:srgbClr val="21295C"/>
                </a:solidFill>
                <a:latin typeface="Cambria" pitchFamily="34" charset="0"/>
                <a:ea typeface="Cambria" pitchFamily="34" charset="-122"/>
                <a:cs typeface="Cambria" pitchFamily="34" charset="-120"/>
              </a:rPr>
              <a:t>Every Pod across an entire cluster suddenly fails to resolve any DNS name, in every namespace, regardless of NetworkPolicy configuration. What should you check first?</a:t>
            </a:r>
            <a:endParaRPr lang="en-US" sz="1800" dirty="0"/>
          </a:p>
        </p:txBody>
      </p:sp>
      <p:sp>
        <p:nvSpPr>
          <p:cNvPr id="6" name="Shape 4"/>
          <p:cNvSpPr/>
          <p:nvPr/>
        </p:nvSpPr>
        <p:spPr>
          <a:xfrm>
            <a:off x="640080" y="2057400"/>
            <a:ext cx="10881360" cy="566928"/>
          </a:xfrm>
          <a:prstGeom prst="roundRect">
            <a:avLst>
              <a:gd name="adj" fmla="val 9677"/>
            </a:avLst>
          </a:prstGeom>
          <a:solidFill>
            <a:srgbClr val="EAF4F8"/>
          </a:solidFill>
          <a:ln w="9525">
            <a:solidFill>
              <a:srgbClr val="D7E3E8"/>
            </a:solidFill>
            <a:prstDash val="solid"/>
          </a:ln>
        </p:spPr>
      </p:sp>
      <p:sp>
        <p:nvSpPr>
          <p:cNvPr id="7" name="Text 5"/>
          <p:cNvSpPr/>
          <p:nvPr/>
        </p:nvSpPr>
        <p:spPr>
          <a:xfrm>
            <a:off x="868680" y="2057400"/>
            <a:ext cx="9601200" cy="566928"/>
          </a:xfrm>
          <a:prstGeom prst="rect">
            <a:avLst/>
          </a:prstGeom>
          <a:noFill/>
          <a:ln/>
        </p:spPr>
        <p:txBody>
          <a:bodyPr wrap="square" lIns="0" tIns="0" rIns="0" bIns="0" rtlCol="0" anchor="ctr"/>
          <a:lstStyle/>
          <a:p>
            <a:pPr indent="0" marL="0">
              <a:buNone/>
            </a:pPr>
            <a:r>
              <a:rPr lang="en-US" sz="1350" dirty="0">
                <a:solidFill>
                  <a:srgbClr val="1E293B"/>
                </a:solidFill>
                <a:latin typeface="Calibri" pitchFamily="34" charset="0"/>
                <a:ea typeface="Calibri" pitchFamily="34" charset="-122"/>
                <a:cs typeface="Calibri" pitchFamily="34" charset="-120"/>
              </a:rPr>
              <a:t>A.  Each failing Pod's individual NetworkPolicy</a:t>
            </a:r>
            <a:endParaRPr lang="en-US" sz="1350" dirty="0"/>
          </a:p>
        </p:txBody>
      </p:sp>
      <p:sp>
        <p:nvSpPr>
          <p:cNvPr id="8" name="Shape 6"/>
          <p:cNvSpPr/>
          <p:nvPr/>
        </p:nvSpPr>
        <p:spPr>
          <a:xfrm>
            <a:off x="640080" y="2734056"/>
            <a:ext cx="10881360" cy="566928"/>
          </a:xfrm>
          <a:prstGeom prst="roundRect">
            <a:avLst>
              <a:gd name="adj" fmla="val 9677"/>
            </a:avLst>
          </a:prstGeom>
          <a:solidFill>
            <a:srgbClr val="E7F5EC"/>
          </a:solidFill>
          <a:ln w="19050">
            <a:solidFill>
              <a:srgbClr val="15803D"/>
            </a:solidFill>
            <a:prstDash val="solid"/>
          </a:ln>
        </p:spPr>
      </p:sp>
      <p:sp>
        <p:nvSpPr>
          <p:cNvPr id="9" name="Text 7"/>
          <p:cNvSpPr/>
          <p:nvPr/>
        </p:nvSpPr>
        <p:spPr>
          <a:xfrm>
            <a:off x="868680" y="2734056"/>
            <a:ext cx="9601200" cy="566928"/>
          </a:xfrm>
          <a:prstGeom prst="rect">
            <a:avLst/>
          </a:prstGeom>
          <a:noFill/>
          <a:ln/>
        </p:spPr>
        <p:txBody>
          <a:bodyPr wrap="square" lIns="0" tIns="0" rIns="0" bIns="0" rtlCol="0" anchor="ctr"/>
          <a:lstStyle/>
          <a:p>
            <a:pPr indent="0" marL="0">
              <a:buNone/>
            </a:pPr>
            <a:r>
              <a:rPr lang="en-US" sz="1350" dirty="0">
                <a:solidFill>
                  <a:srgbClr val="1E293B"/>
                </a:solidFill>
                <a:latin typeface="Calibri" pitchFamily="34" charset="0"/>
                <a:ea typeface="Calibri" pitchFamily="34" charset="-122"/>
                <a:cs typeface="Calibri" pitchFamily="34" charset="-120"/>
              </a:rPr>
              <a:t>B.  The health of the CoreDNS Pods and the kube-dns Service's Endpoints</a:t>
            </a:r>
            <a:endParaRPr lang="en-US" sz="1350" dirty="0"/>
          </a:p>
        </p:txBody>
      </p:sp>
      <p:sp>
        <p:nvSpPr>
          <p:cNvPr id="10" name="Text 8"/>
          <p:cNvSpPr/>
          <p:nvPr/>
        </p:nvSpPr>
        <p:spPr>
          <a:xfrm>
            <a:off x="10058400" y="2734056"/>
            <a:ext cx="1371600" cy="566928"/>
          </a:xfrm>
          <a:prstGeom prst="rect">
            <a:avLst/>
          </a:prstGeom>
          <a:noFill/>
          <a:ln/>
        </p:spPr>
        <p:txBody>
          <a:bodyPr wrap="square" lIns="0" tIns="0" rIns="0" bIns="0" rtlCol="0" anchor="ctr"/>
          <a:lstStyle/>
          <a:p>
            <a:pPr algn="r" indent="0" marL="0">
              <a:buNone/>
            </a:pPr>
            <a:r>
              <a:rPr lang="en-US" sz="1100" b="1" dirty="0">
                <a:solidFill>
                  <a:srgbClr val="15803D"/>
                </a:solidFill>
                <a:latin typeface="Calibri" pitchFamily="34" charset="0"/>
                <a:ea typeface="Calibri" pitchFamily="34" charset="-122"/>
                <a:cs typeface="Calibri" pitchFamily="34" charset="-120"/>
              </a:rPr>
              <a:t>CORRECT</a:t>
            </a:r>
            <a:endParaRPr lang="en-US" sz="1100" dirty="0"/>
          </a:p>
        </p:txBody>
      </p:sp>
      <p:sp>
        <p:nvSpPr>
          <p:cNvPr id="11" name="Shape 9"/>
          <p:cNvSpPr/>
          <p:nvPr/>
        </p:nvSpPr>
        <p:spPr>
          <a:xfrm>
            <a:off x="640080" y="3410712"/>
            <a:ext cx="10881360" cy="566928"/>
          </a:xfrm>
          <a:prstGeom prst="roundRect">
            <a:avLst>
              <a:gd name="adj" fmla="val 9677"/>
            </a:avLst>
          </a:prstGeom>
          <a:solidFill>
            <a:srgbClr val="EAF4F8"/>
          </a:solidFill>
          <a:ln w="9525">
            <a:solidFill>
              <a:srgbClr val="D7E3E8"/>
            </a:solidFill>
            <a:prstDash val="solid"/>
          </a:ln>
        </p:spPr>
      </p:sp>
      <p:sp>
        <p:nvSpPr>
          <p:cNvPr id="12" name="Text 10"/>
          <p:cNvSpPr/>
          <p:nvPr/>
        </p:nvSpPr>
        <p:spPr>
          <a:xfrm>
            <a:off x="868680" y="3410712"/>
            <a:ext cx="9601200" cy="566928"/>
          </a:xfrm>
          <a:prstGeom prst="rect">
            <a:avLst/>
          </a:prstGeom>
          <a:noFill/>
          <a:ln/>
        </p:spPr>
        <p:txBody>
          <a:bodyPr wrap="square" lIns="0" tIns="0" rIns="0" bIns="0" rtlCol="0" anchor="ctr"/>
          <a:lstStyle/>
          <a:p>
            <a:pPr indent="0" marL="0">
              <a:buNone/>
            </a:pPr>
            <a:r>
              <a:rPr lang="en-US" sz="1350" dirty="0">
                <a:solidFill>
                  <a:srgbClr val="1E293B"/>
                </a:solidFill>
                <a:latin typeface="Calibri" pitchFamily="34" charset="0"/>
                <a:ea typeface="Calibri" pitchFamily="34" charset="-122"/>
                <a:cs typeface="Calibri" pitchFamily="34" charset="-120"/>
              </a:rPr>
              <a:t>C.  Each Pod's dnsPolicy field individually</a:t>
            </a:r>
            <a:endParaRPr lang="en-US" sz="1350" dirty="0"/>
          </a:p>
        </p:txBody>
      </p:sp>
      <p:sp>
        <p:nvSpPr>
          <p:cNvPr id="13" name="Shape 11"/>
          <p:cNvSpPr/>
          <p:nvPr/>
        </p:nvSpPr>
        <p:spPr>
          <a:xfrm>
            <a:off x="640080" y="4087368"/>
            <a:ext cx="10881360" cy="566928"/>
          </a:xfrm>
          <a:prstGeom prst="roundRect">
            <a:avLst>
              <a:gd name="adj" fmla="val 9677"/>
            </a:avLst>
          </a:prstGeom>
          <a:solidFill>
            <a:srgbClr val="EAF4F8"/>
          </a:solidFill>
          <a:ln w="9525">
            <a:solidFill>
              <a:srgbClr val="D7E3E8"/>
            </a:solidFill>
            <a:prstDash val="solid"/>
          </a:ln>
        </p:spPr>
      </p:sp>
      <p:sp>
        <p:nvSpPr>
          <p:cNvPr id="14" name="Text 12"/>
          <p:cNvSpPr/>
          <p:nvPr/>
        </p:nvSpPr>
        <p:spPr>
          <a:xfrm>
            <a:off x="868680" y="4087368"/>
            <a:ext cx="9601200" cy="566928"/>
          </a:xfrm>
          <a:prstGeom prst="rect">
            <a:avLst/>
          </a:prstGeom>
          <a:noFill/>
          <a:ln/>
        </p:spPr>
        <p:txBody>
          <a:bodyPr wrap="square" lIns="0" tIns="0" rIns="0" bIns="0" rtlCol="0" anchor="ctr"/>
          <a:lstStyle/>
          <a:p>
            <a:pPr indent="0" marL="0">
              <a:buNone/>
            </a:pPr>
            <a:r>
              <a:rPr lang="en-US" sz="1350" dirty="0">
                <a:solidFill>
                  <a:srgbClr val="1E293B"/>
                </a:solidFill>
                <a:latin typeface="Calibri" pitchFamily="34" charset="0"/>
                <a:ea typeface="Calibri" pitchFamily="34" charset="-122"/>
                <a:cs typeface="Calibri" pitchFamily="34" charset="-120"/>
              </a:rPr>
              <a:t>D.  Whether each Service has a valid selector</a:t>
            </a:r>
            <a:endParaRPr lang="en-US" sz="1350" dirty="0"/>
          </a:p>
        </p:txBody>
      </p:sp>
      <p:sp>
        <p:nvSpPr>
          <p:cNvPr id="15" name="Shape 13"/>
          <p:cNvSpPr/>
          <p:nvPr/>
        </p:nvSpPr>
        <p:spPr>
          <a:xfrm>
            <a:off x="640080" y="4809744"/>
            <a:ext cx="10881360" cy="1636776"/>
          </a:xfrm>
          <a:prstGeom prst="roundRect">
            <a:avLst>
              <a:gd name="adj" fmla="val 3352"/>
            </a:avLst>
          </a:prstGeom>
          <a:solidFill>
            <a:srgbClr val="FBF3E3"/>
          </a:solidFill>
          <a:ln/>
        </p:spPr>
      </p:sp>
      <p:sp>
        <p:nvSpPr>
          <p:cNvPr id="16" name="Text 14"/>
          <p:cNvSpPr/>
          <p:nvPr/>
        </p:nvSpPr>
        <p:spPr>
          <a:xfrm>
            <a:off x="868680" y="4882896"/>
            <a:ext cx="10424160" cy="1490472"/>
          </a:xfrm>
          <a:prstGeom prst="rect">
            <a:avLst/>
          </a:prstGeom>
          <a:noFill/>
          <a:ln/>
        </p:spPr>
        <p:txBody>
          <a:bodyPr wrap="square" lIns="0" tIns="0" rIns="0" bIns="0" rtlCol="0" anchor="t"/>
          <a:lstStyle/>
          <a:p>
            <a:pPr indent="0" marL="0">
              <a:buNone/>
            </a:pPr>
            <a:r>
              <a:rPr lang="en-US" sz="1250" b="1" dirty="0">
                <a:solidFill>
                  <a:srgbClr val="B7791F"/>
                </a:solidFill>
                <a:latin typeface="Calibri" pitchFamily="34" charset="0"/>
                <a:ea typeface="Calibri" pitchFamily="34" charset="-122"/>
                <a:cs typeface="Calibri" pitchFamily="34" charset="-120"/>
              </a:rPr>
              <a:t>Explanation: </a:t>
            </a:r>
            <a:pPr indent="0" marL="0">
              <a:buNone/>
            </a:pPr>
            <a:r>
              <a:rPr lang="en-US" sz="1250" dirty="0">
                <a:solidFill>
                  <a:srgbClr val="1E293B"/>
                </a:solidFill>
                <a:latin typeface="Calibri" pitchFamily="34" charset="0"/>
                <a:ea typeface="Calibri" pitchFamily="34" charset="-122"/>
                <a:cs typeface="Calibri" pitchFamily="34" charset="-120"/>
              </a:rPr>
              <a:t>A DNS failure that is simultaneous and cluster-wide (not scoped to one namespace or one policy) points directly at CoreDNS itself being unhealthy or unreachable, not at any individual Pod's configuration. Check kubectl get pods -n kube-system -l k8s-app=kube-dns and the kube-dns Service's Endpoints first.</a:t>
            </a:r>
            <a:endParaRPr lang="en-US" sz="1250" dirty="0"/>
          </a:p>
        </p:txBody>
      </p:sp>
      <p:sp>
        <p:nvSpPr>
          <p:cNvPr id="17" name="Text 15"/>
          <p:cNvSpPr/>
          <p:nvPr/>
        </p:nvSpPr>
        <p:spPr>
          <a:xfrm>
            <a:off x="457200" y="6446520"/>
            <a:ext cx="6400800" cy="27432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CKA v1.36 · Module 2</a:t>
            </a:r>
            <a:endParaRPr lang="en-US" sz="900" dirty="0"/>
          </a:p>
        </p:txBody>
      </p:sp>
      <p:sp>
        <p:nvSpPr>
          <p:cNvPr id="18" name="Text 16"/>
          <p:cNvSpPr/>
          <p:nvPr/>
        </p:nvSpPr>
        <p:spPr>
          <a:xfrm>
            <a:off x="11247120" y="6446520"/>
            <a:ext cx="4572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76</a:t>
            </a:r>
            <a:endParaRPr lang="en-US" sz="900" dirty="0"/>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name="Slide 7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365760"/>
            <a:ext cx="2103120" cy="384048"/>
          </a:xfrm>
          <a:prstGeom prst="roundRect">
            <a:avLst>
              <a:gd name="adj" fmla="val 50000"/>
            </a:avLst>
          </a:prstGeom>
          <a:solidFill>
            <a:srgbClr val="21295C"/>
          </a:solidFill>
          <a:ln/>
        </p:spPr>
      </p:sp>
      <p:sp>
        <p:nvSpPr>
          <p:cNvPr id="3" name="Text 1"/>
          <p:cNvSpPr/>
          <p:nvPr/>
        </p:nvSpPr>
        <p:spPr>
          <a:xfrm>
            <a:off x="640080" y="365760"/>
            <a:ext cx="210312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SAMPLE Q8</a:t>
            </a:r>
            <a:endParaRPr lang="en-US" sz="1200" dirty="0"/>
          </a:p>
        </p:txBody>
      </p:sp>
      <p:sp>
        <p:nvSpPr>
          <p:cNvPr id="4" name="Text 2"/>
          <p:cNvSpPr/>
          <p:nvPr/>
        </p:nvSpPr>
        <p:spPr>
          <a:xfrm>
            <a:off x="2880360" y="365760"/>
            <a:ext cx="8595360" cy="384048"/>
          </a:xfrm>
          <a:prstGeom prst="rect">
            <a:avLst/>
          </a:prstGeom>
          <a:noFill/>
          <a:ln/>
        </p:spPr>
        <p:txBody>
          <a:bodyPr wrap="square" lIns="0" tIns="0" rIns="0" bIns="0" rtlCol="0" anchor="ctr"/>
          <a:lstStyle/>
          <a:p>
            <a:pPr indent="0" marL="0">
              <a:buNone/>
            </a:pPr>
            <a:r>
              <a:rPr lang="en-US" sz="1200" i="1" dirty="0">
                <a:solidFill>
                  <a:srgbClr val="64748B"/>
                </a:solidFill>
                <a:latin typeface="Calibri" pitchFamily="34" charset="0"/>
                <a:ea typeface="Calibri" pitchFamily="34" charset="-122"/>
                <a:cs typeface="Calibri" pitchFamily="34" charset="-120"/>
              </a:rPr>
              <a:t>Pod Admission &amp; Scheduling</a:t>
            </a:r>
            <a:endParaRPr lang="en-US" sz="1200" dirty="0"/>
          </a:p>
        </p:txBody>
      </p:sp>
      <p:sp>
        <p:nvSpPr>
          <p:cNvPr id="5" name="Text 3"/>
          <p:cNvSpPr/>
          <p:nvPr/>
        </p:nvSpPr>
        <p:spPr>
          <a:xfrm>
            <a:off x="640080" y="914400"/>
            <a:ext cx="10881360" cy="1005840"/>
          </a:xfrm>
          <a:prstGeom prst="rect">
            <a:avLst/>
          </a:prstGeom>
          <a:noFill/>
          <a:ln/>
        </p:spPr>
        <p:txBody>
          <a:bodyPr wrap="square" lIns="0" tIns="0" rIns="0" bIns="0" rtlCol="0" anchor="t"/>
          <a:lstStyle/>
          <a:p>
            <a:pPr indent="0" marL="0">
              <a:buNone/>
            </a:pPr>
            <a:r>
              <a:rPr lang="en-US" sz="1800" b="1" dirty="0">
                <a:solidFill>
                  <a:srgbClr val="21295C"/>
                </a:solidFill>
                <a:latin typeface="Cambria" pitchFamily="34" charset="0"/>
                <a:ea typeface="Cambria" pitchFamily="34" charset="-122"/>
                <a:cs typeface="Cambria" pitchFamily="34" charset="-120"/>
              </a:rPr>
              <a:t>A Pod creation request fails immediately with 'forbidden: exceeded quota,' and kubectl get pods never even shows the Pod object. What kind of failure is this?</a:t>
            </a:r>
            <a:endParaRPr lang="en-US" sz="1800" dirty="0"/>
          </a:p>
        </p:txBody>
      </p:sp>
      <p:sp>
        <p:nvSpPr>
          <p:cNvPr id="6" name="Shape 4"/>
          <p:cNvSpPr/>
          <p:nvPr/>
        </p:nvSpPr>
        <p:spPr>
          <a:xfrm>
            <a:off x="640080" y="2057400"/>
            <a:ext cx="10881360" cy="566928"/>
          </a:xfrm>
          <a:prstGeom prst="roundRect">
            <a:avLst>
              <a:gd name="adj" fmla="val 9677"/>
            </a:avLst>
          </a:prstGeom>
          <a:solidFill>
            <a:srgbClr val="EAF4F8"/>
          </a:solidFill>
          <a:ln w="9525">
            <a:solidFill>
              <a:srgbClr val="D7E3E8"/>
            </a:solidFill>
            <a:prstDash val="solid"/>
          </a:ln>
        </p:spPr>
      </p:sp>
      <p:sp>
        <p:nvSpPr>
          <p:cNvPr id="7" name="Text 5"/>
          <p:cNvSpPr/>
          <p:nvPr/>
        </p:nvSpPr>
        <p:spPr>
          <a:xfrm>
            <a:off x="868680" y="2057400"/>
            <a:ext cx="9601200" cy="566928"/>
          </a:xfrm>
          <a:prstGeom prst="rect">
            <a:avLst/>
          </a:prstGeom>
          <a:noFill/>
          <a:ln/>
        </p:spPr>
        <p:txBody>
          <a:bodyPr wrap="square" lIns="0" tIns="0" rIns="0" bIns="0" rtlCol="0" anchor="ctr"/>
          <a:lstStyle/>
          <a:p>
            <a:pPr indent="0" marL="0">
              <a:buNone/>
            </a:pPr>
            <a:r>
              <a:rPr lang="en-US" sz="1350" dirty="0">
                <a:solidFill>
                  <a:srgbClr val="1E293B"/>
                </a:solidFill>
                <a:latin typeface="Calibri" pitchFamily="34" charset="0"/>
                <a:ea typeface="Calibri" pitchFamily="34" charset="-122"/>
                <a:cs typeface="Calibri" pitchFamily="34" charset="-120"/>
              </a:rPr>
              <a:t>A.  A scheduling failure -- the scheduler couldn't find a suitable node</a:t>
            </a:r>
            <a:endParaRPr lang="en-US" sz="1350" dirty="0"/>
          </a:p>
        </p:txBody>
      </p:sp>
      <p:sp>
        <p:nvSpPr>
          <p:cNvPr id="8" name="Shape 6"/>
          <p:cNvSpPr/>
          <p:nvPr/>
        </p:nvSpPr>
        <p:spPr>
          <a:xfrm>
            <a:off x="640080" y="2734056"/>
            <a:ext cx="10881360" cy="566928"/>
          </a:xfrm>
          <a:prstGeom prst="roundRect">
            <a:avLst>
              <a:gd name="adj" fmla="val 9677"/>
            </a:avLst>
          </a:prstGeom>
          <a:solidFill>
            <a:srgbClr val="E7F5EC"/>
          </a:solidFill>
          <a:ln w="19050">
            <a:solidFill>
              <a:srgbClr val="15803D"/>
            </a:solidFill>
            <a:prstDash val="solid"/>
          </a:ln>
        </p:spPr>
      </p:sp>
      <p:sp>
        <p:nvSpPr>
          <p:cNvPr id="9" name="Text 7"/>
          <p:cNvSpPr/>
          <p:nvPr/>
        </p:nvSpPr>
        <p:spPr>
          <a:xfrm>
            <a:off x="868680" y="2734056"/>
            <a:ext cx="9601200" cy="566928"/>
          </a:xfrm>
          <a:prstGeom prst="rect">
            <a:avLst/>
          </a:prstGeom>
          <a:noFill/>
          <a:ln/>
        </p:spPr>
        <p:txBody>
          <a:bodyPr wrap="square" lIns="0" tIns="0" rIns="0" bIns="0" rtlCol="0" anchor="ctr"/>
          <a:lstStyle/>
          <a:p>
            <a:pPr indent="0" marL="0">
              <a:buNone/>
            </a:pPr>
            <a:r>
              <a:rPr lang="en-US" sz="1350" dirty="0">
                <a:solidFill>
                  <a:srgbClr val="1E293B"/>
                </a:solidFill>
                <a:latin typeface="Calibri" pitchFamily="34" charset="0"/>
                <a:ea typeface="Calibri" pitchFamily="34" charset="-122"/>
                <a:cs typeface="Calibri" pitchFamily="34" charset="-120"/>
              </a:rPr>
              <a:t>B.  An admission-time rejection -- the Pod was blocked before being persisted to etcd</a:t>
            </a:r>
            <a:endParaRPr lang="en-US" sz="1350" dirty="0"/>
          </a:p>
        </p:txBody>
      </p:sp>
      <p:sp>
        <p:nvSpPr>
          <p:cNvPr id="10" name="Text 8"/>
          <p:cNvSpPr/>
          <p:nvPr/>
        </p:nvSpPr>
        <p:spPr>
          <a:xfrm>
            <a:off x="10058400" y="2734056"/>
            <a:ext cx="1371600" cy="566928"/>
          </a:xfrm>
          <a:prstGeom prst="rect">
            <a:avLst/>
          </a:prstGeom>
          <a:noFill/>
          <a:ln/>
        </p:spPr>
        <p:txBody>
          <a:bodyPr wrap="square" lIns="0" tIns="0" rIns="0" bIns="0" rtlCol="0" anchor="ctr"/>
          <a:lstStyle/>
          <a:p>
            <a:pPr algn="r" indent="0" marL="0">
              <a:buNone/>
            </a:pPr>
            <a:r>
              <a:rPr lang="en-US" sz="1100" b="1" dirty="0">
                <a:solidFill>
                  <a:srgbClr val="15803D"/>
                </a:solidFill>
                <a:latin typeface="Calibri" pitchFamily="34" charset="0"/>
                <a:ea typeface="Calibri" pitchFamily="34" charset="-122"/>
                <a:cs typeface="Calibri" pitchFamily="34" charset="-120"/>
              </a:rPr>
              <a:t>CORRECT</a:t>
            </a:r>
            <a:endParaRPr lang="en-US" sz="1100" dirty="0"/>
          </a:p>
        </p:txBody>
      </p:sp>
      <p:sp>
        <p:nvSpPr>
          <p:cNvPr id="11" name="Shape 9"/>
          <p:cNvSpPr/>
          <p:nvPr/>
        </p:nvSpPr>
        <p:spPr>
          <a:xfrm>
            <a:off x="640080" y="3410712"/>
            <a:ext cx="10881360" cy="566928"/>
          </a:xfrm>
          <a:prstGeom prst="roundRect">
            <a:avLst>
              <a:gd name="adj" fmla="val 9677"/>
            </a:avLst>
          </a:prstGeom>
          <a:solidFill>
            <a:srgbClr val="EAF4F8"/>
          </a:solidFill>
          <a:ln w="9525">
            <a:solidFill>
              <a:srgbClr val="D7E3E8"/>
            </a:solidFill>
            <a:prstDash val="solid"/>
          </a:ln>
        </p:spPr>
      </p:sp>
      <p:sp>
        <p:nvSpPr>
          <p:cNvPr id="12" name="Text 10"/>
          <p:cNvSpPr/>
          <p:nvPr/>
        </p:nvSpPr>
        <p:spPr>
          <a:xfrm>
            <a:off x="868680" y="3410712"/>
            <a:ext cx="9601200" cy="566928"/>
          </a:xfrm>
          <a:prstGeom prst="rect">
            <a:avLst/>
          </a:prstGeom>
          <a:noFill/>
          <a:ln/>
        </p:spPr>
        <p:txBody>
          <a:bodyPr wrap="square" lIns="0" tIns="0" rIns="0" bIns="0" rtlCol="0" anchor="ctr"/>
          <a:lstStyle/>
          <a:p>
            <a:pPr indent="0" marL="0">
              <a:buNone/>
            </a:pPr>
            <a:r>
              <a:rPr lang="en-US" sz="1350" dirty="0">
                <a:solidFill>
                  <a:srgbClr val="1E293B"/>
                </a:solidFill>
                <a:latin typeface="Calibri" pitchFamily="34" charset="0"/>
                <a:ea typeface="Calibri" pitchFamily="34" charset="-122"/>
                <a:cs typeface="Calibri" pitchFamily="34" charset="-120"/>
              </a:rPr>
              <a:t>C.  A kubelet-level failure on the target node</a:t>
            </a:r>
            <a:endParaRPr lang="en-US" sz="1350" dirty="0"/>
          </a:p>
        </p:txBody>
      </p:sp>
      <p:sp>
        <p:nvSpPr>
          <p:cNvPr id="13" name="Shape 11"/>
          <p:cNvSpPr/>
          <p:nvPr/>
        </p:nvSpPr>
        <p:spPr>
          <a:xfrm>
            <a:off x="640080" y="4087368"/>
            <a:ext cx="10881360" cy="566928"/>
          </a:xfrm>
          <a:prstGeom prst="roundRect">
            <a:avLst>
              <a:gd name="adj" fmla="val 9677"/>
            </a:avLst>
          </a:prstGeom>
          <a:solidFill>
            <a:srgbClr val="EAF4F8"/>
          </a:solidFill>
          <a:ln w="9525">
            <a:solidFill>
              <a:srgbClr val="D7E3E8"/>
            </a:solidFill>
            <a:prstDash val="solid"/>
          </a:ln>
        </p:spPr>
      </p:sp>
      <p:sp>
        <p:nvSpPr>
          <p:cNvPr id="14" name="Text 12"/>
          <p:cNvSpPr/>
          <p:nvPr/>
        </p:nvSpPr>
        <p:spPr>
          <a:xfrm>
            <a:off x="868680" y="4087368"/>
            <a:ext cx="9601200" cy="566928"/>
          </a:xfrm>
          <a:prstGeom prst="rect">
            <a:avLst/>
          </a:prstGeom>
          <a:noFill/>
          <a:ln/>
        </p:spPr>
        <p:txBody>
          <a:bodyPr wrap="square" lIns="0" tIns="0" rIns="0" bIns="0" rtlCol="0" anchor="ctr"/>
          <a:lstStyle/>
          <a:p>
            <a:pPr indent="0" marL="0">
              <a:buNone/>
            </a:pPr>
            <a:r>
              <a:rPr lang="en-US" sz="1350" dirty="0">
                <a:solidFill>
                  <a:srgbClr val="1E293B"/>
                </a:solidFill>
                <a:latin typeface="Calibri" pitchFamily="34" charset="0"/>
                <a:ea typeface="Calibri" pitchFamily="34" charset="-122"/>
                <a:cs typeface="Calibri" pitchFamily="34" charset="-120"/>
              </a:rPr>
              <a:t>D.  A NetworkPolicy violation</a:t>
            </a:r>
            <a:endParaRPr lang="en-US" sz="1350" dirty="0"/>
          </a:p>
        </p:txBody>
      </p:sp>
      <p:sp>
        <p:nvSpPr>
          <p:cNvPr id="15" name="Shape 13"/>
          <p:cNvSpPr/>
          <p:nvPr/>
        </p:nvSpPr>
        <p:spPr>
          <a:xfrm>
            <a:off x="640080" y="4809744"/>
            <a:ext cx="10881360" cy="1636776"/>
          </a:xfrm>
          <a:prstGeom prst="roundRect">
            <a:avLst>
              <a:gd name="adj" fmla="val 3352"/>
            </a:avLst>
          </a:prstGeom>
          <a:solidFill>
            <a:srgbClr val="FBF3E3"/>
          </a:solidFill>
          <a:ln/>
        </p:spPr>
      </p:sp>
      <p:sp>
        <p:nvSpPr>
          <p:cNvPr id="16" name="Text 14"/>
          <p:cNvSpPr/>
          <p:nvPr/>
        </p:nvSpPr>
        <p:spPr>
          <a:xfrm>
            <a:off x="868680" y="4882896"/>
            <a:ext cx="10424160" cy="1490472"/>
          </a:xfrm>
          <a:prstGeom prst="rect">
            <a:avLst/>
          </a:prstGeom>
          <a:noFill/>
          <a:ln/>
        </p:spPr>
        <p:txBody>
          <a:bodyPr wrap="square" lIns="0" tIns="0" rIns="0" bIns="0" rtlCol="0" anchor="t"/>
          <a:lstStyle/>
          <a:p>
            <a:pPr indent="0" marL="0">
              <a:buNone/>
            </a:pPr>
            <a:r>
              <a:rPr lang="en-US" sz="1250" b="1" dirty="0">
                <a:solidFill>
                  <a:srgbClr val="B7791F"/>
                </a:solidFill>
                <a:latin typeface="Calibri" pitchFamily="34" charset="0"/>
                <a:ea typeface="Calibri" pitchFamily="34" charset="-122"/>
                <a:cs typeface="Calibri" pitchFamily="34" charset="-120"/>
              </a:rPr>
              <a:t>Explanation: </a:t>
            </a:r>
            <a:pPr indent="0" marL="0">
              <a:buNone/>
            </a:pPr>
            <a:r>
              <a:rPr lang="en-US" sz="1250" dirty="0">
                <a:solidFill>
                  <a:srgbClr val="1E293B"/>
                </a:solidFill>
                <a:latin typeface="Calibri" pitchFamily="34" charset="0"/>
                <a:ea typeface="Calibri" pitchFamily="34" charset="-122"/>
                <a:cs typeface="Calibri" pitchFamily="34" charset="-120"/>
              </a:rPr>
              <a:t>ResourceQuota is enforced by an admission controller at request time, before the object is ever written to etcd or handed to the scheduler. This is why the Pod never even appears in kubectl get pods -- it was rejected at admission, distinct from a Pod that's created but then stuck Pending due to a scheduling constraint.</a:t>
            </a:r>
            <a:endParaRPr lang="en-US" sz="1250" dirty="0"/>
          </a:p>
        </p:txBody>
      </p:sp>
      <p:sp>
        <p:nvSpPr>
          <p:cNvPr id="17" name="Text 15"/>
          <p:cNvSpPr/>
          <p:nvPr/>
        </p:nvSpPr>
        <p:spPr>
          <a:xfrm>
            <a:off x="457200" y="6446520"/>
            <a:ext cx="6400800" cy="27432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CKA v1.36 · Module 2</a:t>
            </a:r>
            <a:endParaRPr lang="en-US" sz="900" dirty="0"/>
          </a:p>
        </p:txBody>
      </p:sp>
      <p:sp>
        <p:nvSpPr>
          <p:cNvPr id="18" name="Text 16"/>
          <p:cNvSpPr/>
          <p:nvPr/>
        </p:nvSpPr>
        <p:spPr>
          <a:xfrm>
            <a:off x="11247120" y="6446520"/>
            <a:ext cx="4572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77</a:t>
            </a:r>
            <a:endParaRPr lang="en-US" sz="900" dirty="0"/>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name="Slide 78">
    <p:bg>
      <p:bgPr>
        <a:solidFill>
          <a:srgbClr val="21295C"/>
        </a:solidFill>
      </p:bgPr>
    </p:bg>
    <p:spTree>
      <p:nvGrpSpPr>
        <p:cNvPr id="1" name=""/>
        <p:cNvGrpSpPr/>
        <p:nvPr/>
      </p:nvGrpSpPr>
      <p:grpSpPr>
        <a:xfrm>
          <a:off x="0" y="0"/>
          <a:ext cx="0" cy="0"/>
          <a:chOff x="0" y="0"/>
          <a:chExt cx="0" cy="0"/>
        </a:xfrm>
      </p:grpSpPr>
      <p:sp>
        <p:nvSpPr>
          <p:cNvPr id="2" name="Shape 0"/>
          <p:cNvSpPr/>
          <p:nvPr/>
        </p:nvSpPr>
        <p:spPr>
          <a:xfrm>
            <a:off x="8778240" y="3291840"/>
            <a:ext cx="5029200" cy="5029200"/>
          </a:xfrm>
          <a:prstGeom prst="ellipse">
            <a:avLst/>
          </a:prstGeom>
          <a:solidFill>
            <a:srgbClr val="065A82">
              <a:alpha val="40000"/>
            </a:srgbClr>
          </a:solidFill>
          <a:ln/>
        </p:spPr>
      </p:sp>
      <p:sp>
        <p:nvSpPr>
          <p:cNvPr id="3" name="Shape 1"/>
          <p:cNvSpPr/>
          <p:nvPr/>
        </p:nvSpPr>
        <p:spPr>
          <a:xfrm>
            <a:off x="822960" y="1828800"/>
            <a:ext cx="1371600" cy="1371600"/>
          </a:xfrm>
          <a:prstGeom prst="roundRect">
            <a:avLst>
              <a:gd name="adj" fmla="val 12000"/>
            </a:avLst>
          </a:prstGeom>
          <a:solidFill>
            <a:srgbClr val="1C7293"/>
          </a:solidFill>
          <a:ln/>
          <a:effectLst>
            <a:outerShdw sx="100000" sy="100000" kx="0" ky="0" algn="bl" rotWithShape="0" blurRad="88900" dist="25400" dir="2700000">
              <a:srgbClr val="1B2A36">
                <a:alpha val="12000"/>
              </a:srgbClr>
            </a:outerShdw>
          </a:effectLst>
        </p:spPr>
      </p:sp>
      <p:sp>
        <p:nvSpPr>
          <p:cNvPr id="4" name="Text 2"/>
          <p:cNvSpPr/>
          <p:nvPr/>
        </p:nvSpPr>
        <p:spPr>
          <a:xfrm>
            <a:off x="822960" y="1828800"/>
            <a:ext cx="1371600" cy="1371600"/>
          </a:xfrm>
          <a:prstGeom prst="rect">
            <a:avLst/>
          </a:prstGeom>
          <a:noFill/>
          <a:ln/>
        </p:spPr>
        <p:txBody>
          <a:bodyPr wrap="square" lIns="0" tIns="0" rIns="0" bIns="0" rtlCol="0" anchor="ctr"/>
          <a:lstStyle/>
          <a:p>
            <a:pPr algn="ctr" indent="0" marL="0">
              <a:buNone/>
            </a:pPr>
            <a:r>
              <a:rPr lang="en-US" sz="4000" b="1" dirty="0">
                <a:solidFill>
                  <a:srgbClr val="FFFFFF"/>
                </a:solidFill>
                <a:latin typeface="Cambria" pitchFamily="34" charset="0"/>
                <a:ea typeface="Cambria" pitchFamily="34" charset="-122"/>
                <a:cs typeface="Cambria" pitchFamily="34" charset="-120"/>
              </a:rPr>
              <a:t>P</a:t>
            </a:r>
            <a:endParaRPr lang="en-US" sz="4000" dirty="0"/>
          </a:p>
        </p:txBody>
      </p:sp>
      <p:sp>
        <p:nvSpPr>
          <p:cNvPr id="5" name="Text 3"/>
          <p:cNvSpPr/>
          <p:nvPr/>
        </p:nvSpPr>
        <p:spPr>
          <a:xfrm>
            <a:off x="2468880" y="1828800"/>
            <a:ext cx="8961120" cy="100584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Classroom Practice Lab Questions</a:t>
            </a:r>
            <a:endParaRPr lang="en-US" sz="3200" dirty="0"/>
          </a:p>
        </p:txBody>
      </p:sp>
      <p:sp>
        <p:nvSpPr>
          <p:cNvPr id="6" name="Text 4"/>
          <p:cNvSpPr/>
          <p:nvPr/>
        </p:nvSpPr>
        <p:spPr>
          <a:xfrm>
            <a:off x="2468880" y="2788920"/>
            <a:ext cx="8961120" cy="640080"/>
          </a:xfrm>
          <a:prstGeom prst="rect">
            <a:avLst/>
          </a:prstGeom>
          <a:noFill/>
          <a:ln/>
        </p:spPr>
        <p:txBody>
          <a:bodyPr wrap="square" lIns="0" tIns="0" rIns="0" bIns="0" rtlCol="0" anchor="ctr"/>
          <a:lstStyle/>
          <a:p>
            <a:pPr indent="0" marL="0">
              <a:buNone/>
            </a:pPr>
            <a:r>
              <a:rPr lang="en-US" sz="1600" dirty="0">
                <a:solidFill>
                  <a:srgbClr val="C9E4ED"/>
                </a:solidFill>
                <a:latin typeface="Calibri" pitchFamily="34" charset="0"/>
                <a:ea typeface="Calibri" pitchFamily="34" charset="-122"/>
                <a:cs typeface="Calibri" pitchFamily="34" charset="-120"/>
              </a:rPr>
              <a:t>Hands-on exercises — work these on a real or sandbox cluster</a:t>
            </a:r>
            <a:endParaRPr lang="en-US" sz="1600" dirty="0"/>
          </a:p>
        </p:txBody>
      </p:sp>
      <p:sp>
        <p:nvSpPr>
          <p:cNvPr id="7" name="Shape 5"/>
          <p:cNvSpPr/>
          <p:nvPr/>
        </p:nvSpPr>
        <p:spPr>
          <a:xfrm>
            <a:off x="2468880" y="3429000"/>
            <a:ext cx="8961120" cy="548640"/>
          </a:xfrm>
          <a:prstGeom prst="roundRect">
            <a:avLst>
              <a:gd name="adj" fmla="val 16667"/>
            </a:avLst>
          </a:prstGeom>
          <a:solidFill>
            <a:srgbClr val="FFFFFF">
              <a:alpha val="10000"/>
            </a:srgbClr>
          </a:solidFill>
          <a:ln w="9525">
            <a:solidFill>
              <a:srgbClr val="8FD3E8"/>
            </a:solidFill>
            <a:prstDash val="solid"/>
          </a:ln>
        </p:spPr>
      </p:sp>
      <p:sp>
        <p:nvSpPr>
          <p:cNvPr id="8" name="Text 6"/>
          <p:cNvSpPr/>
          <p:nvPr/>
        </p:nvSpPr>
        <p:spPr>
          <a:xfrm>
            <a:off x="2697480" y="3429000"/>
            <a:ext cx="8503920" cy="548640"/>
          </a:xfrm>
          <a:prstGeom prst="rect">
            <a:avLst/>
          </a:prstGeom>
          <a:noFill/>
          <a:ln/>
        </p:spPr>
        <p:txBody>
          <a:bodyPr wrap="square" lIns="0" tIns="0" rIns="0" bIns="0" rtlCol="0" anchor="ctr"/>
          <a:lstStyle/>
          <a:p>
            <a:pPr algn="l" indent="0" marL="0">
              <a:buNone/>
            </a:pPr>
            <a:r>
              <a:rPr lang="en-US" sz="1200" dirty="0">
                <a:solidFill>
                  <a:srgbClr val="DCEFF5"/>
                </a:solidFill>
                <a:latin typeface="Calibri" pitchFamily="34" charset="0"/>
                <a:ea typeface="Calibri" pitchFamily="34" charset="-122"/>
                <a:cs typeface="Calibri" pitchFamily="34" charset="-120"/>
              </a:rPr>
              <a:t>Instructor note: these mirror the performance-based task style of the real CKA exam</a:t>
            </a:r>
            <a:endParaRPr lang="en-US" sz="1200" dirty="0"/>
          </a:p>
        </p:txBody>
      </p:sp>
      <p:sp>
        <p:nvSpPr>
          <p:cNvPr id="9" name="Text 7"/>
          <p:cNvSpPr/>
          <p:nvPr/>
        </p:nvSpPr>
        <p:spPr>
          <a:xfrm>
            <a:off x="457200" y="6446520"/>
            <a:ext cx="6400800" cy="27432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CKA v1.36 · Module 2</a:t>
            </a:r>
            <a:endParaRPr lang="en-US" sz="900" dirty="0"/>
          </a:p>
        </p:txBody>
      </p:sp>
      <p:sp>
        <p:nvSpPr>
          <p:cNvPr id="10" name="Text 8"/>
          <p:cNvSpPr/>
          <p:nvPr/>
        </p:nvSpPr>
        <p:spPr>
          <a:xfrm>
            <a:off x="11247120" y="6446520"/>
            <a:ext cx="4572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78</a:t>
            </a:r>
            <a:endParaRPr lang="en-US" sz="900" dirty="0"/>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name="Slide 7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65760"/>
            <a:ext cx="9144000" cy="320040"/>
          </a:xfrm>
          <a:prstGeom prst="rect">
            <a:avLst/>
          </a:prstGeom>
          <a:noFill/>
          <a:ln/>
        </p:spPr>
        <p:txBody>
          <a:bodyPr wrap="square" lIns="0" tIns="0" rIns="0" bIns="0" rtlCol="0" anchor="ctr"/>
          <a:lstStyle/>
          <a:p>
            <a:pPr indent="0" marL="0">
              <a:buNone/>
            </a:pPr>
            <a:r>
              <a:rPr lang="en-US" sz="1150" b="1" spc="150" kern="0" dirty="0">
                <a:solidFill>
                  <a:srgbClr val="1C7293"/>
                </a:solidFill>
                <a:latin typeface="Calibri" pitchFamily="34" charset="0"/>
                <a:ea typeface="Calibri" pitchFamily="34" charset="-122"/>
                <a:cs typeface="Calibri" pitchFamily="34" charset="-120"/>
              </a:rPr>
              <a:t>PRACTICE LAB</a:t>
            </a:r>
            <a:endParaRPr lang="en-US" sz="1150" dirty="0"/>
          </a:p>
        </p:txBody>
      </p:sp>
      <p:sp>
        <p:nvSpPr>
          <p:cNvPr id="3" name="Text 1"/>
          <p:cNvSpPr/>
          <p:nvPr/>
        </p:nvSpPr>
        <p:spPr>
          <a:xfrm>
            <a:off x="640080" y="658368"/>
            <a:ext cx="10881360" cy="685800"/>
          </a:xfrm>
          <a:prstGeom prst="rect">
            <a:avLst/>
          </a:prstGeom>
          <a:noFill/>
          <a:ln/>
        </p:spPr>
        <p:txBody>
          <a:bodyPr wrap="square" lIns="0" tIns="0" rIns="0" bIns="0" rtlCol="0" anchor="ctr"/>
          <a:lstStyle/>
          <a:p>
            <a:pPr indent="0" marL="0">
              <a:buNone/>
            </a:pPr>
            <a:r>
              <a:rPr lang="en-US" sz="2600" b="1" dirty="0">
                <a:solidFill>
                  <a:srgbClr val="21295C"/>
                </a:solidFill>
                <a:latin typeface="Cambria" pitchFamily="34" charset="0"/>
                <a:ea typeface="Cambria" pitchFamily="34" charset="-122"/>
                <a:cs typeface="Cambria" pitchFamily="34" charset="-120"/>
              </a:rPr>
              <a:t>How to Use This Practice Set</a:t>
            </a:r>
            <a:endParaRPr lang="en-US" sz="2600" dirty="0"/>
          </a:p>
        </p:txBody>
      </p:sp>
      <p:sp>
        <p:nvSpPr>
          <p:cNvPr id="4" name="Shape 2"/>
          <p:cNvSpPr/>
          <p:nvPr/>
        </p:nvSpPr>
        <p:spPr>
          <a:xfrm>
            <a:off x="640080" y="1371600"/>
            <a:ext cx="10881360" cy="0"/>
          </a:xfrm>
          <a:prstGeom prst="line">
            <a:avLst/>
          </a:prstGeom>
          <a:noFill/>
          <a:ln w="12700">
            <a:solidFill>
              <a:srgbClr val="D7E3E8"/>
            </a:solidFill>
            <a:prstDash val="solid"/>
          </a:ln>
        </p:spPr>
      </p:sp>
      <p:sp>
        <p:nvSpPr>
          <p:cNvPr id="5" name="Shape 3"/>
          <p:cNvSpPr/>
          <p:nvPr/>
        </p:nvSpPr>
        <p:spPr>
          <a:xfrm>
            <a:off x="11109960" y="411480"/>
            <a:ext cx="502920" cy="502920"/>
          </a:xfrm>
          <a:prstGeom prst="ellipse">
            <a:avLst/>
          </a:prstGeom>
          <a:solidFill>
            <a:srgbClr val="EAF4F8"/>
          </a:solidFill>
          <a:ln w="15875">
            <a:solidFill>
              <a:srgbClr val="1C7293"/>
            </a:solidFill>
            <a:prstDash val="solid"/>
          </a:ln>
        </p:spPr>
      </p:sp>
      <p:sp>
        <p:nvSpPr>
          <p:cNvPr id="6" name="Text 4"/>
          <p:cNvSpPr/>
          <p:nvPr/>
        </p:nvSpPr>
        <p:spPr>
          <a:xfrm>
            <a:off x="11109960" y="411480"/>
            <a:ext cx="502920" cy="502920"/>
          </a:xfrm>
          <a:prstGeom prst="rect">
            <a:avLst/>
          </a:prstGeom>
          <a:noFill/>
          <a:ln/>
        </p:spPr>
        <p:txBody>
          <a:bodyPr wrap="square" lIns="0" tIns="0" rIns="0" bIns="0" rtlCol="0" anchor="ctr"/>
          <a:lstStyle/>
          <a:p>
            <a:pPr algn="ctr" indent="0" marL="0">
              <a:buNone/>
            </a:pPr>
            <a:r>
              <a:rPr lang="en-US" sz="1600" b="1" dirty="0">
                <a:solidFill>
                  <a:srgbClr val="1C7293"/>
                </a:solidFill>
                <a:latin typeface="Calibri" pitchFamily="34" charset="0"/>
                <a:ea typeface="Calibri" pitchFamily="34" charset="-122"/>
                <a:cs typeface="Calibri" pitchFamily="34" charset="-120"/>
              </a:rPr>
              <a:t>i</a:t>
            </a:r>
            <a:endParaRPr lang="en-US" sz="1600" dirty="0"/>
          </a:p>
        </p:txBody>
      </p:sp>
      <p:sp>
        <p:nvSpPr>
          <p:cNvPr id="7" name="Text 5"/>
          <p:cNvSpPr/>
          <p:nvPr/>
        </p:nvSpPr>
        <p:spPr>
          <a:xfrm>
            <a:off x="640080" y="1600200"/>
            <a:ext cx="10881360" cy="4572000"/>
          </a:xfrm>
          <a:prstGeom prst="rect">
            <a:avLst/>
          </a:prstGeom>
          <a:noFill/>
          <a:ln/>
        </p:spPr>
        <p:txBody>
          <a:bodyPr wrap="square" lIns="0" tIns="0" rIns="0" bIns="0" rtlCol="0" anchor="t"/>
          <a:lstStyle/>
          <a:p>
            <a:pPr marL="342900" indent="-342900">
              <a:spcAft>
                <a:spcPts val="1200"/>
              </a:spcAft>
              <a:buSzPct val="100000"/>
              <a:buChar char="•"/>
            </a:pPr>
            <a:r>
              <a:rPr lang="en-US" sz="1550" dirty="0">
                <a:solidFill>
                  <a:srgbClr val="1E293B"/>
                </a:solidFill>
                <a:latin typeface="Calibri" pitchFamily="34" charset="0"/>
                <a:ea typeface="Calibri" pitchFamily="34" charset="-122"/>
                <a:cs typeface="Calibri" pitchFamily="34" charset="-120"/>
              </a:rPr>
              <a:t>Use the same kubeadm lab cluster from Module 1 (1 control-plane + 2 worker nodes); install a NetworkPolicy-capable CNI such as Calico if you haven't already.</a:t>
            </a:r>
            <a:endParaRPr lang="en-US" sz="1550" dirty="0"/>
          </a:p>
          <a:p>
            <a:pPr marL="342900" indent="-342900">
              <a:spcAft>
                <a:spcPts val="1200"/>
              </a:spcAft>
              <a:buSzPct val="100000"/>
              <a:buChar char="•"/>
            </a:pPr>
            <a:r>
              <a:rPr lang="en-US" sz="1550" dirty="0">
                <a:solidFill>
                  <a:srgbClr val="1E293B"/>
                </a:solidFill>
                <a:latin typeface="Calibri" pitchFamily="34" charset="0"/>
                <a:ea typeface="Calibri" pitchFamily="34" charset="-122"/>
                <a:cs typeface="Calibri" pitchFamily="34" charset="-120"/>
              </a:rPr>
              <a:t>Time-box every task: 5-10 minutes per question, matching real exam pace.</a:t>
            </a:r>
            <a:endParaRPr lang="en-US" sz="1550" dirty="0"/>
          </a:p>
          <a:p>
            <a:pPr marL="342900" indent="-342900">
              <a:spcAft>
                <a:spcPts val="1200"/>
              </a:spcAft>
              <a:buSzPct val="100000"/>
              <a:buChar char="•"/>
            </a:pPr>
            <a:r>
              <a:rPr lang="en-US" sz="1550" dirty="0">
                <a:solidFill>
                  <a:srgbClr val="1E293B"/>
                </a:solidFill>
                <a:latin typeface="Calibri" pitchFamily="34" charset="0"/>
                <a:ea typeface="Calibri" pitchFamily="34" charset="-122"/>
                <a:cs typeface="Calibri" pitchFamily="34" charset="-120"/>
              </a:rPr>
              <a:t>For Network Policy tasks, always test BOTH that allowed traffic works AND that disallowed traffic is actually blocked — partial credit doesn't exist on the real exam.</a:t>
            </a:r>
            <a:endParaRPr lang="en-US" sz="1550" dirty="0"/>
          </a:p>
          <a:p>
            <a:pPr marL="342900" indent="-342900">
              <a:spcAft>
                <a:spcPts val="1200"/>
              </a:spcAft>
              <a:buSzPct val="100000"/>
              <a:buChar char="•"/>
            </a:pPr>
            <a:r>
              <a:rPr lang="en-US" sz="1550" dirty="0">
                <a:solidFill>
                  <a:srgbClr val="1E293B"/>
                </a:solidFill>
                <a:latin typeface="Calibri" pitchFamily="34" charset="0"/>
                <a:ea typeface="Calibri" pitchFamily="34" charset="-122"/>
                <a:cs typeface="Calibri" pitchFamily="34" charset="-120"/>
              </a:rPr>
              <a:t>For scheduling tasks, use kubectl describe pod and kubectl get events --sort-by=.lastTimestamp as your primary diagnostic tools.</a:t>
            </a:r>
            <a:endParaRPr lang="en-US" sz="1550" dirty="0"/>
          </a:p>
          <a:p>
            <a:pPr marL="342900" indent="-342900">
              <a:spcAft>
                <a:spcPts val="1200"/>
              </a:spcAft>
              <a:buSzPct val="100000"/>
              <a:buChar char="•"/>
            </a:pPr>
            <a:r>
              <a:rPr lang="en-US" sz="1550" dirty="0">
                <a:solidFill>
                  <a:srgbClr val="1E293B"/>
                </a:solidFill>
                <a:latin typeface="Calibri" pitchFamily="34" charset="0"/>
                <a:ea typeface="Calibri" pitchFamily="34" charset="-122"/>
                <a:cs typeface="Calibri" pitchFamily="34" charset="-120"/>
              </a:rPr>
              <a:t>Clean up each exercise (kubectl delete) before starting the next, to avoid label/selector collisions across questions.</a:t>
            </a:r>
            <a:endParaRPr lang="en-US" sz="1550" dirty="0"/>
          </a:p>
        </p:txBody>
      </p:sp>
      <p:sp>
        <p:nvSpPr>
          <p:cNvPr id="8" name="Text 6"/>
          <p:cNvSpPr/>
          <p:nvPr/>
        </p:nvSpPr>
        <p:spPr>
          <a:xfrm>
            <a:off x="457200" y="6446520"/>
            <a:ext cx="6400800" cy="27432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CKA v1.36 · Module 2</a:t>
            </a:r>
            <a:endParaRPr lang="en-US" sz="900" dirty="0"/>
          </a:p>
        </p:txBody>
      </p:sp>
      <p:sp>
        <p:nvSpPr>
          <p:cNvPr id="9" name="Text 7"/>
          <p:cNvSpPr/>
          <p:nvPr/>
        </p:nvSpPr>
        <p:spPr>
          <a:xfrm>
            <a:off x="11247120" y="6446520"/>
            <a:ext cx="4572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79</a:t>
            </a:r>
            <a:endParaRPr lang="en-US" sz="900" dirty="0"/>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name="Slide 8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365760"/>
            <a:ext cx="2377440" cy="384048"/>
          </a:xfrm>
          <a:prstGeom prst="roundRect">
            <a:avLst>
              <a:gd name="adj" fmla="val 50000"/>
            </a:avLst>
          </a:prstGeom>
          <a:solidFill>
            <a:srgbClr val="1C7293"/>
          </a:solidFill>
          <a:ln/>
        </p:spPr>
      </p:sp>
      <p:sp>
        <p:nvSpPr>
          <p:cNvPr id="3" name="Text 1"/>
          <p:cNvSpPr/>
          <p:nvPr/>
        </p:nvSpPr>
        <p:spPr>
          <a:xfrm>
            <a:off x="640080" y="365760"/>
            <a:ext cx="237744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SET 1</a:t>
            </a:r>
            <a:endParaRPr lang="en-US" sz="1200" dirty="0"/>
          </a:p>
        </p:txBody>
      </p:sp>
      <p:sp>
        <p:nvSpPr>
          <p:cNvPr id="4" name="Text 2"/>
          <p:cNvSpPr/>
          <p:nvPr/>
        </p:nvSpPr>
        <p:spPr>
          <a:xfrm>
            <a:off x="3154680" y="365760"/>
            <a:ext cx="8412480" cy="384048"/>
          </a:xfrm>
          <a:prstGeom prst="rect">
            <a:avLst/>
          </a:prstGeom>
          <a:noFill/>
          <a:ln/>
        </p:spPr>
        <p:txBody>
          <a:bodyPr wrap="square" lIns="0" tIns="0" rIns="0" bIns="0" rtlCol="0" anchor="ctr"/>
          <a:lstStyle/>
          <a:p>
            <a:pPr indent="0" marL="0">
              <a:buNone/>
            </a:pPr>
            <a:r>
              <a:rPr lang="en-US" sz="1600" b="1" dirty="0">
                <a:solidFill>
                  <a:srgbClr val="21295C"/>
                </a:solidFill>
                <a:latin typeface="Cambria" pitchFamily="34" charset="0"/>
                <a:ea typeface="Cambria" pitchFamily="34" charset="-122"/>
                <a:cs typeface="Cambria" pitchFamily="34" charset="-120"/>
              </a:rPr>
              <a:t>Deployments &amp; Deployment Strategies</a:t>
            </a:r>
            <a:endParaRPr lang="en-US" sz="1600" dirty="0"/>
          </a:p>
        </p:txBody>
      </p:sp>
      <p:sp>
        <p:nvSpPr>
          <p:cNvPr id="5" name="Text 3"/>
          <p:cNvSpPr/>
          <p:nvPr/>
        </p:nvSpPr>
        <p:spPr>
          <a:xfrm>
            <a:off x="640080" y="868680"/>
            <a:ext cx="10881360" cy="365760"/>
          </a:xfrm>
          <a:prstGeom prst="rect">
            <a:avLst/>
          </a:prstGeom>
          <a:noFill/>
          <a:ln/>
        </p:spPr>
        <p:txBody>
          <a:bodyPr wrap="square" lIns="0" tIns="0" rIns="0" bIns="0" rtlCol="0" anchor="ctr"/>
          <a:lstStyle/>
          <a:p>
            <a:pPr indent="0" marL="0">
              <a:buNone/>
            </a:pPr>
            <a:r>
              <a:rPr lang="en-US" sz="1250" i="1" dirty="0">
                <a:solidFill>
                  <a:srgbClr val="64748B"/>
                </a:solidFill>
                <a:latin typeface="Calibri" pitchFamily="34" charset="0"/>
                <a:ea typeface="Calibri" pitchFamily="34" charset="-122"/>
                <a:cs typeface="Calibri" pitchFamily="34" charset="-120"/>
              </a:rPr>
              <a:t>Estimated time: 40-55 minutes for the full set</a:t>
            </a:r>
            <a:endParaRPr lang="en-US" sz="1250" dirty="0"/>
          </a:p>
        </p:txBody>
      </p:sp>
      <p:sp>
        <p:nvSpPr>
          <p:cNvPr id="6" name="Shape 4"/>
          <p:cNvSpPr/>
          <p:nvPr/>
        </p:nvSpPr>
        <p:spPr>
          <a:xfrm>
            <a:off x="640080" y="1604010"/>
            <a:ext cx="365760" cy="365760"/>
          </a:xfrm>
          <a:prstGeom prst="ellipse">
            <a:avLst/>
          </a:prstGeom>
          <a:solidFill>
            <a:srgbClr val="065A82"/>
          </a:solidFill>
          <a:ln/>
        </p:spPr>
      </p:sp>
      <p:sp>
        <p:nvSpPr>
          <p:cNvPr id="7" name="Text 5"/>
          <p:cNvSpPr/>
          <p:nvPr/>
        </p:nvSpPr>
        <p:spPr>
          <a:xfrm>
            <a:off x="640080" y="1604010"/>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8" name="Text 6"/>
          <p:cNvSpPr/>
          <p:nvPr/>
        </p:nvSpPr>
        <p:spPr>
          <a:xfrm>
            <a:off x="1188720" y="1371600"/>
            <a:ext cx="10241280" cy="830580"/>
          </a:xfrm>
          <a:prstGeom prst="rect">
            <a:avLst/>
          </a:prstGeom>
          <a:noFill/>
          <a:ln/>
        </p:spPr>
        <p:txBody>
          <a:bodyPr wrap="square" lIns="0" tIns="0" rIns="0" bIns="0" rtlCol="0" anchor="ctr"/>
          <a:lstStyle/>
          <a:p>
            <a:pPr indent="0" marL="0">
              <a:buNone/>
            </a:pPr>
            <a:r>
              <a:rPr lang="en-US" sz="1300" dirty="0">
                <a:solidFill>
                  <a:srgbClr val="1E293B"/>
                </a:solidFill>
                <a:latin typeface="Calibri" pitchFamily="34" charset="0"/>
                <a:ea typeface="Calibri" pitchFamily="34" charset="-122"/>
                <a:cs typeface="Calibri" pitchFamily="34" charset="-120"/>
              </a:rPr>
              <a:t>Create a Deployment with 6 replicas, RollingUpdate strategy, maxUnavailable: 1, maxSurge: 2; trigger an image update and observe kubectl get rs throughout the rollout.</a:t>
            </a:r>
            <a:endParaRPr lang="en-US" sz="1300" dirty="0"/>
          </a:p>
        </p:txBody>
      </p:sp>
      <p:sp>
        <p:nvSpPr>
          <p:cNvPr id="9" name="Shape 7"/>
          <p:cNvSpPr/>
          <p:nvPr/>
        </p:nvSpPr>
        <p:spPr>
          <a:xfrm>
            <a:off x="640080" y="2183892"/>
            <a:ext cx="10881360" cy="0"/>
          </a:xfrm>
          <a:prstGeom prst="line">
            <a:avLst/>
          </a:prstGeom>
          <a:noFill/>
          <a:ln w="6350">
            <a:solidFill>
              <a:srgbClr val="D7E3E8"/>
            </a:solidFill>
            <a:prstDash val="solid"/>
          </a:ln>
        </p:spPr>
      </p:sp>
      <p:sp>
        <p:nvSpPr>
          <p:cNvPr id="10" name="Shape 8"/>
          <p:cNvSpPr/>
          <p:nvPr/>
        </p:nvSpPr>
        <p:spPr>
          <a:xfrm>
            <a:off x="640080" y="2434590"/>
            <a:ext cx="365760" cy="365760"/>
          </a:xfrm>
          <a:prstGeom prst="ellipse">
            <a:avLst/>
          </a:prstGeom>
          <a:solidFill>
            <a:srgbClr val="065A82"/>
          </a:solidFill>
          <a:ln/>
        </p:spPr>
      </p:sp>
      <p:sp>
        <p:nvSpPr>
          <p:cNvPr id="11" name="Text 9"/>
          <p:cNvSpPr/>
          <p:nvPr/>
        </p:nvSpPr>
        <p:spPr>
          <a:xfrm>
            <a:off x="640080" y="2434590"/>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2" name="Text 10"/>
          <p:cNvSpPr/>
          <p:nvPr/>
        </p:nvSpPr>
        <p:spPr>
          <a:xfrm>
            <a:off x="1188720" y="2202180"/>
            <a:ext cx="10241280" cy="830580"/>
          </a:xfrm>
          <a:prstGeom prst="rect">
            <a:avLst/>
          </a:prstGeom>
          <a:noFill/>
          <a:ln/>
        </p:spPr>
        <p:txBody>
          <a:bodyPr wrap="square" lIns="0" tIns="0" rIns="0" bIns="0" rtlCol="0" anchor="ctr"/>
          <a:lstStyle/>
          <a:p>
            <a:pPr indent="0" marL="0">
              <a:buNone/>
            </a:pPr>
            <a:r>
              <a:rPr lang="en-US" sz="1300" dirty="0">
                <a:solidFill>
                  <a:srgbClr val="1E293B"/>
                </a:solidFill>
                <a:latin typeface="Calibri" pitchFamily="34" charset="0"/>
                <a:ea typeface="Calibri" pitchFamily="34" charset="-122"/>
                <a:cs typeface="Calibri" pitchFamily="34" charset="-120"/>
              </a:rPr>
              <a:t>Change the same Deployment's strategy to Recreate, trigger another update, and time the resulting downtime window using a watch loop against the Service's endpoint.</a:t>
            </a:r>
            <a:endParaRPr lang="en-US" sz="1300" dirty="0"/>
          </a:p>
        </p:txBody>
      </p:sp>
      <p:sp>
        <p:nvSpPr>
          <p:cNvPr id="13" name="Shape 11"/>
          <p:cNvSpPr/>
          <p:nvPr/>
        </p:nvSpPr>
        <p:spPr>
          <a:xfrm>
            <a:off x="640080" y="3014472"/>
            <a:ext cx="10881360" cy="0"/>
          </a:xfrm>
          <a:prstGeom prst="line">
            <a:avLst/>
          </a:prstGeom>
          <a:noFill/>
          <a:ln w="6350">
            <a:solidFill>
              <a:srgbClr val="D7E3E8"/>
            </a:solidFill>
            <a:prstDash val="solid"/>
          </a:ln>
        </p:spPr>
      </p:sp>
      <p:sp>
        <p:nvSpPr>
          <p:cNvPr id="14" name="Shape 12"/>
          <p:cNvSpPr/>
          <p:nvPr/>
        </p:nvSpPr>
        <p:spPr>
          <a:xfrm>
            <a:off x="640080" y="3265170"/>
            <a:ext cx="365760" cy="365760"/>
          </a:xfrm>
          <a:prstGeom prst="ellipse">
            <a:avLst/>
          </a:prstGeom>
          <a:solidFill>
            <a:srgbClr val="065A82"/>
          </a:solidFill>
          <a:ln/>
        </p:spPr>
      </p:sp>
      <p:sp>
        <p:nvSpPr>
          <p:cNvPr id="15" name="Text 13"/>
          <p:cNvSpPr/>
          <p:nvPr/>
        </p:nvSpPr>
        <p:spPr>
          <a:xfrm>
            <a:off x="640080" y="3265170"/>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6" name="Text 14"/>
          <p:cNvSpPr/>
          <p:nvPr/>
        </p:nvSpPr>
        <p:spPr>
          <a:xfrm>
            <a:off x="1188720" y="3032760"/>
            <a:ext cx="10241280" cy="830580"/>
          </a:xfrm>
          <a:prstGeom prst="rect">
            <a:avLst/>
          </a:prstGeom>
          <a:noFill/>
          <a:ln/>
        </p:spPr>
        <p:txBody>
          <a:bodyPr wrap="square" lIns="0" tIns="0" rIns="0" bIns="0" rtlCol="0" anchor="ctr"/>
          <a:lstStyle/>
          <a:p>
            <a:pPr indent="0" marL="0">
              <a:buNone/>
            </a:pPr>
            <a:r>
              <a:rPr lang="en-US" sz="1300" dirty="0">
                <a:solidFill>
                  <a:srgbClr val="1E293B"/>
                </a:solidFill>
                <a:latin typeface="Calibri" pitchFamily="34" charset="0"/>
                <a:ea typeface="Calibri" pitchFamily="34" charset="-122"/>
                <a:cs typeface="Calibri" pitchFamily="34" charset="-120"/>
              </a:rPr>
              <a:t>Build a blue-green setup: two Deployments (blue and green) and one Service; cut traffic over from blue to green by patching the Service selector, then roll back.</a:t>
            </a:r>
            <a:endParaRPr lang="en-US" sz="1300" dirty="0"/>
          </a:p>
        </p:txBody>
      </p:sp>
      <p:sp>
        <p:nvSpPr>
          <p:cNvPr id="17" name="Shape 15"/>
          <p:cNvSpPr/>
          <p:nvPr/>
        </p:nvSpPr>
        <p:spPr>
          <a:xfrm>
            <a:off x="640080" y="3845052"/>
            <a:ext cx="10881360" cy="0"/>
          </a:xfrm>
          <a:prstGeom prst="line">
            <a:avLst/>
          </a:prstGeom>
          <a:noFill/>
          <a:ln w="6350">
            <a:solidFill>
              <a:srgbClr val="D7E3E8"/>
            </a:solidFill>
            <a:prstDash val="solid"/>
          </a:ln>
        </p:spPr>
      </p:sp>
      <p:sp>
        <p:nvSpPr>
          <p:cNvPr id="18" name="Shape 16"/>
          <p:cNvSpPr/>
          <p:nvPr/>
        </p:nvSpPr>
        <p:spPr>
          <a:xfrm>
            <a:off x="640080" y="4095750"/>
            <a:ext cx="365760" cy="365760"/>
          </a:xfrm>
          <a:prstGeom prst="ellipse">
            <a:avLst/>
          </a:prstGeom>
          <a:solidFill>
            <a:srgbClr val="065A82"/>
          </a:solidFill>
          <a:ln/>
        </p:spPr>
      </p:sp>
      <p:sp>
        <p:nvSpPr>
          <p:cNvPr id="19" name="Text 17"/>
          <p:cNvSpPr/>
          <p:nvPr/>
        </p:nvSpPr>
        <p:spPr>
          <a:xfrm>
            <a:off x="640080" y="4095750"/>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0" name="Text 18"/>
          <p:cNvSpPr/>
          <p:nvPr/>
        </p:nvSpPr>
        <p:spPr>
          <a:xfrm>
            <a:off x="1188720" y="3863340"/>
            <a:ext cx="10241280" cy="830580"/>
          </a:xfrm>
          <a:prstGeom prst="rect">
            <a:avLst/>
          </a:prstGeom>
          <a:noFill/>
          <a:ln/>
        </p:spPr>
        <p:txBody>
          <a:bodyPr wrap="square" lIns="0" tIns="0" rIns="0" bIns="0" rtlCol="0" anchor="ctr"/>
          <a:lstStyle/>
          <a:p>
            <a:pPr indent="0" marL="0">
              <a:buNone/>
            </a:pPr>
            <a:r>
              <a:rPr lang="en-US" sz="1300" dirty="0">
                <a:solidFill>
                  <a:srgbClr val="1E293B"/>
                </a:solidFill>
                <a:latin typeface="Calibri" pitchFamily="34" charset="0"/>
                <a:ea typeface="Calibri" pitchFamily="34" charset="-122"/>
                <a:cs typeface="Calibri" pitchFamily="34" charset="-120"/>
              </a:rPr>
              <a:t>Build a canary setup: a 9-replica stable Deployment and a 1-replica canary Deployment sharing one Service selector; send 50 requests and count the approximate traffic split.</a:t>
            </a:r>
            <a:endParaRPr lang="en-US" sz="1300" dirty="0"/>
          </a:p>
        </p:txBody>
      </p:sp>
      <p:sp>
        <p:nvSpPr>
          <p:cNvPr id="21" name="Shape 19"/>
          <p:cNvSpPr/>
          <p:nvPr/>
        </p:nvSpPr>
        <p:spPr>
          <a:xfrm>
            <a:off x="640080" y="4675632"/>
            <a:ext cx="10881360" cy="0"/>
          </a:xfrm>
          <a:prstGeom prst="line">
            <a:avLst/>
          </a:prstGeom>
          <a:noFill/>
          <a:ln w="6350">
            <a:solidFill>
              <a:srgbClr val="D7E3E8"/>
            </a:solidFill>
            <a:prstDash val="solid"/>
          </a:ln>
        </p:spPr>
      </p:sp>
      <p:sp>
        <p:nvSpPr>
          <p:cNvPr id="22" name="Shape 20"/>
          <p:cNvSpPr/>
          <p:nvPr/>
        </p:nvSpPr>
        <p:spPr>
          <a:xfrm>
            <a:off x="640080" y="4926330"/>
            <a:ext cx="365760" cy="365760"/>
          </a:xfrm>
          <a:prstGeom prst="ellipse">
            <a:avLst/>
          </a:prstGeom>
          <a:solidFill>
            <a:srgbClr val="065A82"/>
          </a:solidFill>
          <a:ln/>
        </p:spPr>
      </p:sp>
      <p:sp>
        <p:nvSpPr>
          <p:cNvPr id="23" name="Text 21"/>
          <p:cNvSpPr/>
          <p:nvPr/>
        </p:nvSpPr>
        <p:spPr>
          <a:xfrm>
            <a:off x="640080" y="4926330"/>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24" name="Text 22"/>
          <p:cNvSpPr/>
          <p:nvPr/>
        </p:nvSpPr>
        <p:spPr>
          <a:xfrm>
            <a:off x="1188720" y="4693920"/>
            <a:ext cx="10241280" cy="830580"/>
          </a:xfrm>
          <a:prstGeom prst="rect">
            <a:avLst/>
          </a:prstGeom>
          <a:noFill/>
          <a:ln/>
        </p:spPr>
        <p:txBody>
          <a:bodyPr wrap="square" lIns="0" tIns="0" rIns="0" bIns="0" rtlCol="0" anchor="ctr"/>
          <a:lstStyle/>
          <a:p>
            <a:pPr indent="0" marL="0">
              <a:buNone/>
            </a:pPr>
            <a:r>
              <a:rPr lang="en-US" sz="1300" dirty="0">
                <a:solidFill>
                  <a:srgbClr val="1E293B"/>
                </a:solidFill>
                <a:latin typeface="Calibri" pitchFamily="34" charset="0"/>
                <a:ea typeface="Calibri" pitchFamily="34" charset="-122"/>
                <a:cs typeface="Calibri" pitchFamily="34" charset="-120"/>
              </a:rPr>
              <a:t>Deliberately misconfigure spec.selector so it no longer matches spec.template.metadata.labels, attempt to apply it, and explain the exact error the API server returns.</a:t>
            </a:r>
            <a:endParaRPr lang="en-US" sz="1300" dirty="0"/>
          </a:p>
        </p:txBody>
      </p:sp>
      <p:sp>
        <p:nvSpPr>
          <p:cNvPr id="25" name="Shape 23"/>
          <p:cNvSpPr/>
          <p:nvPr/>
        </p:nvSpPr>
        <p:spPr>
          <a:xfrm>
            <a:off x="640080" y="5506212"/>
            <a:ext cx="10881360" cy="0"/>
          </a:xfrm>
          <a:prstGeom prst="line">
            <a:avLst/>
          </a:prstGeom>
          <a:noFill/>
          <a:ln w="6350">
            <a:solidFill>
              <a:srgbClr val="D7E3E8"/>
            </a:solidFill>
            <a:prstDash val="solid"/>
          </a:ln>
        </p:spPr>
      </p:sp>
      <p:sp>
        <p:nvSpPr>
          <p:cNvPr id="26" name="Shape 24"/>
          <p:cNvSpPr/>
          <p:nvPr/>
        </p:nvSpPr>
        <p:spPr>
          <a:xfrm>
            <a:off x="640080" y="5756910"/>
            <a:ext cx="365760" cy="365760"/>
          </a:xfrm>
          <a:prstGeom prst="ellipse">
            <a:avLst/>
          </a:prstGeom>
          <a:solidFill>
            <a:srgbClr val="065A82"/>
          </a:solidFill>
          <a:ln/>
        </p:spPr>
      </p:sp>
      <p:sp>
        <p:nvSpPr>
          <p:cNvPr id="27" name="Text 25"/>
          <p:cNvSpPr/>
          <p:nvPr/>
        </p:nvSpPr>
        <p:spPr>
          <a:xfrm>
            <a:off x="640080" y="5756910"/>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6</a:t>
            </a:r>
            <a:endParaRPr lang="en-US" sz="1300" dirty="0"/>
          </a:p>
        </p:txBody>
      </p:sp>
      <p:sp>
        <p:nvSpPr>
          <p:cNvPr id="28" name="Text 26"/>
          <p:cNvSpPr/>
          <p:nvPr/>
        </p:nvSpPr>
        <p:spPr>
          <a:xfrm>
            <a:off x="1188720" y="5524500"/>
            <a:ext cx="10241280" cy="830580"/>
          </a:xfrm>
          <a:prstGeom prst="rect">
            <a:avLst/>
          </a:prstGeom>
          <a:noFill/>
          <a:ln/>
        </p:spPr>
        <p:txBody>
          <a:bodyPr wrap="square" lIns="0" tIns="0" rIns="0" bIns="0" rtlCol="0" anchor="ctr"/>
          <a:lstStyle/>
          <a:p>
            <a:pPr indent="0" marL="0">
              <a:buNone/>
            </a:pPr>
            <a:r>
              <a:rPr lang="en-US" sz="1300" dirty="0">
                <a:solidFill>
                  <a:srgbClr val="1E293B"/>
                </a:solidFill>
                <a:latin typeface="Calibri" pitchFamily="34" charset="0"/>
                <a:ea typeface="Calibri" pitchFamily="34" charset="-122"/>
                <a:cs typeface="Calibri" pitchFamily="34" charset="-120"/>
              </a:rPr>
              <a:t>Create a Pod with an intentionally wrong image tag inside a Deployment, diagnose the resulting ImagePullBackOff using kubectl describe, then fix it.</a:t>
            </a:r>
            <a:endParaRPr lang="en-US" sz="1300" dirty="0"/>
          </a:p>
        </p:txBody>
      </p:sp>
      <p:sp>
        <p:nvSpPr>
          <p:cNvPr id="29" name="Text 27"/>
          <p:cNvSpPr/>
          <p:nvPr/>
        </p:nvSpPr>
        <p:spPr>
          <a:xfrm>
            <a:off x="457200" y="6446520"/>
            <a:ext cx="6400800" cy="27432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CKA v1.36 · Module 2</a:t>
            </a:r>
            <a:endParaRPr lang="en-US" sz="900" dirty="0"/>
          </a:p>
        </p:txBody>
      </p:sp>
      <p:sp>
        <p:nvSpPr>
          <p:cNvPr id="30" name="Text 28"/>
          <p:cNvSpPr/>
          <p:nvPr/>
        </p:nvSpPr>
        <p:spPr>
          <a:xfrm>
            <a:off x="11247120" y="6446520"/>
            <a:ext cx="4572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80</a:t>
            </a:r>
            <a:endParaRPr lang="en-US" sz="900" dirty="0"/>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name="Slide 8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365760"/>
            <a:ext cx="2377440" cy="384048"/>
          </a:xfrm>
          <a:prstGeom prst="roundRect">
            <a:avLst>
              <a:gd name="adj" fmla="val 50000"/>
            </a:avLst>
          </a:prstGeom>
          <a:solidFill>
            <a:srgbClr val="1C7293"/>
          </a:solidFill>
          <a:ln/>
        </p:spPr>
      </p:sp>
      <p:sp>
        <p:nvSpPr>
          <p:cNvPr id="3" name="Text 1"/>
          <p:cNvSpPr/>
          <p:nvPr/>
        </p:nvSpPr>
        <p:spPr>
          <a:xfrm>
            <a:off x="640080" y="365760"/>
            <a:ext cx="237744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SET 2</a:t>
            </a:r>
            <a:endParaRPr lang="en-US" sz="1200" dirty="0"/>
          </a:p>
        </p:txBody>
      </p:sp>
      <p:sp>
        <p:nvSpPr>
          <p:cNvPr id="4" name="Text 2"/>
          <p:cNvSpPr/>
          <p:nvPr/>
        </p:nvSpPr>
        <p:spPr>
          <a:xfrm>
            <a:off x="3154680" y="365760"/>
            <a:ext cx="8412480" cy="384048"/>
          </a:xfrm>
          <a:prstGeom prst="rect">
            <a:avLst/>
          </a:prstGeom>
          <a:noFill/>
          <a:ln/>
        </p:spPr>
        <p:txBody>
          <a:bodyPr wrap="square" lIns="0" tIns="0" rIns="0" bIns="0" rtlCol="0" anchor="ctr"/>
          <a:lstStyle/>
          <a:p>
            <a:pPr indent="0" marL="0">
              <a:buNone/>
            </a:pPr>
            <a:r>
              <a:rPr lang="en-US" sz="1600" b="1" dirty="0">
                <a:solidFill>
                  <a:srgbClr val="21295C"/>
                </a:solidFill>
                <a:latin typeface="Cambria" pitchFamily="34" charset="0"/>
                <a:ea typeface="Cambria" pitchFamily="34" charset="-122"/>
                <a:cs typeface="Cambria" pitchFamily="34" charset="-120"/>
              </a:rPr>
              <a:t>Pod Connectivity &amp; Network Policies</a:t>
            </a:r>
            <a:endParaRPr lang="en-US" sz="1600" dirty="0"/>
          </a:p>
        </p:txBody>
      </p:sp>
      <p:sp>
        <p:nvSpPr>
          <p:cNvPr id="5" name="Text 3"/>
          <p:cNvSpPr/>
          <p:nvPr/>
        </p:nvSpPr>
        <p:spPr>
          <a:xfrm>
            <a:off x="640080" y="868680"/>
            <a:ext cx="10881360" cy="365760"/>
          </a:xfrm>
          <a:prstGeom prst="rect">
            <a:avLst/>
          </a:prstGeom>
          <a:noFill/>
          <a:ln/>
        </p:spPr>
        <p:txBody>
          <a:bodyPr wrap="square" lIns="0" tIns="0" rIns="0" bIns="0" rtlCol="0" anchor="ctr"/>
          <a:lstStyle/>
          <a:p>
            <a:pPr indent="0" marL="0">
              <a:buNone/>
            </a:pPr>
            <a:r>
              <a:rPr lang="en-US" sz="1250" i="1" dirty="0">
                <a:solidFill>
                  <a:srgbClr val="64748B"/>
                </a:solidFill>
                <a:latin typeface="Calibri" pitchFamily="34" charset="0"/>
                <a:ea typeface="Calibri" pitchFamily="34" charset="-122"/>
                <a:cs typeface="Calibri" pitchFamily="34" charset="-120"/>
              </a:rPr>
              <a:t>Estimated time: 45-60 minutes for the full set</a:t>
            </a:r>
            <a:endParaRPr lang="en-US" sz="1250" dirty="0"/>
          </a:p>
        </p:txBody>
      </p:sp>
      <p:sp>
        <p:nvSpPr>
          <p:cNvPr id="6" name="Shape 4"/>
          <p:cNvSpPr/>
          <p:nvPr/>
        </p:nvSpPr>
        <p:spPr>
          <a:xfrm>
            <a:off x="640080" y="1604010"/>
            <a:ext cx="365760" cy="365760"/>
          </a:xfrm>
          <a:prstGeom prst="ellipse">
            <a:avLst/>
          </a:prstGeom>
          <a:solidFill>
            <a:srgbClr val="065A82"/>
          </a:solidFill>
          <a:ln/>
        </p:spPr>
      </p:sp>
      <p:sp>
        <p:nvSpPr>
          <p:cNvPr id="7" name="Text 5"/>
          <p:cNvSpPr/>
          <p:nvPr/>
        </p:nvSpPr>
        <p:spPr>
          <a:xfrm>
            <a:off x="640080" y="1604010"/>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8" name="Text 6"/>
          <p:cNvSpPr/>
          <p:nvPr/>
        </p:nvSpPr>
        <p:spPr>
          <a:xfrm>
            <a:off x="1188720" y="1371600"/>
            <a:ext cx="10241280" cy="830580"/>
          </a:xfrm>
          <a:prstGeom prst="rect">
            <a:avLst/>
          </a:prstGeom>
          <a:noFill/>
          <a:ln/>
        </p:spPr>
        <p:txBody>
          <a:bodyPr wrap="square" lIns="0" tIns="0" rIns="0" bIns="0" rtlCol="0" anchor="ctr"/>
          <a:lstStyle/>
          <a:p>
            <a:pPr indent="0" marL="0">
              <a:buNone/>
            </a:pPr>
            <a:r>
              <a:rPr lang="en-US" sz="1300" dirty="0">
                <a:solidFill>
                  <a:srgbClr val="1E293B"/>
                </a:solidFill>
                <a:latin typeface="Calibri" pitchFamily="34" charset="0"/>
                <a:ea typeface="Calibri" pitchFamily="34" charset="-122"/>
                <a:cs typeface="Calibri" pitchFamily="34" charset="-120"/>
              </a:rPr>
              <a:t>Deploy two Pods in different namespaces and confirm Pod-to-Pod connectivity using direct Pod IPs (bypassing Services entirely).</a:t>
            </a:r>
            <a:endParaRPr lang="en-US" sz="1300" dirty="0"/>
          </a:p>
        </p:txBody>
      </p:sp>
      <p:sp>
        <p:nvSpPr>
          <p:cNvPr id="9" name="Shape 7"/>
          <p:cNvSpPr/>
          <p:nvPr/>
        </p:nvSpPr>
        <p:spPr>
          <a:xfrm>
            <a:off x="640080" y="2183892"/>
            <a:ext cx="10881360" cy="0"/>
          </a:xfrm>
          <a:prstGeom prst="line">
            <a:avLst/>
          </a:prstGeom>
          <a:noFill/>
          <a:ln w="6350">
            <a:solidFill>
              <a:srgbClr val="D7E3E8"/>
            </a:solidFill>
            <a:prstDash val="solid"/>
          </a:ln>
        </p:spPr>
      </p:sp>
      <p:sp>
        <p:nvSpPr>
          <p:cNvPr id="10" name="Shape 8"/>
          <p:cNvSpPr/>
          <p:nvPr/>
        </p:nvSpPr>
        <p:spPr>
          <a:xfrm>
            <a:off x="640080" y="2434590"/>
            <a:ext cx="365760" cy="365760"/>
          </a:xfrm>
          <a:prstGeom prst="ellipse">
            <a:avLst/>
          </a:prstGeom>
          <a:solidFill>
            <a:srgbClr val="065A82"/>
          </a:solidFill>
          <a:ln/>
        </p:spPr>
      </p:sp>
      <p:sp>
        <p:nvSpPr>
          <p:cNvPr id="11" name="Text 9"/>
          <p:cNvSpPr/>
          <p:nvPr/>
        </p:nvSpPr>
        <p:spPr>
          <a:xfrm>
            <a:off x="640080" y="2434590"/>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2" name="Text 10"/>
          <p:cNvSpPr/>
          <p:nvPr/>
        </p:nvSpPr>
        <p:spPr>
          <a:xfrm>
            <a:off x="1188720" y="2202180"/>
            <a:ext cx="10241280" cy="830580"/>
          </a:xfrm>
          <a:prstGeom prst="rect">
            <a:avLst/>
          </a:prstGeom>
          <a:noFill/>
          <a:ln/>
        </p:spPr>
        <p:txBody>
          <a:bodyPr wrap="square" lIns="0" tIns="0" rIns="0" bIns="0" rtlCol="0" anchor="ctr"/>
          <a:lstStyle/>
          <a:p>
            <a:pPr indent="0" marL="0">
              <a:buNone/>
            </a:pPr>
            <a:r>
              <a:rPr lang="en-US" sz="1300" dirty="0">
                <a:solidFill>
                  <a:srgbClr val="1E293B"/>
                </a:solidFill>
                <a:latin typeface="Calibri" pitchFamily="34" charset="0"/>
                <a:ea typeface="Calibri" pitchFamily="34" charset="-122"/>
                <a:cs typeface="Calibri" pitchFamily="34" charset="-120"/>
              </a:rPr>
              <a:t>Create a ClusterIP Service with a deliberately mismatched selector; use kubectl get endpoints to confirm it's empty, then fix the selector and re-verify.</a:t>
            </a:r>
            <a:endParaRPr lang="en-US" sz="1300" dirty="0"/>
          </a:p>
        </p:txBody>
      </p:sp>
      <p:sp>
        <p:nvSpPr>
          <p:cNvPr id="13" name="Shape 11"/>
          <p:cNvSpPr/>
          <p:nvPr/>
        </p:nvSpPr>
        <p:spPr>
          <a:xfrm>
            <a:off x="640080" y="3014472"/>
            <a:ext cx="10881360" cy="0"/>
          </a:xfrm>
          <a:prstGeom prst="line">
            <a:avLst/>
          </a:prstGeom>
          <a:noFill/>
          <a:ln w="6350">
            <a:solidFill>
              <a:srgbClr val="D7E3E8"/>
            </a:solidFill>
            <a:prstDash val="solid"/>
          </a:ln>
        </p:spPr>
      </p:sp>
      <p:sp>
        <p:nvSpPr>
          <p:cNvPr id="14" name="Shape 12"/>
          <p:cNvSpPr/>
          <p:nvPr/>
        </p:nvSpPr>
        <p:spPr>
          <a:xfrm>
            <a:off x="640080" y="3265170"/>
            <a:ext cx="365760" cy="365760"/>
          </a:xfrm>
          <a:prstGeom prst="ellipse">
            <a:avLst/>
          </a:prstGeom>
          <a:solidFill>
            <a:srgbClr val="065A82"/>
          </a:solidFill>
          <a:ln/>
        </p:spPr>
      </p:sp>
      <p:sp>
        <p:nvSpPr>
          <p:cNvPr id="15" name="Text 13"/>
          <p:cNvSpPr/>
          <p:nvPr/>
        </p:nvSpPr>
        <p:spPr>
          <a:xfrm>
            <a:off x="640080" y="3265170"/>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6" name="Text 14"/>
          <p:cNvSpPr/>
          <p:nvPr/>
        </p:nvSpPr>
        <p:spPr>
          <a:xfrm>
            <a:off x="1188720" y="3032760"/>
            <a:ext cx="10241280" cy="830580"/>
          </a:xfrm>
          <a:prstGeom prst="rect">
            <a:avLst/>
          </a:prstGeom>
          <a:noFill/>
          <a:ln/>
        </p:spPr>
        <p:txBody>
          <a:bodyPr wrap="square" lIns="0" tIns="0" rIns="0" bIns="0" rtlCol="0" anchor="ctr"/>
          <a:lstStyle/>
          <a:p>
            <a:pPr indent="0" marL="0">
              <a:buNone/>
            </a:pPr>
            <a:r>
              <a:rPr lang="en-US" sz="1300" dirty="0">
                <a:solidFill>
                  <a:srgbClr val="1E293B"/>
                </a:solidFill>
                <a:latin typeface="Calibri" pitchFamily="34" charset="0"/>
                <a:ea typeface="Calibri" pitchFamily="34" charset="-122"/>
                <a:cs typeface="Calibri" pitchFamily="34" charset="-120"/>
              </a:rPr>
              <a:t>Apply a default-deny-all ingress NetworkPolicy to a namespace; confirm all existing Pod-to-Pod traffic into that namespace is now blocked.</a:t>
            </a:r>
            <a:endParaRPr lang="en-US" sz="1300" dirty="0"/>
          </a:p>
        </p:txBody>
      </p:sp>
      <p:sp>
        <p:nvSpPr>
          <p:cNvPr id="17" name="Shape 15"/>
          <p:cNvSpPr/>
          <p:nvPr/>
        </p:nvSpPr>
        <p:spPr>
          <a:xfrm>
            <a:off x="640080" y="3845052"/>
            <a:ext cx="10881360" cy="0"/>
          </a:xfrm>
          <a:prstGeom prst="line">
            <a:avLst/>
          </a:prstGeom>
          <a:noFill/>
          <a:ln w="6350">
            <a:solidFill>
              <a:srgbClr val="D7E3E8"/>
            </a:solidFill>
            <a:prstDash val="solid"/>
          </a:ln>
        </p:spPr>
      </p:sp>
      <p:sp>
        <p:nvSpPr>
          <p:cNvPr id="18" name="Shape 16"/>
          <p:cNvSpPr/>
          <p:nvPr/>
        </p:nvSpPr>
        <p:spPr>
          <a:xfrm>
            <a:off x="640080" y="4095750"/>
            <a:ext cx="365760" cy="365760"/>
          </a:xfrm>
          <a:prstGeom prst="ellipse">
            <a:avLst/>
          </a:prstGeom>
          <a:solidFill>
            <a:srgbClr val="065A82"/>
          </a:solidFill>
          <a:ln/>
        </p:spPr>
      </p:sp>
      <p:sp>
        <p:nvSpPr>
          <p:cNvPr id="19" name="Text 17"/>
          <p:cNvSpPr/>
          <p:nvPr/>
        </p:nvSpPr>
        <p:spPr>
          <a:xfrm>
            <a:off x="640080" y="4095750"/>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0" name="Text 18"/>
          <p:cNvSpPr/>
          <p:nvPr/>
        </p:nvSpPr>
        <p:spPr>
          <a:xfrm>
            <a:off x="1188720" y="3863340"/>
            <a:ext cx="10241280" cy="830580"/>
          </a:xfrm>
          <a:prstGeom prst="rect">
            <a:avLst/>
          </a:prstGeom>
          <a:noFill/>
          <a:ln/>
        </p:spPr>
        <p:txBody>
          <a:bodyPr wrap="square" lIns="0" tIns="0" rIns="0" bIns="0" rtlCol="0" anchor="ctr"/>
          <a:lstStyle/>
          <a:p>
            <a:pPr indent="0" marL="0">
              <a:buNone/>
            </a:pPr>
            <a:r>
              <a:rPr lang="en-US" sz="1300" dirty="0">
                <a:solidFill>
                  <a:srgbClr val="1E293B"/>
                </a:solidFill>
                <a:latin typeface="Calibri" pitchFamily="34" charset="0"/>
                <a:ea typeface="Calibri" pitchFamily="34" charset="-122"/>
                <a:cs typeface="Calibri" pitchFamily="34" charset="-120"/>
              </a:rPr>
              <a:t>On top of the previous task, add a NetworkPolicy allowing traffic only from Pods labeled role=frontend on port 8080; verify allowed and denied cases both behave correctly.</a:t>
            </a:r>
            <a:endParaRPr lang="en-US" sz="1300" dirty="0"/>
          </a:p>
        </p:txBody>
      </p:sp>
      <p:sp>
        <p:nvSpPr>
          <p:cNvPr id="21" name="Shape 19"/>
          <p:cNvSpPr/>
          <p:nvPr/>
        </p:nvSpPr>
        <p:spPr>
          <a:xfrm>
            <a:off x="640080" y="4675632"/>
            <a:ext cx="10881360" cy="0"/>
          </a:xfrm>
          <a:prstGeom prst="line">
            <a:avLst/>
          </a:prstGeom>
          <a:noFill/>
          <a:ln w="6350">
            <a:solidFill>
              <a:srgbClr val="D7E3E8"/>
            </a:solidFill>
            <a:prstDash val="solid"/>
          </a:ln>
        </p:spPr>
      </p:sp>
      <p:sp>
        <p:nvSpPr>
          <p:cNvPr id="22" name="Shape 20"/>
          <p:cNvSpPr/>
          <p:nvPr/>
        </p:nvSpPr>
        <p:spPr>
          <a:xfrm>
            <a:off x="640080" y="4926330"/>
            <a:ext cx="365760" cy="365760"/>
          </a:xfrm>
          <a:prstGeom prst="ellipse">
            <a:avLst/>
          </a:prstGeom>
          <a:solidFill>
            <a:srgbClr val="065A82"/>
          </a:solidFill>
          <a:ln/>
        </p:spPr>
      </p:sp>
      <p:sp>
        <p:nvSpPr>
          <p:cNvPr id="23" name="Text 21"/>
          <p:cNvSpPr/>
          <p:nvPr/>
        </p:nvSpPr>
        <p:spPr>
          <a:xfrm>
            <a:off x="640080" y="4926330"/>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24" name="Text 22"/>
          <p:cNvSpPr/>
          <p:nvPr/>
        </p:nvSpPr>
        <p:spPr>
          <a:xfrm>
            <a:off x="1188720" y="4693920"/>
            <a:ext cx="10241280" cy="830580"/>
          </a:xfrm>
          <a:prstGeom prst="rect">
            <a:avLst/>
          </a:prstGeom>
          <a:noFill/>
          <a:ln/>
        </p:spPr>
        <p:txBody>
          <a:bodyPr wrap="square" lIns="0" tIns="0" rIns="0" bIns="0" rtlCol="0" anchor="ctr"/>
          <a:lstStyle/>
          <a:p>
            <a:pPr indent="0" marL="0">
              <a:buNone/>
            </a:pPr>
            <a:r>
              <a:rPr lang="en-US" sz="1300" dirty="0">
                <a:solidFill>
                  <a:srgbClr val="1E293B"/>
                </a:solidFill>
                <a:latin typeface="Calibri" pitchFamily="34" charset="0"/>
                <a:ea typeface="Calibri" pitchFamily="34" charset="-122"/>
                <a:cs typeface="Calibri" pitchFamily="34" charset="-120"/>
              </a:rPr>
              <a:t>Write a NetworkPolicy using the AND form (single 'from' entry with both podSelector and namespaceSelector), then rewrite it using the OR form, and verify the behavioral difference with live traffic tests.</a:t>
            </a:r>
            <a:endParaRPr lang="en-US" sz="1300" dirty="0"/>
          </a:p>
        </p:txBody>
      </p:sp>
      <p:sp>
        <p:nvSpPr>
          <p:cNvPr id="25" name="Shape 23"/>
          <p:cNvSpPr/>
          <p:nvPr/>
        </p:nvSpPr>
        <p:spPr>
          <a:xfrm>
            <a:off x="640080" y="5506212"/>
            <a:ext cx="10881360" cy="0"/>
          </a:xfrm>
          <a:prstGeom prst="line">
            <a:avLst/>
          </a:prstGeom>
          <a:noFill/>
          <a:ln w="6350">
            <a:solidFill>
              <a:srgbClr val="D7E3E8"/>
            </a:solidFill>
            <a:prstDash val="solid"/>
          </a:ln>
        </p:spPr>
      </p:sp>
      <p:sp>
        <p:nvSpPr>
          <p:cNvPr id="26" name="Shape 24"/>
          <p:cNvSpPr/>
          <p:nvPr/>
        </p:nvSpPr>
        <p:spPr>
          <a:xfrm>
            <a:off x="640080" y="5756910"/>
            <a:ext cx="365760" cy="365760"/>
          </a:xfrm>
          <a:prstGeom prst="ellipse">
            <a:avLst/>
          </a:prstGeom>
          <a:solidFill>
            <a:srgbClr val="065A82"/>
          </a:solidFill>
          <a:ln/>
        </p:spPr>
      </p:sp>
      <p:sp>
        <p:nvSpPr>
          <p:cNvPr id="27" name="Text 25"/>
          <p:cNvSpPr/>
          <p:nvPr/>
        </p:nvSpPr>
        <p:spPr>
          <a:xfrm>
            <a:off x="640080" y="5756910"/>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6</a:t>
            </a:r>
            <a:endParaRPr lang="en-US" sz="1300" dirty="0"/>
          </a:p>
        </p:txBody>
      </p:sp>
      <p:sp>
        <p:nvSpPr>
          <p:cNvPr id="28" name="Text 26"/>
          <p:cNvSpPr/>
          <p:nvPr/>
        </p:nvSpPr>
        <p:spPr>
          <a:xfrm>
            <a:off x="1188720" y="5524500"/>
            <a:ext cx="10241280" cy="830580"/>
          </a:xfrm>
          <a:prstGeom prst="rect">
            <a:avLst/>
          </a:prstGeom>
          <a:noFill/>
          <a:ln/>
        </p:spPr>
        <p:txBody>
          <a:bodyPr wrap="square" lIns="0" tIns="0" rIns="0" bIns="0" rtlCol="0" anchor="ctr"/>
          <a:lstStyle/>
          <a:p>
            <a:pPr indent="0" marL="0">
              <a:buNone/>
            </a:pPr>
            <a:r>
              <a:rPr lang="en-US" sz="1300" dirty="0">
                <a:solidFill>
                  <a:srgbClr val="1E293B"/>
                </a:solidFill>
                <a:latin typeface="Calibri" pitchFamily="34" charset="0"/>
                <a:ea typeface="Calibri" pitchFamily="34" charset="-122"/>
                <a:cs typeface="Calibri" pitchFamily="34" charset="-120"/>
              </a:rPr>
              <a:t>Apply an egress-restricting NetworkPolicy to a Pod without including a DNS-allow rule; observe DNS resolution break, then fix it by adding the port-53 egress rule.</a:t>
            </a:r>
            <a:endParaRPr lang="en-US" sz="1300" dirty="0"/>
          </a:p>
        </p:txBody>
      </p:sp>
      <p:sp>
        <p:nvSpPr>
          <p:cNvPr id="29" name="Text 27"/>
          <p:cNvSpPr/>
          <p:nvPr/>
        </p:nvSpPr>
        <p:spPr>
          <a:xfrm>
            <a:off x="457200" y="6446520"/>
            <a:ext cx="6400800" cy="27432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CKA v1.36 · Module 2</a:t>
            </a:r>
            <a:endParaRPr lang="en-US" sz="900" dirty="0"/>
          </a:p>
        </p:txBody>
      </p:sp>
      <p:sp>
        <p:nvSpPr>
          <p:cNvPr id="30" name="Text 28"/>
          <p:cNvSpPr/>
          <p:nvPr/>
        </p:nvSpPr>
        <p:spPr>
          <a:xfrm>
            <a:off x="11247120" y="6446520"/>
            <a:ext cx="4572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81</a:t>
            </a:r>
            <a:endParaRPr lang="en-US" sz="900" dirty="0"/>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name="Slide 8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365760"/>
            <a:ext cx="2377440" cy="384048"/>
          </a:xfrm>
          <a:prstGeom prst="roundRect">
            <a:avLst>
              <a:gd name="adj" fmla="val 50000"/>
            </a:avLst>
          </a:prstGeom>
          <a:solidFill>
            <a:srgbClr val="1C7293"/>
          </a:solidFill>
          <a:ln/>
        </p:spPr>
      </p:sp>
      <p:sp>
        <p:nvSpPr>
          <p:cNvPr id="3" name="Text 1"/>
          <p:cNvSpPr/>
          <p:nvPr/>
        </p:nvSpPr>
        <p:spPr>
          <a:xfrm>
            <a:off x="640080" y="365760"/>
            <a:ext cx="237744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SET 3</a:t>
            </a:r>
            <a:endParaRPr lang="en-US" sz="1200" dirty="0"/>
          </a:p>
        </p:txBody>
      </p:sp>
      <p:sp>
        <p:nvSpPr>
          <p:cNvPr id="4" name="Text 2"/>
          <p:cNvSpPr/>
          <p:nvPr/>
        </p:nvSpPr>
        <p:spPr>
          <a:xfrm>
            <a:off x="3154680" y="365760"/>
            <a:ext cx="8412480" cy="384048"/>
          </a:xfrm>
          <a:prstGeom prst="rect">
            <a:avLst/>
          </a:prstGeom>
          <a:noFill/>
          <a:ln/>
        </p:spPr>
        <p:txBody>
          <a:bodyPr wrap="square" lIns="0" tIns="0" rIns="0" bIns="0" rtlCol="0" anchor="ctr"/>
          <a:lstStyle/>
          <a:p>
            <a:pPr indent="0" marL="0">
              <a:buNone/>
            </a:pPr>
            <a:r>
              <a:rPr lang="en-US" sz="1600" b="1" dirty="0">
                <a:solidFill>
                  <a:srgbClr val="21295C"/>
                </a:solidFill>
                <a:latin typeface="Cambria" pitchFamily="34" charset="0"/>
                <a:ea typeface="Cambria" pitchFamily="34" charset="-122"/>
                <a:cs typeface="Cambria" pitchFamily="34" charset="-120"/>
              </a:rPr>
              <a:t>Services, Gateway API &amp; Ingress</a:t>
            </a:r>
            <a:endParaRPr lang="en-US" sz="1600" dirty="0"/>
          </a:p>
        </p:txBody>
      </p:sp>
      <p:sp>
        <p:nvSpPr>
          <p:cNvPr id="5" name="Text 3"/>
          <p:cNvSpPr/>
          <p:nvPr/>
        </p:nvSpPr>
        <p:spPr>
          <a:xfrm>
            <a:off x="640080" y="868680"/>
            <a:ext cx="10881360" cy="365760"/>
          </a:xfrm>
          <a:prstGeom prst="rect">
            <a:avLst/>
          </a:prstGeom>
          <a:noFill/>
          <a:ln/>
        </p:spPr>
        <p:txBody>
          <a:bodyPr wrap="square" lIns="0" tIns="0" rIns="0" bIns="0" rtlCol="0" anchor="ctr"/>
          <a:lstStyle/>
          <a:p>
            <a:pPr indent="0" marL="0">
              <a:buNone/>
            </a:pPr>
            <a:r>
              <a:rPr lang="en-US" sz="1250" i="1" dirty="0">
                <a:solidFill>
                  <a:srgbClr val="64748B"/>
                </a:solidFill>
                <a:latin typeface="Calibri" pitchFamily="34" charset="0"/>
                <a:ea typeface="Calibri" pitchFamily="34" charset="-122"/>
                <a:cs typeface="Calibri" pitchFamily="34" charset="-120"/>
              </a:rPr>
              <a:t>Estimated time: 45-60 minutes for the full set</a:t>
            </a:r>
            <a:endParaRPr lang="en-US" sz="1250" dirty="0"/>
          </a:p>
        </p:txBody>
      </p:sp>
      <p:sp>
        <p:nvSpPr>
          <p:cNvPr id="6" name="Shape 4"/>
          <p:cNvSpPr/>
          <p:nvPr/>
        </p:nvSpPr>
        <p:spPr>
          <a:xfrm>
            <a:off x="640080" y="1604010"/>
            <a:ext cx="365760" cy="365760"/>
          </a:xfrm>
          <a:prstGeom prst="ellipse">
            <a:avLst/>
          </a:prstGeom>
          <a:solidFill>
            <a:srgbClr val="065A82"/>
          </a:solidFill>
          <a:ln/>
        </p:spPr>
      </p:sp>
      <p:sp>
        <p:nvSpPr>
          <p:cNvPr id="7" name="Text 5"/>
          <p:cNvSpPr/>
          <p:nvPr/>
        </p:nvSpPr>
        <p:spPr>
          <a:xfrm>
            <a:off x="640080" y="1604010"/>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8" name="Text 6"/>
          <p:cNvSpPr/>
          <p:nvPr/>
        </p:nvSpPr>
        <p:spPr>
          <a:xfrm>
            <a:off x="1188720" y="1371600"/>
            <a:ext cx="10241280" cy="830580"/>
          </a:xfrm>
          <a:prstGeom prst="rect">
            <a:avLst/>
          </a:prstGeom>
          <a:noFill/>
          <a:ln/>
        </p:spPr>
        <p:txBody>
          <a:bodyPr wrap="square" lIns="0" tIns="0" rIns="0" bIns="0" rtlCol="0" anchor="ctr"/>
          <a:lstStyle/>
          <a:p>
            <a:pPr indent="0" marL="0">
              <a:buNone/>
            </a:pPr>
            <a:r>
              <a:rPr lang="en-US" sz="1300" dirty="0">
                <a:solidFill>
                  <a:srgbClr val="1E293B"/>
                </a:solidFill>
                <a:latin typeface="Calibri" pitchFamily="34" charset="0"/>
                <a:ea typeface="Calibri" pitchFamily="34" charset="-122"/>
                <a:cs typeface="Calibri" pitchFamily="34" charset="-120"/>
              </a:rPr>
              <a:t>Expose a Deployment via ClusterIP, then NodePort, then LoadBalancer, inspecting kubectl get svc output and explaining what changed at each step.</a:t>
            </a:r>
            <a:endParaRPr lang="en-US" sz="1300" dirty="0"/>
          </a:p>
        </p:txBody>
      </p:sp>
      <p:sp>
        <p:nvSpPr>
          <p:cNvPr id="9" name="Shape 7"/>
          <p:cNvSpPr/>
          <p:nvPr/>
        </p:nvSpPr>
        <p:spPr>
          <a:xfrm>
            <a:off x="640080" y="2183892"/>
            <a:ext cx="10881360" cy="0"/>
          </a:xfrm>
          <a:prstGeom prst="line">
            <a:avLst/>
          </a:prstGeom>
          <a:noFill/>
          <a:ln w="6350">
            <a:solidFill>
              <a:srgbClr val="D7E3E8"/>
            </a:solidFill>
            <a:prstDash val="solid"/>
          </a:ln>
        </p:spPr>
      </p:sp>
      <p:sp>
        <p:nvSpPr>
          <p:cNvPr id="10" name="Shape 8"/>
          <p:cNvSpPr/>
          <p:nvPr/>
        </p:nvSpPr>
        <p:spPr>
          <a:xfrm>
            <a:off x="640080" y="2434590"/>
            <a:ext cx="365760" cy="365760"/>
          </a:xfrm>
          <a:prstGeom prst="ellipse">
            <a:avLst/>
          </a:prstGeom>
          <a:solidFill>
            <a:srgbClr val="065A82"/>
          </a:solidFill>
          <a:ln/>
        </p:spPr>
      </p:sp>
      <p:sp>
        <p:nvSpPr>
          <p:cNvPr id="11" name="Text 9"/>
          <p:cNvSpPr/>
          <p:nvPr/>
        </p:nvSpPr>
        <p:spPr>
          <a:xfrm>
            <a:off x="640080" y="2434590"/>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2" name="Text 10"/>
          <p:cNvSpPr/>
          <p:nvPr/>
        </p:nvSpPr>
        <p:spPr>
          <a:xfrm>
            <a:off x="1188720" y="2202180"/>
            <a:ext cx="10241280" cy="830580"/>
          </a:xfrm>
          <a:prstGeom prst="rect">
            <a:avLst/>
          </a:prstGeom>
          <a:noFill/>
          <a:ln/>
        </p:spPr>
        <p:txBody>
          <a:bodyPr wrap="square" lIns="0" tIns="0" rIns="0" bIns="0" rtlCol="0" anchor="ctr"/>
          <a:lstStyle/>
          <a:p>
            <a:pPr indent="0" marL="0">
              <a:buNone/>
            </a:pPr>
            <a:r>
              <a:rPr lang="en-US" sz="1300" dirty="0">
                <a:solidFill>
                  <a:srgbClr val="1E293B"/>
                </a:solidFill>
                <a:latin typeface="Calibri" pitchFamily="34" charset="0"/>
                <a:ea typeface="Calibri" pitchFamily="34" charset="-122"/>
                <a:cs typeface="Calibri" pitchFamily="34" charset="-120"/>
              </a:rPr>
              <a:t>Install an Ingress controller (e.g. ingress-nginx) on your lab cluster, then create an Ingress resource routing app.example.com/ to a backend Service; test with curl using a Host header.</a:t>
            </a:r>
            <a:endParaRPr lang="en-US" sz="1300" dirty="0"/>
          </a:p>
        </p:txBody>
      </p:sp>
      <p:sp>
        <p:nvSpPr>
          <p:cNvPr id="13" name="Shape 11"/>
          <p:cNvSpPr/>
          <p:nvPr/>
        </p:nvSpPr>
        <p:spPr>
          <a:xfrm>
            <a:off x="640080" y="3014472"/>
            <a:ext cx="10881360" cy="0"/>
          </a:xfrm>
          <a:prstGeom prst="line">
            <a:avLst/>
          </a:prstGeom>
          <a:noFill/>
          <a:ln w="6350">
            <a:solidFill>
              <a:srgbClr val="D7E3E8"/>
            </a:solidFill>
            <a:prstDash val="solid"/>
          </a:ln>
        </p:spPr>
      </p:sp>
      <p:sp>
        <p:nvSpPr>
          <p:cNvPr id="14" name="Shape 12"/>
          <p:cNvSpPr/>
          <p:nvPr/>
        </p:nvSpPr>
        <p:spPr>
          <a:xfrm>
            <a:off x="640080" y="3265170"/>
            <a:ext cx="365760" cy="365760"/>
          </a:xfrm>
          <a:prstGeom prst="ellipse">
            <a:avLst/>
          </a:prstGeom>
          <a:solidFill>
            <a:srgbClr val="065A82"/>
          </a:solidFill>
          <a:ln/>
        </p:spPr>
      </p:sp>
      <p:sp>
        <p:nvSpPr>
          <p:cNvPr id="15" name="Text 13"/>
          <p:cNvSpPr/>
          <p:nvPr/>
        </p:nvSpPr>
        <p:spPr>
          <a:xfrm>
            <a:off x="640080" y="3265170"/>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6" name="Text 14"/>
          <p:cNvSpPr/>
          <p:nvPr/>
        </p:nvSpPr>
        <p:spPr>
          <a:xfrm>
            <a:off x="1188720" y="3032760"/>
            <a:ext cx="10241280" cy="830580"/>
          </a:xfrm>
          <a:prstGeom prst="rect">
            <a:avLst/>
          </a:prstGeom>
          <a:noFill/>
          <a:ln/>
        </p:spPr>
        <p:txBody>
          <a:bodyPr wrap="square" lIns="0" tIns="0" rIns="0" bIns="0" rtlCol="0" anchor="ctr"/>
          <a:lstStyle/>
          <a:p>
            <a:pPr indent="0" marL="0">
              <a:buNone/>
            </a:pPr>
            <a:r>
              <a:rPr lang="en-US" sz="1300" dirty="0">
                <a:solidFill>
                  <a:srgbClr val="1E293B"/>
                </a:solidFill>
                <a:latin typeface="Calibri" pitchFamily="34" charset="0"/>
                <a:ea typeface="Calibri" pitchFamily="34" charset="-122"/>
                <a:cs typeface="Calibri" pitchFamily="34" charset="-120"/>
              </a:rPr>
              <a:t>Deliberately set pathType: Exact where the controller is being hit with a non-exact sub-path; observe the resulting 404, then fix the pathType.</a:t>
            </a:r>
            <a:endParaRPr lang="en-US" sz="1300" dirty="0"/>
          </a:p>
        </p:txBody>
      </p:sp>
      <p:sp>
        <p:nvSpPr>
          <p:cNvPr id="17" name="Shape 15"/>
          <p:cNvSpPr/>
          <p:nvPr/>
        </p:nvSpPr>
        <p:spPr>
          <a:xfrm>
            <a:off x="640080" y="3845052"/>
            <a:ext cx="10881360" cy="0"/>
          </a:xfrm>
          <a:prstGeom prst="line">
            <a:avLst/>
          </a:prstGeom>
          <a:noFill/>
          <a:ln w="6350">
            <a:solidFill>
              <a:srgbClr val="D7E3E8"/>
            </a:solidFill>
            <a:prstDash val="solid"/>
          </a:ln>
        </p:spPr>
      </p:sp>
      <p:sp>
        <p:nvSpPr>
          <p:cNvPr id="18" name="Shape 16"/>
          <p:cNvSpPr/>
          <p:nvPr/>
        </p:nvSpPr>
        <p:spPr>
          <a:xfrm>
            <a:off x="640080" y="4095750"/>
            <a:ext cx="365760" cy="365760"/>
          </a:xfrm>
          <a:prstGeom prst="ellipse">
            <a:avLst/>
          </a:prstGeom>
          <a:solidFill>
            <a:srgbClr val="065A82"/>
          </a:solidFill>
          <a:ln/>
        </p:spPr>
      </p:sp>
      <p:sp>
        <p:nvSpPr>
          <p:cNvPr id="19" name="Text 17"/>
          <p:cNvSpPr/>
          <p:nvPr/>
        </p:nvSpPr>
        <p:spPr>
          <a:xfrm>
            <a:off x="640080" y="4095750"/>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0" name="Text 18"/>
          <p:cNvSpPr/>
          <p:nvPr/>
        </p:nvSpPr>
        <p:spPr>
          <a:xfrm>
            <a:off x="1188720" y="3863340"/>
            <a:ext cx="10241280" cy="830580"/>
          </a:xfrm>
          <a:prstGeom prst="rect">
            <a:avLst/>
          </a:prstGeom>
          <a:noFill/>
          <a:ln/>
        </p:spPr>
        <p:txBody>
          <a:bodyPr wrap="square" lIns="0" tIns="0" rIns="0" bIns="0" rtlCol="0" anchor="ctr"/>
          <a:lstStyle/>
          <a:p>
            <a:pPr indent="0" marL="0">
              <a:buNone/>
            </a:pPr>
            <a:r>
              <a:rPr lang="en-US" sz="1300" dirty="0">
                <a:solidFill>
                  <a:srgbClr val="1E293B"/>
                </a:solidFill>
                <a:latin typeface="Calibri" pitchFamily="34" charset="0"/>
                <a:ea typeface="Calibri" pitchFamily="34" charset="-122"/>
                <a:cs typeface="Calibri" pitchFamily="34" charset="-120"/>
              </a:rPr>
              <a:t>Create a TLS Secret and attach it to your Ingress via the tls: block; verify HTTPS termination with curl -k.</a:t>
            </a:r>
            <a:endParaRPr lang="en-US" sz="1300" dirty="0"/>
          </a:p>
        </p:txBody>
      </p:sp>
      <p:sp>
        <p:nvSpPr>
          <p:cNvPr id="21" name="Shape 19"/>
          <p:cNvSpPr/>
          <p:nvPr/>
        </p:nvSpPr>
        <p:spPr>
          <a:xfrm>
            <a:off x="640080" y="4675632"/>
            <a:ext cx="10881360" cy="0"/>
          </a:xfrm>
          <a:prstGeom prst="line">
            <a:avLst/>
          </a:prstGeom>
          <a:noFill/>
          <a:ln w="6350">
            <a:solidFill>
              <a:srgbClr val="D7E3E8"/>
            </a:solidFill>
            <a:prstDash val="solid"/>
          </a:ln>
        </p:spPr>
      </p:sp>
      <p:sp>
        <p:nvSpPr>
          <p:cNvPr id="22" name="Shape 20"/>
          <p:cNvSpPr/>
          <p:nvPr/>
        </p:nvSpPr>
        <p:spPr>
          <a:xfrm>
            <a:off x="640080" y="4926330"/>
            <a:ext cx="365760" cy="365760"/>
          </a:xfrm>
          <a:prstGeom prst="ellipse">
            <a:avLst/>
          </a:prstGeom>
          <a:solidFill>
            <a:srgbClr val="065A82"/>
          </a:solidFill>
          <a:ln/>
        </p:spPr>
      </p:sp>
      <p:sp>
        <p:nvSpPr>
          <p:cNvPr id="23" name="Text 21"/>
          <p:cNvSpPr/>
          <p:nvPr/>
        </p:nvSpPr>
        <p:spPr>
          <a:xfrm>
            <a:off x="640080" y="4926330"/>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24" name="Text 22"/>
          <p:cNvSpPr/>
          <p:nvPr/>
        </p:nvSpPr>
        <p:spPr>
          <a:xfrm>
            <a:off x="1188720" y="4693920"/>
            <a:ext cx="10241280" cy="830580"/>
          </a:xfrm>
          <a:prstGeom prst="rect">
            <a:avLst/>
          </a:prstGeom>
          <a:noFill/>
          <a:ln/>
        </p:spPr>
        <p:txBody>
          <a:bodyPr wrap="square" lIns="0" tIns="0" rIns="0" bIns="0" rtlCol="0" anchor="ctr"/>
          <a:lstStyle/>
          <a:p>
            <a:pPr indent="0" marL="0">
              <a:buNone/>
            </a:pPr>
            <a:r>
              <a:rPr lang="en-US" sz="1300" dirty="0">
                <a:solidFill>
                  <a:srgbClr val="1E293B"/>
                </a:solidFill>
                <a:latin typeface="Calibri" pitchFamily="34" charset="0"/>
                <a:ea typeface="Calibri" pitchFamily="34" charset="-122"/>
                <a:cs typeface="Calibri" pitchFamily="34" charset="-120"/>
              </a:rPr>
              <a:t>Install Gateway API CRDs and a compatible controller; create a GatewayClass, Gateway, and HTTPRoute routing to a backend Service.</a:t>
            </a:r>
            <a:endParaRPr lang="en-US" sz="1300" dirty="0"/>
          </a:p>
        </p:txBody>
      </p:sp>
      <p:sp>
        <p:nvSpPr>
          <p:cNvPr id="25" name="Shape 23"/>
          <p:cNvSpPr/>
          <p:nvPr/>
        </p:nvSpPr>
        <p:spPr>
          <a:xfrm>
            <a:off x="640080" y="5506212"/>
            <a:ext cx="10881360" cy="0"/>
          </a:xfrm>
          <a:prstGeom prst="line">
            <a:avLst/>
          </a:prstGeom>
          <a:noFill/>
          <a:ln w="6350">
            <a:solidFill>
              <a:srgbClr val="D7E3E8"/>
            </a:solidFill>
            <a:prstDash val="solid"/>
          </a:ln>
        </p:spPr>
      </p:sp>
      <p:sp>
        <p:nvSpPr>
          <p:cNvPr id="26" name="Shape 24"/>
          <p:cNvSpPr/>
          <p:nvPr/>
        </p:nvSpPr>
        <p:spPr>
          <a:xfrm>
            <a:off x="640080" y="5756910"/>
            <a:ext cx="365760" cy="365760"/>
          </a:xfrm>
          <a:prstGeom prst="ellipse">
            <a:avLst/>
          </a:prstGeom>
          <a:solidFill>
            <a:srgbClr val="065A82"/>
          </a:solidFill>
          <a:ln/>
        </p:spPr>
      </p:sp>
      <p:sp>
        <p:nvSpPr>
          <p:cNvPr id="27" name="Text 25"/>
          <p:cNvSpPr/>
          <p:nvPr/>
        </p:nvSpPr>
        <p:spPr>
          <a:xfrm>
            <a:off x="640080" y="5756910"/>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6</a:t>
            </a:r>
            <a:endParaRPr lang="en-US" sz="1300" dirty="0"/>
          </a:p>
        </p:txBody>
      </p:sp>
      <p:sp>
        <p:nvSpPr>
          <p:cNvPr id="28" name="Text 26"/>
          <p:cNvSpPr/>
          <p:nvPr/>
        </p:nvSpPr>
        <p:spPr>
          <a:xfrm>
            <a:off x="1188720" y="5524500"/>
            <a:ext cx="10241280" cy="830580"/>
          </a:xfrm>
          <a:prstGeom prst="rect">
            <a:avLst/>
          </a:prstGeom>
          <a:noFill/>
          <a:ln/>
        </p:spPr>
        <p:txBody>
          <a:bodyPr wrap="square" lIns="0" tIns="0" rIns="0" bIns="0" rtlCol="0" anchor="ctr"/>
          <a:lstStyle/>
          <a:p>
            <a:pPr indent="0" marL="0">
              <a:buNone/>
            </a:pPr>
            <a:r>
              <a:rPr lang="en-US" sz="1300" dirty="0">
                <a:solidFill>
                  <a:srgbClr val="1E293B"/>
                </a:solidFill>
                <a:latin typeface="Calibri" pitchFamily="34" charset="0"/>
                <a:ea typeface="Calibri" pitchFamily="34" charset="-122"/>
                <a:cs typeface="Calibri" pitchFamily="34" charset="-120"/>
              </a:rPr>
              <a:t>Extend the HTTPRoute from the previous question into a 90/10 weighted split across two backend Services, and confirm the approximate traffic ratio empirically.</a:t>
            </a:r>
            <a:endParaRPr lang="en-US" sz="1300" dirty="0"/>
          </a:p>
        </p:txBody>
      </p:sp>
      <p:sp>
        <p:nvSpPr>
          <p:cNvPr id="29" name="Text 27"/>
          <p:cNvSpPr/>
          <p:nvPr/>
        </p:nvSpPr>
        <p:spPr>
          <a:xfrm>
            <a:off x="457200" y="6446520"/>
            <a:ext cx="6400800" cy="27432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CKA v1.36 · Module 2</a:t>
            </a:r>
            <a:endParaRPr lang="en-US" sz="900" dirty="0"/>
          </a:p>
        </p:txBody>
      </p:sp>
      <p:sp>
        <p:nvSpPr>
          <p:cNvPr id="30" name="Text 28"/>
          <p:cNvSpPr/>
          <p:nvPr/>
        </p:nvSpPr>
        <p:spPr>
          <a:xfrm>
            <a:off x="11247120" y="6446520"/>
            <a:ext cx="4572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82</a:t>
            </a:r>
            <a:endParaRPr lang="en-US" sz="900" dirty="0"/>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name="Slide 8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365760"/>
            <a:ext cx="2377440" cy="384048"/>
          </a:xfrm>
          <a:prstGeom prst="roundRect">
            <a:avLst>
              <a:gd name="adj" fmla="val 50000"/>
            </a:avLst>
          </a:prstGeom>
          <a:solidFill>
            <a:srgbClr val="1C7293"/>
          </a:solidFill>
          <a:ln/>
        </p:spPr>
      </p:sp>
      <p:sp>
        <p:nvSpPr>
          <p:cNvPr id="3" name="Text 1"/>
          <p:cNvSpPr/>
          <p:nvPr/>
        </p:nvSpPr>
        <p:spPr>
          <a:xfrm>
            <a:off x="640080" y="365760"/>
            <a:ext cx="237744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SET 4</a:t>
            </a:r>
            <a:endParaRPr lang="en-US" sz="1200" dirty="0"/>
          </a:p>
        </p:txBody>
      </p:sp>
      <p:sp>
        <p:nvSpPr>
          <p:cNvPr id="4" name="Text 2"/>
          <p:cNvSpPr/>
          <p:nvPr/>
        </p:nvSpPr>
        <p:spPr>
          <a:xfrm>
            <a:off x="3154680" y="365760"/>
            <a:ext cx="8412480" cy="384048"/>
          </a:xfrm>
          <a:prstGeom prst="rect">
            <a:avLst/>
          </a:prstGeom>
          <a:noFill/>
          <a:ln/>
        </p:spPr>
        <p:txBody>
          <a:bodyPr wrap="square" lIns="0" tIns="0" rIns="0" bIns="0" rtlCol="0" anchor="ctr"/>
          <a:lstStyle/>
          <a:p>
            <a:pPr indent="0" marL="0">
              <a:buNone/>
            </a:pPr>
            <a:r>
              <a:rPr lang="en-US" sz="1600" b="1" dirty="0">
                <a:solidFill>
                  <a:srgbClr val="21295C"/>
                </a:solidFill>
                <a:latin typeface="Cambria" pitchFamily="34" charset="0"/>
                <a:ea typeface="Cambria" pitchFamily="34" charset="-122"/>
                <a:cs typeface="Cambria" pitchFamily="34" charset="-120"/>
              </a:rPr>
              <a:t>CoreDNS &amp; Pod Admission/Scheduling</a:t>
            </a:r>
            <a:endParaRPr lang="en-US" sz="1600" dirty="0"/>
          </a:p>
        </p:txBody>
      </p:sp>
      <p:sp>
        <p:nvSpPr>
          <p:cNvPr id="5" name="Text 3"/>
          <p:cNvSpPr/>
          <p:nvPr/>
        </p:nvSpPr>
        <p:spPr>
          <a:xfrm>
            <a:off x="640080" y="868680"/>
            <a:ext cx="10881360" cy="365760"/>
          </a:xfrm>
          <a:prstGeom prst="rect">
            <a:avLst/>
          </a:prstGeom>
          <a:noFill/>
          <a:ln/>
        </p:spPr>
        <p:txBody>
          <a:bodyPr wrap="square" lIns="0" tIns="0" rIns="0" bIns="0" rtlCol="0" anchor="ctr"/>
          <a:lstStyle/>
          <a:p>
            <a:pPr indent="0" marL="0">
              <a:buNone/>
            </a:pPr>
            <a:r>
              <a:rPr lang="en-US" sz="1250" i="1" dirty="0">
                <a:solidFill>
                  <a:srgbClr val="64748B"/>
                </a:solidFill>
                <a:latin typeface="Calibri" pitchFamily="34" charset="0"/>
                <a:ea typeface="Calibri" pitchFamily="34" charset="-122"/>
                <a:cs typeface="Calibri" pitchFamily="34" charset="-120"/>
              </a:rPr>
              <a:t>Estimated time: 35-50 minutes for the full set</a:t>
            </a:r>
            <a:endParaRPr lang="en-US" sz="1250" dirty="0"/>
          </a:p>
        </p:txBody>
      </p:sp>
      <p:sp>
        <p:nvSpPr>
          <p:cNvPr id="6" name="Shape 4"/>
          <p:cNvSpPr/>
          <p:nvPr/>
        </p:nvSpPr>
        <p:spPr>
          <a:xfrm>
            <a:off x="640080" y="1604010"/>
            <a:ext cx="365760" cy="365760"/>
          </a:xfrm>
          <a:prstGeom prst="ellipse">
            <a:avLst/>
          </a:prstGeom>
          <a:solidFill>
            <a:srgbClr val="065A82"/>
          </a:solidFill>
          <a:ln/>
        </p:spPr>
      </p:sp>
      <p:sp>
        <p:nvSpPr>
          <p:cNvPr id="7" name="Text 5"/>
          <p:cNvSpPr/>
          <p:nvPr/>
        </p:nvSpPr>
        <p:spPr>
          <a:xfrm>
            <a:off x="640080" y="1604010"/>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8" name="Text 6"/>
          <p:cNvSpPr/>
          <p:nvPr/>
        </p:nvSpPr>
        <p:spPr>
          <a:xfrm>
            <a:off x="1188720" y="1371600"/>
            <a:ext cx="10241280" cy="830580"/>
          </a:xfrm>
          <a:prstGeom prst="rect">
            <a:avLst/>
          </a:prstGeom>
          <a:noFill/>
          <a:ln/>
        </p:spPr>
        <p:txBody>
          <a:bodyPr wrap="square" lIns="0" tIns="0" rIns="0" bIns="0" rtlCol="0" anchor="ctr"/>
          <a:lstStyle/>
          <a:p>
            <a:pPr indent="0" marL="0">
              <a:buNone/>
            </a:pPr>
            <a:r>
              <a:rPr lang="en-US" sz="1300" dirty="0">
                <a:solidFill>
                  <a:srgbClr val="1E293B"/>
                </a:solidFill>
                <a:latin typeface="Calibri" pitchFamily="34" charset="0"/>
                <a:ea typeface="Calibri" pitchFamily="34" charset="-122"/>
                <a:cs typeface="Calibri" pitchFamily="34" charset="-120"/>
              </a:rPr>
              <a:t>From a test Pod, run nslookup against a Service using all three forms: short name, namespace-qualified name, and full FQDN; confirm all three resolve identically.</a:t>
            </a:r>
            <a:endParaRPr lang="en-US" sz="1300" dirty="0"/>
          </a:p>
        </p:txBody>
      </p:sp>
      <p:sp>
        <p:nvSpPr>
          <p:cNvPr id="9" name="Shape 7"/>
          <p:cNvSpPr/>
          <p:nvPr/>
        </p:nvSpPr>
        <p:spPr>
          <a:xfrm>
            <a:off x="640080" y="2183892"/>
            <a:ext cx="10881360" cy="0"/>
          </a:xfrm>
          <a:prstGeom prst="line">
            <a:avLst/>
          </a:prstGeom>
          <a:noFill/>
          <a:ln w="6350">
            <a:solidFill>
              <a:srgbClr val="D7E3E8"/>
            </a:solidFill>
            <a:prstDash val="solid"/>
          </a:ln>
        </p:spPr>
      </p:sp>
      <p:sp>
        <p:nvSpPr>
          <p:cNvPr id="10" name="Shape 8"/>
          <p:cNvSpPr/>
          <p:nvPr/>
        </p:nvSpPr>
        <p:spPr>
          <a:xfrm>
            <a:off x="640080" y="2434590"/>
            <a:ext cx="365760" cy="365760"/>
          </a:xfrm>
          <a:prstGeom prst="ellipse">
            <a:avLst/>
          </a:prstGeom>
          <a:solidFill>
            <a:srgbClr val="065A82"/>
          </a:solidFill>
          <a:ln/>
        </p:spPr>
      </p:sp>
      <p:sp>
        <p:nvSpPr>
          <p:cNvPr id="11" name="Text 9"/>
          <p:cNvSpPr/>
          <p:nvPr/>
        </p:nvSpPr>
        <p:spPr>
          <a:xfrm>
            <a:off x="640080" y="2434590"/>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2" name="Text 10"/>
          <p:cNvSpPr/>
          <p:nvPr/>
        </p:nvSpPr>
        <p:spPr>
          <a:xfrm>
            <a:off x="1188720" y="2202180"/>
            <a:ext cx="10241280" cy="830580"/>
          </a:xfrm>
          <a:prstGeom prst="rect">
            <a:avLst/>
          </a:prstGeom>
          <a:noFill/>
          <a:ln/>
        </p:spPr>
        <p:txBody>
          <a:bodyPr wrap="square" lIns="0" tIns="0" rIns="0" bIns="0" rtlCol="0" anchor="ctr"/>
          <a:lstStyle/>
          <a:p>
            <a:pPr indent="0" marL="0">
              <a:buNone/>
            </a:pPr>
            <a:r>
              <a:rPr lang="en-US" sz="1300" dirty="0">
                <a:solidFill>
                  <a:srgbClr val="1E293B"/>
                </a:solidFill>
                <a:latin typeface="Calibri" pitchFamily="34" charset="0"/>
                <a:ea typeface="Calibri" pitchFamily="34" charset="-122"/>
                <a:cs typeface="Calibri" pitchFamily="34" charset="-120"/>
              </a:rPr>
              <a:t>Edit the coredns ConfigMap to add a custom rewrite or forward rule, restart the CoreDNS Deployment, and confirm the new behavior with a fresh nslookup.</a:t>
            </a:r>
            <a:endParaRPr lang="en-US" sz="1300" dirty="0"/>
          </a:p>
        </p:txBody>
      </p:sp>
      <p:sp>
        <p:nvSpPr>
          <p:cNvPr id="13" name="Shape 11"/>
          <p:cNvSpPr/>
          <p:nvPr/>
        </p:nvSpPr>
        <p:spPr>
          <a:xfrm>
            <a:off x="640080" y="3014472"/>
            <a:ext cx="10881360" cy="0"/>
          </a:xfrm>
          <a:prstGeom prst="line">
            <a:avLst/>
          </a:prstGeom>
          <a:noFill/>
          <a:ln w="6350">
            <a:solidFill>
              <a:srgbClr val="D7E3E8"/>
            </a:solidFill>
            <a:prstDash val="solid"/>
          </a:ln>
        </p:spPr>
      </p:sp>
      <p:sp>
        <p:nvSpPr>
          <p:cNvPr id="14" name="Shape 12"/>
          <p:cNvSpPr/>
          <p:nvPr/>
        </p:nvSpPr>
        <p:spPr>
          <a:xfrm>
            <a:off x="640080" y="3265170"/>
            <a:ext cx="365760" cy="365760"/>
          </a:xfrm>
          <a:prstGeom prst="ellipse">
            <a:avLst/>
          </a:prstGeom>
          <a:solidFill>
            <a:srgbClr val="065A82"/>
          </a:solidFill>
          <a:ln/>
        </p:spPr>
      </p:sp>
      <p:sp>
        <p:nvSpPr>
          <p:cNvPr id="15" name="Text 13"/>
          <p:cNvSpPr/>
          <p:nvPr/>
        </p:nvSpPr>
        <p:spPr>
          <a:xfrm>
            <a:off x="640080" y="3265170"/>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6" name="Text 14"/>
          <p:cNvSpPr/>
          <p:nvPr/>
        </p:nvSpPr>
        <p:spPr>
          <a:xfrm>
            <a:off x="1188720" y="3032760"/>
            <a:ext cx="10241280" cy="830580"/>
          </a:xfrm>
          <a:prstGeom prst="rect">
            <a:avLst/>
          </a:prstGeom>
          <a:noFill/>
          <a:ln/>
        </p:spPr>
        <p:txBody>
          <a:bodyPr wrap="square" lIns="0" tIns="0" rIns="0" bIns="0" rtlCol="0" anchor="ctr"/>
          <a:lstStyle/>
          <a:p>
            <a:pPr indent="0" marL="0">
              <a:buNone/>
            </a:pPr>
            <a:r>
              <a:rPr lang="en-US" sz="1300" dirty="0">
                <a:solidFill>
                  <a:srgbClr val="1E293B"/>
                </a:solidFill>
                <a:latin typeface="Calibri" pitchFamily="34" charset="0"/>
                <a:ea typeface="Calibri" pitchFamily="34" charset="-122"/>
                <a:cs typeface="Calibri" pitchFamily="34" charset="-120"/>
              </a:rPr>
              <a:t>Create a Pod with hostNetwork: true and the default dnsPolicy; observe the DNS resolution failure, then fix it with dnsPolicy: ClusterFirstWithHostNet.</a:t>
            </a:r>
            <a:endParaRPr lang="en-US" sz="1300" dirty="0"/>
          </a:p>
        </p:txBody>
      </p:sp>
      <p:sp>
        <p:nvSpPr>
          <p:cNvPr id="17" name="Shape 15"/>
          <p:cNvSpPr/>
          <p:nvPr/>
        </p:nvSpPr>
        <p:spPr>
          <a:xfrm>
            <a:off x="640080" y="3845052"/>
            <a:ext cx="10881360" cy="0"/>
          </a:xfrm>
          <a:prstGeom prst="line">
            <a:avLst/>
          </a:prstGeom>
          <a:noFill/>
          <a:ln w="6350">
            <a:solidFill>
              <a:srgbClr val="D7E3E8"/>
            </a:solidFill>
            <a:prstDash val="solid"/>
          </a:ln>
        </p:spPr>
      </p:sp>
      <p:sp>
        <p:nvSpPr>
          <p:cNvPr id="18" name="Shape 16"/>
          <p:cNvSpPr/>
          <p:nvPr/>
        </p:nvSpPr>
        <p:spPr>
          <a:xfrm>
            <a:off x="640080" y="4095750"/>
            <a:ext cx="365760" cy="365760"/>
          </a:xfrm>
          <a:prstGeom prst="ellipse">
            <a:avLst/>
          </a:prstGeom>
          <a:solidFill>
            <a:srgbClr val="065A82"/>
          </a:solidFill>
          <a:ln/>
        </p:spPr>
      </p:sp>
      <p:sp>
        <p:nvSpPr>
          <p:cNvPr id="19" name="Text 17"/>
          <p:cNvSpPr/>
          <p:nvPr/>
        </p:nvSpPr>
        <p:spPr>
          <a:xfrm>
            <a:off x="640080" y="4095750"/>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0" name="Text 18"/>
          <p:cNvSpPr/>
          <p:nvPr/>
        </p:nvSpPr>
        <p:spPr>
          <a:xfrm>
            <a:off x="1188720" y="3863340"/>
            <a:ext cx="10241280" cy="830580"/>
          </a:xfrm>
          <a:prstGeom prst="rect">
            <a:avLst/>
          </a:prstGeom>
          <a:noFill/>
          <a:ln/>
        </p:spPr>
        <p:txBody>
          <a:bodyPr wrap="square" lIns="0" tIns="0" rIns="0" bIns="0" rtlCol="0" anchor="ctr"/>
          <a:lstStyle/>
          <a:p>
            <a:pPr indent="0" marL="0">
              <a:buNone/>
            </a:pPr>
            <a:r>
              <a:rPr lang="en-US" sz="1300" dirty="0">
                <a:solidFill>
                  <a:srgbClr val="1E293B"/>
                </a:solidFill>
                <a:latin typeface="Calibri" pitchFamily="34" charset="0"/>
                <a:ea typeface="Calibri" pitchFamily="34" charset="-122"/>
                <a:cs typeface="Calibri" pitchFamily="34" charset="-120"/>
              </a:rPr>
              <a:t>Create a LimitRange in a namespace with a max CPU bound, then attempt to create a Pod requesting more CPU than the bound allows, and capture the exact admission error.</a:t>
            </a:r>
            <a:endParaRPr lang="en-US" sz="1300" dirty="0"/>
          </a:p>
        </p:txBody>
      </p:sp>
      <p:sp>
        <p:nvSpPr>
          <p:cNvPr id="21" name="Shape 19"/>
          <p:cNvSpPr/>
          <p:nvPr/>
        </p:nvSpPr>
        <p:spPr>
          <a:xfrm>
            <a:off x="640080" y="4675632"/>
            <a:ext cx="10881360" cy="0"/>
          </a:xfrm>
          <a:prstGeom prst="line">
            <a:avLst/>
          </a:prstGeom>
          <a:noFill/>
          <a:ln w="6350">
            <a:solidFill>
              <a:srgbClr val="D7E3E8"/>
            </a:solidFill>
            <a:prstDash val="solid"/>
          </a:ln>
        </p:spPr>
      </p:sp>
      <p:sp>
        <p:nvSpPr>
          <p:cNvPr id="22" name="Shape 20"/>
          <p:cNvSpPr/>
          <p:nvPr/>
        </p:nvSpPr>
        <p:spPr>
          <a:xfrm>
            <a:off x="640080" y="4926330"/>
            <a:ext cx="365760" cy="365760"/>
          </a:xfrm>
          <a:prstGeom prst="ellipse">
            <a:avLst/>
          </a:prstGeom>
          <a:solidFill>
            <a:srgbClr val="065A82"/>
          </a:solidFill>
          <a:ln/>
        </p:spPr>
      </p:sp>
      <p:sp>
        <p:nvSpPr>
          <p:cNvPr id="23" name="Text 21"/>
          <p:cNvSpPr/>
          <p:nvPr/>
        </p:nvSpPr>
        <p:spPr>
          <a:xfrm>
            <a:off x="640080" y="4926330"/>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24" name="Text 22"/>
          <p:cNvSpPr/>
          <p:nvPr/>
        </p:nvSpPr>
        <p:spPr>
          <a:xfrm>
            <a:off x="1188720" y="4693920"/>
            <a:ext cx="10241280" cy="830580"/>
          </a:xfrm>
          <a:prstGeom prst="rect">
            <a:avLst/>
          </a:prstGeom>
          <a:noFill/>
          <a:ln/>
        </p:spPr>
        <p:txBody>
          <a:bodyPr wrap="square" lIns="0" tIns="0" rIns="0" bIns="0" rtlCol="0" anchor="ctr"/>
          <a:lstStyle/>
          <a:p>
            <a:pPr indent="0" marL="0">
              <a:buNone/>
            </a:pPr>
            <a:r>
              <a:rPr lang="en-US" sz="1300" dirty="0">
                <a:solidFill>
                  <a:srgbClr val="1E293B"/>
                </a:solidFill>
                <a:latin typeface="Calibri" pitchFamily="34" charset="0"/>
                <a:ea typeface="Calibri" pitchFamily="34" charset="-122"/>
                <a:cs typeface="Calibri" pitchFamily="34" charset="-120"/>
              </a:rPr>
              <a:t>Label two nodes differently (e.g. disktype=ssd and disktype=hdd) and use required node affinity to force a Deployment's Pods onto only the ssd-labeled node.</a:t>
            </a:r>
            <a:endParaRPr lang="en-US" sz="1300" dirty="0"/>
          </a:p>
        </p:txBody>
      </p:sp>
      <p:sp>
        <p:nvSpPr>
          <p:cNvPr id="25" name="Shape 23"/>
          <p:cNvSpPr/>
          <p:nvPr/>
        </p:nvSpPr>
        <p:spPr>
          <a:xfrm>
            <a:off x="640080" y="5506212"/>
            <a:ext cx="10881360" cy="0"/>
          </a:xfrm>
          <a:prstGeom prst="line">
            <a:avLst/>
          </a:prstGeom>
          <a:noFill/>
          <a:ln w="6350">
            <a:solidFill>
              <a:srgbClr val="D7E3E8"/>
            </a:solidFill>
            <a:prstDash val="solid"/>
          </a:ln>
        </p:spPr>
      </p:sp>
      <p:sp>
        <p:nvSpPr>
          <p:cNvPr id="26" name="Shape 24"/>
          <p:cNvSpPr/>
          <p:nvPr/>
        </p:nvSpPr>
        <p:spPr>
          <a:xfrm>
            <a:off x="640080" y="5756910"/>
            <a:ext cx="365760" cy="365760"/>
          </a:xfrm>
          <a:prstGeom prst="ellipse">
            <a:avLst/>
          </a:prstGeom>
          <a:solidFill>
            <a:srgbClr val="065A82"/>
          </a:solidFill>
          <a:ln/>
        </p:spPr>
      </p:sp>
      <p:sp>
        <p:nvSpPr>
          <p:cNvPr id="27" name="Text 25"/>
          <p:cNvSpPr/>
          <p:nvPr/>
        </p:nvSpPr>
        <p:spPr>
          <a:xfrm>
            <a:off x="640080" y="5756910"/>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6</a:t>
            </a:r>
            <a:endParaRPr lang="en-US" sz="1300" dirty="0"/>
          </a:p>
        </p:txBody>
      </p:sp>
      <p:sp>
        <p:nvSpPr>
          <p:cNvPr id="28" name="Text 26"/>
          <p:cNvSpPr/>
          <p:nvPr/>
        </p:nvSpPr>
        <p:spPr>
          <a:xfrm>
            <a:off x="1188720" y="5524500"/>
            <a:ext cx="10241280" cy="830580"/>
          </a:xfrm>
          <a:prstGeom prst="rect">
            <a:avLst/>
          </a:prstGeom>
          <a:noFill/>
          <a:ln/>
        </p:spPr>
        <p:txBody>
          <a:bodyPr wrap="square" lIns="0" tIns="0" rIns="0" bIns="0" rtlCol="0" anchor="ctr"/>
          <a:lstStyle/>
          <a:p>
            <a:pPr indent="0" marL="0">
              <a:buNone/>
            </a:pPr>
            <a:r>
              <a:rPr lang="en-US" sz="1300" dirty="0">
                <a:solidFill>
                  <a:srgbClr val="1E293B"/>
                </a:solidFill>
                <a:latin typeface="Calibri" pitchFamily="34" charset="0"/>
                <a:ea typeface="Calibri" pitchFamily="34" charset="-122"/>
                <a:cs typeface="Calibri" pitchFamily="34" charset="-120"/>
              </a:rPr>
              <a:t>Taint a node NoSchedule, confirm new Pods avoid it, add a matching toleration to a test Pod, and confirm that Pod alone can now be scheduled there.</a:t>
            </a:r>
            <a:endParaRPr lang="en-US" sz="1300" dirty="0"/>
          </a:p>
        </p:txBody>
      </p:sp>
      <p:sp>
        <p:nvSpPr>
          <p:cNvPr id="29" name="Text 27"/>
          <p:cNvSpPr/>
          <p:nvPr/>
        </p:nvSpPr>
        <p:spPr>
          <a:xfrm>
            <a:off x="457200" y="6446520"/>
            <a:ext cx="6400800" cy="27432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CKA v1.36 · Module 2</a:t>
            </a:r>
            <a:endParaRPr lang="en-US" sz="900" dirty="0"/>
          </a:p>
        </p:txBody>
      </p:sp>
      <p:sp>
        <p:nvSpPr>
          <p:cNvPr id="30" name="Text 28"/>
          <p:cNvSpPr/>
          <p:nvPr/>
        </p:nvSpPr>
        <p:spPr>
          <a:xfrm>
            <a:off x="11247120" y="6446520"/>
            <a:ext cx="4572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83</a:t>
            </a:r>
            <a:endParaRPr lang="en-US" sz="900" dirty="0"/>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name="Slide 84">
    <p:bg>
      <p:bgPr>
        <a:solidFill>
          <a:srgbClr val="21295C"/>
        </a:solidFill>
      </p:bgPr>
    </p:bg>
    <p:spTree>
      <p:nvGrpSpPr>
        <p:cNvPr id="1" name=""/>
        <p:cNvGrpSpPr/>
        <p:nvPr/>
      </p:nvGrpSpPr>
      <p:grpSpPr>
        <a:xfrm>
          <a:off x="0" y="0"/>
          <a:ext cx="0" cy="0"/>
          <a:chOff x="0" y="0"/>
          <a:chExt cx="0" cy="0"/>
        </a:xfrm>
      </p:grpSpPr>
      <p:sp>
        <p:nvSpPr>
          <p:cNvPr id="2" name="Shape 0"/>
          <p:cNvSpPr/>
          <p:nvPr/>
        </p:nvSpPr>
        <p:spPr>
          <a:xfrm>
            <a:off x="-1371600" y="-1371600"/>
            <a:ext cx="4114800" cy="4114800"/>
          </a:xfrm>
          <a:prstGeom prst="ellipse">
            <a:avLst/>
          </a:prstGeom>
          <a:solidFill>
            <a:srgbClr val="1C7293">
              <a:alpha val="40000"/>
            </a:srgbClr>
          </a:solidFill>
          <a:ln/>
        </p:spPr>
      </p:sp>
      <p:sp>
        <p:nvSpPr>
          <p:cNvPr id="3" name="Text 1"/>
          <p:cNvSpPr/>
          <p:nvPr/>
        </p:nvSpPr>
        <p:spPr>
          <a:xfrm>
            <a:off x="822960" y="640080"/>
            <a:ext cx="10058400" cy="82296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Module 2 — Key Takeaways</a:t>
            </a:r>
            <a:endParaRPr lang="en-US" sz="3000" dirty="0"/>
          </a:p>
        </p:txBody>
      </p:sp>
      <p:sp>
        <p:nvSpPr>
          <p:cNvPr id="4" name="Text 2"/>
          <p:cNvSpPr/>
          <p:nvPr/>
        </p:nvSpPr>
        <p:spPr>
          <a:xfrm>
            <a:off x="822960" y="1645920"/>
            <a:ext cx="10058400" cy="3657600"/>
          </a:xfrm>
          <a:prstGeom prst="rect">
            <a:avLst/>
          </a:prstGeom>
          <a:noFill/>
          <a:ln/>
        </p:spPr>
        <p:txBody>
          <a:bodyPr wrap="square" lIns="0" tIns="0" rIns="0" bIns="0" rtlCol="0" anchor="t"/>
          <a:lstStyle/>
          <a:p>
            <a:pPr marL="342900" indent="-342900">
              <a:spcAft>
                <a:spcPts val="1200"/>
              </a:spcAft>
              <a:buSzPct val="100000"/>
              <a:buChar char="✓"/>
            </a:pPr>
            <a:r>
              <a:rPr lang="en-US" sz="1500" dirty="0">
                <a:solidFill>
                  <a:srgbClr val="DCEFF5"/>
                </a:solidFill>
                <a:latin typeface="Calibri" pitchFamily="34" charset="0"/>
                <a:ea typeface="Calibri" pitchFamily="34" charset="-122"/>
                <a:cs typeface="Calibri" pitchFamily="34" charset="-120"/>
              </a:rPr>
              <a:t>Most networking exam tasks are diagnostic, not constructive — practice the Symptom → Root Cause → Fix reasoning chain until it's automatic.</a:t>
            </a:r>
            <a:endParaRPr lang="en-US" sz="1500" dirty="0"/>
          </a:p>
          <a:p>
            <a:pPr marL="342900" indent="-342900">
              <a:spcAft>
                <a:spcPts val="1200"/>
              </a:spcAft>
              <a:buSzPct val="100000"/>
              <a:buChar char="✓"/>
            </a:pPr>
            <a:r>
              <a:rPr lang="en-US" sz="1500" dirty="0">
                <a:solidFill>
                  <a:srgbClr val="DCEFF5"/>
                </a:solidFill>
                <a:latin typeface="Calibri" pitchFamily="34" charset="0"/>
                <a:ea typeface="Calibri" pitchFamily="34" charset="-122"/>
                <a:cs typeface="Calibri" pitchFamily="34" charset="-120"/>
              </a:rPr>
              <a:t>Service connectivity troubleshooting has a fixed, reliable order: selector/Endpoints → NetworkPolicy → DNS → raw network/CNI.</a:t>
            </a:r>
            <a:endParaRPr lang="en-US" sz="1500" dirty="0"/>
          </a:p>
          <a:p>
            <a:pPr marL="342900" indent="-342900">
              <a:spcAft>
                <a:spcPts val="1200"/>
              </a:spcAft>
              <a:buSzPct val="100000"/>
              <a:buChar char="✓"/>
            </a:pPr>
            <a:r>
              <a:rPr lang="en-US" sz="1500" dirty="0">
                <a:solidFill>
                  <a:srgbClr val="DCEFF5"/>
                </a:solidFill>
                <a:latin typeface="Calibri" pitchFamily="34" charset="0"/>
                <a:ea typeface="Calibri" pitchFamily="34" charset="-122"/>
                <a:cs typeface="Calibri" pitchFamily="34" charset="-120"/>
              </a:rPr>
              <a:t>NetworkPolicy is opt-in and additive; an empty podSelector means 'all Pods,' and AND vs. OR hinges entirely on YAML list structure.</a:t>
            </a:r>
            <a:endParaRPr lang="en-US" sz="1500" dirty="0"/>
          </a:p>
          <a:p>
            <a:pPr marL="342900" indent="-342900">
              <a:spcAft>
                <a:spcPts val="1200"/>
              </a:spcAft>
              <a:buSzPct val="100000"/>
              <a:buChar char="✓"/>
            </a:pPr>
            <a:r>
              <a:rPr lang="en-US" sz="1500" dirty="0">
                <a:solidFill>
                  <a:srgbClr val="DCEFF5"/>
                </a:solidFill>
                <a:latin typeface="Calibri" pitchFamily="34" charset="0"/>
                <a:ea typeface="Calibri" pitchFamily="34" charset="-122"/>
                <a:cs typeface="Calibri" pitchFamily="34" charset="-120"/>
              </a:rPr>
              <a:t>Ingress needs BOTH a resource and a controller; Gateway API exists for portability and precision (especially weighted traffic splits) that annotations on Ingress can't guarantee.</a:t>
            </a:r>
            <a:endParaRPr lang="en-US" sz="1500" dirty="0"/>
          </a:p>
          <a:p>
            <a:pPr marL="342900" indent="-342900">
              <a:spcAft>
                <a:spcPts val="1200"/>
              </a:spcAft>
              <a:buSzPct val="100000"/>
              <a:buChar char="✓"/>
            </a:pPr>
            <a:r>
              <a:rPr lang="en-US" sz="1500" dirty="0">
                <a:solidFill>
                  <a:srgbClr val="DCEFF5"/>
                </a:solidFill>
                <a:latin typeface="Calibri" pitchFamily="34" charset="0"/>
                <a:ea typeface="Calibri" pitchFamily="34" charset="-122"/>
                <a:cs typeface="Calibri" pitchFamily="34" charset="-120"/>
              </a:rPr>
              <a:t>Pod placement failures split cleanly into two categories: admission-time rejections (quotas, limits) and scheduling-time Pending states (affinity, taints) — diagnose accordingly.</a:t>
            </a:r>
            <a:endParaRPr lang="en-US" sz="1500" dirty="0"/>
          </a:p>
        </p:txBody>
      </p:sp>
      <p:sp>
        <p:nvSpPr>
          <p:cNvPr id="5" name="Shape 3"/>
          <p:cNvSpPr/>
          <p:nvPr/>
        </p:nvSpPr>
        <p:spPr>
          <a:xfrm>
            <a:off x="822960" y="5486400"/>
            <a:ext cx="10424160" cy="777240"/>
          </a:xfrm>
          <a:prstGeom prst="roundRect">
            <a:avLst>
              <a:gd name="adj" fmla="val 9412"/>
            </a:avLst>
          </a:prstGeom>
          <a:solidFill>
            <a:srgbClr val="FFFFFF">
              <a:alpha val="10000"/>
            </a:srgbClr>
          </a:solidFill>
          <a:ln w="12700">
            <a:solidFill>
              <a:srgbClr val="8FD3E8"/>
            </a:solidFill>
            <a:prstDash val="solid"/>
          </a:ln>
        </p:spPr>
      </p:sp>
      <p:sp>
        <p:nvSpPr>
          <p:cNvPr id="6" name="Text 4"/>
          <p:cNvSpPr/>
          <p:nvPr/>
        </p:nvSpPr>
        <p:spPr>
          <a:xfrm>
            <a:off x="1051560" y="5486400"/>
            <a:ext cx="10058400" cy="77724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Next up: Module 3 — Storage (PVs, PVCs, StorageClasses, and CSI drivers) and Workload State Management.</a:t>
            </a:r>
            <a:endParaRPr lang="en-US" sz="1400" dirty="0"/>
          </a:p>
        </p:txBody>
      </p:sp>
      <p:sp>
        <p:nvSpPr>
          <p:cNvPr id="7" name="Text 5"/>
          <p:cNvSpPr/>
          <p:nvPr/>
        </p:nvSpPr>
        <p:spPr>
          <a:xfrm>
            <a:off x="457200" y="6446520"/>
            <a:ext cx="6400800" cy="27432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CKA v1.36 · Module 2</a:t>
            </a:r>
            <a:endParaRPr lang="en-US" sz="900" dirty="0"/>
          </a:p>
        </p:txBody>
      </p:sp>
      <p:sp>
        <p:nvSpPr>
          <p:cNvPr id="8" name="Text 6"/>
          <p:cNvSpPr/>
          <p:nvPr/>
        </p:nvSpPr>
        <p:spPr>
          <a:xfrm>
            <a:off x="11247120" y="6446520"/>
            <a:ext cx="4572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84</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84</Slides>
  <Notes>84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84</vt:i4>
      </vt:variant>
    </vt:vector>
  </HeadingPairs>
  <TitlesOfParts>
    <vt:vector size="8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lpstr>Slide 65</vt:lpstr>
      <vt:lpstr>Slide 66</vt:lpstr>
      <vt:lpstr>Slide 67</vt:lpstr>
      <vt:lpstr>Slide 68</vt:lpstr>
      <vt:lpstr>Slide 69</vt:lpstr>
      <vt:lpstr>Slide 70</vt:lpstr>
      <vt:lpstr>Slide 71</vt:lpstr>
      <vt:lpstr>Slide 72</vt:lpstr>
      <vt:lpstr>Slide 73</vt:lpstr>
      <vt:lpstr>Slide 74</vt:lpstr>
      <vt:lpstr>Slide 75</vt:lpstr>
      <vt:lpstr>Slide 76</vt:lpstr>
      <vt:lpstr>Slide 77</vt:lpstr>
      <vt:lpstr>Slide 78</vt:lpstr>
      <vt:lpstr>Slide 79</vt:lpstr>
      <vt:lpstr>Slide 80</vt:lpstr>
      <vt:lpstr>Slide 81</vt:lpstr>
      <vt:lpstr>Slide 82</vt:lpstr>
      <vt:lpstr>Slide 83</vt:lpstr>
      <vt:lpstr>Slide 84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CKA v1.36 Certification Prep - Module 2</dc:title>
  <dc:subject>PptxGenJS Presentation</dc:subject>
  <dc:creator>CKA Prep Course</dc:creator>
  <cp:lastModifiedBy>CKA Prep Course</cp:lastModifiedBy>
  <cp:revision>1</cp:revision>
  <dcterms:created xsi:type="dcterms:W3CDTF">2026-06-21T05:28:19Z</dcterms:created>
  <dcterms:modified xsi:type="dcterms:W3CDTF">2026-06-21T05:28:19Z</dcterms:modified>
</cp:coreProperties>
</file>