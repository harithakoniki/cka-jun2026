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065A82">
              <a:alpha val="45000"/>
            </a:srgbClr>
          </a:solidFill>
          <a:ln/>
        </p:spPr>
      </p:sp>
      <p:sp>
        <p:nvSpPr>
          <p:cNvPr id="3" name="Shape 1"/>
          <p:cNvSpPr/>
          <p:nvPr/>
        </p:nvSpPr>
        <p:spPr>
          <a:xfrm>
            <a:off x="-1280160" y="4572000"/>
            <a:ext cx="3291840" cy="3291840"/>
          </a:xfrm>
          <a:prstGeom prst="ellipse">
            <a:avLst/>
          </a:prstGeom>
          <a:solidFill>
            <a:srgbClr val="1C7293">
              <a:alpha val="40000"/>
            </a:srgbClr>
          </a:solidFill>
          <a:ln/>
        </p:spPr>
      </p:sp>
      <p:sp>
        <p:nvSpPr>
          <p:cNvPr id="4" name="Text 2"/>
          <p:cNvSpPr/>
          <p:nvPr/>
        </p:nvSpPr>
        <p:spPr>
          <a:xfrm>
            <a:off x="822960" y="1371600"/>
            <a:ext cx="9144000" cy="457200"/>
          </a:xfrm>
          <a:prstGeom prst="rect">
            <a:avLst/>
          </a:prstGeom>
          <a:noFill/>
          <a:ln/>
        </p:spPr>
        <p:txBody>
          <a:bodyPr wrap="square" lIns="0" tIns="0" rIns="0" bIns="0" rtlCol="0" anchor="ctr"/>
          <a:lstStyle/>
          <a:p>
            <a:pPr indent="0" marL="0">
              <a:buNone/>
            </a:pPr>
            <a:r>
              <a:rPr lang="en-US" sz="1400" spc="200" kern="0" dirty="0">
                <a:solidFill>
                  <a:srgbClr val="8FD3E8"/>
                </a:solidFill>
                <a:latin typeface="Calibri" pitchFamily="34" charset="0"/>
                <a:ea typeface="Calibri" pitchFamily="34" charset="-122"/>
                <a:cs typeface="Calibri" pitchFamily="34" charset="-120"/>
              </a:rPr>
              <a:t>CERTIFIED KUBERNETES ADMINISTRATOR · v1.36</a:t>
            </a:r>
            <a:endParaRPr lang="en-US" sz="1400" dirty="0"/>
          </a:p>
        </p:txBody>
      </p:sp>
      <p:sp>
        <p:nvSpPr>
          <p:cNvPr id="5" name="Text 3"/>
          <p:cNvSpPr/>
          <p:nvPr/>
        </p:nvSpPr>
        <p:spPr>
          <a:xfrm>
            <a:off x="822960" y="1828800"/>
            <a:ext cx="1024128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Module 3: Storage &amp;</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Troubleshooting</a:t>
            </a:r>
            <a:endParaRPr lang="en-US" sz="4400" dirty="0"/>
          </a:p>
        </p:txBody>
      </p:sp>
      <p:sp>
        <p:nvSpPr>
          <p:cNvPr id="6" name="Text 4"/>
          <p:cNvSpPr/>
          <p:nvPr/>
        </p:nvSpPr>
        <p:spPr>
          <a:xfrm>
            <a:off x="822960" y="3291840"/>
            <a:ext cx="9601200" cy="731520"/>
          </a:xfrm>
          <a:prstGeom prst="rect">
            <a:avLst/>
          </a:prstGeom>
          <a:noFill/>
          <a:ln/>
        </p:spPr>
        <p:txBody>
          <a:bodyPr wrap="square" lIns="0" tIns="0" rIns="0" bIns="0" rtlCol="0" anchor="ctr"/>
          <a:lstStyle/>
          <a:p>
            <a:pPr indent="0" marL="0">
              <a:buNone/>
            </a:pPr>
            <a:r>
              <a:rPr lang="en-US" sz="1900" dirty="0">
                <a:solidFill>
                  <a:srgbClr val="C9E4ED"/>
                </a:solidFill>
                <a:latin typeface="Calibri" pitchFamily="34" charset="0"/>
                <a:ea typeface="Calibri" pitchFamily="34" charset="-122"/>
                <a:cs typeface="Calibri" pitchFamily="34" charset="-120"/>
              </a:rPr>
              <a:t>Exam-Centric Patterns for Volumes, Cluster Health &amp; Diagnostics</a:t>
            </a:r>
            <a:endParaRPr lang="en-US" sz="1900" dirty="0"/>
          </a:p>
        </p:txBody>
      </p:sp>
      <p:sp>
        <p:nvSpPr>
          <p:cNvPr id="7" name="Shape 5"/>
          <p:cNvSpPr/>
          <p:nvPr/>
        </p:nvSpPr>
        <p:spPr>
          <a:xfrm>
            <a:off x="822960" y="4572000"/>
            <a:ext cx="7863840" cy="1371600"/>
          </a:xfrm>
          <a:prstGeom prst="roundRect">
            <a:avLst>
              <a:gd name="adj" fmla="val 5333"/>
            </a:avLst>
          </a:prstGeom>
          <a:solidFill>
            <a:srgbClr val="FFFFFF">
              <a:alpha val="8000"/>
            </a:srgbClr>
          </a:solidFill>
          <a:ln w="12700">
            <a:solidFill>
              <a:srgbClr val="8FD3E8"/>
            </a:solidFill>
            <a:prstDash val="solid"/>
          </a:ln>
        </p:spPr>
      </p:sp>
      <p:sp>
        <p:nvSpPr>
          <p:cNvPr id="8" name="Text 6"/>
          <p:cNvSpPr/>
          <p:nvPr/>
        </p:nvSpPr>
        <p:spPr>
          <a:xfrm>
            <a:off x="1051560" y="4736592"/>
            <a:ext cx="7406640" cy="1097280"/>
          </a:xfrm>
          <a:prstGeom prst="rect">
            <a:avLst/>
          </a:prstGeom>
          <a:noFill/>
          <a:ln/>
        </p:spPr>
        <p:txBody>
          <a:bodyPr wrap="square" lIns="0" tIns="0" rIns="0" bIns="0"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Certified Kubernetes Administrator (CKA) · Kubernetes v1.36</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Exam Domain Weight: Storage ~10% · Troubleshooting ~30%</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Format: every topic ends in a Scenario → Root Cause → Fix exam pattern</a:t>
            </a:r>
            <a:endParaRPr lang="en-US" sz="13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1 · Cluster Architecture, Installation &amp; Configuration</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Module 3 Roadmap</a:t>
            </a:r>
            <a:endParaRPr lang="en-US" sz="3000" dirty="0"/>
          </a:p>
        </p:txBody>
      </p:sp>
      <p:sp>
        <p:nvSpPr>
          <p:cNvPr id="3" name="Shape 1"/>
          <p:cNvSpPr/>
          <p:nvPr/>
        </p:nvSpPr>
        <p:spPr>
          <a:xfrm>
            <a:off x="640080" y="1097280"/>
            <a:ext cx="10881360" cy="0"/>
          </a:xfrm>
          <a:prstGeom prst="line">
            <a:avLst/>
          </a:prstGeom>
          <a:noFill/>
          <a:ln w="12700">
            <a:solidFill>
              <a:srgbClr val="D7E3E8"/>
            </a:solidFill>
            <a:prstDash val="solid"/>
          </a:ln>
        </p:spPr>
      </p:sp>
      <p:sp>
        <p:nvSpPr>
          <p:cNvPr id="4" name="Shape 2"/>
          <p:cNvSpPr/>
          <p:nvPr/>
        </p:nvSpPr>
        <p:spPr>
          <a:xfrm>
            <a:off x="640080" y="1472184"/>
            <a:ext cx="384048" cy="384048"/>
          </a:xfrm>
          <a:prstGeom prst="ellipse">
            <a:avLst/>
          </a:prstGeom>
          <a:solidFill>
            <a:srgbClr val="065A82"/>
          </a:solidFill>
          <a:ln/>
        </p:spPr>
      </p:sp>
      <p:sp>
        <p:nvSpPr>
          <p:cNvPr id="5" name="Text 3"/>
          <p:cNvSpPr/>
          <p:nvPr/>
        </p:nvSpPr>
        <p:spPr>
          <a:xfrm>
            <a:off x="640080" y="1472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70432" y="1417320"/>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Storage Classes &amp; Dynamic Provisioning</a:t>
            </a:r>
            <a:endParaRPr lang="en-US" sz="1350" dirty="0"/>
          </a:p>
        </p:txBody>
      </p:sp>
      <p:sp>
        <p:nvSpPr>
          <p:cNvPr id="7" name="Shape 5"/>
          <p:cNvSpPr/>
          <p:nvPr/>
        </p:nvSpPr>
        <p:spPr>
          <a:xfrm>
            <a:off x="640080" y="2185416"/>
            <a:ext cx="384048" cy="384048"/>
          </a:xfrm>
          <a:prstGeom prst="ellipse">
            <a:avLst/>
          </a:prstGeom>
          <a:solidFill>
            <a:srgbClr val="065A82"/>
          </a:solidFill>
          <a:ln/>
        </p:spPr>
      </p:sp>
      <p:sp>
        <p:nvSpPr>
          <p:cNvPr id="8" name="Text 6"/>
          <p:cNvSpPr/>
          <p:nvPr/>
        </p:nvSpPr>
        <p:spPr>
          <a:xfrm>
            <a:off x="640080" y="21854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70432" y="2130552"/>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Volume Types, Access Modes &amp; Reclaim Policies</a:t>
            </a:r>
            <a:endParaRPr lang="en-US" sz="1350" dirty="0"/>
          </a:p>
        </p:txBody>
      </p:sp>
      <p:sp>
        <p:nvSpPr>
          <p:cNvPr id="10" name="Shape 8"/>
          <p:cNvSpPr/>
          <p:nvPr/>
        </p:nvSpPr>
        <p:spPr>
          <a:xfrm>
            <a:off x="640080" y="2898648"/>
            <a:ext cx="384048" cy="384048"/>
          </a:xfrm>
          <a:prstGeom prst="ellipse">
            <a:avLst/>
          </a:prstGeom>
          <a:solidFill>
            <a:srgbClr val="065A82"/>
          </a:solidFill>
          <a:ln/>
        </p:spPr>
      </p:sp>
      <p:sp>
        <p:nvSpPr>
          <p:cNvPr id="11" name="Text 9"/>
          <p:cNvSpPr/>
          <p:nvPr/>
        </p:nvSpPr>
        <p:spPr>
          <a:xfrm>
            <a:off x="640080" y="2898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70432" y="2843784"/>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Persistent Volumes &amp; Claims</a:t>
            </a:r>
            <a:endParaRPr lang="en-US" sz="1350" dirty="0"/>
          </a:p>
        </p:txBody>
      </p:sp>
      <p:sp>
        <p:nvSpPr>
          <p:cNvPr id="13" name="Shape 11"/>
          <p:cNvSpPr/>
          <p:nvPr/>
        </p:nvSpPr>
        <p:spPr>
          <a:xfrm>
            <a:off x="640080" y="3611880"/>
            <a:ext cx="384048" cy="384048"/>
          </a:xfrm>
          <a:prstGeom prst="ellipse">
            <a:avLst/>
          </a:prstGeom>
          <a:solidFill>
            <a:srgbClr val="065A82"/>
          </a:solidFill>
          <a:ln/>
        </p:spPr>
      </p:sp>
      <p:sp>
        <p:nvSpPr>
          <p:cNvPr id="14" name="Text 12"/>
          <p:cNvSpPr/>
          <p:nvPr/>
        </p:nvSpPr>
        <p:spPr>
          <a:xfrm>
            <a:off x="640080"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70432" y="3557016"/>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Troubleshoot Clusters &amp; Nodes</a:t>
            </a:r>
            <a:endParaRPr lang="en-US" sz="1350" dirty="0"/>
          </a:p>
        </p:txBody>
      </p:sp>
      <p:sp>
        <p:nvSpPr>
          <p:cNvPr id="16" name="Shape 14"/>
          <p:cNvSpPr/>
          <p:nvPr/>
        </p:nvSpPr>
        <p:spPr>
          <a:xfrm>
            <a:off x="640080" y="4325112"/>
            <a:ext cx="384048" cy="384048"/>
          </a:xfrm>
          <a:prstGeom prst="ellipse">
            <a:avLst/>
          </a:prstGeom>
          <a:solidFill>
            <a:srgbClr val="065A82"/>
          </a:solidFill>
          <a:ln/>
        </p:spPr>
      </p:sp>
      <p:sp>
        <p:nvSpPr>
          <p:cNvPr id="17" name="Text 15"/>
          <p:cNvSpPr/>
          <p:nvPr/>
        </p:nvSpPr>
        <p:spPr>
          <a:xfrm>
            <a:off x="640080" y="4325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170432" y="4270248"/>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E. Troubleshoot Cluster Components</a:t>
            </a:r>
            <a:endParaRPr lang="en-US" sz="1350" dirty="0"/>
          </a:p>
        </p:txBody>
      </p:sp>
      <p:sp>
        <p:nvSpPr>
          <p:cNvPr id="19" name="Shape 17"/>
          <p:cNvSpPr/>
          <p:nvPr/>
        </p:nvSpPr>
        <p:spPr>
          <a:xfrm>
            <a:off x="640080" y="5038344"/>
            <a:ext cx="384048" cy="384048"/>
          </a:xfrm>
          <a:prstGeom prst="ellipse">
            <a:avLst/>
          </a:prstGeom>
          <a:solidFill>
            <a:srgbClr val="065A82"/>
          </a:solidFill>
          <a:ln/>
        </p:spPr>
      </p:sp>
      <p:sp>
        <p:nvSpPr>
          <p:cNvPr id="20" name="Text 18"/>
          <p:cNvSpPr/>
          <p:nvPr/>
        </p:nvSpPr>
        <p:spPr>
          <a:xfrm>
            <a:off x="640080" y="5038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170432" y="4983480"/>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F. Monitor Resource Usage</a:t>
            </a:r>
            <a:endParaRPr lang="en-US" sz="1350" dirty="0"/>
          </a:p>
        </p:txBody>
      </p:sp>
      <p:sp>
        <p:nvSpPr>
          <p:cNvPr id="22" name="Shape 20"/>
          <p:cNvSpPr/>
          <p:nvPr/>
        </p:nvSpPr>
        <p:spPr>
          <a:xfrm>
            <a:off x="640080" y="5751576"/>
            <a:ext cx="384048" cy="384048"/>
          </a:xfrm>
          <a:prstGeom prst="ellipse">
            <a:avLst/>
          </a:prstGeom>
          <a:solidFill>
            <a:srgbClr val="065A82"/>
          </a:solidFill>
          <a:ln/>
        </p:spPr>
      </p:sp>
      <p:sp>
        <p:nvSpPr>
          <p:cNvPr id="23" name="Text 21"/>
          <p:cNvSpPr/>
          <p:nvPr/>
        </p:nvSpPr>
        <p:spPr>
          <a:xfrm>
            <a:off x="640080" y="57515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4" name="Text 22"/>
          <p:cNvSpPr/>
          <p:nvPr/>
        </p:nvSpPr>
        <p:spPr>
          <a:xfrm>
            <a:off x="1170432" y="5696712"/>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G. Container Output Streams (Logs)</a:t>
            </a:r>
            <a:endParaRPr lang="en-US" sz="1350" dirty="0"/>
          </a:p>
        </p:txBody>
      </p:sp>
      <p:sp>
        <p:nvSpPr>
          <p:cNvPr id="25" name="Shape 23"/>
          <p:cNvSpPr/>
          <p:nvPr/>
        </p:nvSpPr>
        <p:spPr>
          <a:xfrm>
            <a:off x="6355080" y="1472184"/>
            <a:ext cx="384048" cy="384048"/>
          </a:xfrm>
          <a:prstGeom prst="ellipse">
            <a:avLst/>
          </a:prstGeom>
          <a:solidFill>
            <a:srgbClr val="065A82"/>
          </a:solidFill>
          <a:ln/>
        </p:spPr>
      </p:sp>
      <p:sp>
        <p:nvSpPr>
          <p:cNvPr id="26" name="Text 24"/>
          <p:cNvSpPr/>
          <p:nvPr/>
        </p:nvSpPr>
        <p:spPr>
          <a:xfrm>
            <a:off x="6355080" y="1472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7" name="Text 25"/>
          <p:cNvSpPr/>
          <p:nvPr/>
        </p:nvSpPr>
        <p:spPr>
          <a:xfrm>
            <a:off x="6885432" y="1417320"/>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H. Troubleshoot Services &amp; Networking</a:t>
            </a:r>
            <a:endParaRPr lang="en-US" sz="1350" dirty="0"/>
          </a:p>
        </p:txBody>
      </p:sp>
      <p:sp>
        <p:nvSpPr>
          <p:cNvPr id="28" name="Shape 26"/>
          <p:cNvSpPr/>
          <p:nvPr/>
        </p:nvSpPr>
        <p:spPr>
          <a:xfrm>
            <a:off x="6355080" y="2185416"/>
            <a:ext cx="384048" cy="384048"/>
          </a:xfrm>
          <a:prstGeom prst="ellipse">
            <a:avLst/>
          </a:prstGeom>
          <a:solidFill>
            <a:srgbClr val="065A82"/>
          </a:solidFill>
          <a:ln/>
        </p:spPr>
      </p:sp>
      <p:sp>
        <p:nvSpPr>
          <p:cNvPr id="29" name="Text 27"/>
          <p:cNvSpPr/>
          <p:nvPr/>
        </p:nvSpPr>
        <p:spPr>
          <a:xfrm>
            <a:off x="6355080" y="21854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0" name="Text 28"/>
          <p:cNvSpPr/>
          <p:nvPr/>
        </p:nvSpPr>
        <p:spPr>
          <a:xfrm>
            <a:off x="6885432" y="2130552"/>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Sample Certification Questions (with solutions)</a:t>
            </a:r>
            <a:endParaRPr lang="en-US" sz="1350" dirty="0"/>
          </a:p>
        </p:txBody>
      </p:sp>
      <p:sp>
        <p:nvSpPr>
          <p:cNvPr id="31" name="Shape 29"/>
          <p:cNvSpPr/>
          <p:nvPr/>
        </p:nvSpPr>
        <p:spPr>
          <a:xfrm>
            <a:off x="6355080" y="2898648"/>
            <a:ext cx="384048" cy="384048"/>
          </a:xfrm>
          <a:prstGeom prst="ellipse">
            <a:avLst/>
          </a:prstGeom>
          <a:solidFill>
            <a:srgbClr val="065A82"/>
          </a:solidFill>
          <a:ln/>
        </p:spPr>
      </p:sp>
      <p:sp>
        <p:nvSpPr>
          <p:cNvPr id="32" name="Text 30"/>
          <p:cNvSpPr/>
          <p:nvPr/>
        </p:nvSpPr>
        <p:spPr>
          <a:xfrm>
            <a:off x="6355080" y="2898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3" name="Text 31"/>
          <p:cNvSpPr/>
          <p:nvPr/>
        </p:nvSpPr>
        <p:spPr>
          <a:xfrm>
            <a:off x="6885432" y="2843784"/>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Classroom Practice Lab Questions</a:t>
            </a:r>
            <a:endParaRPr lang="en-US" sz="1350" dirty="0"/>
          </a:p>
        </p:txBody>
      </p:sp>
      <p:sp>
        <p:nvSpPr>
          <p:cNvPr id="34" name="Text 32"/>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35" name="Text 3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WHY THIS MODULE MATTERS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Troubleshooting Is Nearly a Third of the Exam</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Troubleshooting is the single largest domain on the CKA exam by weight — roughly 30%, larger than Storage, Workloads, or even Services &amp; Networking individually.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Storage tasks are usually constructive ('provision this PVC'); Troubleshooting tasks are almost always diagnostic ('this is broken, find out why and fix it') under time pressure.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The exam does not tell you WHAT is broken — only the symptom. Your job is to navigate from symptom to root cause efficiently using a small, memorized set of commands.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This module pairs every concept with an Exam Pattern: Scenario → Root Cause → Fix, because that is literally the shape of how these topics are tested.</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Storage Classes &amp; Dynamic Volume Provisioning</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Letting Kubernetes create volumes on demand</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Storage · Storage classes and dynamic volume provisioning</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STORAGE CLASSES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Why StorageClass Exists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Without dynamic provisioning, a cluster admin must manually pre-create a PersistentVolume for every single PersistentVolumeClaim — doesn't scale.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StorageClass describes a CLASS of storage (e.g. 'fast SSD,' 'slow HDD') and references a provisioner that knows how to create real storage on demand.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When a PVC requests a StorageClass that supports dynamic provisioning, Kubernetes automatically creates a matching PersistentVolume behind the scenes — no admin intervention required.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provisioner is the key field: it identifies which CSI (Container Storage Interface) driver handles actual volume creation (e.g. ebs.csi.aws.com, disk.csi.azure.com, rancher.io/local-path).</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cluster can have multiple StorageClasses, and one can be marked the default via the storageclass.kubernetes.io/is-default-class annotation.</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STORAGE CLASSES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 StorageClass Definition</a:t>
            </a:r>
            <a:endParaRPr lang="en-US" sz="2400" dirty="0"/>
          </a:p>
        </p:txBody>
      </p:sp>
      <p:sp>
        <p:nvSpPr>
          <p:cNvPr id="4" name="Shape 2"/>
          <p:cNvSpPr/>
          <p:nvPr/>
        </p:nvSpPr>
        <p:spPr>
          <a:xfrm>
            <a:off x="640080" y="1371600"/>
            <a:ext cx="10881360" cy="3227832"/>
          </a:xfrm>
          <a:prstGeom prst="roundRect">
            <a:avLst>
              <a:gd name="adj" fmla="val 1700"/>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2898648"/>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apiVersion: storage.k8s.io/v1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StorageClass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name: fast-ssd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annotations: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storageclass.kubernetes.io/is-default-class: "true"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provisioner: ebs.csi.aws.com</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parameters: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type: gp3</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reclaimPolicy: Delete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volumeBindingMode: WaitForFirstConsumer</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allowVolumeExpansion: true</a:t>
            </a:r>
            <a:endParaRPr lang="en-US" sz="1350" dirty="0"/>
          </a:p>
        </p:txBody>
      </p:sp>
      <p:sp>
        <p:nvSpPr>
          <p:cNvPr id="6" name="Text 4"/>
          <p:cNvSpPr/>
          <p:nvPr/>
        </p:nvSpPr>
        <p:spPr>
          <a:xfrm>
            <a:off x="640080" y="4828032"/>
            <a:ext cx="10881360" cy="157276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volumeBindingMode: WaitForFirstConsumer delays volume creation until a Pod using the PVC is actually scheduled — this avoids creating a volume in the wrong availability zone.</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Immediate (the alternative binding mode) provisions the volume as soon as the PVC is created, before any Pod exists — can cause zone-mismatch scheduling problems.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allowVolumeExpansion: true is required before a PVC referencing this class can ever be resized later.</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STORAGE CLASSES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volumeBindingMode — Immediate vs. WaitForFirstConsumer</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2</a:t>
            </a:r>
            <a:endParaRPr lang="en-US" sz="1600" dirty="0"/>
          </a:p>
        </p:txBody>
      </p:sp>
      <p:sp>
        <p:nvSpPr>
          <p:cNvPr id="7" name="Text 5"/>
          <p:cNvSpPr/>
          <p:nvPr/>
        </p:nvSpPr>
        <p:spPr>
          <a:xfrm>
            <a:off x="64008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Immediate (default if unset)</a:t>
            </a:r>
            <a:endParaRPr lang="en-US" sz="1450" dirty="0"/>
          </a:p>
        </p:txBody>
      </p:sp>
      <p:sp>
        <p:nvSpPr>
          <p:cNvPr id="8" name="Text 6"/>
          <p:cNvSpPr/>
          <p:nvPr/>
        </p:nvSpPr>
        <p:spPr>
          <a:xfrm>
            <a:off x="64008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Volume is provisioned as soon as the PVC is created</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Risk: volume created in zone A, Pod later scheduled needing zone B — permanently unschedulable</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Fine for storage that isn't zone/topology-constrained</a:t>
            </a:r>
            <a:endParaRPr lang="en-US" sz="1400" dirty="0"/>
          </a:p>
        </p:txBody>
      </p:sp>
      <p:sp>
        <p:nvSpPr>
          <p:cNvPr id="9" name="Text 7"/>
          <p:cNvSpPr/>
          <p:nvPr/>
        </p:nvSpPr>
        <p:spPr>
          <a:xfrm>
            <a:off x="630936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WaitForFirstConsumer</a:t>
            </a:r>
            <a:endParaRPr lang="en-US" sz="1450" dirty="0"/>
          </a:p>
        </p:txBody>
      </p:sp>
      <p:sp>
        <p:nvSpPr>
          <p:cNvPr id="10" name="Text 8"/>
          <p:cNvSpPr/>
          <p:nvPr/>
        </p:nvSpPr>
        <p:spPr>
          <a:xfrm>
            <a:off x="630936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Provisioning is delayed until a Pod referencing the PVC is scheduled</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The scheduler picks the node FIRST, then the volume is created in a matching zone/topology</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Strongly recommended for any topology-aware storage (cloud block storage)</a:t>
            </a:r>
            <a:endParaRPr lang="en-US" sz="1400" dirty="0"/>
          </a:p>
        </p:txBody>
      </p:sp>
      <p:sp>
        <p:nvSpPr>
          <p:cNvPr id="11" name="Text 9"/>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2" name="Text 1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1</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STORAGE CLASSES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PVC Stuck in Pending Forever</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kubectl get pvc shows STATUS Pending indefinitely. No PersistentVolume ever gets created, and any Pod referencing the PVC also stays Pending.</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Most commonly: the PVC references a StorageClass name that doesn't exist (typo), or no default StorageClass exists and the PVC didn't specify one, or the provisioner itself is unhealthy/misconfigured.</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Check the exact StorageClass name referenced, confirm it exists, and check the provisioner's controller Pod logs for errors.</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get pvc &lt;name&gt; -o jsonpath='{.spec.storageClassName}'</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get storageclass</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describe pvc &lt;name&gt; | tail -10</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STORAGE CLASSES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Storage Classes — Quick Reference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StorageClass is a TEMPLATE for creating storage, not storage itself — it has no capacity of its own.</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get storageclass shows DEFAULT next to whichever class is currently the cluster default (if any).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Only one StorageClass should be marked default at a time — marking two as default causes ambiguous-default errors on PVCs that don't specify a class.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PVC with storageClassName: "" (empty string) explicitly requests NO dynamic provisioning — it will only bind to a pre-existing, statically-created PV.</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B</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Volume Types, Access Modes &amp; Reclaim Policies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How storage behaves once it's provisioned</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Storage · Volume types, access modes, reclaim policies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VOLUMES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Common Volume Types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377440"/>
                <a:gridCol w="3291840"/>
                <a:gridCol w="5212080"/>
              </a:tblGrid>
              <a:tr h="0">
                <a:tc>
                  <a:txBody>
                    <a:bodyPr/>
                    <a:lstStyle/>
                    <a:p>
                      <a:pPr algn="l" indent="0" marL="0">
                        <a:buNone/>
                      </a:pPr>
                      <a:r>
                        <a:rPr lang="en-US" sz="1300" b="1" dirty="0">
                          <a:solidFill>
                            <a:srgbClr val="FFFFFF"/>
                          </a:solidFill>
                        </a:rPr>
                        <a:t>Type</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Lifetime</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Typical Use</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E293B"/>
                          </a:solidFill>
                        </a:rPr>
                        <a:t>emptyDir</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Tied to the Pod's lifetime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Scratch space, shared cache between containers in one Pod</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hostPath</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Tied to the NODE, not the Pod</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Node-level access (rarely appropriate; security risk)</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E293B"/>
                          </a:solidFill>
                        </a:rPr>
                        <a:t>persistentVolumeClaim</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Independent of any Pod</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Durable application data (databases, uploads)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configMap / secret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Tied to the referenced object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Injecting configuration/credentials as files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E293B"/>
                          </a:solidFill>
                        </a:rPr>
                        <a:t>projected</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Combines multiple sources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Merging configMap + secret + downwardAPI into one mount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6" name="Text 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VOLUMES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Access Modes — What They Actually Mean</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3</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ReadWriteOnce (RWO) — the volume can be mounted read-write by a SINGLE node at a time (note: by node, not strictly by Pod — multiple Pods on the same node CAN share it).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ReadOnlyMany (ROX) — the volume can be mounted read-only by many nodes simultaneously.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ReadWriteMany (RWX) — the volume can be mounted read-write by many nodes simultaneously; requires storage backends that support it (NFS, CephFS, many cloud file services) — most block storage (EBS, most cloud disks) does NOT support RWX.</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ReadWriteOncePod (RWOP) — the strictest mode: guarantees the volume is mounted read-write by a SINGLE POD in the entire cluster, not just a single node. Newer addition, increasingly tested.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PV declares which access modes it SUPPORTS; a PVC requests which mode it NEEDS — binding requires the PV to support the PVC's requested mode.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VOLUMES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Reclaim Policies — What Happens When a PVC Is Deleted</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4</a:t>
            </a:r>
            <a:endParaRPr lang="en-US" sz="1600" dirty="0"/>
          </a:p>
        </p:txBody>
      </p:sp>
      <p:sp>
        <p:nvSpPr>
          <p:cNvPr id="7" name="Text 5"/>
          <p:cNvSpPr/>
          <p:nvPr/>
        </p:nvSpPr>
        <p:spPr>
          <a:xfrm>
            <a:off x="64008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Retain</a:t>
            </a:r>
            <a:endParaRPr lang="en-US" sz="1450" dirty="0"/>
          </a:p>
        </p:txBody>
      </p:sp>
      <p:sp>
        <p:nvSpPr>
          <p:cNvPr id="8" name="Text 6"/>
          <p:cNvSpPr/>
          <p:nvPr/>
        </p:nvSpPr>
        <p:spPr>
          <a:xfrm>
            <a:off x="64008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The PV and its underlying storage are KEPT after the PVC is deleted</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PV moves to Released status — not automatically reusable</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Admin must manually clean up and either delete or manually rebind the PV</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Safest option for critical data</a:t>
            </a:r>
            <a:endParaRPr lang="en-US" sz="1400" dirty="0"/>
          </a:p>
        </p:txBody>
      </p:sp>
      <p:sp>
        <p:nvSpPr>
          <p:cNvPr id="9" name="Text 7"/>
          <p:cNvSpPr/>
          <p:nvPr/>
        </p:nvSpPr>
        <p:spPr>
          <a:xfrm>
            <a:off x="630936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Delete (common dynamic-provisioning default)</a:t>
            </a:r>
            <a:endParaRPr lang="en-US" sz="1450" dirty="0"/>
          </a:p>
        </p:txBody>
      </p:sp>
      <p:sp>
        <p:nvSpPr>
          <p:cNvPr id="10" name="Text 8"/>
          <p:cNvSpPr/>
          <p:nvPr/>
        </p:nvSpPr>
        <p:spPr>
          <a:xfrm>
            <a:off x="630936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The PV AND the underlying storage are deleted automatically with the PVC</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Fast and convenient, but DESTRUCTIVE — data is gone</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Recycle — deprecated, do not use; was an early, insecure scrub-and-reuse mechanism</a:t>
            </a:r>
            <a:endParaRPr lang="en-US" sz="1400" dirty="0"/>
          </a:p>
        </p:txBody>
      </p:sp>
      <p:sp>
        <p:nvSpPr>
          <p:cNvPr id="11" name="Text 9"/>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2" name="Text 1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2</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VOLUMES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Important Data Was Lost After Deleting a PVC</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 team deletes a PVC during routine cleanup, expecting the underlying disk to remain. The data is gone, and the PV is also gone.</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The StorageClass (or the manually-created PV) had reclaimPolicy: Delete, which destroys the underlying storage automatically as soon as the bound PVC is deleted.</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For any PV/StorageClass holding genuinely critical data, set reclaimPolicy: Retain so a deleted PVC leaves the PV (and data) intact for manual recovery.</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patch pv &lt;pv-name&gt; -p '{"spec":{"persistentVolumeReclaimPolicy":"Retain"}}'</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VOLUMES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Expanding a PVC (Volume Resize)</a:t>
            </a:r>
            <a:endParaRPr lang="en-US" sz="2400" dirty="0"/>
          </a:p>
        </p:txBody>
      </p:sp>
      <p:sp>
        <p:nvSpPr>
          <p:cNvPr id="4" name="Shape 2"/>
          <p:cNvSpPr/>
          <p:nvPr/>
        </p:nvSpPr>
        <p:spPr>
          <a:xfrm>
            <a:off x="640080" y="1371600"/>
            <a:ext cx="10881360" cy="3776472"/>
          </a:xfrm>
          <a:prstGeom prst="roundRect">
            <a:avLst>
              <a:gd name="adj" fmla="val 1453"/>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447288"/>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 StorageClass must already have allowVolumeExpansion: true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edit pvc my-pvc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change spec.resources.requests.storage to a LARGER value, then save</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Watch the resize progress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get pvc my-pvc -w</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describe pvc my-pvc | grep -A3 Conditions</a:t>
            </a:r>
            <a:endParaRPr lang="en-US" sz="1350" dirty="0"/>
          </a:p>
        </p:txBody>
      </p:sp>
      <p:sp>
        <p:nvSpPr>
          <p:cNvPr id="6" name="Text 4"/>
          <p:cNvSpPr/>
          <p:nvPr/>
        </p:nvSpPr>
        <p:spPr>
          <a:xfrm>
            <a:off x="640080" y="5376672"/>
            <a:ext cx="10881360" cy="10241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Volumes can only be expanded, never shrunk, and only if the StorageClass explicitly allows it.</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Some volume types require the consuming Pod to be restarted for the filesystem to actually pick up the new size (filesystem expansion happens on next mount for some CSI drivers).</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C</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Manage Persistent Volumes &amp; Persistent Volume Claims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The binding contract between storage and Pods</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Storage · Persistent volumes and persistent volume claims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PV &amp; PVC</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PV / PVC / Pod Relationship</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5</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PersistentVolume (PV) — a cluster-scoped resource representing a real piece of storage, created either statically by an admin or dynamically by a StorageClass.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PersistentVolumeClaim (PVC) — a namespaced request for storage made by a user/application; binds to a PV that satisfies its size, access mode, and StorageClass requirements.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Pod — references a PVC by name in its volumes block; the Pod itself never references a PV directly.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Binding is 1:1 — once a PV binds to a PVC, that PV is exclusively reserved for that PVC and cannot be claimed by any other PVC.</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This is a deliberate indirection layer: app developers write Pod specs referencing PVCs without knowing or caring about the underlying storage implementation.</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PV &amp; PVC</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Statically Provisioning a PV</a:t>
            </a:r>
            <a:endParaRPr lang="en-US" sz="2400" dirty="0"/>
          </a:p>
        </p:txBody>
      </p:sp>
      <p:sp>
        <p:nvSpPr>
          <p:cNvPr id="4" name="Shape 2"/>
          <p:cNvSpPr/>
          <p:nvPr/>
        </p:nvSpPr>
        <p:spPr>
          <a:xfrm>
            <a:off x="640080" y="1371600"/>
            <a:ext cx="10881360" cy="3776472"/>
          </a:xfrm>
          <a:prstGeom prst="roundRect">
            <a:avLst>
              <a:gd name="adj" fmla="val 1453"/>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447288"/>
          </a:xfrm>
          <a:prstGeom prst="rect">
            <a:avLst/>
          </a:prstGeom>
          <a:noFill/>
          <a:ln/>
        </p:spPr>
        <p:txBody>
          <a:bodyPr wrap="square" lIns="0" tIns="0" rIns="0" bIns="0" rtlCol="0" anchor="t"/>
          <a:lstStyle/>
          <a:p>
            <a:pPr indent="0" marL="0">
              <a:buNone/>
            </a:pPr>
            <a:r>
              <a:rPr lang="en-US" sz="1150" dirty="0">
                <a:solidFill>
                  <a:srgbClr val="CFEFEA"/>
                </a:solidFill>
                <a:latin typeface="Courier New" pitchFamily="34" charset="0"/>
                <a:ea typeface="Courier New" pitchFamily="34" charset="-122"/>
                <a:cs typeface="Courier New" pitchFamily="34" charset="-120"/>
              </a:rPr>
              <a:t>apiVersion: v1</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kind: PersistentVolume</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metadata: { name: manual-pv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spec:</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capacity: { storage: 5Gi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accessModes: [ReadWriteOnce]</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persistentVolumeReclaimPolicy: Retain</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storageClassName: manual</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hostPath:</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path: /mnt/data</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apiVersion: v1</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kind: PersistentVolumeClaim</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metadata: { name: manual-pvc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spec:</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accessModes: [ReadWriteOnce]</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storageClassName: manual</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resources:</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requests: { storage: 5Gi }</a:t>
            </a:r>
            <a:endParaRPr lang="en-US" sz="1150" dirty="0"/>
          </a:p>
        </p:txBody>
      </p:sp>
      <p:sp>
        <p:nvSpPr>
          <p:cNvPr id="6" name="Text 4"/>
          <p:cNvSpPr/>
          <p:nvPr/>
        </p:nvSpPr>
        <p:spPr>
          <a:xfrm>
            <a:off x="640080" y="5376672"/>
            <a:ext cx="10881360" cy="10241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storageClassName: manual on BOTH objects (not the empty string) is one valid pattern for explicitly pairing a static PV with a specific PVC, while still going through normal binding logic.</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hostPath is used here purely for lab/demo purposes — never appropriate for real production persistent data.</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PV &amp; PVC</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PV Lifecycle Phases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6</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Available — a free resource, not yet bound to any PVC.</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Bound — the PV is bound to a specific PVC.</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Released — the PVC was deleted, but the PV's resource is not yet reclaimed (only happens with reclaimPolicy: Retain).</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Failed — automatic reclamation failed for some reason; requires manual admin intervention.</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get pv shows STATUS, CLAIM (which PVC it's bound to, if any), and the access mode/capacity at a glance.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3</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PV &amp; PVC</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PVC Binds to the Wrong (or No) PV</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 PVC remains Pending even though kubectl get pv shows an Available PV that LOOKS like it should match.</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 mismatch on one of the binding criteria: accessModes, storageClassName, or the PV's capacity being smaller than the PVC's request. ALL must match/satisfy for binding to occur, not just storage size.</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Compare every binding-relevant field side by side — storageClassName is an exact string match (including empty string vs. unset being different), accessModes must be a superset, capacity must be greater than or equal to the request.</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get pv &lt;name&gt; -o yaml | grep -E 'accessModes|storageClassName|storage:' -A2</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get pvc &lt;name&gt; -o yaml | grep -E 'accessModes|storageClassName|storage:' -A2</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PV &amp; PVC</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PV/PVC — Quick Reference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PVC Pending → check StorageClass existence first (dynamic), then accessModes/capacity/storageClassName matching (static).</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Data unexpectedly destroyed after PVC deletion → reclaimPolicy was Delete; should have been Retain for critical data.</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Want to resize → confirm allowVolumeExpansion: true on the StorageClass, then edit the PVC's storage request upward only.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Pod can't mount a volume → check the Pod's volumeMounts/volumes block references the correct PVC name, and check accessMode compatibility if multiple Pods share one PVC.</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D</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Troubleshoot Clusters and Nodes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When an entire node goes sideways</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Troubleshooting · Clusters and nodes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CLUSTER &amp; NODE TROUBLESHOOTING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Node Status Conditions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7</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get nodes shows a single overall STATUS (Ready / NotReady / SchedulingDisabled), but kubectl describe node shows the full Conditions list behind it.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Key conditions: Ready (kubelet healthy and able to accept Pods), MemoryPressure, DiskPressure, PIDPressure, NetworkUnavailable.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node can show Ready=True yet still have MemoryPressure=True — these are independent signals, and a True MemoryPressure/DiskPressure can trigger Pod eviction even on an otherwise Ready node.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NotReady most commonly means the kubelet on that node has stopped reporting heartbeats to the API server, within the configurable node-monitor-grace-period (default 40s).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CLUSTER &amp; NODE TROUBLESHOOTING</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Diagnosing a NotReady Node</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kubectl describe node &lt;node&gt; | grep -A10 Conditions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get events --field-selector involvedObject.name=&lt;node&gt;</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SSH onto the node itself:</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sudo systemctl status kubelet</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sudo journalctl -u kubelet -f --no-pager | tail -50</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Is the container runtime alive?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sudo systemctl status containerd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sudo crictl ps</a:t>
            </a:r>
            <a:endParaRPr lang="en-US" sz="13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journalctl -u kubelet is the single most valuable command for node-level troubleshooting — the kubelet logs nearly every failure reason in plain text.</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If containerd itself is down, the kubelet cannot start or manage any Pods, even though the kubelet process itself may still be running.</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4</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CLUSTER &amp; NODE TROUBLESHOOTING</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A Node Shows NotReady and Its Pods Are Stuck Terminating</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kubectl get nodes shows one node NotReady. Pods that were running on it show Terminating but never actually disappear, even after several minutes.</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The kubelet on that node has stopped communicating with the API server (crashed, network-partitioned, or the node is physically down) — so it can never confirm the Pods actually stopped, and the API server can't force-delete them without confirmation.</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If the node is confirmed unrecoverable, force-delete the stuck Pods so the scheduler can recreate them elsewhere; otherwise, fix and restart the kubelet on the node.</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delete pod &lt;pod&gt; --grace-period=0 --force</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sudo systemctl restart kubelet   # if recoverable</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CLUSTER &amp; NODE TROUBLESHOOTING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Static Pods &amp; the kubelet Manifest Path</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8</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Control-plane components (kube-apiserver, kube-scheduler, kube-controller-manager, etcd) run as STATIC PODS, managed directly by the kubelet from manifest files — not by the Deployment/ReplicaSet controllers.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Default static Pod manifest path: /etc/kubernetes/manifests — the kubelet watches this directory and reacts to any file add/edit/remove automatically.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If a control-plane component is crashing, editing (or even just touching) its manifest file in this directory is enough to trigger the kubelet to restart it — no kubectl apply needed or possible.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Static Pod names get a node-identifying suffix, e.g. kube-apiserver-controlplane1 — visible via kubectl get pods -n kube-system even though they aren't managed the normal way.</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E</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Troubleshoot Cluster Components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When the control plane itself misbehaves</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Troubleshooting · Cluster components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CLUSTER COMPONENTS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Where Each Control-Plane Component Logs</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743200"/>
                <a:gridCol w="4114800"/>
                <a:gridCol w="4023360"/>
              </a:tblGrid>
              <a:tr h="0">
                <a:tc>
                  <a:txBody>
                    <a:bodyPr/>
                    <a:lstStyle/>
                    <a:p>
                      <a:pPr algn="l" indent="0" marL="0">
                        <a:buNone/>
                      </a:pPr>
                      <a:r>
                        <a:rPr lang="en-US" sz="1300" b="1" dirty="0">
                          <a:solidFill>
                            <a:srgbClr val="FFFFFF"/>
                          </a:solidFill>
                        </a:rPr>
                        <a:t>Component</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Failure Symptom</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Where to Look</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E293B"/>
                          </a:solidFill>
                        </a:rPr>
                        <a:t>kube-apiserver</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kubectl commands time out or are refused</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kubectl logs kube-apiserver-&lt;node&gt; -n kube-system, or journalctl if not yet reachable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kube-scheduler</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Pods stay Pending despite available nodes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kubectl logs kube-scheduler-&lt;node&gt; -n kube-system</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E293B"/>
                          </a:solidFill>
                        </a:rPr>
                        <a:t>kube-controller-manager</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ReplicaSets don't reconcile, no new Pods created to replace failed ones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kubectl logs kube-controller-manager-&lt;node&gt; -n kube-system</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etcd</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Everything is slow or failing; API server can't read/write state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kubectl logs etcd-&lt;node&gt; -n kube-system; etcdctl endpoint health</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E293B"/>
                          </a:solidFill>
                        </a:rPr>
                        <a:t>kubelet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A single node's Pods all fail/can't start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journalctl -u kubelet (NOT a Pod — runs as a systemd service)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6" name="Text 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CLUSTER COMPONENTS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When kubectl Itself Won't Respond</a:t>
            </a:r>
            <a:endParaRPr lang="en-US" sz="2400" dirty="0"/>
          </a:p>
        </p:txBody>
      </p:sp>
      <p:sp>
        <p:nvSpPr>
          <p:cNvPr id="4" name="Text 2"/>
          <p:cNvSpPr/>
          <p:nvPr/>
        </p:nvSpPr>
        <p:spPr>
          <a:xfrm>
            <a:off x="640080" y="1143000"/>
            <a:ext cx="10881360" cy="41148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If kubectl commands hang or are refused entirely, the API server is the prime suspect.</a:t>
            </a:r>
            <a:endParaRPr lang="en-US" sz="1350" dirty="0"/>
          </a:p>
        </p:txBody>
      </p:sp>
      <p:sp>
        <p:nvSpPr>
          <p:cNvPr id="5" name="Shape 3"/>
          <p:cNvSpPr/>
          <p:nvPr/>
        </p:nvSpPr>
        <p:spPr>
          <a:xfrm>
            <a:off x="640080" y="1645920"/>
            <a:ext cx="10881360" cy="3502152"/>
          </a:xfrm>
          <a:prstGeom prst="roundRect">
            <a:avLst>
              <a:gd name="adj" fmla="val 1567"/>
            </a:avLst>
          </a:prstGeom>
          <a:solidFill>
            <a:srgbClr val="0B2330"/>
          </a:solidFill>
          <a:ln/>
          <a:effectLst>
            <a:outerShdw sx="100000" sy="100000" kx="0" ky="0" algn="bl" rotWithShape="0" blurRad="88900" dist="25400" dir="2700000">
              <a:srgbClr val="1B2A36">
                <a:alpha val="12000"/>
              </a:srgbClr>
            </a:outerShdw>
          </a:effectLst>
        </p:spPr>
      </p:sp>
      <p:sp>
        <p:nvSpPr>
          <p:cNvPr id="6" name="Text 4"/>
          <p:cNvSpPr/>
          <p:nvPr/>
        </p:nvSpPr>
        <p:spPr>
          <a:xfrm>
            <a:off x="868680" y="1810512"/>
            <a:ext cx="10424160" cy="3172968"/>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 On the control-plane node directly (kubectl may not work at all):</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sudo crictl ps -a | grep apiserver</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sudo crictl logs &lt;apiserver-container-id&gt;</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Check the static Pod manifest for typos/bad edits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cat /etc/kubernetes/manifests/kube-apiserver.yaml</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Confirm etcd is reachable, since the API server depends on it</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sudo ETCDCTL_API=3 etcdctl endpoint health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--endpoints=https://127.0.0.1:2379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--cacert=/etc/kubernetes/pki/etcd/ca.crt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--cert=/etc/kubernetes/pki/etcd/server.crt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--key=/etc/kubernetes/pki/etcd/server.key</a:t>
            </a:r>
            <a:endParaRPr lang="en-US" sz="1350" dirty="0"/>
          </a:p>
        </p:txBody>
      </p:sp>
      <p:sp>
        <p:nvSpPr>
          <p:cNvPr id="7" name="Text 5"/>
          <p:cNvSpPr/>
          <p:nvPr/>
        </p:nvSpPr>
        <p:spPr>
          <a:xfrm>
            <a:off x="640080" y="5376672"/>
            <a:ext cx="10881360" cy="10241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crictl is the CRI-level tool that works even when kubectl/the API server is completely unreachable — essential for this failure class.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A recently-edited kube-apiserver.yaml manifest with a typo is a classic, intentionally-injected exam scenario for this topic.</a:t>
            </a:r>
            <a:endParaRPr lang="en-US" sz="120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5</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CLUSTER COMPONENTS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kube-apiserver Pod Is CrashLoopBackOff</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kubectl commands all fail with connection refused. crictl ps on the control-plane node shows the kube-apiserver container repeatedly restarting.</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Almost always a recent edit to /etc/kubernetes/manifests/kube-apiserver.yaml introduced a typo, an invalid flag, or a bad certificate path — since this is the most common way this component breaks outside of an etcd outage.</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Read the container's crashing logs via crictl, locate the exact flag or path error, and correct the static Pod manifest — saving the file alone triggers the kubelet to retry.</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sudo crictl logs $(sudo crictl ps -a --name kube-apiserver -q | head -1)</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sudo vi /etc/kubernetes/manifests/kube-apiserver.yaml</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CLUSTER COMPONENTS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Cluster Components — Quick Reference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totally unresponsive → kube-apiserver or etcd; use crictl directly on the control-plane node, not kubectl.</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Pods stuck Pending with healthy nodes → check kube-scheduler logs.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Deleted Pods don't get replaced → check kube-controller-manager logs.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Everything slow, intermittent API errors → check etcd health and disk I/O on control-plane nodes.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All control-plane components are static Pods — fix them by editing manifests in /etc/kubernetes/manifests, never via kubectl edit.</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F</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Monitor Cluster and Application Resource Usage</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Seeing what's actually consuming CPU and memory</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Troubleshooting · Monitoring resource usage</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MONITORING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metrics-server — The Foundation</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9</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metrics-server is a lightweight, cluster-wide aggregator of CPU/memory usage, NOT a full monitoring solution (no historical data, no alerting) — it only shows CURRENT usage.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It powers kubectl top, and is also the data source the Horizontal Pod Autoscaler reads from by default (covered in Module 1).</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Not installed by default on a raw kubeadm cluster — must be deployed separately as an add-on.</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For historical metrics, dashboards, and alerting, real clusters layer Prometheus + Grafana on top — but the CKA exam focuses on metrics-server and kubectl top as the testable baseline.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MONITORING</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kubectl top — Live Resource Usage</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kubectl top nodes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top nodes --sort-by=cpu</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top pods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top pods --all-namespaces --sort-by=memory</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top pods -n kube-system --containers</a:t>
            </a:r>
            <a:endParaRPr lang="en-US" sz="13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--containers breaks usage down per-container within each Pod, useful for spotting which specific container in a multi-container Pod is the resource hog.</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If kubectl top returns 'error: Metrics API not available,' metrics-server is either not installed or not yet ready (it takes a short time to start collecting after install).</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6</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MONITORING</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kubectl top Returns 'Metrics API Not Available'</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Running kubectl top nodes or kubectl top pods fails immediately with an error about the metrics.k8s.io API not being available.</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metrics-server is either not installed at all, or its Pod is unhealthy (often due to TLS certificate verification issues against kubelets in lab/self-signed environments).</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Confirm metrics-server is deployed and Running; in lab clusters with self-signed kubelet certs, it commonly needs the --kubelet-insecure-tls flag added to its container args.</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get deployment metrics-server -n kube-system</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logs deployment/metrics-server -n kube-system | tail -20</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MONITORING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Correlating Resource Usage with Limits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10</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High usage shown by kubectl top is only a problem in relation to a Pod's configured requests/limits — always check both together.</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container sitting at or near its memory limit is at high risk of imminent OOMKill; check kubectl describe pod for a prior OOMKilled reason as confirming evidence.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container consistently hitting its CPU limit shows as throttled, not killed — visible as degraded application latency rather than restarts.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describe node &lt;node&gt; shows 'Allocated resources' — the sum of all Pod requests/limits scheduled on that node, useful for spotting overcommitment before it causes problems.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G</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Manage and Evaluate Container Output Streams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Logs are the first place to look, every time</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Troubleshooting · Container output streams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LOGS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How Container Logging Works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11</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Kubernetes captures whatever a container writes to STDOUT and STDERR — nothing more. Applications that log only to an internal file are invisible to kubectl logs unless that file is also streamed to stdout.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The container runtime (containerd/CRI-O) writes these streams to disk on the node; kubectl logs reads from there via the kubelet's API, not directly from the container.</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By default, logs from a CRASHED or PREVIOUSLY-RESTARTED container instance are not shown unless you explicitly ask for them — the current container's logs start fresh after each restart.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Log rotation/retention is node-level and NOT managed by Kubernetes itself by default — very old logs may simply be gone, especially on busy nodes.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LOGS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kubectl logs — Every Flag That Matters</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kubectl logs my-pod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logs my-pod -c my-container        # multi-container Pod: name required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logs my-pod --previous              # logs from the PRIOR crashed instance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logs my-pod -f                       # follow/stream in real time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logs my-pod --since=10m              # only the last 10 minutes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logs my-pod --tail=50                # last 50 lines only</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logs -l app=web-app --all-containers  # logs across many Pods by label</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logs my-pod -p                        # shorthand for --previous</a:t>
            </a:r>
            <a:endParaRPr lang="en-US" sz="13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--previous is the single highest-value flag for diagnosing CrashLoopBackOff — the CURRENT container instance may not have produced any useful logs yet.</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kubectl logs -l &lt;selector&gt; --all-containers (or with -f for streaming) is the fastest way to tail logs across an entire Deployment's Pods at once.</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7</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LOGS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kubectl logs Returns Empty for a Crashing Pod</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 Pod is in CrashLoopBackOff. kubectl logs &lt;pod&gt; returns nothing useful, or an error like 'previous terminated container ... not found.'</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The CURRENT container instance crashed before writing any output, while the actually-useful logs belong to the PREVIOUS (already-replaced) instance, which kubectl logs does not show by default.</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Always add --previous when investigating a crash loop; if that's also empty, check kubectl describe pod's Events for an earlier-stage failure (e.g. the container never even started).</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logs &lt;pod&gt; --previous</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describe pod &lt;pod&gt; | grep -A15 Events</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LOGS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Multi-Container &amp; Init Container Logs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12</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multi-container Pod REQUIRES -c &lt;container-name&gt; on kubectl logs — omitting it errors out (unless there's only one container) rather than guessing.</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Init container logs are retrieved the same way, by name: kubectl logs &lt;pod&gt; -c &lt;init-container-name&gt; — essential for diagnosing a Pod stuck in Init:0/1.</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logs only ever shows ONE container's stream at a time (except with -l --all-containers across multiple Pods); there's no built-in interleaved multi-container view.</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For ephemeral/short-lived debugging without modifying the Pod spec, kubectl debug can attach an ephemeral container to a running Pod for live inspection — covers cases kubectl exec alone can't (e.g. a distroless image with no shell).</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H</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Troubleshoot Services and Networking</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Bringing Module 2's networking knowledge into a systematic diagnostic flow</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Troubleshooting · Services and networking</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 &amp; NETWORKING TROUBLESHOOTING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Complete Diagnostic Funnel</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13</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This module's troubleshooting domain and Module 2's networking domain overlap heavily — the exam tests the SAME concepts, framed as 'something is broken, fix it' rather than 'configure this from scratch.'</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The funnel, from most to least likely root cause: (1) Service selector / Pod labels, (2) Endpoints populated and correct, (3) NetworkPolicy blocking traffic, (4) DNS resolution, (5) kube-proxy / CNI itself.</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Working through this funnel IN ORDER, rather than jumping around, is what separates an efficient exam pass from running out of time on a single troubleshooting task.</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 &amp; NETWORKING TROUBLESHOOTING</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The Full Diagnostic Script</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250" dirty="0">
                <a:solidFill>
                  <a:srgbClr val="CFEFEA"/>
                </a:solidFill>
                <a:latin typeface="Courier New" pitchFamily="34" charset="0"/>
                <a:ea typeface="Courier New" pitchFamily="34" charset="-122"/>
                <a:cs typeface="Courier New" pitchFamily="34" charset="-120"/>
              </a:rPr>
              <a:t># 1. Selector match?</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kubectl get svc &lt;svc&gt; -o jsonpath='{.spec.selector}'</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kubectl get pods --show-labels</a:t>
            </a:r>
            <a:endParaRPr lang="en-US" sz="1250" dirty="0"/>
          </a:p>
          <a:p>
            <a:pPr indent="0" marL="0">
              <a:buNone/>
            </a:pP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2. Endpoints populated?</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kubectl get endpoints &lt;svc&gt;</a:t>
            </a:r>
            <a:endParaRPr lang="en-US" sz="1250" dirty="0"/>
          </a:p>
          <a:p>
            <a:pPr indent="0" marL="0">
              <a:buNone/>
            </a:pP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3. NetworkPolicy in the way?</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kubectl get networkpolicy -n &lt;namespace&gt;</a:t>
            </a:r>
            <a:endParaRPr lang="en-US" sz="1250" dirty="0"/>
          </a:p>
          <a:p>
            <a:pPr indent="0" marL="0">
              <a:buNone/>
            </a:pP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4. DNS resolving?</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kubectl exec -it &lt;pod&gt; -- nslookup &lt;svc&gt;</a:t>
            </a:r>
            <a:endParaRPr lang="en-US" sz="1250" dirty="0"/>
          </a:p>
          <a:p>
            <a:pPr indent="0" marL="0">
              <a:buNone/>
            </a:pP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5. kube-proxy healthy on the relevant node?</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kubectl get pods -n kube-system -l k8s-app=kube-proxy</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kubectl logs -n kube-system &lt;kube-proxy-pod&gt;</a:t>
            </a:r>
            <a:endParaRPr lang="en-US" sz="12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This exact 5-step script, memorized, is one of the highest-leverage things to walk into the exam with — it resolves the large majority of connectivity tasks.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kube-proxy issues are rare but do happen (e.g. a node where the kube-proxy DaemonSet Pod itself crashed) — it's step 5, not step 1, for a reason: check it last.</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8</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SERVICES &amp; NETWORKING TROUBLESHOOTING</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One Specific Node Can't Reach Any Services</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Pods on most nodes can reach a given Service fine. Pods scheduled specifically on ONE node consistently fail to reach ANY ClusterIP Service.</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kube-proxy is unhealthy or not running on that specific node — since kube-proxy (or the CNI's eBPF equivalent) is what programs the iptables/IPVS rules that make Service IPs routable on each node individually.</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Check the kube-proxy DaemonSet Pod scheduled on that specific node; restart it if crashed, and check its logs for rule-programming errors.</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get pods -n kube-system -l k8s-app=kube-proxy -o wide | grep &lt;node-name&gt;</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delete pod &lt;kube-proxy-pod&gt; -n kube-system   # DaemonSet recreates it</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 &amp; NETWORKING TROUBLESHOOTING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Module 3 — Troubleshooting Master Checklist</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Pod-level issue → kubectl describe pod (Events) and kubectl logs --previous, in that order.</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Node-level issue → kubectl describe node (Conditions), then journalctl -u kubelet on the node itself.</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Control-plane issue → identify which static Pod component, check its logs via crictl if kubectl is unreachable, edit its manifest in /etc/kubernetes/manifests to fix.</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Connectivity issue → the 5-step funnel: selector → Endpoints → NetworkPolicy → DNS → kube-proxy/CNI.</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Storage issue → PVC Pending: check StorageClass first; data loss: check reclaimPolicy after the fact (too late to prevent, but explains what happened).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In every case: read the Events section before guessing — Kubernetes almost always tells you exactly what's wrong in plain English.</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Q</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Sample Certification-Style Questions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Study aids modeled on real CKA performance-task themes</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Note: the live CKA exam is 100% hands-on terminal tasks — these multiple-choice items are for concept review only</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Q1</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Storage Classes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 PVC requesting storageClassName: fast-ssd stays Pending indefinitely. kubectl get storageclass shows no class named fast-ssd exists. What is the correct fix?</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Delete and recreate the PVC with no storageClassName specified</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Create a StorageClass named fast-ssd with an appropriate provisioner, or correct the typo in the PVC</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Manually create a PersistentVolume of any size</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Restart the kube-controller-manager</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A PVC referencing a non-existent StorageClass name will never bind via dynamic provisioning. The fix is to either create the missing StorageClass (if it was genuinely supposed to exist) or correct a typo in the PVC's storageClassName field to match an existing class.</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Q2</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Reclaim Policies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An admin needs a PersistentVolume's underlying storage to survive even after its bound PVC is deleted, requiring manual cleanup. Which reclaimPolicy should be set?</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Delete</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Retain</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Recycle</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Preserve</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Retain keeps both the PV object (moved to Released status) and its underlying storage intact after the PVC is deleted, requiring an admin to manually handle cleanup or reuse. Delete destroys both automatically. Recycle is deprecated. Preserve is not a real reclaimPolicy value.</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Q3</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Access Modes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An application requires multiple Pods, potentially on different nodes, to simultaneously read AND write to the same volume. Which access mode is required?</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ReadWriteOnce</a:t>
            </a:r>
            <a:endParaRPr lang="en-US" sz="1350" dirty="0"/>
          </a:p>
        </p:txBody>
      </p:sp>
      <p:sp>
        <p:nvSpPr>
          <p:cNvPr id="8" name="Shape 6"/>
          <p:cNvSpPr/>
          <p:nvPr/>
        </p:nvSpPr>
        <p:spPr>
          <a:xfrm>
            <a:off x="640080" y="2734056"/>
            <a:ext cx="10881360" cy="566928"/>
          </a:xfrm>
          <a:prstGeom prst="roundRect">
            <a:avLst>
              <a:gd name="adj" fmla="val 9677"/>
            </a:avLst>
          </a:prstGeom>
          <a:solidFill>
            <a:srgbClr val="EAF4F8"/>
          </a:solidFill>
          <a:ln w="9525">
            <a:solidFill>
              <a:srgbClr val="D7E3E8"/>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ReadOnlyMany</a:t>
            </a:r>
            <a:endParaRPr lang="en-US" sz="1350" dirty="0"/>
          </a:p>
        </p:txBody>
      </p:sp>
      <p:sp>
        <p:nvSpPr>
          <p:cNvPr id="10" name="Shape 8"/>
          <p:cNvSpPr/>
          <p:nvPr/>
        </p:nvSpPr>
        <p:spPr>
          <a:xfrm>
            <a:off x="640080" y="3410712"/>
            <a:ext cx="10881360" cy="566928"/>
          </a:xfrm>
          <a:prstGeom prst="roundRect">
            <a:avLst>
              <a:gd name="adj" fmla="val 9677"/>
            </a:avLst>
          </a:prstGeom>
          <a:solidFill>
            <a:srgbClr val="E7F5EC"/>
          </a:solidFill>
          <a:ln w="19050">
            <a:solidFill>
              <a:srgbClr val="15803D"/>
            </a:solidFill>
            <a:prstDash val="solid"/>
          </a:ln>
        </p:spPr>
      </p:sp>
      <p:sp>
        <p:nvSpPr>
          <p:cNvPr id="11" name="Text 9"/>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ReadWriteMany</a:t>
            </a:r>
            <a:endParaRPr lang="en-US" sz="1350" dirty="0"/>
          </a:p>
        </p:txBody>
      </p:sp>
      <p:sp>
        <p:nvSpPr>
          <p:cNvPr id="12" name="Text 10"/>
          <p:cNvSpPr/>
          <p:nvPr/>
        </p:nvSpPr>
        <p:spPr>
          <a:xfrm>
            <a:off x="10058400" y="3410712"/>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ReadWriteOncePod</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ReadWriteMany (RWX) is the only mode allowing simultaneous read-write access from multiple nodes. ReadWriteOnce is limited to a single node; ReadOnlyMany is read-only; ReadWriteOncePod is even stricter than RWO, limiting to a single Pod cluster-wide. Note that RWX requires a storage backend that supports it (e.g. NFS), not all volume types do.</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Q4</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Node Troubleshooting</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 node shows STATUS NotReady. Pods that were running on it show Terminating but never fully disappear. What is the most likely explanation?</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The Pods have an invalid YAML</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The node's kubelet has stopped communicating with the API server, so deletion can't be confirmed</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The Service routing to those Pods is misconfigured</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The Pods exceeded their memory limit</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When a node's kubelet stops reporting to the API server, the control plane cannot confirm that Pods on that node have actually stopped, so it cannot safely complete their deletion. This is why Pods appear stuck in Terminating rather than disappearing -- not a YAML, Service, or resource-limit issue.</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Q5</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Cluster Components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kubectl commands return 'connection refused' cluster-wide. Where should you look FIRST on the control-plane node?</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kubectl describe deployment in kube-system</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crictl ps to check whether the kube-apiserver static Pod container is running</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kubectl get events --all-namespaces</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The CNI plugin's DaemonSet logs</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If kubectl itself can't connect, you cannot rely on any kubectl command to diagnose the problem -- including kubectl describe or kubectl get events. crictl operates at the container-runtime level directly and works even when the API server is completely down, making it the correct first tool.</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Q6</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Monitoring</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kubectl top pods fails with an error that the metrics API is not available. What is the most likely cause?</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The Pods don't have resources.requests set</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metrics-server is not installed or not yet healthy in the cluster</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The HorizontalPodAutoscaler is misconfigured</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RBAC is blocking the current user</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kubectl top depends entirely on metrics-server being installed and healthy to expose the metrics.k8s.io API. Missing resources.requests affects HPA percentage calculations, not whether kubectl top works at all; this is a distractor relevant to a different but related exam topic.</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Q7</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Container Logs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 Pod is in CrashLoopBackOff. kubectl logs &lt;pod&gt; shows nothing useful. What should you try next?</a:t>
            </a:r>
            <a:endParaRPr lang="en-US" sz="1800" dirty="0"/>
          </a:p>
        </p:txBody>
      </p:sp>
      <p:sp>
        <p:nvSpPr>
          <p:cNvPr id="6" name="Shape 4"/>
          <p:cNvSpPr/>
          <p:nvPr/>
        </p:nvSpPr>
        <p:spPr>
          <a:xfrm>
            <a:off x="640080" y="2057400"/>
            <a:ext cx="10881360" cy="566928"/>
          </a:xfrm>
          <a:prstGeom prst="roundRect">
            <a:avLst>
              <a:gd name="adj" fmla="val 9677"/>
            </a:avLst>
          </a:prstGeom>
          <a:solidFill>
            <a:srgbClr val="E7F5EC"/>
          </a:solidFill>
          <a:ln w="19050">
            <a:solidFill>
              <a:srgbClr val="15803D"/>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kubectl logs &lt;pod&gt; --previous</a:t>
            </a:r>
            <a:endParaRPr lang="en-US" sz="1350" dirty="0"/>
          </a:p>
        </p:txBody>
      </p:sp>
      <p:sp>
        <p:nvSpPr>
          <p:cNvPr id="8" name="Text 6"/>
          <p:cNvSpPr/>
          <p:nvPr/>
        </p:nvSpPr>
        <p:spPr>
          <a:xfrm>
            <a:off x="10058400" y="2057400"/>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9" name="Shape 7"/>
          <p:cNvSpPr/>
          <p:nvPr/>
        </p:nvSpPr>
        <p:spPr>
          <a:xfrm>
            <a:off x="640080" y="2734056"/>
            <a:ext cx="10881360" cy="566928"/>
          </a:xfrm>
          <a:prstGeom prst="roundRect">
            <a:avLst>
              <a:gd name="adj" fmla="val 9677"/>
            </a:avLst>
          </a:prstGeom>
          <a:solidFill>
            <a:srgbClr val="EAF4F8"/>
          </a:solidFill>
          <a:ln w="9525">
            <a:solidFill>
              <a:srgbClr val="D7E3E8"/>
            </a:solidFill>
            <a:prstDash val="solid"/>
          </a:ln>
        </p:spPr>
      </p:sp>
      <p:sp>
        <p:nvSpPr>
          <p:cNvPr id="10" name="Text 8"/>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kubectl delete pod &lt;pod&gt; and recreate it</a:t>
            </a:r>
            <a:endParaRPr lang="en-US" sz="135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kubectl edit deployment to increase replicas</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kubectl scale deployment --replicas=0 then back up</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The currently running container instance may have crashed too quickly to produce useful logs, while the genuinely informative logs belong to the PREVIOUS instance. --previous retrieves logs from the last terminated container, which is the standard next step for diagnosing crash loops.</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Q8</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Services &amp; Networking Troubleshooting</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Pods on every node except one can reach a ClusterIP Service normally. Pods on that one specific node consistently fail to reach any ClusterIP Service. What should you check?</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The Service's selector</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Whether kube-proxy is healthy on that specific node</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The Deployment's replica count</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The PersistentVolumeClaim bound to the Service</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A connectivity problem isolated to ONE node, while working everywhere else, points at something node-local -- specifically kube-proxy (or the CNI's equivalent), which programs the routing rules that make Service IPs reachable on each node individually. A Service selector issue would affect ALL nodes equally, not just one.</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P</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Classroom Practice Lab Questions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Hands-on exercises — work these on a real or sandbox cluster</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Instructor note: these mirror the performance-based task style of the real CKA exam</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PRACTICE LAB</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How to Use This Practice Set</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i</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Use the same kubeadm lab cluster from Modules 1-2; install a dynamic-provisioning-capable StorageClass (e.g. rancher.io/local-path on a kind/minikube-style lab, or your cloud's CSI driver).</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Install metrics-server before starting Set 3 (Monitoring) — budget 10 minutes for this as a one-time setup step.</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For troubleshooting questions, deliberately break things yourself first (delete a manifest line, scale something to 0, mistype a selector) before practicing the diagnosis — this builds real pattern recognition.</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Time-box every task to 5-10 minutes, matching real exam pace.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After each fix, re-verify with a fresh kubectl get/describe rather than assuming the fix worked.</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0" cy="384048"/>
          </a:xfrm>
          <a:prstGeom prst="roundRect">
            <a:avLst>
              <a:gd name="adj" fmla="val 50000"/>
            </a:avLst>
          </a:prstGeom>
          <a:solidFill>
            <a:srgbClr val="1C7293"/>
          </a:solidFill>
          <a:ln/>
        </p:spPr>
      </p:sp>
      <p:sp>
        <p:nvSpPr>
          <p:cNvPr id="3" name="Text 1"/>
          <p:cNvSpPr/>
          <p:nvPr/>
        </p:nvSpPr>
        <p:spPr>
          <a:xfrm>
            <a:off x="640080" y="36576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1</a:t>
            </a:r>
            <a:endParaRPr lang="en-US" sz="1200" dirty="0"/>
          </a:p>
        </p:txBody>
      </p:sp>
      <p:sp>
        <p:nvSpPr>
          <p:cNvPr id="4" name="Text 2"/>
          <p:cNvSpPr/>
          <p:nvPr/>
        </p:nvSpPr>
        <p:spPr>
          <a:xfrm>
            <a:off x="3154680" y="365760"/>
            <a:ext cx="8412480" cy="38404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Storage Classes, Volumes &amp; Reclaim Policies</a:t>
            </a:r>
            <a:endParaRPr lang="en-US" sz="1600" dirty="0"/>
          </a:p>
        </p:txBody>
      </p:sp>
      <p:sp>
        <p:nvSpPr>
          <p:cNvPr id="5" name="Text 3"/>
          <p:cNvSpPr/>
          <p:nvPr/>
        </p:nvSpPr>
        <p:spPr>
          <a:xfrm>
            <a:off x="640080" y="868680"/>
            <a:ext cx="1088136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Estimated time: 40-55 minutes for the full set</a:t>
            </a:r>
            <a:endParaRPr lang="en-US" sz="1250" dirty="0"/>
          </a:p>
        </p:txBody>
      </p:sp>
      <p:sp>
        <p:nvSpPr>
          <p:cNvPr id="6" name="Shape 4"/>
          <p:cNvSpPr/>
          <p:nvPr/>
        </p:nvSpPr>
        <p:spPr>
          <a:xfrm>
            <a:off x="640080" y="1604010"/>
            <a:ext cx="365760" cy="365760"/>
          </a:xfrm>
          <a:prstGeom prst="ellipse">
            <a:avLst/>
          </a:prstGeom>
          <a:solidFill>
            <a:srgbClr val="065A82"/>
          </a:solidFill>
          <a:ln/>
        </p:spPr>
      </p:sp>
      <p:sp>
        <p:nvSpPr>
          <p:cNvPr id="7" name="Text 5"/>
          <p:cNvSpPr/>
          <p:nvPr/>
        </p:nvSpPr>
        <p:spPr>
          <a:xfrm>
            <a:off x="640080" y="16040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3716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StorageClass with a dynamic provisioner available in your lab, set as the cluster default, and confirm with kubectl get storageclass.</a:t>
            </a:r>
            <a:endParaRPr lang="en-US" sz="1300" dirty="0"/>
          </a:p>
        </p:txBody>
      </p:sp>
      <p:sp>
        <p:nvSpPr>
          <p:cNvPr id="9" name="Shape 7"/>
          <p:cNvSpPr/>
          <p:nvPr/>
        </p:nvSpPr>
        <p:spPr>
          <a:xfrm>
            <a:off x="640080" y="2183892"/>
            <a:ext cx="10881360" cy="0"/>
          </a:xfrm>
          <a:prstGeom prst="line">
            <a:avLst/>
          </a:prstGeom>
          <a:noFill/>
          <a:ln w="6350">
            <a:solidFill>
              <a:srgbClr val="D7E3E8"/>
            </a:solidFill>
            <a:prstDash val="solid"/>
          </a:ln>
        </p:spPr>
      </p:sp>
      <p:sp>
        <p:nvSpPr>
          <p:cNvPr id="10" name="Shape 8"/>
          <p:cNvSpPr/>
          <p:nvPr/>
        </p:nvSpPr>
        <p:spPr>
          <a:xfrm>
            <a:off x="640080" y="2434590"/>
            <a:ext cx="365760" cy="365760"/>
          </a:xfrm>
          <a:prstGeom prst="ellipse">
            <a:avLst/>
          </a:prstGeom>
          <a:solidFill>
            <a:srgbClr val="065A82"/>
          </a:solidFill>
          <a:ln/>
        </p:spPr>
      </p:sp>
      <p:sp>
        <p:nvSpPr>
          <p:cNvPr id="11" name="Text 9"/>
          <p:cNvSpPr/>
          <p:nvPr/>
        </p:nvSpPr>
        <p:spPr>
          <a:xfrm>
            <a:off x="640080" y="243459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0218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PVC with no storageClassName specified and confirm it dynamically binds to the default class automatically.</a:t>
            </a:r>
            <a:endParaRPr lang="en-US" sz="1300" dirty="0"/>
          </a:p>
        </p:txBody>
      </p:sp>
      <p:sp>
        <p:nvSpPr>
          <p:cNvPr id="13" name="Shape 11"/>
          <p:cNvSpPr/>
          <p:nvPr/>
        </p:nvSpPr>
        <p:spPr>
          <a:xfrm>
            <a:off x="640080" y="3014472"/>
            <a:ext cx="10881360" cy="0"/>
          </a:xfrm>
          <a:prstGeom prst="line">
            <a:avLst/>
          </a:prstGeom>
          <a:noFill/>
          <a:ln w="6350">
            <a:solidFill>
              <a:srgbClr val="D7E3E8"/>
            </a:solidFill>
            <a:prstDash val="solid"/>
          </a:ln>
        </p:spPr>
      </p:sp>
      <p:sp>
        <p:nvSpPr>
          <p:cNvPr id="14" name="Shape 12"/>
          <p:cNvSpPr/>
          <p:nvPr/>
        </p:nvSpPr>
        <p:spPr>
          <a:xfrm>
            <a:off x="640080" y="3265170"/>
            <a:ext cx="365760" cy="365760"/>
          </a:xfrm>
          <a:prstGeom prst="ellipse">
            <a:avLst/>
          </a:prstGeom>
          <a:solidFill>
            <a:srgbClr val="065A82"/>
          </a:solidFill>
          <a:ln/>
        </p:spPr>
      </p:sp>
      <p:sp>
        <p:nvSpPr>
          <p:cNvPr id="15" name="Text 13"/>
          <p:cNvSpPr/>
          <p:nvPr/>
        </p:nvSpPr>
        <p:spPr>
          <a:xfrm>
            <a:off x="640080" y="326517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03276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second StorageClass with reclaimPolicy: Retain; provision a PVC against it, delete the PVC, and confirm the PV moves to Released rather than disappearing.</a:t>
            </a:r>
            <a:endParaRPr lang="en-US" sz="1300" dirty="0"/>
          </a:p>
        </p:txBody>
      </p:sp>
      <p:sp>
        <p:nvSpPr>
          <p:cNvPr id="17" name="Shape 15"/>
          <p:cNvSpPr/>
          <p:nvPr/>
        </p:nvSpPr>
        <p:spPr>
          <a:xfrm>
            <a:off x="640080" y="3845052"/>
            <a:ext cx="10881360" cy="0"/>
          </a:xfrm>
          <a:prstGeom prst="line">
            <a:avLst/>
          </a:prstGeom>
          <a:noFill/>
          <a:ln w="6350">
            <a:solidFill>
              <a:srgbClr val="D7E3E8"/>
            </a:solidFill>
            <a:prstDash val="solid"/>
          </a:ln>
        </p:spPr>
      </p:sp>
      <p:sp>
        <p:nvSpPr>
          <p:cNvPr id="18" name="Shape 16"/>
          <p:cNvSpPr/>
          <p:nvPr/>
        </p:nvSpPr>
        <p:spPr>
          <a:xfrm>
            <a:off x="640080" y="4095750"/>
            <a:ext cx="365760" cy="365760"/>
          </a:xfrm>
          <a:prstGeom prst="ellipse">
            <a:avLst/>
          </a:prstGeom>
          <a:solidFill>
            <a:srgbClr val="065A82"/>
          </a:solidFill>
          <a:ln/>
        </p:spPr>
      </p:sp>
      <p:sp>
        <p:nvSpPr>
          <p:cNvPr id="19" name="Text 17"/>
          <p:cNvSpPr/>
          <p:nvPr/>
        </p:nvSpPr>
        <p:spPr>
          <a:xfrm>
            <a:off x="640080" y="409575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6334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Statically create a PV and a matching PVC using accessModes: [ReadWriteOnce] and storageClassName: manual; mount it into a Pod and write a test file to confirm it works.</a:t>
            </a:r>
            <a:endParaRPr lang="en-US" sz="1300" dirty="0"/>
          </a:p>
        </p:txBody>
      </p:sp>
      <p:sp>
        <p:nvSpPr>
          <p:cNvPr id="21" name="Shape 19"/>
          <p:cNvSpPr/>
          <p:nvPr/>
        </p:nvSpPr>
        <p:spPr>
          <a:xfrm>
            <a:off x="640080" y="4675632"/>
            <a:ext cx="10881360" cy="0"/>
          </a:xfrm>
          <a:prstGeom prst="line">
            <a:avLst/>
          </a:prstGeom>
          <a:noFill/>
          <a:ln w="6350">
            <a:solidFill>
              <a:srgbClr val="D7E3E8"/>
            </a:solidFill>
            <a:prstDash val="solid"/>
          </a:ln>
        </p:spPr>
      </p:sp>
      <p:sp>
        <p:nvSpPr>
          <p:cNvPr id="22" name="Shape 20"/>
          <p:cNvSpPr/>
          <p:nvPr/>
        </p:nvSpPr>
        <p:spPr>
          <a:xfrm>
            <a:off x="640080" y="4926330"/>
            <a:ext cx="365760" cy="365760"/>
          </a:xfrm>
          <a:prstGeom prst="ellipse">
            <a:avLst/>
          </a:prstGeom>
          <a:solidFill>
            <a:srgbClr val="065A82"/>
          </a:solidFill>
          <a:ln/>
        </p:spPr>
      </p:sp>
      <p:sp>
        <p:nvSpPr>
          <p:cNvPr id="23" name="Text 21"/>
          <p:cNvSpPr/>
          <p:nvPr/>
        </p:nvSpPr>
        <p:spPr>
          <a:xfrm>
            <a:off x="640080" y="492633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9392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Deliberately create a PVC requesting an access mode no available PV supports (e.g. ReadWriteMany against block storage); observe and explain the resulting Pending state.</a:t>
            </a:r>
            <a:endParaRPr lang="en-US" sz="1300" dirty="0"/>
          </a:p>
        </p:txBody>
      </p:sp>
      <p:sp>
        <p:nvSpPr>
          <p:cNvPr id="25" name="Shape 23"/>
          <p:cNvSpPr/>
          <p:nvPr/>
        </p:nvSpPr>
        <p:spPr>
          <a:xfrm>
            <a:off x="640080" y="5506212"/>
            <a:ext cx="10881360" cy="0"/>
          </a:xfrm>
          <a:prstGeom prst="line">
            <a:avLst/>
          </a:prstGeom>
          <a:noFill/>
          <a:ln w="6350">
            <a:solidFill>
              <a:srgbClr val="D7E3E8"/>
            </a:solidFill>
            <a:prstDash val="solid"/>
          </a:ln>
        </p:spPr>
      </p:sp>
      <p:sp>
        <p:nvSpPr>
          <p:cNvPr id="26" name="Shape 24"/>
          <p:cNvSpPr/>
          <p:nvPr/>
        </p:nvSpPr>
        <p:spPr>
          <a:xfrm>
            <a:off x="640080" y="5756910"/>
            <a:ext cx="365760" cy="365760"/>
          </a:xfrm>
          <a:prstGeom prst="ellipse">
            <a:avLst/>
          </a:prstGeom>
          <a:solidFill>
            <a:srgbClr val="065A82"/>
          </a:solidFill>
          <a:ln/>
        </p:spPr>
      </p:sp>
      <p:sp>
        <p:nvSpPr>
          <p:cNvPr id="27" name="Text 25"/>
          <p:cNvSpPr/>
          <p:nvPr/>
        </p:nvSpPr>
        <p:spPr>
          <a:xfrm>
            <a:off x="640080" y="57569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245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Expand an existing PVC's storage request (with allowVolumeExpansion: true on its class) and confirm the new size is reflected.</a:t>
            </a:r>
            <a:endParaRPr lang="en-US" sz="1300" dirty="0"/>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0" cy="384048"/>
          </a:xfrm>
          <a:prstGeom prst="roundRect">
            <a:avLst>
              <a:gd name="adj" fmla="val 50000"/>
            </a:avLst>
          </a:prstGeom>
          <a:solidFill>
            <a:srgbClr val="1C7293"/>
          </a:solidFill>
          <a:ln/>
        </p:spPr>
      </p:sp>
      <p:sp>
        <p:nvSpPr>
          <p:cNvPr id="3" name="Text 1"/>
          <p:cNvSpPr/>
          <p:nvPr/>
        </p:nvSpPr>
        <p:spPr>
          <a:xfrm>
            <a:off x="640080" y="36576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2</a:t>
            </a:r>
            <a:endParaRPr lang="en-US" sz="1200" dirty="0"/>
          </a:p>
        </p:txBody>
      </p:sp>
      <p:sp>
        <p:nvSpPr>
          <p:cNvPr id="4" name="Text 2"/>
          <p:cNvSpPr/>
          <p:nvPr/>
        </p:nvSpPr>
        <p:spPr>
          <a:xfrm>
            <a:off x="3154680" y="365760"/>
            <a:ext cx="8412480" cy="38404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Cluster, Node &amp; Component Troubleshooting</a:t>
            </a:r>
            <a:endParaRPr lang="en-US" sz="1600" dirty="0"/>
          </a:p>
        </p:txBody>
      </p:sp>
      <p:sp>
        <p:nvSpPr>
          <p:cNvPr id="5" name="Text 3"/>
          <p:cNvSpPr/>
          <p:nvPr/>
        </p:nvSpPr>
        <p:spPr>
          <a:xfrm>
            <a:off x="640080" y="868680"/>
            <a:ext cx="1088136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Estimated time: 45-60 minutes for the full set</a:t>
            </a:r>
            <a:endParaRPr lang="en-US" sz="1250" dirty="0"/>
          </a:p>
        </p:txBody>
      </p:sp>
      <p:sp>
        <p:nvSpPr>
          <p:cNvPr id="6" name="Shape 4"/>
          <p:cNvSpPr/>
          <p:nvPr/>
        </p:nvSpPr>
        <p:spPr>
          <a:xfrm>
            <a:off x="640080" y="1604010"/>
            <a:ext cx="365760" cy="365760"/>
          </a:xfrm>
          <a:prstGeom prst="ellipse">
            <a:avLst/>
          </a:prstGeom>
          <a:solidFill>
            <a:srgbClr val="065A82"/>
          </a:solidFill>
          <a:ln/>
        </p:spPr>
      </p:sp>
      <p:sp>
        <p:nvSpPr>
          <p:cNvPr id="7" name="Text 5"/>
          <p:cNvSpPr/>
          <p:nvPr/>
        </p:nvSpPr>
        <p:spPr>
          <a:xfrm>
            <a:off x="640080" y="16040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3716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Stop the kubelet service on a worker node, observe the node transition to NotReady, then restart it and confirm recovery.</a:t>
            </a:r>
            <a:endParaRPr lang="en-US" sz="1300" dirty="0"/>
          </a:p>
        </p:txBody>
      </p:sp>
      <p:sp>
        <p:nvSpPr>
          <p:cNvPr id="9" name="Shape 7"/>
          <p:cNvSpPr/>
          <p:nvPr/>
        </p:nvSpPr>
        <p:spPr>
          <a:xfrm>
            <a:off x="640080" y="2183892"/>
            <a:ext cx="10881360" cy="0"/>
          </a:xfrm>
          <a:prstGeom prst="line">
            <a:avLst/>
          </a:prstGeom>
          <a:noFill/>
          <a:ln w="6350">
            <a:solidFill>
              <a:srgbClr val="D7E3E8"/>
            </a:solidFill>
            <a:prstDash val="solid"/>
          </a:ln>
        </p:spPr>
      </p:sp>
      <p:sp>
        <p:nvSpPr>
          <p:cNvPr id="10" name="Shape 8"/>
          <p:cNvSpPr/>
          <p:nvPr/>
        </p:nvSpPr>
        <p:spPr>
          <a:xfrm>
            <a:off x="640080" y="2434590"/>
            <a:ext cx="365760" cy="365760"/>
          </a:xfrm>
          <a:prstGeom prst="ellipse">
            <a:avLst/>
          </a:prstGeom>
          <a:solidFill>
            <a:srgbClr val="065A82"/>
          </a:solidFill>
          <a:ln/>
        </p:spPr>
      </p:sp>
      <p:sp>
        <p:nvSpPr>
          <p:cNvPr id="11" name="Text 9"/>
          <p:cNvSpPr/>
          <p:nvPr/>
        </p:nvSpPr>
        <p:spPr>
          <a:xfrm>
            <a:off x="640080" y="243459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0218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Deliberately introduce a typo into /etc/kubernetes/manifests/kube-scheduler.yaml on the control-plane node; observe Pods staying Pending despite available capacity, then fix the manifest.</a:t>
            </a:r>
            <a:endParaRPr lang="en-US" sz="1300" dirty="0"/>
          </a:p>
        </p:txBody>
      </p:sp>
      <p:sp>
        <p:nvSpPr>
          <p:cNvPr id="13" name="Shape 11"/>
          <p:cNvSpPr/>
          <p:nvPr/>
        </p:nvSpPr>
        <p:spPr>
          <a:xfrm>
            <a:off x="640080" y="3014472"/>
            <a:ext cx="10881360" cy="0"/>
          </a:xfrm>
          <a:prstGeom prst="line">
            <a:avLst/>
          </a:prstGeom>
          <a:noFill/>
          <a:ln w="6350">
            <a:solidFill>
              <a:srgbClr val="D7E3E8"/>
            </a:solidFill>
            <a:prstDash val="solid"/>
          </a:ln>
        </p:spPr>
      </p:sp>
      <p:sp>
        <p:nvSpPr>
          <p:cNvPr id="14" name="Shape 12"/>
          <p:cNvSpPr/>
          <p:nvPr/>
        </p:nvSpPr>
        <p:spPr>
          <a:xfrm>
            <a:off x="640080" y="3265170"/>
            <a:ext cx="365760" cy="365760"/>
          </a:xfrm>
          <a:prstGeom prst="ellipse">
            <a:avLst/>
          </a:prstGeom>
          <a:solidFill>
            <a:srgbClr val="065A82"/>
          </a:solidFill>
          <a:ln/>
        </p:spPr>
      </p:sp>
      <p:sp>
        <p:nvSpPr>
          <p:cNvPr id="15" name="Text 13"/>
          <p:cNvSpPr/>
          <p:nvPr/>
        </p:nvSpPr>
        <p:spPr>
          <a:xfrm>
            <a:off x="640080" y="326517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03276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Use crictl directly on the control-plane node to inspect running static Pod containers, without using kubectl at all.</a:t>
            </a:r>
            <a:endParaRPr lang="en-US" sz="1300" dirty="0"/>
          </a:p>
        </p:txBody>
      </p:sp>
      <p:sp>
        <p:nvSpPr>
          <p:cNvPr id="17" name="Shape 15"/>
          <p:cNvSpPr/>
          <p:nvPr/>
        </p:nvSpPr>
        <p:spPr>
          <a:xfrm>
            <a:off x="640080" y="3845052"/>
            <a:ext cx="10881360" cy="0"/>
          </a:xfrm>
          <a:prstGeom prst="line">
            <a:avLst/>
          </a:prstGeom>
          <a:noFill/>
          <a:ln w="6350">
            <a:solidFill>
              <a:srgbClr val="D7E3E8"/>
            </a:solidFill>
            <a:prstDash val="solid"/>
          </a:ln>
        </p:spPr>
      </p:sp>
      <p:sp>
        <p:nvSpPr>
          <p:cNvPr id="18" name="Shape 16"/>
          <p:cNvSpPr/>
          <p:nvPr/>
        </p:nvSpPr>
        <p:spPr>
          <a:xfrm>
            <a:off x="640080" y="4095750"/>
            <a:ext cx="365760" cy="365760"/>
          </a:xfrm>
          <a:prstGeom prst="ellipse">
            <a:avLst/>
          </a:prstGeom>
          <a:solidFill>
            <a:srgbClr val="065A82"/>
          </a:solidFill>
          <a:ln/>
        </p:spPr>
      </p:sp>
      <p:sp>
        <p:nvSpPr>
          <p:cNvPr id="19" name="Text 17"/>
          <p:cNvSpPr/>
          <p:nvPr/>
        </p:nvSpPr>
        <p:spPr>
          <a:xfrm>
            <a:off x="640080" y="409575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6334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Cordon a node, confirm new Pods avoid it, drain it, confirm existing Pods relocate, then uncordon and confirm it becomes schedulable again.</a:t>
            </a:r>
            <a:endParaRPr lang="en-US" sz="1300" dirty="0"/>
          </a:p>
        </p:txBody>
      </p:sp>
      <p:sp>
        <p:nvSpPr>
          <p:cNvPr id="21" name="Shape 19"/>
          <p:cNvSpPr/>
          <p:nvPr/>
        </p:nvSpPr>
        <p:spPr>
          <a:xfrm>
            <a:off x="640080" y="4675632"/>
            <a:ext cx="10881360" cy="0"/>
          </a:xfrm>
          <a:prstGeom prst="line">
            <a:avLst/>
          </a:prstGeom>
          <a:noFill/>
          <a:ln w="6350">
            <a:solidFill>
              <a:srgbClr val="D7E3E8"/>
            </a:solidFill>
            <a:prstDash val="solid"/>
          </a:ln>
        </p:spPr>
      </p:sp>
      <p:sp>
        <p:nvSpPr>
          <p:cNvPr id="22" name="Shape 20"/>
          <p:cNvSpPr/>
          <p:nvPr/>
        </p:nvSpPr>
        <p:spPr>
          <a:xfrm>
            <a:off x="640080" y="4926330"/>
            <a:ext cx="365760" cy="365760"/>
          </a:xfrm>
          <a:prstGeom prst="ellipse">
            <a:avLst/>
          </a:prstGeom>
          <a:solidFill>
            <a:srgbClr val="065A82"/>
          </a:solidFill>
          <a:ln/>
        </p:spPr>
      </p:sp>
      <p:sp>
        <p:nvSpPr>
          <p:cNvPr id="23" name="Text 21"/>
          <p:cNvSpPr/>
          <p:nvPr/>
        </p:nvSpPr>
        <p:spPr>
          <a:xfrm>
            <a:off x="640080" y="492633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9392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Simulate an etcd connectivity issue (e.g. temporarily block port 2379 with a local firewall rule) and observe the resulting API server symptoms; then restore connectivity.</a:t>
            </a:r>
            <a:endParaRPr lang="en-US" sz="1300" dirty="0"/>
          </a:p>
        </p:txBody>
      </p:sp>
      <p:sp>
        <p:nvSpPr>
          <p:cNvPr id="25" name="Shape 23"/>
          <p:cNvSpPr/>
          <p:nvPr/>
        </p:nvSpPr>
        <p:spPr>
          <a:xfrm>
            <a:off x="640080" y="5506212"/>
            <a:ext cx="10881360" cy="0"/>
          </a:xfrm>
          <a:prstGeom prst="line">
            <a:avLst/>
          </a:prstGeom>
          <a:noFill/>
          <a:ln w="6350">
            <a:solidFill>
              <a:srgbClr val="D7E3E8"/>
            </a:solidFill>
            <a:prstDash val="solid"/>
          </a:ln>
        </p:spPr>
      </p:sp>
      <p:sp>
        <p:nvSpPr>
          <p:cNvPr id="26" name="Shape 24"/>
          <p:cNvSpPr/>
          <p:nvPr/>
        </p:nvSpPr>
        <p:spPr>
          <a:xfrm>
            <a:off x="640080" y="5756910"/>
            <a:ext cx="365760" cy="365760"/>
          </a:xfrm>
          <a:prstGeom prst="ellipse">
            <a:avLst/>
          </a:prstGeom>
          <a:solidFill>
            <a:srgbClr val="065A82"/>
          </a:solidFill>
          <a:ln/>
        </p:spPr>
      </p:sp>
      <p:sp>
        <p:nvSpPr>
          <p:cNvPr id="27" name="Text 25"/>
          <p:cNvSpPr/>
          <p:nvPr/>
        </p:nvSpPr>
        <p:spPr>
          <a:xfrm>
            <a:off x="640080" y="57569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245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Identify which static Pod is responsible when kube-controller-manager stops reconciling, locate its logs, and explain the failure using only kubectl logs (no SSH).</a:t>
            </a:r>
            <a:endParaRPr lang="en-US" sz="1300" dirty="0"/>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0" cy="384048"/>
          </a:xfrm>
          <a:prstGeom prst="roundRect">
            <a:avLst>
              <a:gd name="adj" fmla="val 50000"/>
            </a:avLst>
          </a:prstGeom>
          <a:solidFill>
            <a:srgbClr val="1C7293"/>
          </a:solidFill>
          <a:ln/>
        </p:spPr>
      </p:sp>
      <p:sp>
        <p:nvSpPr>
          <p:cNvPr id="3" name="Text 1"/>
          <p:cNvSpPr/>
          <p:nvPr/>
        </p:nvSpPr>
        <p:spPr>
          <a:xfrm>
            <a:off x="640080" y="36576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3</a:t>
            </a:r>
            <a:endParaRPr lang="en-US" sz="1200" dirty="0"/>
          </a:p>
        </p:txBody>
      </p:sp>
      <p:sp>
        <p:nvSpPr>
          <p:cNvPr id="4" name="Text 2"/>
          <p:cNvSpPr/>
          <p:nvPr/>
        </p:nvSpPr>
        <p:spPr>
          <a:xfrm>
            <a:off x="3154680" y="365760"/>
            <a:ext cx="8412480" cy="38404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Monitoring &amp; Container Output Streams</a:t>
            </a:r>
            <a:endParaRPr lang="en-US" sz="1600" dirty="0"/>
          </a:p>
        </p:txBody>
      </p:sp>
      <p:sp>
        <p:nvSpPr>
          <p:cNvPr id="5" name="Text 3"/>
          <p:cNvSpPr/>
          <p:nvPr/>
        </p:nvSpPr>
        <p:spPr>
          <a:xfrm>
            <a:off x="640080" y="868680"/>
            <a:ext cx="1088136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Estimated time: 35-45 minutes for the full set</a:t>
            </a:r>
            <a:endParaRPr lang="en-US" sz="1250" dirty="0"/>
          </a:p>
        </p:txBody>
      </p:sp>
      <p:sp>
        <p:nvSpPr>
          <p:cNvPr id="6" name="Shape 4"/>
          <p:cNvSpPr/>
          <p:nvPr/>
        </p:nvSpPr>
        <p:spPr>
          <a:xfrm>
            <a:off x="640080" y="1604010"/>
            <a:ext cx="365760" cy="365760"/>
          </a:xfrm>
          <a:prstGeom prst="ellipse">
            <a:avLst/>
          </a:prstGeom>
          <a:solidFill>
            <a:srgbClr val="065A82"/>
          </a:solidFill>
          <a:ln/>
        </p:spPr>
      </p:sp>
      <p:sp>
        <p:nvSpPr>
          <p:cNvPr id="7" name="Text 5"/>
          <p:cNvSpPr/>
          <p:nvPr/>
        </p:nvSpPr>
        <p:spPr>
          <a:xfrm>
            <a:off x="640080" y="16040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3716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Install metrics-server in your lab cluster (adding --kubelet-insecure-tls if needed) and confirm kubectl top nodes and kubectl top pods both return data.</a:t>
            </a:r>
            <a:endParaRPr lang="en-US" sz="1300" dirty="0"/>
          </a:p>
        </p:txBody>
      </p:sp>
      <p:sp>
        <p:nvSpPr>
          <p:cNvPr id="9" name="Shape 7"/>
          <p:cNvSpPr/>
          <p:nvPr/>
        </p:nvSpPr>
        <p:spPr>
          <a:xfrm>
            <a:off x="640080" y="2183892"/>
            <a:ext cx="10881360" cy="0"/>
          </a:xfrm>
          <a:prstGeom prst="line">
            <a:avLst/>
          </a:prstGeom>
          <a:noFill/>
          <a:ln w="6350">
            <a:solidFill>
              <a:srgbClr val="D7E3E8"/>
            </a:solidFill>
            <a:prstDash val="solid"/>
          </a:ln>
        </p:spPr>
      </p:sp>
      <p:sp>
        <p:nvSpPr>
          <p:cNvPr id="10" name="Shape 8"/>
          <p:cNvSpPr/>
          <p:nvPr/>
        </p:nvSpPr>
        <p:spPr>
          <a:xfrm>
            <a:off x="640080" y="2434590"/>
            <a:ext cx="365760" cy="365760"/>
          </a:xfrm>
          <a:prstGeom prst="ellipse">
            <a:avLst/>
          </a:prstGeom>
          <a:solidFill>
            <a:srgbClr val="065A82"/>
          </a:solidFill>
          <a:ln/>
        </p:spPr>
      </p:sp>
      <p:sp>
        <p:nvSpPr>
          <p:cNvPr id="11" name="Text 9"/>
          <p:cNvSpPr/>
          <p:nvPr/>
        </p:nvSpPr>
        <p:spPr>
          <a:xfrm>
            <a:off x="640080" y="243459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0218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Identify the single highest CPU-consuming Pod across all namespaces using kubectl top with sorting flags.</a:t>
            </a:r>
            <a:endParaRPr lang="en-US" sz="1300" dirty="0"/>
          </a:p>
        </p:txBody>
      </p:sp>
      <p:sp>
        <p:nvSpPr>
          <p:cNvPr id="13" name="Shape 11"/>
          <p:cNvSpPr/>
          <p:nvPr/>
        </p:nvSpPr>
        <p:spPr>
          <a:xfrm>
            <a:off x="640080" y="3014472"/>
            <a:ext cx="10881360" cy="0"/>
          </a:xfrm>
          <a:prstGeom prst="line">
            <a:avLst/>
          </a:prstGeom>
          <a:noFill/>
          <a:ln w="6350">
            <a:solidFill>
              <a:srgbClr val="D7E3E8"/>
            </a:solidFill>
            <a:prstDash val="solid"/>
          </a:ln>
        </p:spPr>
      </p:sp>
      <p:sp>
        <p:nvSpPr>
          <p:cNvPr id="14" name="Shape 12"/>
          <p:cNvSpPr/>
          <p:nvPr/>
        </p:nvSpPr>
        <p:spPr>
          <a:xfrm>
            <a:off x="640080" y="3265170"/>
            <a:ext cx="365760" cy="365760"/>
          </a:xfrm>
          <a:prstGeom prst="ellipse">
            <a:avLst/>
          </a:prstGeom>
          <a:solidFill>
            <a:srgbClr val="065A82"/>
          </a:solidFill>
          <a:ln/>
        </p:spPr>
      </p:sp>
      <p:sp>
        <p:nvSpPr>
          <p:cNvPr id="15" name="Text 13"/>
          <p:cNvSpPr/>
          <p:nvPr/>
        </p:nvSpPr>
        <p:spPr>
          <a:xfrm>
            <a:off x="640080" y="326517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03276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Pod that deliberately exceeds its memory limit, observe the OOMKilled status, and confirm it via kubectl describe pod.</a:t>
            </a:r>
            <a:endParaRPr lang="en-US" sz="1300" dirty="0"/>
          </a:p>
        </p:txBody>
      </p:sp>
      <p:sp>
        <p:nvSpPr>
          <p:cNvPr id="17" name="Shape 15"/>
          <p:cNvSpPr/>
          <p:nvPr/>
        </p:nvSpPr>
        <p:spPr>
          <a:xfrm>
            <a:off x="640080" y="3845052"/>
            <a:ext cx="10881360" cy="0"/>
          </a:xfrm>
          <a:prstGeom prst="line">
            <a:avLst/>
          </a:prstGeom>
          <a:noFill/>
          <a:ln w="6350">
            <a:solidFill>
              <a:srgbClr val="D7E3E8"/>
            </a:solidFill>
            <a:prstDash val="solid"/>
          </a:ln>
        </p:spPr>
      </p:sp>
      <p:sp>
        <p:nvSpPr>
          <p:cNvPr id="18" name="Shape 16"/>
          <p:cNvSpPr/>
          <p:nvPr/>
        </p:nvSpPr>
        <p:spPr>
          <a:xfrm>
            <a:off x="640080" y="4095750"/>
            <a:ext cx="365760" cy="365760"/>
          </a:xfrm>
          <a:prstGeom prst="ellipse">
            <a:avLst/>
          </a:prstGeom>
          <a:solidFill>
            <a:srgbClr val="065A82"/>
          </a:solidFill>
          <a:ln/>
        </p:spPr>
      </p:sp>
      <p:sp>
        <p:nvSpPr>
          <p:cNvPr id="19" name="Text 17"/>
          <p:cNvSpPr/>
          <p:nvPr/>
        </p:nvSpPr>
        <p:spPr>
          <a:xfrm>
            <a:off x="640080" y="409575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6334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multi-container Pod, and practice retrieving logs from each container individually using the -c flag.</a:t>
            </a:r>
            <a:endParaRPr lang="en-US" sz="1300" dirty="0"/>
          </a:p>
        </p:txBody>
      </p:sp>
      <p:sp>
        <p:nvSpPr>
          <p:cNvPr id="21" name="Shape 19"/>
          <p:cNvSpPr/>
          <p:nvPr/>
        </p:nvSpPr>
        <p:spPr>
          <a:xfrm>
            <a:off x="640080" y="4675632"/>
            <a:ext cx="10881360" cy="0"/>
          </a:xfrm>
          <a:prstGeom prst="line">
            <a:avLst/>
          </a:prstGeom>
          <a:noFill/>
          <a:ln w="6350">
            <a:solidFill>
              <a:srgbClr val="D7E3E8"/>
            </a:solidFill>
            <a:prstDash val="solid"/>
          </a:ln>
        </p:spPr>
      </p:sp>
      <p:sp>
        <p:nvSpPr>
          <p:cNvPr id="22" name="Shape 20"/>
          <p:cNvSpPr/>
          <p:nvPr/>
        </p:nvSpPr>
        <p:spPr>
          <a:xfrm>
            <a:off x="640080" y="4926330"/>
            <a:ext cx="365760" cy="365760"/>
          </a:xfrm>
          <a:prstGeom prst="ellipse">
            <a:avLst/>
          </a:prstGeom>
          <a:solidFill>
            <a:srgbClr val="065A82"/>
          </a:solidFill>
          <a:ln/>
        </p:spPr>
      </p:sp>
      <p:sp>
        <p:nvSpPr>
          <p:cNvPr id="23" name="Text 21"/>
          <p:cNvSpPr/>
          <p:nvPr/>
        </p:nvSpPr>
        <p:spPr>
          <a:xfrm>
            <a:off x="640080" y="492633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9392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Deliberately crash a container on startup (e.g. a bad command), then use kubectl logs --previous to retrieve the failure reason.</a:t>
            </a:r>
            <a:endParaRPr lang="en-US" sz="1300" dirty="0"/>
          </a:p>
        </p:txBody>
      </p:sp>
      <p:sp>
        <p:nvSpPr>
          <p:cNvPr id="25" name="Shape 23"/>
          <p:cNvSpPr/>
          <p:nvPr/>
        </p:nvSpPr>
        <p:spPr>
          <a:xfrm>
            <a:off x="640080" y="5506212"/>
            <a:ext cx="10881360" cy="0"/>
          </a:xfrm>
          <a:prstGeom prst="line">
            <a:avLst/>
          </a:prstGeom>
          <a:noFill/>
          <a:ln w="6350">
            <a:solidFill>
              <a:srgbClr val="D7E3E8"/>
            </a:solidFill>
            <a:prstDash val="solid"/>
          </a:ln>
        </p:spPr>
      </p:sp>
      <p:sp>
        <p:nvSpPr>
          <p:cNvPr id="26" name="Shape 24"/>
          <p:cNvSpPr/>
          <p:nvPr/>
        </p:nvSpPr>
        <p:spPr>
          <a:xfrm>
            <a:off x="640080" y="5756910"/>
            <a:ext cx="365760" cy="365760"/>
          </a:xfrm>
          <a:prstGeom prst="ellipse">
            <a:avLst/>
          </a:prstGeom>
          <a:solidFill>
            <a:srgbClr val="065A82"/>
          </a:solidFill>
          <a:ln/>
        </p:spPr>
      </p:sp>
      <p:sp>
        <p:nvSpPr>
          <p:cNvPr id="27" name="Text 25"/>
          <p:cNvSpPr/>
          <p:nvPr/>
        </p:nvSpPr>
        <p:spPr>
          <a:xfrm>
            <a:off x="640080" y="57569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245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Use kubectl logs -l &lt;selector&gt; --all-containers to tail logs across every Pod in a Deployment simultaneously.</a:t>
            </a:r>
            <a:endParaRPr lang="en-US" sz="1300" dirty="0"/>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0" cy="384048"/>
          </a:xfrm>
          <a:prstGeom prst="roundRect">
            <a:avLst>
              <a:gd name="adj" fmla="val 50000"/>
            </a:avLst>
          </a:prstGeom>
          <a:solidFill>
            <a:srgbClr val="1C7293"/>
          </a:solidFill>
          <a:ln/>
        </p:spPr>
      </p:sp>
      <p:sp>
        <p:nvSpPr>
          <p:cNvPr id="3" name="Text 1"/>
          <p:cNvSpPr/>
          <p:nvPr/>
        </p:nvSpPr>
        <p:spPr>
          <a:xfrm>
            <a:off x="640080" y="36576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4</a:t>
            </a:r>
            <a:endParaRPr lang="en-US" sz="1200" dirty="0"/>
          </a:p>
        </p:txBody>
      </p:sp>
      <p:sp>
        <p:nvSpPr>
          <p:cNvPr id="4" name="Text 2"/>
          <p:cNvSpPr/>
          <p:nvPr/>
        </p:nvSpPr>
        <p:spPr>
          <a:xfrm>
            <a:off x="3154680" y="365760"/>
            <a:ext cx="8412480" cy="38404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Services &amp; Networking Troubleshooting (End-to-End)</a:t>
            </a:r>
            <a:endParaRPr lang="en-US" sz="1600" dirty="0"/>
          </a:p>
        </p:txBody>
      </p:sp>
      <p:sp>
        <p:nvSpPr>
          <p:cNvPr id="5" name="Text 3"/>
          <p:cNvSpPr/>
          <p:nvPr/>
        </p:nvSpPr>
        <p:spPr>
          <a:xfrm>
            <a:off x="640080" y="868680"/>
            <a:ext cx="1088136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Estimated time: 40-55 minutes for the full set</a:t>
            </a:r>
            <a:endParaRPr lang="en-US" sz="1250" dirty="0"/>
          </a:p>
        </p:txBody>
      </p:sp>
      <p:sp>
        <p:nvSpPr>
          <p:cNvPr id="6" name="Shape 4"/>
          <p:cNvSpPr/>
          <p:nvPr/>
        </p:nvSpPr>
        <p:spPr>
          <a:xfrm>
            <a:off x="640080" y="1604010"/>
            <a:ext cx="365760" cy="365760"/>
          </a:xfrm>
          <a:prstGeom prst="ellipse">
            <a:avLst/>
          </a:prstGeom>
          <a:solidFill>
            <a:srgbClr val="065A82"/>
          </a:solidFill>
          <a:ln/>
        </p:spPr>
      </p:sp>
      <p:sp>
        <p:nvSpPr>
          <p:cNvPr id="7" name="Text 5"/>
          <p:cNvSpPr/>
          <p:nvPr/>
        </p:nvSpPr>
        <p:spPr>
          <a:xfrm>
            <a:off x="640080" y="16040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3716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Deploy an application with a Service, then walk through the full 5-step diagnostic funnel against a WORKING Service to get comfortable with each command before anything is broken.</a:t>
            </a:r>
            <a:endParaRPr lang="en-US" sz="1300" dirty="0"/>
          </a:p>
        </p:txBody>
      </p:sp>
      <p:sp>
        <p:nvSpPr>
          <p:cNvPr id="9" name="Shape 7"/>
          <p:cNvSpPr/>
          <p:nvPr/>
        </p:nvSpPr>
        <p:spPr>
          <a:xfrm>
            <a:off x="640080" y="2183892"/>
            <a:ext cx="10881360" cy="0"/>
          </a:xfrm>
          <a:prstGeom prst="line">
            <a:avLst/>
          </a:prstGeom>
          <a:noFill/>
          <a:ln w="6350">
            <a:solidFill>
              <a:srgbClr val="D7E3E8"/>
            </a:solidFill>
            <a:prstDash val="solid"/>
          </a:ln>
        </p:spPr>
      </p:sp>
      <p:sp>
        <p:nvSpPr>
          <p:cNvPr id="10" name="Shape 8"/>
          <p:cNvSpPr/>
          <p:nvPr/>
        </p:nvSpPr>
        <p:spPr>
          <a:xfrm>
            <a:off x="640080" y="2434590"/>
            <a:ext cx="365760" cy="365760"/>
          </a:xfrm>
          <a:prstGeom prst="ellipse">
            <a:avLst/>
          </a:prstGeom>
          <a:solidFill>
            <a:srgbClr val="065A82"/>
          </a:solidFill>
          <a:ln/>
        </p:spPr>
      </p:sp>
      <p:sp>
        <p:nvSpPr>
          <p:cNvPr id="11" name="Text 9"/>
          <p:cNvSpPr/>
          <p:nvPr/>
        </p:nvSpPr>
        <p:spPr>
          <a:xfrm>
            <a:off x="640080" y="243459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0218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Break the Service by mismatching its selector; use the funnel to identify and fix the issue without looking at the YAML diff first.</a:t>
            </a:r>
            <a:endParaRPr lang="en-US" sz="1300" dirty="0"/>
          </a:p>
        </p:txBody>
      </p:sp>
      <p:sp>
        <p:nvSpPr>
          <p:cNvPr id="13" name="Shape 11"/>
          <p:cNvSpPr/>
          <p:nvPr/>
        </p:nvSpPr>
        <p:spPr>
          <a:xfrm>
            <a:off x="640080" y="3014472"/>
            <a:ext cx="10881360" cy="0"/>
          </a:xfrm>
          <a:prstGeom prst="line">
            <a:avLst/>
          </a:prstGeom>
          <a:noFill/>
          <a:ln w="6350">
            <a:solidFill>
              <a:srgbClr val="D7E3E8"/>
            </a:solidFill>
            <a:prstDash val="solid"/>
          </a:ln>
        </p:spPr>
      </p:sp>
      <p:sp>
        <p:nvSpPr>
          <p:cNvPr id="14" name="Shape 12"/>
          <p:cNvSpPr/>
          <p:nvPr/>
        </p:nvSpPr>
        <p:spPr>
          <a:xfrm>
            <a:off x="640080" y="3265170"/>
            <a:ext cx="365760" cy="365760"/>
          </a:xfrm>
          <a:prstGeom prst="ellipse">
            <a:avLst/>
          </a:prstGeom>
          <a:solidFill>
            <a:srgbClr val="065A82"/>
          </a:solidFill>
          <a:ln/>
        </p:spPr>
      </p:sp>
      <p:sp>
        <p:nvSpPr>
          <p:cNvPr id="15" name="Text 13"/>
          <p:cNvSpPr/>
          <p:nvPr/>
        </p:nvSpPr>
        <p:spPr>
          <a:xfrm>
            <a:off x="640080" y="326517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03276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Apply a NetworkPolicy that unintentionally blocks legitimate traffic; use the funnel to identify NetworkPolicy as the blocking layer specifically.</a:t>
            </a:r>
            <a:endParaRPr lang="en-US" sz="1300" dirty="0"/>
          </a:p>
        </p:txBody>
      </p:sp>
      <p:sp>
        <p:nvSpPr>
          <p:cNvPr id="17" name="Shape 15"/>
          <p:cNvSpPr/>
          <p:nvPr/>
        </p:nvSpPr>
        <p:spPr>
          <a:xfrm>
            <a:off x="640080" y="3845052"/>
            <a:ext cx="10881360" cy="0"/>
          </a:xfrm>
          <a:prstGeom prst="line">
            <a:avLst/>
          </a:prstGeom>
          <a:noFill/>
          <a:ln w="6350">
            <a:solidFill>
              <a:srgbClr val="D7E3E8"/>
            </a:solidFill>
            <a:prstDash val="solid"/>
          </a:ln>
        </p:spPr>
      </p:sp>
      <p:sp>
        <p:nvSpPr>
          <p:cNvPr id="18" name="Shape 16"/>
          <p:cNvSpPr/>
          <p:nvPr/>
        </p:nvSpPr>
        <p:spPr>
          <a:xfrm>
            <a:off x="640080" y="4095750"/>
            <a:ext cx="365760" cy="365760"/>
          </a:xfrm>
          <a:prstGeom prst="ellipse">
            <a:avLst/>
          </a:prstGeom>
          <a:solidFill>
            <a:srgbClr val="065A82"/>
          </a:solidFill>
          <a:ln/>
        </p:spPr>
      </p:sp>
      <p:sp>
        <p:nvSpPr>
          <p:cNvPr id="19" name="Text 17"/>
          <p:cNvSpPr/>
          <p:nvPr/>
        </p:nvSpPr>
        <p:spPr>
          <a:xfrm>
            <a:off x="640080" y="409575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6334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Break DNS resolution for a single Pod by setting an incorrect dnsPolicy, diagnose it via nslookup failures, and correct it.</a:t>
            </a:r>
            <a:endParaRPr lang="en-US" sz="1300" dirty="0"/>
          </a:p>
        </p:txBody>
      </p:sp>
      <p:sp>
        <p:nvSpPr>
          <p:cNvPr id="21" name="Shape 19"/>
          <p:cNvSpPr/>
          <p:nvPr/>
        </p:nvSpPr>
        <p:spPr>
          <a:xfrm>
            <a:off x="640080" y="4675632"/>
            <a:ext cx="10881360" cy="0"/>
          </a:xfrm>
          <a:prstGeom prst="line">
            <a:avLst/>
          </a:prstGeom>
          <a:noFill/>
          <a:ln w="6350">
            <a:solidFill>
              <a:srgbClr val="D7E3E8"/>
            </a:solidFill>
            <a:prstDash val="solid"/>
          </a:ln>
        </p:spPr>
      </p:sp>
      <p:sp>
        <p:nvSpPr>
          <p:cNvPr id="22" name="Shape 20"/>
          <p:cNvSpPr/>
          <p:nvPr/>
        </p:nvSpPr>
        <p:spPr>
          <a:xfrm>
            <a:off x="640080" y="4926330"/>
            <a:ext cx="365760" cy="365760"/>
          </a:xfrm>
          <a:prstGeom prst="ellipse">
            <a:avLst/>
          </a:prstGeom>
          <a:solidFill>
            <a:srgbClr val="065A82"/>
          </a:solidFill>
          <a:ln/>
        </p:spPr>
      </p:sp>
      <p:sp>
        <p:nvSpPr>
          <p:cNvPr id="23" name="Text 21"/>
          <p:cNvSpPr/>
          <p:nvPr/>
        </p:nvSpPr>
        <p:spPr>
          <a:xfrm>
            <a:off x="640080" y="492633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9392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Restart the kube-proxy Pod on a single node and confirm Service connectivity briefly degrades and then recovers from Pods on that node.</a:t>
            </a:r>
            <a:endParaRPr lang="en-US" sz="1300" dirty="0"/>
          </a:p>
        </p:txBody>
      </p:sp>
      <p:sp>
        <p:nvSpPr>
          <p:cNvPr id="25" name="Shape 23"/>
          <p:cNvSpPr/>
          <p:nvPr/>
        </p:nvSpPr>
        <p:spPr>
          <a:xfrm>
            <a:off x="640080" y="5506212"/>
            <a:ext cx="10881360" cy="0"/>
          </a:xfrm>
          <a:prstGeom prst="line">
            <a:avLst/>
          </a:prstGeom>
          <a:noFill/>
          <a:ln w="6350">
            <a:solidFill>
              <a:srgbClr val="D7E3E8"/>
            </a:solidFill>
            <a:prstDash val="solid"/>
          </a:ln>
        </p:spPr>
      </p:sp>
      <p:sp>
        <p:nvSpPr>
          <p:cNvPr id="26" name="Shape 24"/>
          <p:cNvSpPr/>
          <p:nvPr/>
        </p:nvSpPr>
        <p:spPr>
          <a:xfrm>
            <a:off x="640080" y="5756910"/>
            <a:ext cx="365760" cy="365760"/>
          </a:xfrm>
          <a:prstGeom prst="ellipse">
            <a:avLst/>
          </a:prstGeom>
          <a:solidFill>
            <a:srgbClr val="065A82"/>
          </a:solidFill>
          <a:ln/>
        </p:spPr>
      </p:sp>
      <p:sp>
        <p:nvSpPr>
          <p:cNvPr id="27" name="Text 25"/>
          <p:cNvSpPr/>
          <p:nvPr/>
        </p:nvSpPr>
        <p:spPr>
          <a:xfrm>
            <a:off x="640080" y="57569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245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Given only the symptom 'Pod A cannot reach Pod B,' practice narrating out loud the exact order of commands you'd run before typing any of them.</a:t>
            </a:r>
            <a:endParaRPr lang="en-US" sz="1300" dirty="0"/>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C7293">
              <a:alpha val="40000"/>
            </a:srgbClr>
          </a:solidFill>
          <a:ln/>
        </p:spPr>
      </p:sp>
      <p:sp>
        <p:nvSpPr>
          <p:cNvPr id="3" name="Text 1"/>
          <p:cNvSpPr/>
          <p:nvPr/>
        </p:nvSpPr>
        <p:spPr>
          <a:xfrm>
            <a:off x="822960" y="640080"/>
            <a:ext cx="100584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Module 3 — Key Takeaways</a:t>
            </a:r>
            <a:endParaRPr lang="en-US" sz="3000" dirty="0"/>
          </a:p>
        </p:txBody>
      </p:sp>
      <p:sp>
        <p:nvSpPr>
          <p:cNvPr id="4" name="Text 2"/>
          <p:cNvSpPr/>
          <p:nvPr/>
        </p:nvSpPr>
        <p:spPr>
          <a:xfrm>
            <a:off x="822960" y="1645920"/>
            <a:ext cx="10058400" cy="36576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StorageClass + dynamic provisioning eliminates manual PV creation; volumeBindingMode: WaitForFirstConsumer avoids zone-mismatch scheduling failures.</a:t>
            </a:r>
            <a:endParaRPr lang="en-US" sz="1500" dirty="0"/>
          </a:p>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reclaimPolicy is the single most consequential storage setting — Retain for anything you can't afford to lose, Delete only for genuinely disposable data.</a:t>
            </a:r>
            <a:endParaRPr lang="en-US" sz="1500" dirty="0"/>
          </a:p>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PV/PVC binding requires accessModes, storageClassName, AND capacity to all be compatible — not just size.</a:t>
            </a:r>
            <a:endParaRPr lang="en-US" sz="1500" dirty="0"/>
          </a:p>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Troubleshooting is roughly a third of the exam: master the node-level (kubelet/journalctl), component-level (static Pod manifests/crictl), and connectivity (5-step funnel) diagnostic flows cold.</a:t>
            </a:r>
            <a:endParaRPr lang="en-US" sz="1500" dirty="0"/>
          </a:p>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In every troubleshooting scenario, read kubectl describe's Events section and kubectl logs --previous BEFORE making any changes — Kubernetes usually states the problem directly.</a:t>
            </a:r>
            <a:endParaRPr lang="en-US" sz="1500" dirty="0"/>
          </a:p>
        </p:txBody>
      </p:sp>
      <p:sp>
        <p:nvSpPr>
          <p:cNvPr id="5" name="Shape 3"/>
          <p:cNvSpPr/>
          <p:nvPr/>
        </p:nvSpPr>
        <p:spPr>
          <a:xfrm>
            <a:off x="822960" y="5486400"/>
            <a:ext cx="10424160" cy="777240"/>
          </a:xfrm>
          <a:prstGeom prst="roundRect">
            <a:avLst>
              <a:gd name="adj" fmla="val 9412"/>
            </a:avLst>
          </a:prstGeom>
          <a:solidFill>
            <a:srgbClr val="FFFFFF">
              <a:alpha val="10000"/>
            </a:srgbClr>
          </a:solidFill>
          <a:ln w="12700">
            <a:solidFill>
              <a:srgbClr val="8FD3E8"/>
            </a:solidFill>
            <a:prstDash val="solid"/>
          </a:ln>
        </p:spPr>
      </p:sp>
      <p:sp>
        <p:nvSpPr>
          <p:cNvPr id="6" name="Text 4"/>
          <p:cNvSpPr/>
          <p:nvPr/>
        </p:nvSpPr>
        <p:spPr>
          <a:xfrm>
            <a:off x="1051560" y="5486400"/>
            <a:ext cx="1005840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Next up: Module 4 — Security (RBAC, ServiceAccounts, Pod Security Standards, and cluster hardening).</a:t>
            </a:r>
            <a:endParaRPr lang="en-US" sz="14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3</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CKA v1.36 Certification Prep - Module 3</dc:title>
  <dc:subject>PptxGenJS Presentation</dc:subject>
  <dc:creator>CKA Prep Course</dc:creator>
  <cp:lastModifiedBy>CKA Prep Course</cp:lastModifiedBy>
  <cp:revision>1</cp:revision>
  <dcterms:created xsi:type="dcterms:W3CDTF">2026-06-21T05:36:13Z</dcterms:created>
  <dcterms:modified xsi:type="dcterms:W3CDTF">2026-06-21T05:36:13Z</dcterms:modified>
</cp:coreProperties>
</file>